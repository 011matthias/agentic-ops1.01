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097280"/>
            <a:ext cx="6035040" cy="6035040"/>
          </a:xfrm>
          <a:prstGeom prst="ellipse">
            <a:avLst/>
          </a:prstGeom>
          <a:solidFill>
            <a:srgbClr val="3BE3E0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274320"/>
            <a:ext cx="3291840" cy="3291840"/>
          </a:xfrm>
          <a:prstGeom prst="ellipse">
            <a:avLst/>
          </a:prstGeom>
          <a:solidFill>
            <a:srgbClr val="3BE3E0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737360" y="3017520"/>
            <a:ext cx="6035040" cy="6035040"/>
          </a:xfrm>
          <a:prstGeom prst="ellipse">
            <a:avLst/>
          </a:prstGeom>
          <a:solidFill>
            <a:srgbClr val="5A6BFF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365760" y="4389120"/>
            <a:ext cx="3291840" cy="3291840"/>
          </a:xfrm>
          <a:prstGeom prst="ellipse">
            <a:avLst/>
          </a:prstGeom>
          <a:solidFill>
            <a:srgbClr val="5A6BFF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C:/Users/neuma_p1qrsic/Repo/agentic-ops1/.scratch/brisken-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48640"/>
            <a:ext cx="1417320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2487168"/>
            <a:ext cx="45720" cy="219456"/>
          </a:xfrm>
          <a:prstGeom prst="rect">
            <a:avLst/>
          </a:prstGeom>
          <a:solidFill>
            <a:srgbClr val="3BE3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2414016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ONEPILOT · MARKET DATA HUB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39496" y="2743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Market Data Hub</a:t>
            </a:r>
            <a:endParaRPr lang="en-US" sz="5600" dirty="0"/>
          </a:p>
        </p:txBody>
      </p:sp>
      <p:sp>
        <p:nvSpPr>
          <p:cNvPr id="10" name="Text 7"/>
          <p:cNvSpPr/>
          <p:nvPr/>
        </p:nvSpPr>
        <p:spPr>
          <a:xfrm>
            <a:off x="539496" y="36118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for Commodities</a:t>
            </a:r>
            <a:endParaRPr lang="en-US" sz="5600" dirty="0"/>
          </a:p>
        </p:txBody>
      </p:sp>
      <p:sp>
        <p:nvSpPr>
          <p:cNvPr id="11" name="Text 8"/>
          <p:cNvSpPr/>
          <p:nvPr/>
        </p:nvSpPr>
        <p:spPr>
          <a:xfrm>
            <a:off x="566928" y="47091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commodities case study, in technology and concepts, from many sources to one governed price.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566928" y="5715000"/>
            <a:ext cx="548640" cy="548640"/>
          </a:xfrm>
          <a:prstGeom prst="roundRect">
            <a:avLst>
              <a:gd name="adj" fmla="val 18333"/>
            </a:avLst>
          </a:prstGeom>
          <a:solidFill>
            <a:srgbClr val="1B2330"/>
          </a:solidFill>
          <a:ln w="15240">
            <a:solidFill>
              <a:srgbClr val="3BE3E0"/>
            </a:solidFill>
            <a:prstDash val="solid"/>
          </a:ln>
        </p:spPr>
      </p:sp>
      <p:pic>
        <p:nvPicPr>
          <p:cNvPr id="13" name="Image 1" descr="C:/Users/neuma_p1qrsic/Repo/agentic-ops1/.scratch/icons/ven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02" y="584667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25296" y="5715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3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sources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3310128" y="5989320"/>
            <a:ext cx="640080" cy="0"/>
          </a:xfrm>
          <a:prstGeom prst="line">
            <a:avLst/>
          </a:prstGeom>
          <a:noFill/>
          <a:ln w="25400">
            <a:solidFill>
              <a:srgbClr val="3BE3E0"/>
            </a:solidFill>
            <a:prstDash val="solid"/>
            <a:tailEnd type="triangle"/>
          </a:ln>
        </p:spPr>
      </p:sp>
      <p:sp>
        <p:nvSpPr>
          <p:cNvPr id="16" name="Text 12"/>
          <p:cNvSpPr/>
          <p:nvPr/>
        </p:nvSpPr>
        <p:spPr>
          <a:xfrm>
            <a:off x="4041648" y="5715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BE3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Data Hub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007608" y="5989320"/>
            <a:ext cx="640080" cy="0"/>
          </a:xfrm>
          <a:prstGeom prst="line">
            <a:avLst/>
          </a:prstGeom>
          <a:noFill/>
          <a:ln w="25400">
            <a:solidFill>
              <a:srgbClr val="3BE3E0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6784848" y="5715000"/>
            <a:ext cx="548640" cy="548640"/>
          </a:xfrm>
          <a:prstGeom prst="roundRect">
            <a:avLst>
              <a:gd name="adj" fmla="val 18333"/>
            </a:avLst>
          </a:prstGeom>
          <a:solidFill>
            <a:srgbClr val="1B2330"/>
          </a:solidFill>
          <a:ln w="15240">
            <a:solidFill>
              <a:srgbClr val="3BE3E0"/>
            </a:solidFill>
            <a:prstDash val="solid"/>
          </a:ln>
        </p:spPr>
      </p:sp>
      <p:pic>
        <p:nvPicPr>
          <p:cNvPr id="19" name="Image 2" descr="C:/Users/neuma_p1qrsic/Repo/agentic-ops1/.scratch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6522" y="5846674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443216" y="5715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3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and trading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85216"/>
            <a:ext cx="45720" cy="219456"/>
          </a:xfrm>
          <a:prstGeom prst="rect">
            <a:avLst/>
          </a:prstGeom>
          <a:solidFill>
            <a:srgbClr val="3BE3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1206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 commodity price has a dozen moving parts.
</a:t>
            </a:r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Someone builds the curve by hand.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3246120"/>
            <a:ext cx="3246120" cy="1874520"/>
          </a:xfrm>
          <a:prstGeom prst="roundRect">
            <a:avLst>
              <a:gd name="adj" fmla="val 4390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3566160"/>
            <a:ext cx="603504" cy="603504"/>
          </a:xfrm>
          <a:prstGeom prst="roundRect">
            <a:avLst>
              <a:gd name="adj" fmla="val 16667"/>
            </a:avLst>
          </a:prstGeom>
          <a:solidFill>
            <a:srgbClr val="1B2330"/>
          </a:solidFill>
          <a:ln w="15240">
            <a:solidFill>
              <a:srgbClr val="3BE3E0"/>
            </a:solidFill>
            <a:prstDash val="solid"/>
          </a:ln>
        </p:spPr>
      </p:sp>
      <p:pic>
        <p:nvPicPr>
          <p:cNvPr id="7" name="Image 0" descr="C:/Users/neuma_p1qrsic/Repo/agentic-ops1/.scratch/icons/ven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089" y="3711001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43434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Components &amp; sources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1248" y="46634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Freight, storage, quality, local taxes, provider feeds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70248" y="3246120"/>
            <a:ext cx="3657600" cy="1874520"/>
          </a:xfrm>
          <a:prstGeom prst="roundRect">
            <a:avLst>
              <a:gd name="adj" fmla="val 4390"/>
            </a:avLst>
          </a:prstGeom>
          <a:solidFill>
            <a:srgbClr val="24190E"/>
          </a:solidFill>
          <a:ln w="17780">
            <a:solidFill>
              <a:srgbClr val="FFC96B"/>
            </a:solidFill>
            <a:prstDash val="dash"/>
          </a:ln>
        </p:spPr>
      </p:sp>
      <p:pic>
        <p:nvPicPr>
          <p:cNvPr id="11" name="Image 1" descr="C:/Users/neuma_p1qrsic/Repo/agentic-ops1/.scratch/icons/g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296" y="3538728"/>
            <a:ext cx="603504" cy="6035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70248" y="42702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9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manual middle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90288" y="4617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3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collecting components, adjusting by port and tenor, reconciling by hand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385048" y="3246120"/>
            <a:ext cx="3239719" cy="1874520"/>
          </a:xfrm>
          <a:prstGeom prst="roundRect">
            <a:avLst>
              <a:gd name="adj" fmla="val 4390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59368" y="3566160"/>
            <a:ext cx="603504" cy="603504"/>
          </a:xfrm>
          <a:prstGeom prst="roundRect">
            <a:avLst>
              <a:gd name="adj" fmla="val 16667"/>
            </a:avLst>
          </a:prstGeom>
          <a:solidFill>
            <a:srgbClr val="1B2330"/>
          </a:solidFill>
          <a:ln w="15240">
            <a:solidFill>
              <a:srgbClr val="3BE3E0"/>
            </a:solidFill>
            <a:prstDash val="solid"/>
          </a:ln>
        </p:spPr>
      </p:sp>
      <p:pic>
        <p:nvPicPr>
          <p:cNvPr id="16" name="Image 2" descr="C:/Users/neuma_p1qrsic/Repo/agentic-ops1/.scratch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4209" y="3711001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59368" y="4343400"/>
            <a:ext cx="269107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Risk &amp; trading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659368" y="4663440"/>
            <a:ext cx="269107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Prices that differ desk to desk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813048" y="4183380"/>
            <a:ext cx="457200" cy="0"/>
          </a:xfrm>
          <a:prstGeom prst="line">
            <a:avLst/>
          </a:prstGeom>
          <a:noFill/>
          <a:ln w="25400">
            <a:solidFill>
              <a:srgbClr val="FFC96B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7927848" y="4183380"/>
            <a:ext cx="457200" cy="0"/>
          </a:xfrm>
          <a:prstGeom prst="line">
            <a:avLst/>
          </a:prstGeom>
          <a:noFill/>
          <a:ln w="25400">
            <a:solidFill>
              <a:srgbClr val="FFC96B"/>
            </a:solidFill>
            <a:prstDash val="solid"/>
            <a:tailEnd type="triangle"/>
          </a:ln>
        </p:spPr>
      </p:sp>
      <p:sp>
        <p:nvSpPr>
          <p:cNvPr id="21" name="Text 16"/>
          <p:cNvSpPr/>
          <p:nvPr/>
        </p:nvSpPr>
        <p:spPr>
          <a:xfrm>
            <a:off x="566928" y="55321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E3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Market Data Hub is the middle, so one governed curve reaches every desk on its own.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Brisken</a:t>
            </a:r>
            <a:pPr algn="l" indent="0" marL="0">
              <a:buNone/>
            </a:pPr>
            <a:r>
              <a:rPr lang="en-US" sz="900" dirty="0">
                <a:solidFill>
                  <a:srgbClr val="7C8A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Market Data Hub for Commodities, part of OnePilot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9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36414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85216"/>
            <a:ext cx="45720" cy="219456"/>
          </a:xfrm>
          <a:prstGeom prst="rect">
            <a:avLst/>
          </a:prstGeom>
          <a:solidFill>
            <a:srgbClr val="3BE3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1206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IT FITS TOGETHER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governed hub, from source to system.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3063240" cy="2514600"/>
          </a:xfrm>
          <a:prstGeom prst="roundRect">
            <a:avLst>
              <a:gd name="adj" fmla="val 3273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423160"/>
            <a:ext cx="548640" cy="548640"/>
          </a:xfrm>
          <a:prstGeom prst="roundRect">
            <a:avLst>
              <a:gd name="adj" fmla="val 18333"/>
            </a:avLst>
          </a:prstGeom>
          <a:solidFill>
            <a:srgbClr val="1B2330"/>
          </a:solidFill>
          <a:ln w="15240">
            <a:solidFill>
              <a:srgbClr val="3BE3E0"/>
            </a:solidFill>
            <a:prstDash val="solid"/>
          </a:ln>
        </p:spPr>
      </p:sp>
      <p:pic>
        <p:nvPicPr>
          <p:cNvPr id="7" name="Image 0" descr="C:/Users/neuma_p1qrsic/Repo/agentic-ops1/.scratch/icons/ven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922" y="255483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27048" y="2423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Sources &amp; feeds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41248" y="320040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Provider feeds, central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banks, forward views, and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components from the ground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087368" y="214884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10222A"/>
          </a:solidFill>
          <a:ln w="19050">
            <a:solidFill>
              <a:srgbClr val="3BE3E0"/>
            </a:solidFill>
            <a:prstDash val="solid"/>
          </a:ln>
        </p:spPr>
      </p:sp>
      <p:pic>
        <p:nvPicPr>
          <p:cNvPr id="11" name="Image 1" descr="C:/Users/neuma_p1qrsic/Repo/agentic-ops1/.scratch/logo/fav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2" y="2514600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87368" y="30632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Market Data Hub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087368" y="34472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BE3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app on OnePilot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087368" y="381304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assembles and governs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price curve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10728" y="2148840"/>
            <a:ext cx="3514039" cy="2514600"/>
          </a:xfrm>
          <a:prstGeom prst="roundRect">
            <a:avLst>
              <a:gd name="adj" fmla="val 3273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85048" y="2423160"/>
            <a:ext cx="548640" cy="548640"/>
          </a:xfrm>
          <a:prstGeom prst="roundRect">
            <a:avLst>
              <a:gd name="adj" fmla="val 18333"/>
            </a:avLst>
          </a:prstGeom>
          <a:solidFill>
            <a:srgbClr val="1B2330"/>
          </a:solidFill>
          <a:ln w="15240">
            <a:solidFill>
              <a:srgbClr val="3BE3E0"/>
            </a:solidFill>
            <a:prstDash val="solid"/>
          </a:ln>
        </p:spPr>
      </p:sp>
      <p:pic>
        <p:nvPicPr>
          <p:cNvPr id="17" name="Image 2" descr="C:/Users/neuma_p1qrsic/Repo/agentic-ops1/.scratch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6722" y="255483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70848" y="2423160"/>
            <a:ext cx="232531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Risk &amp; trading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385048" y="3200400"/>
            <a:ext cx="3011119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management, the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trading desk, SAP Treasury,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downstream system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3493008" y="29672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PULL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7516368" y="29672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PUSH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3630168" y="3406140"/>
            <a:ext cx="457200" cy="0"/>
          </a:xfrm>
          <a:prstGeom prst="line">
            <a:avLst/>
          </a:prstGeom>
          <a:noFill/>
          <a:ln w="25400">
            <a:solidFill>
              <a:srgbClr val="3BE3E0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7653528" y="3406140"/>
            <a:ext cx="457200" cy="0"/>
          </a:xfrm>
          <a:prstGeom prst="line">
            <a:avLst/>
          </a:prstGeom>
          <a:noFill/>
          <a:ln w="25400">
            <a:solidFill>
              <a:srgbClr val="3BE3E0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566928" y="4956048"/>
            <a:ext cx="11057839" cy="914400"/>
          </a:xfrm>
          <a:prstGeom prst="roundRect">
            <a:avLst>
              <a:gd name="adj" fmla="val 8000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pic>
        <p:nvPicPr>
          <p:cNvPr id="25" name="Image 3" descr="C:/Users/neuma_p1qrsic/Repo/agentic-ops1/.scratch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5212080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435608" y="4956048"/>
            <a:ext cx="991483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3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price is validated, checked for anomalies and logged: a full audit trail, segregation of duty, no-code rules, ISO 27001 and SOC 1.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Brisken</a:t>
            </a:r>
            <a:pPr algn="l" indent="0" marL="0">
              <a:buNone/>
            </a:pPr>
            <a:r>
              <a:rPr lang="en-US" sz="900" dirty="0">
                <a:solidFill>
                  <a:srgbClr val="7C8A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Market Data Hub for Commodities, part of OnePilot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9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36414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85216"/>
            <a:ext cx="45720" cy="219456"/>
          </a:xfrm>
          <a:prstGeom prst="rect">
            <a:avLst/>
          </a:prstGeom>
          <a:solidFill>
            <a:srgbClr val="3BE3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1206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WORKED EXAMPLE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Commodity price curves.</a:t>
            </a:r>
            <a:endParaRPr lang="en-US" sz="2900" dirty="0"/>
          </a:p>
        </p:txBody>
      </p:sp>
      <p:pic>
        <p:nvPicPr>
          <p:cNvPr id="5" name="Image 0" descr="C:/Users/neuma_p1qrsic/Repo/agentic-ops1/.scratch/deckgen/assets/curve-d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" y="2011680"/>
            <a:ext cx="6858000" cy="3794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219456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1B2330"/>
          </a:solidFill>
          <a:ln w="15240">
            <a:solidFill>
              <a:srgbClr val="3BE3E0"/>
            </a:solidFill>
            <a:prstDash val="solid"/>
          </a:ln>
        </p:spPr>
      </p:sp>
      <p:pic>
        <p:nvPicPr>
          <p:cNvPr id="7" name="Image 1" descr="C:/Users/neuma_p1qrsic/Repo/agentic-ops1/.scratch/icons/gau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2743" y="2330623"/>
            <a:ext cx="294803" cy="29480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76488" y="2167128"/>
            <a:ext cx="314827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curve on a timeline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8476488" y="2532888"/>
            <a:ext cx="3148279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Today's spot price, then 30, 60 and 90 days, out to a year.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726680" y="3547872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1B2330"/>
          </a:solidFill>
          <a:ln w="15240">
            <a:solidFill>
              <a:srgbClr val="3BE3E0"/>
            </a:solidFill>
            <a:prstDash val="solid"/>
          </a:ln>
        </p:spPr>
      </p:sp>
      <p:pic>
        <p:nvPicPr>
          <p:cNvPr id="11" name="Image 2" descr="C:/Users/neuma_p1qrsic/Repo/agentic-ops1/.scratch/icons/bloc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743" y="3683935"/>
            <a:ext cx="294803" cy="29480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476488" y="3520440"/>
            <a:ext cx="314827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Composite by design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8476488" y="3886200"/>
            <a:ext cx="3148279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Transportation, storage, quality and local taxes, combined into one price per tenor.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726680" y="4901184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1B2330"/>
          </a:solidFill>
          <a:ln w="15240">
            <a:solidFill>
              <a:srgbClr val="3BE3E0"/>
            </a:solidFill>
            <a:prstDash val="solid"/>
          </a:ln>
        </p:spPr>
      </p:sp>
      <p:pic>
        <p:nvPicPr>
          <p:cNvPr id="15" name="Image 3" descr="C:/Users/neuma_p1qrsic/Repo/agentic-ops1/.scratch/icons/ven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2743" y="5037247"/>
            <a:ext cx="294803" cy="29480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476488" y="4873752"/>
            <a:ext cx="314827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Location matters</a:t>
            </a:r>
            <a:endParaRPr lang="en-US" sz="1550" dirty="0"/>
          </a:p>
        </p:txBody>
      </p:sp>
      <p:sp>
        <p:nvSpPr>
          <p:cNvPr id="17" name="Text 11"/>
          <p:cNvSpPr/>
          <p:nvPr/>
        </p:nvSpPr>
        <p:spPr>
          <a:xfrm>
            <a:off x="8476488" y="5239512"/>
            <a:ext cx="3148279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commodity differs by delivery point, as storage, port fees and the local market differ.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Brisken</a:t>
            </a:r>
            <a:pPr algn="l" indent="0" marL="0">
              <a:buNone/>
            </a:pPr>
            <a:r>
              <a:rPr lang="en-US" sz="900" dirty="0">
                <a:solidFill>
                  <a:srgbClr val="7C8A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Market Data Hub for Commodities, part of OnePilot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9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36414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85216"/>
            <a:ext cx="45720" cy="219456"/>
          </a:xfrm>
          <a:prstGeom prst="rect">
            <a:avLst/>
          </a:prstGeom>
          <a:solidFill>
            <a:srgbClr val="3BE3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1206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Many sources, one governed process.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2514600"/>
            <a:ext cx="2476424" cy="2331720"/>
          </a:xfrm>
          <a:prstGeom prst="roundRect">
            <a:avLst>
              <a:gd name="adj" fmla="val 3529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pic>
        <p:nvPicPr>
          <p:cNvPr id="6" name="Image 0" descr="C:/Users/neuma_p1qrsic/Repo/agentic-ops1/.scratch/icons/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825496"/>
            <a:ext cx="603504" cy="6035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28952" y="2825496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77824" y="3566160"/>
            <a:ext cx="1927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Collect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77824" y="3977640"/>
            <a:ext cx="18546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Feeds, forward views, and components from the ground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025064" y="3387852"/>
            <a:ext cx="42062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E3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3427400" y="2514600"/>
            <a:ext cx="2476424" cy="2331720"/>
          </a:xfrm>
          <a:prstGeom prst="roundRect">
            <a:avLst>
              <a:gd name="adj" fmla="val 3529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pic>
        <p:nvPicPr>
          <p:cNvPr id="12" name="Image 1" descr="C:/Users/neuma_p1qrsic/Repo/agentic-ops1/.scratch/icon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296" y="2825496"/>
            <a:ext cx="603504" cy="6035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89424" y="2825496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3738296" y="3566160"/>
            <a:ext cx="1927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Validate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3738296" y="3977640"/>
            <a:ext cx="18546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rate checked; anomalies flagged for approval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885536" y="3387852"/>
            <a:ext cx="42062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E3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3"/>
          <p:cNvSpPr/>
          <p:nvPr/>
        </p:nvSpPr>
        <p:spPr>
          <a:xfrm>
            <a:off x="6287872" y="2514600"/>
            <a:ext cx="2476424" cy="2331720"/>
          </a:xfrm>
          <a:prstGeom prst="roundRect">
            <a:avLst>
              <a:gd name="adj" fmla="val 3529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pic>
        <p:nvPicPr>
          <p:cNvPr id="18" name="Image 2" descr="C:/Users/neuma_p1qrsic/Repo/agentic-ops1/.scratch/icons/bloc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768" y="2825496"/>
            <a:ext cx="603504" cy="6035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849895" y="2825496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6598768" y="3566160"/>
            <a:ext cx="1927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Assemble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6598768" y="3977640"/>
            <a:ext cx="18546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Components combined into one curve per tenor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746007" y="3387852"/>
            <a:ext cx="42062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E3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00" dirty="0"/>
          </a:p>
        </p:txBody>
      </p:sp>
      <p:sp>
        <p:nvSpPr>
          <p:cNvPr id="23" name="Shape 18"/>
          <p:cNvSpPr/>
          <p:nvPr/>
        </p:nvSpPr>
        <p:spPr>
          <a:xfrm>
            <a:off x="9148343" y="2514600"/>
            <a:ext cx="2476424" cy="2331720"/>
          </a:xfrm>
          <a:prstGeom prst="roundRect">
            <a:avLst>
              <a:gd name="adj" fmla="val 3529"/>
            </a:avLst>
          </a:prstGeom>
          <a:solidFill>
            <a:srgbClr val="141A25"/>
          </a:solidFill>
          <a:ln w="19050">
            <a:solidFill>
              <a:srgbClr val="46D9A0"/>
            </a:solidFill>
            <a:prstDash val="solid"/>
          </a:ln>
        </p:spPr>
      </p:sp>
      <p:pic>
        <p:nvPicPr>
          <p:cNvPr id="24" name="Image 3" descr="C:/Users/neuma_p1qrsic/Repo/agentic-ops1/.scratch/icons/mer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9239" y="2825496"/>
            <a:ext cx="603504" cy="60350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710367" y="2825496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46D9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2600" dirty="0"/>
          </a:p>
        </p:txBody>
      </p:sp>
      <p:sp>
        <p:nvSpPr>
          <p:cNvPr id="26" name="Text 20"/>
          <p:cNvSpPr/>
          <p:nvPr/>
        </p:nvSpPr>
        <p:spPr>
          <a:xfrm>
            <a:off x="9459239" y="3566160"/>
            <a:ext cx="1927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Distribute</a:t>
            </a:r>
            <a:endParaRPr lang="en-US" sz="1650" dirty="0"/>
          </a:p>
        </p:txBody>
      </p:sp>
      <p:sp>
        <p:nvSpPr>
          <p:cNvPr id="27" name="Text 21"/>
          <p:cNvSpPr/>
          <p:nvPr/>
        </p:nvSpPr>
        <p:spPr>
          <a:xfrm>
            <a:off x="9459239" y="3977640"/>
            <a:ext cx="18546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 to each system in the format it needs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66928" y="5166360"/>
            <a:ext cx="11057839" cy="658368"/>
          </a:xfrm>
          <a:prstGeom prst="roundRect">
            <a:avLst>
              <a:gd name="adj" fmla="val 16667"/>
            </a:avLst>
          </a:prstGeom>
          <a:solidFill>
            <a:srgbClr val="1B2330"/>
          </a:solidFill>
          <a:ln w="13970">
            <a:solidFill>
              <a:srgbClr val="36414F"/>
            </a:solidFill>
            <a:prstDash val="solid"/>
          </a:ln>
        </p:spPr>
      </p:sp>
      <p:pic>
        <p:nvPicPr>
          <p:cNvPr id="29" name="Image 4" descr="C:/Users/neuma_p1qrsic/Repo/agentic-ops1/.scratch/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5340096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389888" y="5166360"/>
            <a:ext cx="996055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E3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change is versioned, approved, and audited, end to end.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Brisken</a:t>
            </a:r>
            <a:pPr algn="l" indent="0" marL="0">
              <a:buNone/>
            </a:pPr>
            <a:r>
              <a:rPr lang="en-US" sz="900" dirty="0">
                <a:solidFill>
                  <a:srgbClr val="7C8A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Market Data Hub for Commodities, part of OnePilot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9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36414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85216"/>
            <a:ext cx="45720" cy="219456"/>
          </a:xfrm>
          <a:prstGeom prst="rect">
            <a:avLst/>
          </a:prstGeom>
          <a:solidFill>
            <a:srgbClr val="3BE3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1206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THE PRICE GOES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curve, feeding risk and trading.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3337560"/>
            <a:ext cx="2743200" cy="1645920"/>
          </a:xfrm>
          <a:prstGeom prst="roundRect">
            <a:avLst>
              <a:gd name="adj" fmla="val 5000"/>
            </a:avLst>
          </a:prstGeom>
          <a:solidFill>
            <a:srgbClr val="10222A"/>
          </a:solidFill>
          <a:ln w="19050">
            <a:solidFill>
              <a:srgbClr val="3BE3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7216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governed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66928" y="4160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E3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 curve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09160" y="2606040"/>
            <a:ext cx="3200400" cy="1234440"/>
          </a:xfrm>
          <a:prstGeom prst="roundRect">
            <a:avLst>
              <a:gd name="adj" fmla="val 6667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65192" y="2907792"/>
            <a:ext cx="621792" cy="621792"/>
          </a:xfrm>
          <a:prstGeom prst="roundRect">
            <a:avLst>
              <a:gd name="adj" fmla="val 16176"/>
            </a:avLst>
          </a:prstGeom>
          <a:solidFill>
            <a:srgbClr val="1B2330"/>
          </a:solidFill>
          <a:ln w="15240">
            <a:solidFill>
              <a:srgbClr val="3BE3E0"/>
            </a:solidFill>
            <a:prstDash val="solid"/>
          </a:ln>
        </p:spPr>
      </p:sp>
      <p:pic>
        <p:nvPicPr>
          <p:cNvPr id="10" name="Image 0" descr="C:/Users/neuma_p1qrsic/Repo/agentic-ops1/.scratch/icons/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4422" y="3057022"/>
            <a:ext cx="323332" cy="3233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760720" y="2825496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Risk management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760720" y="3209544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Exposure on one consistent price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709160" y="4251960"/>
            <a:ext cx="3200400" cy="1234440"/>
          </a:xfrm>
          <a:prstGeom prst="roundRect">
            <a:avLst>
              <a:gd name="adj" fmla="val 6667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65192" y="4553712"/>
            <a:ext cx="621792" cy="621792"/>
          </a:xfrm>
          <a:prstGeom prst="roundRect">
            <a:avLst>
              <a:gd name="adj" fmla="val 16176"/>
            </a:avLst>
          </a:prstGeom>
          <a:solidFill>
            <a:srgbClr val="1B2330"/>
          </a:solidFill>
          <a:ln w="15240">
            <a:solidFill>
              <a:srgbClr val="3BE3E0"/>
            </a:solidFill>
            <a:prstDash val="solid"/>
          </a:ln>
        </p:spPr>
      </p:sp>
      <p:pic>
        <p:nvPicPr>
          <p:cNvPr id="15" name="Image 1" descr="C:/Users/neuma_p1qrsic/Repo/agentic-ops1/.scratch/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422" y="4702942"/>
            <a:ext cx="323332" cy="3233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60720" y="4471416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Trading desk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5760720" y="4855464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Prices buys and sells off the same curve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366760" y="3200400"/>
            <a:ext cx="3258007" cy="1920240"/>
          </a:xfrm>
          <a:prstGeom prst="roundRect">
            <a:avLst>
              <a:gd name="adj" fmla="val 4286"/>
            </a:avLst>
          </a:prstGeom>
          <a:solidFill>
            <a:srgbClr val="0F2A22"/>
          </a:solidFill>
          <a:ln w="19050">
            <a:solidFill>
              <a:srgbClr val="46D9A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641080" y="3401568"/>
            <a:ext cx="270936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6D9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payoff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8641080" y="3822192"/>
            <a:ext cx="2709367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3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Better information means lower buying cost and stronger selling margins than peers who line prices up by hand.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 flipV="1">
            <a:off x="3310128" y="3223260"/>
            <a:ext cx="1399032" cy="937260"/>
          </a:xfrm>
          <a:prstGeom prst="line">
            <a:avLst/>
          </a:prstGeom>
          <a:noFill/>
          <a:ln w="25400">
            <a:solidFill>
              <a:srgbClr val="3BE3E0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3310128" y="4160520"/>
            <a:ext cx="1399032" cy="708660"/>
          </a:xfrm>
          <a:prstGeom prst="line">
            <a:avLst/>
          </a:prstGeom>
          <a:noFill/>
          <a:ln w="25400">
            <a:solidFill>
              <a:srgbClr val="3BE3E0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7909560" y="3223260"/>
            <a:ext cx="457200" cy="937260"/>
          </a:xfrm>
          <a:prstGeom prst="line">
            <a:avLst/>
          </a:prstGeom>
          <a:noFill/>
          <a:ln w="25400">
            <a:solidFill>
              <a:srgbClr val="3BE3E0"/>
            </a:solidFill>
            <a:prstDash val="solid"/>
            <a:tailEnd type="triangle"/>
          </a:ln>
        </p:spPr>
      </p:sp>
      <p:sp>
        <p:nvSpPr>
          <p:cNvPr id="24" name="Shape 20"/>
          <p:cNvSpPr/>
          <p:nvPr/>
        </p:nvSpPr>
        <p:spPr>
          <a:xfrm flipV="1">
            <a:off x="7909560" y="4160520"/>
            <a:ext cx="457200" cy="708660"/>
          </a:xfrm>
          <a:prstGeom prst="line">
            <a:avLst/>
          </a:prstGeom>
          <a:noFill/>
          <a:ln w="25400">
            <a:solidFill>
              <a:srgbClr val="3BE3E0"/>
            </a:solidFill>
            <a:prstDash val="solid"/>
            <a:tailEnd type="triangle"/>
          </a:ln>
        </p:spPr>
      </p:sp>
      <p:sp>
        <p:nvSpPr>
          <p:cNvPr id="25" name="Text 21"/>
          <p:cNvSpPr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Brisken</a:t>
            </a:r>
            <a:pPr algn="l" indent="0" marL="0">
              <a:buNone/>
            </a:pPr>
            <a:r>
              <a:rPr lang="en-US" sz="900" dirty="0">
                <a:solidFill>
                  <a:srgbClr val="7C8A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Market Data Hub for Commodities, part of OnePilot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9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36414F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neuma_p1qrsic/Repo/agentic-ops1/.scratch/logo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3871" y="502920"/>
            <a:ext cx="310896" cy="3108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585216"/>
            <a:ext cx="45720" cy="219456"/>
          </a:xfrm>
          <a:prstGeom prst="rect">
            <a:avLst/>
          </a:prstGeom>
          <a:solidFill>
            <a:srgbClr val="3BE3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13232" y="51206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 WE ARE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66928" y="9601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data and AI layer for SAP treasury and trading.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566928" y="2103120"/>
            <a:ext cx="3472586" cy="2697480"/>
          </a:xfrm>
          <a:prstGeom prst="roundRect">
            <a:avLst>
              <a:gd name="adj" fmla="val 3051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2395728"/>
            <a:ext cx="621792" cy="621792"/>
          </a:xfrm>
          <a:prstGeom prst="roundRect">
            <a:avLst>
              <a:gd name="adj" fmla="val 16176"/>
            </a:avLst>
          </a:prstGeom>
          <a:solidFill>
            <a:srgbClr val="1B2330"/>
          </a:solidFill>
          <a:ln w="15240">
            <a:solidFill>
              <a:srgbClr val="3BE3E0"/>
            </a:solidFill>
            <a:prstDash val="solid"/>
          </a:ln>
        </p:spPr>
      </p:sp>
      <p:pic>
        <p:nvPicPr>
          <p:cNvPr id="8" name="Image 1" descr="C:/Users/neuma_p1qrsic/Repo/agentic-ops1/.scratch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478" y="2544958"/>
            <a:ext cx="323332" cy="3233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1248" y="3145536"/>
            <a:ext cx="29239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Built on SAP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841248" y="3566160"/>
            <a:ext cx="292394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SAP co-innovation partner. The hub runs on SAP's own cloud, so it sits inside your landscape, not beside it.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359554" y="2103120"/>
            <a:ext cx="3472586" cy="2697480"/>
          </a:xfrm>
          <a:prstGeom prst="roundRect">
            <a:avLst>
              <a:gd name="adj" fmla="val 3051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633874" y="2395728"/>
            <a:ext cx="621792" cy="621792"/>
          </a:xfrm>
          <a:prstGeom prst="roundRect">
            <a:avLst>
              <a:gd name="adj" fmla="val 16176"/>
            </a:avLst>
          </a:prstGeom>
          <a:solidFill>
            <a:srgbClr val="1B2330"/>
          </a:solidFill>
          <a:ln w="15240">
            <a:solidFill>
              <a:srgbClr val="3BE3E0"/>
            </a:solidFill>
            <a:prstDash val="solid"/>
          </a:ln>
        </p:spPr>
      </p:sp>
      <p:pic>
        <p:nvPicPr>
          <p:cNvPr id="13" name="Image 2" descr="C:/Users/neuma_p1qrsic/Repo/agentic-ops1/.scratch/icons/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104" y="2544958"/>
            <a:ext cx="323332" cy="3233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33874" y="3145536"/>
            <a:ext cx="29239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Provider and target agnostic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4633874" y="3566160"/>
            <a:ext cx="292394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 from any market data feed, push to any system, SAP or not, and change your sources at any time.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152181" y="2103120"/>
            <a:ext cx="3472586" cy="2697480"/>
          </a:xfrm>
          <a:prstGeom prst="roundRect">
            <a:avLst>
              <a:gd name="adj" fmla="val 3051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426501" y="2395728"/>
            <a:ext cx="621792" cy="621792"/>
          </a:xfrm>
          <a:prstGeom prst="roundRect">
            <a:avLst>
              <a:gd name="adj" fmla="val 16176"/>
            </a:avLst>
          </a:prstGeom>
          <a:solidFill>
            <a:srgbClr val="1B2330"/>
          </a:solidFill>
          <a:ln w="15240">
            <a:solidFill>
              <a:srgbClr val="3BE3E0"/>
            </a:solidFill>
            <a:prstDash val="solid"/>
          </a:ln>
        </p:spPr>
      </p:sp>
      <p:pic>
        <p:nvPicPr>
          <p:cNvPr id="18" name="Image 3" descr="C:/Users/neuma_p1qrsic/Repo/agentic-ops1/.scratch/icons/block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5731" y="2544958"/>
            <a:ext cx="323332" cy="3233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26501" y="3145536"/>
            <a:ext cx="29239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Governed end to end</a:t>
            </a:r>
            <a:endParaRPr lang="en-US" sz="1750" dirty="0"/>
          </a:p>
        </p:txBody>
      </p:sp>
      <p:sp>
        <p:nvSpPr>
          <p:cNvPr id="20" name="Text 14"/>
          <p:cNvSpPr/>
          <p:nvPr/>
        </p:nvSpPr>
        <p:spPr>
          <a:xfrm>
            <a:off x="8426501" y="3566160"/>
            <a:ext cx="292394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rate is validated on the way in and every change is audited, before anything reaches a downstream system.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566928" y="5074920"/>
            <a:ext cx="11057839" cy="713232"/>
          </a:xfrm>
          <a:prstGeom prst="roundRect">
            <a:avLst>
              <a:gd name="adj" fmla="val 12821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22960" y="5193792"/>
            <a:ext cx="1325880" cy="4754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36414F"/>
            </a:solidFill>
            <a:prstDash val="solid"/>
          </a:ln>
        </p:spPr>
      </p:sp>
      <p:pic>
        <p:nvPicPr>
          <p:cNvPr id="23" name="Image 4" descr="C:/Users/neuma_p1qrsic/Repo/agentic-ops1/.scratch/deckgen/logos/s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9108" y="5274625"/>
            <a:ext cx="633584" cy="31382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2441448" y="5074920"/>
            <a:ext cx="895471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Co-innovation partner</a:t>
            </a:r>
            <a:pPr indent="0" marL="0">
              <a:buNone/>
            </a:pPr>
            <a:r>
              <a:rPr lang="en-US" sz="125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 SAP Certified, built on SAP Business Technology Platform      ISO 27001 and SOC 1 Type II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Brisken</a:t>
            </a:r>
            <a:pPr algn="l" indent="0" marL="0">
              <a:buNone/>
            </a:pPr>
            <a:r>
              <a:rPr lang="en-US" sz="900" dirty="0">
                <a:solidFill>
                  <a:srgbClr val="7C8A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Market Data Hub for Commodities, part of OnePilot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9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36414F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85216"/>
            <a:ext cx="45720" cy="219456"/>
          </a:xfrm>
          <a:prstGeom prst="rect">
            <a:avLst/>
          </a:prstGeom>
          <a:solidFill>
            <a:srgbClr val="3BE3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1206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PARTNERS AND CUSTOMERS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data, the platform, and the teams behind it.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85216" y="21031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C8A9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TECHNOLOGY PARTNER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85216" y="2377440"/>
            <a:ext cx="182880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36414F"/>
            </a:solidFill>
            <a:prstDash val="solid"/>
          </a:ln>
        </p:spPr>
      </p:sp>
      <p:pic>
        <p:nvPicPr>
          <p:cNvPr id="7" name="Image 0" descr="C:/Users/neuma_p1qrsic/Repo/agentic-ops1/.scratch/deckgen/logos/s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244" y="2501798"/>
            <a:ext cx="974745" cy="482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5216" y="34015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C8A9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TRUSTED BY TEAMS AT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85216" y="3657600"/>
            <a:ext cx="1999427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36414F"/>
            </a:solidFill>
            <a:prstDash val="solid"/>
          </a:ln>
        </p:spPr>
      </p:sp>
      <p:pic>
        <p:nvPicPr>
          <p:cNvPr id="10" name="Image 1" descr="C:/Users/neuma_p1qrsic/Repo/agentic-ops1/.scratch/deckgen/logos/nest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64" y="3807069"/>
            <a:ext cx="1639530" cy="450871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40675" y="3657600"/>
            <a:ext cx="1999427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36414F"/>
            </a:solidFill>
            <a:prstDash val="solid"/>
          </a:ln>
        </p:spPr>
      </p:sp>
      <p:pic>
        <p:nvPicPr>
          <p:cNvPr id="12" name="Image 2" descr="C:/Users/neuma_p1qrsic/Repo/agentic-ops1/.scratch/deckgen/logos/fo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3363" y="3785067"/>
            <a:ext cx="1374052" cy="494873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096134" y="3657600"/>
            <a:ext cx="1999427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36414F"/>
            </a:solidFill>
            <a:prstDash val="solid"/>
          </a:ln>
        </p:spPr>
      </p:sp>
      <p:pic>
        <p:nvPicPr>
          <p:cNvPr id="14" name="Image 3" descr="C:/Users/neuma_p1qrsic/Repo/agentic-ops1/.scratch/deckgen/logos/siemen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083" y="3837169"/>
            <a:ext cx="1639530" cy="390669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351593" y="3657600"/>
            <a:ext cx="1999427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36414F"/>
            </a:solidFill>
            <a:prstDash val="solid"/>
          </a:ln>
        </p:spPr>
      </p:sp>
      <p:pic>
        <p:nvPicPr>
          <p:cNvPr id="16" name="Image 4" descr="C:/Users/neuma_p1qrsic/Repo/agentic-ops1/.scratch/deckgen/logos/yet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1542" y="3807709"/>
            <a:ext cx="1639530" cy="44959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9607052" y="3657600"/>
            <a:ext cx="1999427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36414F"/>
            </a:solidFill>
            <a:prstDash val="solid"/>
          </a:ln>
        </p:spPr>
      </p:sp>
      <p:pic>
        <p:nvPicPr>
          <p:cNvPr id="18" name="Image 5" descr="C:/Users/neuma_p1qrsic/Repo/agentic-ops1/.scratch/deckgen/logos/ba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5630" y="3785067"/>
            <a:ext cx="1162271" cy="49487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85216" y="47548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C8A9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MARKET DATA PROVIDERS</a:t>
            </a:r>
            <a:endParaRPr lang="en-US" sz="1050" dirty="0"/>
          </a:p>
        </p:txBody>
      </p:sp>
      <p:sp>
        <p:nvSpPr>
          <p:cNvPr id="20" name="Shape 12"/>
          <p:cNvSpPr/>
          <p:nvPr/>
        </p:nvSpPr>
        <p:spPr>
          <a:xfrm>
            <a:off x="585216" y="5010912"/>
            <a:ext cx="2563292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9525">
            <a:solidFill>
              <a:srgbClr val="36414F"/>
            </a:solidFill>
            <a:prstDash val="solid"/>
          </a:ln>
        </p:spPr>
      </p:sp>
      <p:pic>
        <p:nvPicPr>
          <p:cNvPr id="21" name="Image 6" descr="C:/Users/neuma_p1qrsic/Repo/agentic-ops1/.scratch/deckgen/logos/bloomber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912" y="5155696"/>
            <a:ext cx="2101899" cy="423664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3404540" y="5010912"/>
            <a:ext cx="2563292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9525">
            <a:solidFill>
              <a:srgbClr val="36414F"/>
            </a:solidFill>
            <a:prstDash val="solid"/>
          </a:ln>
        </p:spPr>
      </p:sp>
      <p:pic>
        <p:nvPicPr>
          <p:cNvPr id="23" name="Image 7" descr="C:/Users/neuma_p1qrsic/Repo/agentic-ops1/.scratch/deckgen/logos/lse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91080" y="5132161"/>
            <a:ext cx="1790212" cy="470733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6223864" y="5010912"/>
            <a:ext cx="2563292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9525">
            <a:solidFill>
              <a:srgbClr val="36414F"/>
            </a:solidFill>
            <a:prstDash val="solid"/>
          </a:ln>
        </p:spPr>
      </p:sp>
      <p:pic>
        <p:nvPicPr>
          <p:cNvPr id="25" name="Image 8" descr="C:/Users/neuma_p1qrsic/Repo/agentic-ops1/.scratch/deckgen/logos/ic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70143" y="5132161"/>
            <a:ext cx="470733" cy="470733"/>
          </a:xfrm>
          <a:prstGeom prst="rect">
            <a:avLst/>
          </a:prstGeom>
        </p:spPr>
      </p:pic>
      <p:sp>
        <p:nvSpPr>
          <p:cNvPr id="26" name="Shape 15"/>
          <p:cNvSpPr/>
          <p:nvPr/>
        </p:nvSpPr>
        <p:spPr>
          <a:xfrm>
            <a:off x="9043187" y="5010912"/>
            <a:ext cx="2563292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9525">
            <a:solidFill>
              <a:srgbClr val="36414F"/>
            </a:solidFill>
            <a:prstDash val="solid"/>
          </a:ln>
        </p:spPr>
      </p:sp>
      <p:pic>
        <p:nvPicPr>
          <p:cNvPr id="27" name="Image 9" descr="C:/Users/neuma_p1qrsic/Repo/agentic-ops1/.scratch/deckgen/logos/cm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73884" y="5205780"/>
            <a:ext cx="2101899" cy="323495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Brisken</a:t>
            </a:r>
            <a:pPr algn="l" indent="0" marL="0">
              <a:buNone/>
            </a:pPr>
            <a:r>
              <a:rPr lang="en-US" sz="900" dirty="0">
                <a:solidFill>
                  <a:srgbClr val="7C8A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Market Data Hub for Commodities, part of OnePilot</a:t>
            </a:r>
            <a:endParaRPr lang="en-US" sz="900" dirty="0"/>
          </a:p>
        </p:txBody>
      </p:sp>
      <p:sp>
        <p:nvSpPr>
          <p:cNvPr id="29" name="Text 17"/>
          <p:cNvSpPr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9</a:t>
            </a:r>
            <a:endParaRPr lang="en-US" sz="900" dirty="0"/>
          </a:p>
        </p:txBody>
      </p:sp>
      <p:sp>
        <p:nvSpPr>
          <p:cNvPr id="30" name="Shape 18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36414F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72384" y="0"/>
            <a:ext cx="6035040" cy="6035040"/>
          </a:xfrm>
          <a:prstGeom prst="ellipse">
            <a:avLst/>
          </a:prstGeom>
          <a:solidFill>
            <a:srgbClr val="3BE3E0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443984" y="1371600"/>
            <a:ext cx="3291840" cy="3291840"/>
          </a:xfrm>
          <a:prstGeom prst="ellipse">
            <a:avLst/>
          </a:prstGeom>
          <a:solidFill>
            <a:srgbClr val="3BE3E0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C:/Users/neuma_p1qrsic/Repo/agentic-ops1/.scratch/brisken-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2664" y="1417320"/>
            <a:ext cx="1554480" cy="3383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51460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Built to stay done.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1828800" y="3611880"/>
            <a:ext cx="8531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4CE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Give us twenty minutes on your commodity price data, and we will show you one governed curve feeding every desk.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575304" y="4754880"/>
            <a:ext cx="5029200" cy="658368"/>
          </a:xfrm>
          <a:prstGeom prst="roundRect">
            <a:avLst>
              <a:gd name="adj" fmla="val 50000"/>
            </a:avLst>
          </a:prstGeom>
          <a:solidFill>
            <a:srgbClr val="3BE3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575304" y="475488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22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Dirk Neumann   ·   dirk.neumann@brisken.com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56235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brisken.com   ·   Houston, TX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36004C6954FC41BFA5A9934AAC0872" ma:contentTypeVersion="24" ma:contentTypeDescription="Create a new document." ma:contentTypeScope="" ma:versionID="1cf73f14b085dc989d6ca704a5f7b696">
  <xsd:schema xmlns:xsd="http://www.w3.org/2001/XMLSchema" xmlns:xs="http://www.w3.org/2001/XMLSchema" xmlns:p="http://schemas.microsoft.com/office/2006/metadata/properties" xmlns:ns1="http://schemas.microsoft.com/sharepoint/v3" xmlns:ns2="f7c12939-211d-4aac-95d7-b8d38b675650" xmlns:ns3="e9089a15-9498-4149-a6f3-b4bc8e4d21ac" targetNamespace="http://schemas.microsoft.com/office/2006/metadata/properties" ma:root="true" ma:fieldsID="d257115e6736aa2126af141fdcd75720" ns1:_="" ns2:_="" ns3:_="">
    <xsd:import namespace="http://schemas.microsoft.com/sharepoint/v3"/>
    <xsd:import namespace="f7c12939-211d-4aac-95d7-b8d38b675650"/>
    <xsd:import namespace="e9089a15-9498-4149-a6f3-b4bc8e4d21a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3:TaxCatchAll" minOccurs="0"/>
                <xsd:element ref="ns2:lcf76f155ced4ddcb4097134ff3c332f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c12939-211d-4aac-95d7-b8d38b6756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hidden="true" ma:internalName="MediaServiceKeyPoints" ma:readOnly="true">
      <xsd:simpleType>
        <xsd:restriction base="dms:Note"/>
      </xsd:simpleType>
    </xsd:element>
    <xsd:element name="MediaServiceAutoTags" ma:index="12" nillable="true" ma:displayName="Tags" ma:hidden="true" ma:internalName="MediaServiceAutoTags" ma:readOnly="true">
      <xsd:simpleType>
        <xsd:restriction base="dms:Text"/>
      </xsd:simpleType>
    </xsd:element>
    <xsd:element name="MediaServiceOCR" ma:index="13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hidden="true" ma:internalName="MediaServiceLocation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0fd6ee07-b435-4fc4-a9c7-316946df4b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089a15-9498-4149-a6f3-b4bc8e4d21ac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hidden="true" ma:internalName="SharedWithDetails" ma:readOnly="true">
      <xsd:simpleType>
        <xsd:restriction base="dms:Note"/>
      </xsd:simpleType>
    </xsd:element>
    <xsd:element name="TaxCatchAll" ma:index="21" nillable="true" ma:displayName="Taxonomy Catch All Column" ma:hidden="true" ma:list="{3ed79911-b83d-417d-9b12-a1fdc4449e3b}" ma:internalName="TaxCatchAll" ma:showField="CatchAllData" ma:web="e9089a15-9498-4149-a6f3-b4bc8e4d21a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f7c12939-211d-4aac-95d7-b8d38b675650">
      <Terms xmlns="http://schemas.microsoft.com/office/infopath/2007/PartnerControls"/>
    </lcf76f155ced4ddcb4097134ff3c332f>
    <_ip_UnifiedCompliancePolicyProperties xmlns="http://schemas.microsoft.com/sharepoint/v3" xsi:nil="true"/>
    <TaxCatchAll xmlns="e9089a15-9498-4149-a6f3-b4bc8e4d21ac" xsi:nil="true"/>
  </documentManagement>
</p:properties>
</file>

<file path=customXml/itemProps1.xml><?xml version="1.0" encoding="utf-8"?>
<ds:datastoreItem xmlns:ds="http://schemas.openxmlformats.org/officeDocument/2006/customXml" ds:itemID="{E873AFA5-8D6A-4406-A381-7A328F8D4445}"/>
</file>

<file path=customXml/itemProps2.xml><?xml version="1.0" encoding="utf-8"?>
<ds:datastoreItem xmlns:ds="http://schemas.openxmlformats.org/officeDocument/2006/customXml" ds:itemID="{AC6DDFEF-0D59-42CE-8FCF-34EAFADC195F}"/>
</file>

<file path=customXml/itemProps3.xml><?xml version="1.0" encoding="utf-8"?>
<ds:datastoreItem xmlns:ds="http://schemas.openxmlformats.org/officeDocument/2006/customXml" ds:itemID="{395664C1-96F5-4DC6-AA74-97EA30A07B9A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Brisken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Brisken</dc:creator>
  <cp:lastModifiedBy>Brisken</cp:lastModifiedBy>
  <cp:revision>1</cp:revision>
  <dcterms:created xsi:type="dcterms:W3CDTF">2026-07-09T00:26:58Z</dcterms:created>
  <dcterms:modified xsi:type="dcterms:W3CDTF">2026-07-09T00:26:58Z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0x0101002E36004C6954FC41BFA5A9934AAC0872</vt:lpwstr>
  </property>
</Properties>
</file>