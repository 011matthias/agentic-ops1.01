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sldIdLst>
    <p:sldId id="256" r:id="rId5"/>
    <p:sldId id="270" r:id="rId6"/>
    <p:sldId id="271" r:id="rId7"/>
    <p:sldId id="272" r:id="rId8"/>
    <p:sldId id="260" r:id="rId9"/>
    <p:sldId id="289" r:id="rId10"/>
    <p:sldId id="284" r:id="rId11"/>
    <p:sldId id="290" r:id="rId12"/>
    <p:sldId id="288" r:id="rId13"/>
    <p:sldId id="265" r:id="rId14"/>
    <p:sldId id="291" r:id="rId15"/>
    <p:sldId id="292" r:id="rId16"/>
    <p:sldId id="267"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3635D36-BAB7-8C4E-8C39-B17451E32DD3}" v="3" dt="2026-07-09T23:10:47.5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6301"/>
  </p:normalViewPr>
  <p:slideViewPr>
    <p:cSldViewPr snapToGrid="0" snapToObjects="1">
      <p:cViewPr varScale="1">
        <p:scale>
          <a:sx n="96" d="100"/>
          <a:sy n="96" d="100"/>
        </p:scale>
        <p:origin x="200"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4596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CE29E-A60D-236A-E36C-425460085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74C709-FE04-12A2-607C-94212C4D0F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1F727C-5C47-AD2E-D79F-ABDB059B52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03D685-7DF6-37A0-2460-40AA23B2D954}"/>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3198619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svg"/><Relationship Id="rId7" Type="http://schemas.openxmlformats.org/officeDocument/2006/relationships/image" Target="../media/image14.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6.png"/><Relationship Id="rId7"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12"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mailto:dirk.neumann@brisken.com?subject=Meeting%20request%3A%20Market%20Data%20Hub&amp;body=Hi%20Dirk%2C%0D%0A%0D%0AI%27d%20like%20to%20schedule%2020%20minutes%20to%20discuss%20how%20Market%20Data%20Hub%20could%20work%20for%20our%20market%20data%20setup.%0D%0A%0D%0ABest%20regards%2C"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6949440" y="-1097280"/>
            <a:ext cx="6035040" cy="6035040"/>
          </a:xfrm>
          <a:prstGeom prst="ellipse">
            <a:avLst/>
          </a:prstGeom>
          <a:solidFill>
            <a:srgbClr val="3BE3E0">
              <a:alpha val="7000"/>
            </a:srgbClr>
          </a:solidFill>
          <a:ln w="12700">
            <a:solidFill>
              <a:srgbClr val="333333"/>
            </a:solidFill>
            <a:prstDash val="solid"/>
          </a:ln>
        </p:spPr>
        <p:txBody>
          <a:bodyPr/>
          <a:lstStyle/>
          <a:p>
            <a:endParaRPr lang="en-US"/>
          </a:p>
        </p:txBody>
      </p:sp>
      <p:sp>
        <p:nvSpPr>
          <p:cNvPr id="3" name="Shape 1"/>
          <p:cNvSpPr/>
          <p:nvPr/>
        </p:nvSpPr>
        <p:spPr>
          <a:xfrm>
            <a:off x="8321040" y="274320"/>
            <a:ext cx="3291840" cy="3291840"/>
          </a:xfrm>
          <a:prstGeom prst="ellipse">
            <a:avLst/>
          </a:prstGeom>
          <a:solidFill>
            <a:srgbClr val="3BE3E0">
              <a:alpha val="12000"/>
            </a:srgbClr>
          </a:solidFill>
          <a:ln w="12700">
            <a:solidFill>
              <a:srgbClr val="333333"/>
            </a:solidFill>
            <a:prstDash val="solid"/>
          </a:ln>
        </p:spPr>
        <p:txBody>
          <a:bodyPr/>
          <a:lstStyle/>
          <a:p>
            <a:endParaRPr lang="en-US"/>
          </a:p>
        </p:txBody>
      </p:sp>
      <p:sp>
        <p:nvSpPr>
          <p:cNvPr id="4" name="Shape 2"/>
          <p:cNvSpPr/>
          <p:nvPr/>
        </p:nvSpPr>
        <p:spPr>
          <a:xfrm>
            <a:off x="-1737360" y="3017520"/>
            <a:ext cx="6035040" cy="6035040"/>
          </a:xfrm>
          <a:prstGeom prst="ellipse">
            <a:avLst/>
          </a:prstGeom>
          <a:solidFill>
            <a:srgbClr val="5A6BFF">
              <a:alpha val="7000"/>
            </a:srgbClr>
          </a:solidFill>
          <a:ln w="12700">
            <a:solidFill>
              <a:srgbClr val="333333"/>
            </a:solidFill>
            <a:prstDash val="solid"/>
          </a:ln>
        </p:spPr>
        <p:txBody>
          <a:bodyPr/>
          <a:lstStyle/>
          <a:p>
            <a:endParaRPr lang="en-US"/>
          </a:p>
        </p:txBody>
      </p:sp>
      <p:sp>
        <p:nvSpPr>
          <p:cNvPr id="5" name="Shape 3"/>
          <p:cNvSpPr/>
          <p:nvPr/>
        </p:nvSpPr>
        <p:spPr>
          <a:xfrm>
            <a:off x="-365760" y="4389120"/>
            <a:ext cx="3291840" cy="3291840"/>
          </a:xfrm>
          <a:prstGeom prst="ellipse">
            <a:avLst/>
          </a:prstGeom>
          <a:solidFill>
            <a:srgbClr val="5A6BFF">
              <a:alpha val="12000"/>
            </a:srgbClr>
          </a:solidFill>
          <a:ln w="12700">
            <a:solidFill>
              <a:srgbClr val="333333"/>
            </a:solidFill>
            <a:prstDash val="solid"/>
          </a:ln>
        </p:spPr>
        <p:txBody>
          <a:bodyPr/>
          <a:lstStyle/>
          <a:p>
            <a:endParaRPr lang="en-US"/>
          </a:p>
        </p:txBody>
      </p:sp>
      <p:pic>
        <p:nvPicPr>
          <p:cNvPr id="6" name="Image 0" descr="C:/Users/neuma_p1qrsic/Repo/agentic-ops1/.scratch/brisken-logo-light.png"/>
          <p:cNvPicPr>
            <a:picLocks noChangeAspect="1"/>
          </p:cNvPicPr>
          <p:nvPr/>
        </p:nvPicPr>
        <p:blipFill>
          <a:blip r:embed="rId3"/>
          <a:stretch>
            <a:fillRect/>
          </a:stretch>
        </p:blipFill>
        <p:spPr>
          <a:xfrm>
            <a:off x="566928" y="548640"/>
            <a:ext cx="1417320" cy="310896"/>
          </a:xfrm>
          <a:prstGeom prst="rect">
            <a:avLst/>
          </a:prstGeom>
        </p:spPr>
      </p:pic>
      <p:sp>
        <p:nvSpPr>
          <p:cNvPr id="7" name="Shape 4"/>
          <p:cNvSpPr/>
          <p:nvPr/>
        </p:nvSpPr>
        <p:spPr>
          <a:xfrm>
            <a:off x="566928" y="2624328"/>
            <a:ext cx="45720" cy="219456"/>
          </a:xfrm>
          <a:prstGeom prst="rect">
            <a:avLst/>
          </a:prstGeom>
          <a:solidFill>
            <a:srgbClr val="3BE3E0"/>
          </a:solidFill>
          <a:ln w="12700">
            <a:solidFill>
              <a:srgbClr val="333333"/>
            </a:solidFill>
            <a:prstDash val="solid"/>
          </a:ln>
        </p:spPr>
        <p:txBody>
          <a:bodyPr/>
          <a:lstStyle/>
          <a:p>
            <a:endParaRPr lang="en-US"/>
          </a:p>
        </p:txBody>
      </p:sp>
      <p:sp>
        <p:nvSpPr>
          <p:cNvPr id="8" name="Text 5"/>
          <p:cNvSpPr/>
          <p:nvPr/>
        </p:nvSpPr>
        <p:spPr>
          <a:xfrm>
            <a:off x="713232" y="2551176"/>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ONEPILOT · MARKET DATA HUB</a:t>
            </a:r>
            <a:endParaRPr lang="en-US" sz="1200" dirty="0"/>
          </a:p>
        </p:txBody>
      </p:sp>
      <p:sp>
        <p:nvSpPr>
          <p:cNvPr id="9" name="Text 6"/>
          <p:cNvSpPr/>
          <p:nvPr/>
        </p:nvSpPr>
        <p:spPr>
          <a:xfrm>
            <a:off x="539496" y="2880360"/>
            <a:ext cx="10972800" cy="1371600"/>
          </a:xfrm>
          <a:prstGeom prst="rect">
            <a:avLst/>
          </a:prstGeom>
          <a:noFill/>
          <a:ln/>
        </p:spPr>
        <p:txBody>
          <a:bodyPr wrap="square" rtlCol="0" anchor="ctr"/>
          <a:lstStyle/>
          <a:p>
            <a:pPr marL="0" indent="0">
              <a:buNone/>
            </a:pPr>
            <a:r>
              <a:rPr lang="en-US" sz="7000" b="1" dirty="0">
                <a:solidFill>
                  <a:srgbClr val="F3F6FB"/>
                </a:solidFill>
                <a:latin typeface="Segoe UI Semibold" pitchFamily="34" charset="0"/>
                <a:ea typeface="Segoe UI Semibold" pitchFamily="34" charset="-122"/>
                <a:cs typeface="Segoe UI Semibold" pitchFamily="34" charset="-120"/>
              </a:rPr>
              <a:t>Market Data Hub</a:t>
            </a:r>
            <a:endParaRPr lang="en-US" sz="7000" dirty="0"/>
          </a:p>
        </p:txBody>
      </p:sp>
      <p:sp>
        <p:nvSpPr>
          <p:cNvPr id="10" name="Text 7"/>
          <p:cNvSpPr/>
          <p:nvPr/>
        </p:nvSpPr>
        <p:spPr>
          <a:xfrm>
            <a:off x="566928" y="4206240"/>
            <a:ext cx="10241280" cy="822960"/>
          </a:xfrm>
          <a:prstGeom prst="rect">
            <a:avLst/>
          </a:prstGeom>
          <a:noFill/>
          <a:ln/>
        </p:spPr>
        <p:txBody>
          <a:bodyPr wrap="square" rtlCol="0" anchor="t"/>
          <a:lstStyle/>
          <a:p>
            <a:pPr marL="0" indent="0">
              <a:lnSpc>
                <a:spcPct val="115000"/>
              </a:lnSpc>
              <a:buNone/>
            </a:pPr>
            <a:r>
              <a:rPr lang="en-US" sz="2000" dirty="0">
                <a:solidFill>
                  <a:srgbClr val="AAB6C7"/>
                </a:solidFill>
                <a:latin typeface="Segoe UI" pitchFamily="34" charset="0"/>
                <a:ea typeface="Segoe UI" pitchFamily="34" charset="-122"/>
                <a:cs typeface="Segoe UI" pitchFamily="34" charset="-120"/>
              </a:rPr>
              <a:t>Every rate and reference you rely on, from any source to every system. </a:t>
            </a:r>
            <a:r>
              <a:rPr lang="en-US" sz="2000" dirty="0">
                <a:solidFill>
                  <a:srgbClr val="3BE3E0"/>
                </a:solidFill>
                <a:latin typeface="Segoe UI" pitchFamily="34" charset="0"/>
                <a:ea typeface="Segoe UI" pitchFamily="34" charset="-122"/>
                <a:cs typeface="Segoe UI" pitchFamily="34" charset="-120"/>
              </a:rPr>
              <a:t>Curated once, governed end to end.</a:t>
            </a:r>
            <a:endParaRPr lang="en-US" sz="2000" dirty="0"/>
          </a:p>
        </p:txBody>
      </p:sp>
      <p:sp>
        <p:nvSpPr>
          <p:cNvPr id="11" name="Shape 8"/>
          <p:cNvSpPr/>
          <p:nvPr/>
        </p:nvSpPr>
        <p:spPr>
          <a:xfrm>
            <a:off x="566928" y="5532120"/>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2" name="Image 1" descr="C:/Users/neuma_p1qrsic/Repo/agentic-ops1/.scratch/icons/venue.png"/>
          <p:cNvPicPr>
            <a:picLocks noChangeAspect="1"/>
          </p:cNvPicPr>
          <p:nvPr/>
        </p:nvPicPr>
        <p:blipFill>
          <a:blip r:embed="rId4"/>
          <a:stretch>
            <a:fillRect/>
          </a:stretch>
        </p:blipFill>
        <p:spPr>
          <a:xfrm>
            <a:off x="702991" y="5668183"/>
            <a:ext cx="294803" cy="294803"/>
          </a:xfrm>
          <a:prstGeom prst="rect">
            <a:avLst/>
          </a:prstGeom>
        </p:spPr>
      </p:pic>
      <p:sp>
        <p:nvSpPr>
          <p:cNvPr id="13" name="Text 9"/>
          <p:cNvSpPr/>
          <p:nvPr/>
        </p:nvSpPr>
        <p:spPr>
          <a:xfrm>
            <a:off x="1252728" y="5532120"/>
            <a:ext cx="2560320" cy="566928"/>
          </a:xfrm>
          <a:prstGeom prst="rect">
            <a:avLst/>
          </a:prstGeom>
          <a:noFill/>
          <a:ln/>
        </p:spPr>
        <p:txBody>
          <a:bodyPr wrap="square" rtlCol="0" anchor="ctr"/>
          <a:lstStyle/>
          <a:p>
            <a:pPr marL="0" indent="0">
              <a:buNone/>
            </a:pPr>
            <a:r>
              <a:rPr lang="en-US" sz="1300" dirty="0">
                <a:solidFill>
                  <a:srgbClr val="F3F6FB"/>
                </a:solidFill>
                <a:latin typeface="Segoe UI" pitchFamily="34" charset="0"/>
                <a:ea typeface="Segoe UI" pitchFamily="34" charset="-122"/>
                <a:cs typeface="Segoe UI" pitchFamily="34" charset="-120"/>
              </a:rPr>
              <a:t>Your data sources</a:t>
            </a:r>
            <a:endParaRPr lang="en-US" sz="1300" dirty="0"/>
          </a:p>
        </p:txBody>
      </p:sp>
      <p:sp>
        <p:nvSpPr>
          <p:cNvPr id="14" name="Shape 10"/>
          <p:cNvSpPr/>
          <p:nvPr/>
        </p:nvSpPr>
        <p:spPr>
          <a:xfrm>
            <a:off x="3813048" y="5815584"/>
            <a:ext cx="640080" cy="0"/>
          </a:xfrm>
          <a:prstGeom prst="line">
            <a:avLst/>
          </a:prstGeom>
          <a:noFill/>
          <a:ln w="25400">
            <a:solidFill>
              <a:srgbClr val="3BE3E0"/>
            </a:solidFill>
            <a:prstDash val="solid"/>
            <a:tailEnd type="triangle"/>
          </a:ln>
        </p:spPr>
        <p:txBody>
          <a:bodyPr/>
          <a:lstStyle/>
          <a:p>
            <a:endParaRPr lang="en-US"/>
          </a:p>
        </p:txBody>
      </p:sp>
      <p:sp>
        <p:nvSpPr>
          <p:cNvPr id="15" name="Text 11"/>
          <p:cNvSpPr/>
          <p:nvPr/>
        </p:nvSpPr>
        <p:spPr>
          <a:xfrm>
            <a:off x="4544568" y="5532120"/>
            <a:ext cx="2011680" cy="566928"/>
          </a:xfrm>
          <a:prstGeom prst="rect">
            <a:avLst/>
          </a:prstGeom>
          <a:noFill/>
          <a:ln/>
        </p:spPr>
        <p:txBody>
          <a:bodyPr wrap="square" rtlCol="0" anchor="ctr"/>
          <a:lstStyle/>
          <a:p>
            <a:pPr marL="0" indent="0" algn="ctr">
              <a:buNone/>
            </a:pPr>
            <a:r>
              <a:rPr lang="en-US" sz="1200" i="1" dirty="0">
                <a:solidFill>
                  <a:srgbClr val="3BE3E0"/>
                </a:solidFill>
                <a:latin typeface="Segoe UI" pitchFamily="34" charset="0"/>
                <a:ea typeface="Segoe UI" pitchFamily="34" charset="-122"/>
                <a:cs typeface="Segoe UI" pitchFamily="34" charset="-120"/>
              </a:rPr>
              <a:t>Market Data Hub</a:t>
            </a:r>
            <a:endParaRPr lang="en-US" sz="1200" dirty="0"/>
          </a:p>
        </p:txBody>
      </p:sp>
      <p:sp>
        <p:nvSpPr>
          <p:cNvPr id="16" name="Shape 12"/>
          <p:cNvSpPr/>
          <p:nvPr/>
        </p:nvSpPr>
        <p:spPr>
          <a:xfrm>
            <a:off x="6510528" y="5815584"/>
            <a:ext cx="640080" cy="0"/>
          </a:xfrm>
          <a:prstGeom prst="line">
            <a:avLst/>
          </a:prstGeom>
          <a:noFill/>
          <a:ln w="25400">
            <a:solidFill>
              <a:srgbClr val="3BE3E0"/>
            </a:solidFill>
            <a:prstDash val="solid"/>
            <a:tailEnd type="triangle"/>
          </a:ln>
        </p:spPr>
        <p:txBody>
          <a:bodyPr/>
          <a:lstStyle/>
          <a:p>
            <a:endParaRPr lang="en-US"/>
          </a:p>
        </p:txBody>
      </p:sp>
      <p:sp>
        <p:nvSpPr>
          <p:cNvPr id="17" name="Shape 13"/>
          <p:cNvSpPr/>
          <p:nvPr/>
        </p:nvSpPr>
        <p:spPr>
          <a:xfrm>
            <a:off x="7287768" y="5532120"/>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8" name="Image 2" descr="C:/Users/neuma_p1qrsic/Repo/agentic-ops1/.scratch/icons/database.png"/>
          <p:cNvPicPr>
            <a:picLocks noChangeAspect="1"/>
          </p:cNvPicPr>
          <p:nvPr/>
        </p:nvPicPr>
        <p:blipFill>
          <a:blip r:embed="rId5"/>
          <a:stretch>
            <a:fillRect/>
          </a:stretch>
        </p:blipFill>
        <p:spPr>
          <a:xfrm>
            <a:off x="7423831" y="5668183"/>
            <a:ext cx="294803" cy="294803"/>
          </a:xfrm>
          <a:prstGeom prst="rect">
            <a:avLst/>
          </a:prstGeom>
        </p:spPr>
      </p:pic>
      <p:sp>
        <p:nvSpPr>
          <p:cNvPr id="19" name="Text 14"/>
          <p:cNvSpPr/>
          <p:nvPr/>
        </p:nvSpPr>
        <p:spPr>
          <a:xfrm>
            <a:off x="7973568" y="5532120"/>
            <a:ext cx="3108960" cy="566928"/>
          </a:xfrm>
          <a:prstGeom prst="rect">
            <a:avLst/>
          </a:prstGeom>
          <a:noFill/>
          <a:ln/>
        </p:spPr>
        <p:txBody>
          <a:bodyPr wrap="square" rtlCol="0" anchor="ctr"/>
          <a:lstStyle/>
          <a:p>
            <a:pPr marL="0" indent="0">
              <a:buNone/>
            </a:pPr>
            <a:r>
              <a:rPr lang="en-US" sz="1300" dirty="0">
                <a:solidFill>
                  <a:srgbClr val="F3F6FB"/>
                </a:solidFill>
                <a:latin typeface="Segoe UI" pitchFamily="34" charset="0"/>
                <a:ea typeface="Segoe UI" pitchFamily="34" charset="-122"/>
                <a:cs typeface="Segoe UI" pitchFamily="34" charset="-120"/>
              </a:rPr>
              <a:t>Every system, SAP and beyond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THE PROBLEM</a:t>
            </a:r>
            <a:endParaRPr lang="en-US" sz="1200" dirty="0"/>
          </a:p>
        </p:txBody>
      </p:sp>
      <p:sp>
        <p:nvSpPr>
          <p:cNvPr id="4" name="Text 2"/>
          <p:cNvSpPr/>
          <p:nvPr/>
        </p:nvSpPr>
        <p:spPr>
          <a:xfrm>
            <a:off x="566928" y="960120"/>
            <a:ext cx="10881360" cy="1463040"/>
          </a:xfrm>
          <a:prstGeom prst="rect">
            <a:avLst/>
          </a:prstGeom>
          <a:noFill/>
          <a:ln/>
        </p:spPr>
        <p:txBody>
          <a:bodyPr wrap="square" rtlCol="0" anchor="ctr"/>
          <a:lstStyle/>
          <a:p>
            <a:pPr marL="0" indent="0">
              <a:lnSpc>
                <a:spcPct val="105000"/>
              </a:lnSpc>
              <a:buNone/>
            </a:pPr>
            <a:r>
              <a:rPr lang="en-US" sz="3300" b="1" dirty="0">
                <a:solidFill>
                  <a:srgbClr val="F3F6FB"/>
                </a:solidFill>
                <a:latin typeface="Segoe UI Semibold" pitchFamily="34" charset="0"/>
                <a:ea typeface="Segoe UI Semibold" pitchFamily="34" charset="-122"/>
                <a:cs typeface="Segoe UI Semibold" pitchFamily="34" charset="-120"/>
              </a:rPr>
              <a:t>Your rates live in a dozen places.
</a:t>
            </a:r>
            <a:r>
              <a:rPr lang="en-US" sz="3300" b="1" dirty="0">
                <a:solidFill>
                  <a:srgbClr val="3BE3E0"/>
                </a:solidFill>
                <a:latin typeface="Segoe UI Semibold" pitchFamily="34" charset="0"/>
                <a:ea typeface="Segoe UI Semibold" pitchFamily="34" charset="-122"/>
                <a:cs typeface="Segoe UI Semibold" pitchFamily="34" charset="-120"/>
              </a:rPr>
              <a:t>Someone lines them up by hand (kind of).</a:t>
            </a:r>
            <a:endParaRPr lang="en-US" sz="3300" dirty="0"/>
          </a:p>
        </p:txBody>
      </p:sp>
      <p:sp>
        <p:nvSpPr>
          <p:cNvPr id="5" name="Shape 3"/>
          <p:cNvSpPr/>
          <p:nvPr/>
        </p:nvSpPr>
        <p:spPr>
          <a:xfrm>
            <a:off x="566928" y="3246120"/>
            <a:ext cx="3246120" cy="1874520"/>
          </a:xfrm>
          <a:prstGeom prst="roundRect">
            <a:avLst>
              <a:gd name="adj" fmla="val 4390"/>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41248" y="3566160"/>
            <a:ext cx="603504" cy="603504"/>
          </a:xfrm>
          <a:prstGeom prst="roundRect">
            <a:avLst>
              <a:gd name="adj" fmla="val 16667"/>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venue.png"/>
          <p:cNvPicPr>
            <a:picLocks noChangeAspect="1"/>
          </p:cNvPicPr>
          <p:nvPr/>
        </p:nvPicPr>
        <p:blipFill>
          <a:blip r:embed="rId3"/>
          <a:stretch>
            <a:fillRect/>
          </a:stretch>
        </p:blipFill>
        <p:spPr>
          <a:xfrm>
            <a:off x="986089" y="3711001"/>
            <a:ext cx="313822" cy="313822"/>
          </a:xfrm>
          <a:prstGeom prst="rect">
            <a:avLst/>
          </a:prstGeom>
        </p:spPr>
      </p:pic>
      <p:sp>
        <p:nvSpPr>
          <p:cNvPr id="8" name="Text 5"/>
          <p:cNvSpPr/>
          <p:nvPr/>
        </p:nvSpPr>
        <p:spPr>
          <a:xfrm>
            <a:off x="841248" y="4343400"/>
            <a:ext cx="2697480" cy="365760"/>
          </a:xfrm>
          <a:prstGeom prst="rect">
            <a:avLst/>
          </a:prstGeom>
          <a:noFill/>
          <a:ln/>
        </p:spPr>
        <p:txBody>
          <a:bodyPr wrap="square" rtlCol="0" anchor="ctr"/>
          <a:lstStyle/>
          <a:p>
            <a:pPr marL="0" indent="0">
              <a:buNone/>
            </a:pPr>
            <a:r>
              <a:rPr lang="en-US" sz="1500" b="1" dirty="0">
                <a:solidFill>
                  <a:srgbClr val="F3F6FB"/>
                </a:solidFill>
                <a:latin typeface="Segoe UI Semibold" pitchFamily="34" charset="0"/>
                <a:ea typeface="Segoe UI Semibold" pitchFamily="34" charset="-122"/>
                <a:cs typeface="Segoe UI Semibold" pitchFamily="34" charset="-120"/>
              </a:rPr>
              <a:t>Your sources</a:t>
            </a:r>
            <a:endParaRPr lang="en-US" sz="1500" dirty="0"/>
          </a:p>
        </p:txBody>
      </p:sp>
      <p:sp>
        <p:nvSpPr>
          <p:cNvPr id="9" name="Text 6"/>
          <p:cNvSpPr/>
          <p:nvPr/>
        </p:nvSpPr>
        <p:spPr>
          <a:xfrm>
            <a:off x="841248" y="4663440"/>
            <a:ext cx="2697480" cy="457200"/>
          </a:xfrm>
          <a:prstGeom prst="rect">
            <a:avLst/>
          </a:prstGeom>
          <a:noFill/>
          <a:ln/>
        </p:spPr>
        <p:txBody>
          <a:bodyPr wrap="square" rtlCol="0" anchor="ctr"/>
          <a:lstStyle/>
          <a:p>
            <a:pPr marL="0" indent="0">
              <a:buNone/>
            </a:pPr>
            <a:r>
              <a:rPr lang="en-US" sz="1200" dirty="0">
                <a:solidFill>
                  <a:srgbClr val="AAB6C7"/>
                </a:solidFill>
                <a:latin typeface="Segoe UI" pitchFamily="34" charset="0"/>
                <a:ea typeface="Segoe UI" pitchFamily="34" charset="-122"/>
                <a:cs typeface="Segoe UI" pitchFamily="34" charset="-120"/>
              </a:rPr>
              <a:t>Bloomberg, Refinitiv, 360T, OANDA, central banks, websites, anywhere</a:t>
            </a:r>
            <a:endParaRPr lang="en-US" sz="1200" dirty="0"/>
          </a:p>
        </p:txBody>
      </p:sp>
      <p:sp>
        <p:nvSpPr>
          <p:cNvPr id="10" name="Shape 7"/>
          <p:cNvSpPr/>
          <p:nvPr/>
        </p:nvSpPr>
        <p:spPr>
          <a:xfrm>
            <a:off x="4270248" y="3246120"/>
            <a:ext cx="3657600" cy="1874520"/>
          </a:xfrm>
          <a:prstGeom prst="roundRect">
            <a:avLst>
              <a:gd name="adj" fmla="val 4390"/>
            </a:avLst>
          </a:prstGeom>
          <a:solidFill>
            <a:srgbClr val="24190E"/>
          </a:solidFill>
          <a:ln w="17780">
            <a:solidFill>
              <a:srgbClr val="FFC96B"/>
            </a:solidFill>
            <a:prstDash val="dash"/>
          </a:ln>
        </p:spPr>
        <p:txBody>
          <a:bodyPr/>
          <a:lstStyle/>
          <a:p>
            <a:endParaRPr lang="en-US"/>
          </a:p>
        </p:txBody>
      </p:sp>
      <p:pic>
        <p:nvPicPr>
          <p:cNvPr id="11" name="Image 1" descr="C:/Users/neuma_p1qrsic/Repo/agentic-ops1/.scratch/icons/gap.png"/>
          <p:cNvPicPr>
            <a:picLocks noChangeAspect="1"/>
          </p:cNvPicPr>
          <p:nvPr/>
        </p:nvPicPr>
        <p:blipFill>
          <a:blip r:embed="rId4"/>
          <a:stretch>
            <a:fillRect/>
          </a:stretch>
        </p:blipFill>
        <p:spPr>
          <a:xfrm>
            <a:off x="5797296" y="3538728"/>
            <a:ext cx="603504" cy="603504"/>
          </a:xfrm>
          <a:prstGeom prst="rect">
            <a:avLst/>
          </a:prstGeom>
        </p:spPr>
      </p:pic>
      <p:sp>
        <p:nvSpPr>
          <p:cNvPr id="12" name="Text 8"/>
          <p:cNvSpPr/>
          <p:nvPr/>
        </p:nvSpPr>
        <p:spPr>
          <a:xfrm>
            <a:off x="4270248" y="4270248"/>
            <a:ext cx="3657600" cy="365760"/>
          </a:xfrm>
          <a:prstGeom prst="rect">
            <a:avLst/>
          </a:prstGeom>
          <a:noFill/>
          <a:ln/>
        </p:spPr>
        <p:txBody>
          <a:bodyPr wrap="square" rtlCol="0" anchor="ctr"/>
          <a:lstStyle/>
          <a:p>
            <a:pPr marL="0" indent="0" algn="ctr">
              <a:buNone/>
            </a:pPr>
            <a:r>
              <a:rPr lang="en-US" sz="1500" b="1" dirty="0">
                <a:solidFill>
                  <a:srgbClr val="FFC96B"/>
                </a:solidFill>
                <a:latin typeface="Segoe UI Semibold" pitchFamily="34" charset="0"/>
                <a:ea typeface="Segoe UI Semibold" pitchFamily="34" charset="-122"/>
                <a:cs typeface="Segoe UI Semibold" pitchFamily="34" charset="-120"/>
              </a:rPr>
              <a:t>The manual middle</a:t>
            </a:r>
            <a:endParaRPr lang="en-US" sz="1500" dirty="0"/>
          </a:p>
        </p:txBody>
      </p:sp>
      <p:sp>
        <p:nvSpPr>
          <p:cNvPr id="13" name="Text 9"/>
          <p:cNvSpPr/>
          <p:nvPr/>
        </p:nvSpPr>
        <p:spPr>
          <a:xfrm>
            <a:off x="4374573" y="4617720"/>
            <a:ext cx="3449782" cy="457200"/>
          </a:xfrm>
          <a:prstGeom prst="rect">
            <a:avLst/>
          </a:prstGeom>
          <a:noFill/>
          <a:ln/>
        </p:spPr>
        <p:txBody>
          <a:bodyPr wrap="square" rtlCol="0" anchor="ctr"/>
          <a:lstStyle/>
          <a:p>
            <a:pPr marL="0" indent="0" algn="ctr">
              <a:lnSpc>
                <a:spcPct val="105000"/>
              </a:lnSpc>
              <a:buNone/>
            </a:pPr>
            <a:r>
              <a:rPr lang="en-US" sz="1200" dirty="0">
                <a:solidFill>
                  <a:srgbClr val="F3F6FB"/>
                </a:solidFill>
                <a:latin typeface="Segoe UI" pitchFamily="34" charset="0"/>
                <a:ea typeface="Segoe UI" pitchFamily="34" charset="-122"/>
                <a:cs typeface="Segoe UI" pitchFamily="34" charset="-120"/>
              </a:rPr>
              <a:t>re-keying rates, fixing formats, chasing bad values, reconciling by hand, fearing month-end</a:t>
            </a:r>
            <a:endParaRPr lang="en-US" sz="1200" dirty="0"/>
          </a:p>
        </p:txBody>
      </p:sp>
      <p:sp>
        <p:nvSpPr>
          <p:cNvPr id="14" name="Shape 10"/>
          <p:cNvSpPr/>
          <p:nvPr/>
        </p:nvSpPr>
        <p:spPr>
          <a:xfrm>
            <a:off x="8385048" y="3246120"/>
            <a:ext cx="3239719" cy="1874520"/>
          </a:xfrm>
          <a:prstGeom prst="roundRect">
            <a:avLst>
              <a:gd name="adj" fmla="val 4390"/>
            </a:avLst>
          </a:prstGeom>
          <a:solidFill>
            <a:srgbClr val="141A25"/>
          </a:solidFill>
          <a:ln w="13970">
            <a:solidFill>
              <a:srgbClr val="36414F"/>
            </a:solidFill>
            <a:prstDash val="solid"/>
          </a:ln>
        </p:spPr>
        <p:txBody>
          <a:bodyPr/>
          <a:lstStyle/>
          <a:p>
            <a:endParaRPr lang="en-US"/>
          </a:p>
        </p:txBody>
      </p:sp>
      <p:sp>
        <p:nvSpPr>
          <p:cNvPr id="15" name="Shape 11"/>
          <p:cNvSpPr/>
          <p:nvPr/>
        </p:nvSpPr>
        <p:spPr>
          <a:xfrm>
            <a:off x="8659368" y="3566160"/>
            <a:ext cx="603504" cy="603504"/>
          </a:xfrm>
          <a:prstGeom prst="roundRect">
            <a:avLst>
              <a:gd name="adj" fmla="val 16667"/>
            </a:avLst>
          </a:prstGeom>
          <a:solidFill>
            <a:srgbClr val="1B2330"/>
          </a:solidFill>
          <a:ln w="15240">
            <a:solidFill>
              <a:srgbClr val="3BE3E0"/>
            </a:solidFill>
            <a:prstDash val="solid"/>
          </a:ln>
        </p:spPr>
        <p:txBody>
          <a:bodyPr/>
          <a:lstStyle/>
          <a:p>
            <a:endParaRPr lang="en-US"/>
          </a:p>
        </p:txBody>
      </p:sp>
      <p:pic>
        <p:nvPicPr>
          <p:cNvPr id="16" name="Image 2" descr="C:/Users/neuma_p1qrsic/Repo/agentic-ops1/.scratch/icons/database.png"/>
          <p:cNvPicPr>
            <a:picLocks noChangeAspect="1"/>
          </p:cNvPicPr>
          <p:nvPr/>
        </p:nvPicPr>
        <p:blipFill>
          <a:blip r:embed="rId5"/>
          <a:stretch>
            <a:fillRect/>
          </a:stretch>
        </p:blipFill>
        <p:spPr>
          <a:xfrm>
            <a:off x="8804209" y="3711001"/>
            <a:ext cx="313822" cy="313822"/>
          </a:xfrm>
          <a:prstGeom prst="rect">
            <a:avLst/>
          </a:prstGeom>
        </p:spPr>
      </p:pic>
      <p:sp>
        <p:nvSpPr>
          <p:cNvPr id="17" name="Text 12"/>
          <p:cNvSpPr/>
          <p:nvPr/>
        </p:nvSpPr>
        <p:spPr>
          <a:xfrm>
            <a:off x="8659368" y="4343400"/>
            <a:ext cx="2691079" cy="365760"/>
          </a:xfrm>
          <a:prstGeom prst="rect">
            <a:avLst/>
          </a:prstGeom>
          <a:noFill/>
          <a:ln/>
        </p:spPr>
        <p:txBody>
          <a:bodyPr wrap="square" rtlCol="0" anchor="ctr"/>
          <a:lstStyle/>
          <a:p>
            <a:pPr marL="0" indent="0">
              <a:buNone/>
            </a:pPr>
            <a:r>
              <a:rPr lang="en-US" sz="1500" b="1" dirty="0">
                <a:solidFill>
                  <a:srgbClr val="F3F6FB"/>
                </a:solidFill>
                <a:latin typeface="Segoe UI Semibold" pitchFamily="34" charset="0"/>
                <a:ea typeface="Segoe UI Semibold" pitchFamily="34" charset="-122"/>
                <a:cs typeface="Segoe UI Semibold" pitchFamily="34" charset="-120"/>
              </a:rPr>
              <a:t>Your systems</a:t>
            </a:r>
            <a:endParaRPr lang="en-US" sz="1500" dirty="0"/>
          </a:p>
        </p:txBody>
      </p:sp>
      <p:sp>
        <p:nvSpPr>
          <p:cNvPr id="18" name="Text 13"/>
          <p:cNvSpPr/>
          <p:nvPr/>
        </p:nvSpPr>
        <p:spPr>
          <a:xfrm>
            <a:off x="8659368" y="4663440"/>
            <a:ext cx="2691079" cy="457200"/>
          </a:xfrm>
          <a:prstGeom prst="rect">
            <a:avLst/>
          </a:prstGeom>
          <a:noFill/>
          <a:ln/>
        </p:spPr>
        <p:txBody>
          <a:bodyPr wrap="square" rtlCol="0" anchor="ctr"/>
          <a:lstStyle/>
          <a:p>
            <a:pPr marL="0" indent="0">
              <a:buNone/>
            </a:pPr>
            <a:r>
              <a:rPr lang="en-US" sz="1200" dirty="0">
                <a:solidFill>
                  <a:srgbClr val="AAB6C7"/>
                </a:solidFill>
                <a:latin typeface="Segoe UI" pitchFamily="34" charset="0"/>
                <a:ea typeface="Segoe UI" pitchFamily="34" charset="-122"/>
                <a:cs typeface="Segoe UI" pitchFamily="34" charset="-120"/>
              </a:rPr>
              <a:t>SAP, analytics, non-SAP apps, everywhere</a:t>
            </a:r>
            <a:endParaRPr lang="en-US" sz="1200" dirty="0"/>
          </a:p>
        </p:txBody>
      </p:sp>
      <p:sp>
        <p:nvSpPr>
          <p:cNvPr id="19" name="Shape 14"/>
          <p:cNvSpPr/>
          <p:nvPr/>
        </p:nvSpPr>
        <p:spPr>
          <a:xfrm>
            <a:off x="3813048" y="4183380"/>
            <a:ext cx="457200" cy="0"/>
          </a:xfrm>
          <a:prstGeom prst="line">
            <a:avLst/>
          </a:prstGeom>
          <a:noFill/>
          <a:ln w="25400">
            <a:solidFill>
              <a:srgbClr val="FFC96B"/>
            </a:solidFill>
            <a:prstDash val="solid"/>
            <a:tailEnd type="triangle"/>
          </a:ln>
        </p:spPr>
        <p:txBody>
          <a:bodyPr/>
          <a:lstStyle/>
          <a:p>
            <a:endParaRPr lang="en-US"/>
          </a:p>
        </p:txBody>
      </p:sp>
      <p:sp>
        <p:nvSpPr>
          <p:cNvPr id="20" name="Shape 15"/>
          <p:cNvSpPr/>
          <p:nvPr/>
        </p:nvSpPr>
        <p:spPr>
          <a:xfrm>
            <a:off x="7927848" y="4183380"/>
            <a:ext cx="457200" cy="0"/>
          </a:xfrm>
          <a:prstGeom prst="line">
            <a:avLst/>
          </a:prstGeom>
          <a:noFill/>
          <a:ln w="25400">
            <a:solidFill>
              <a:srgbClr val="FFC96B"/>
            </a:solidFill>
            <a:prstDash val="solid"/>
            <a:tailEnd type="triangle"/>
          </a:ln>
        </p:spPr>
        <p:txBody>
          <a:bodyPr/>
          <a:lstStyle/>
          <a:p>
            <a:endParaRPr lang="en-US"/>
          </a:p>
        </p:txBody>
      </p:sp>
      <p:sp>
        <p:nvSpPr>
          <p:cNvPr id="21" name="Text 16"/>
          <p:cNvSpPr/>
          <p:nvPr/>
        </p:nvSpPr>
        <p:spPr>
          <a:xfrm>
            <a:off x="566928" y="5532120"/>
            <a:ext cx="11057839" cy="457200"/>
          </a:xfrm>
          <a:prstGeom prst="rect">
            <a:avLst/>
          </a:prstGeom>
          <a:noFill/>
          <a:ln/>
        </p:spPr>
        <p:txBody>
          <a:bodyPr wrap="square" rtlCol="0" anchor="ctr"/>
          <a:lstStyle/>
          <a:p>
            <a:pPr marL="0" indent="0">
              <a:buNone/>
            </a:pPr>
            <a:r>
              <a:rPr lang="en-US" sz="1600" b="1" dirty="0">
                <a:solidFill>
                  <a:srgbClr val="FFC96B"/>
                </a:solidFill>
                <a:latin typeface="Segoe UI Semibold" pitchFamily="34" charset="0"/>
                <a:ea typeface="Segoe UI Semibold" pitchFamily="34" charset="-122"/>
                <a:cs typeface="Segoe UI Semibold" pitchFamily="34" charset="-120"/>
              </a:rPr>
              <a:t>Sound familiar? Late nights stitching rates together, a month-end everyone dreads, and reports that never stay final.</a:t>
            </a:r>
            <a:endParaRPr lang="en-US" sz="1600" dirty="0"/>
          </a:p>
        </p:txBody>
      </p:sp>
      <p:sp>
        <p:nvSpPr>
          <p:cNvPr id="22" name="Text 17"/>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23" name="Text 18"/>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03 / 12</a:t>
            </a:r>
            <a:endParaRPr lang="en-US" sz="900" dirty="0"/>
          </a:p>
        </p:txBody>
      </p:sp>
      <p:sp>
        <p:nvSpPr>
          <p:cNvPr id="24" name="Shape 19"/>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2425551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B0E14"/>
        </a:solidFill>
        <a:effectLst/>
      </p:bgPr>
    </p:bg>
    <p:spTree>
      <p:nvGrpSpPr>
        <p:cNvPr id="1" name=""/>
        <p:cNvGrpSpPr/>
        <p:nvPr/>
      </p:nvGrpSpPr>
      <p:grpSpPr>
        <a:xfrm>
          <a:off x="0" y="0"/>
          <a:ext cx="0" cy="0"/>
          <a:chOff x="0" y="0"/>
          <a:chExt cx="0" cy="0"/>
        </a:xfrm>
      </p:grpSpPr>
      <p:pic>
        <p:nvPicPr>
          <p:cNvPr id="2" name="Image 0" descr="C:/Users/neuma_p1qrsic/Repo/agentic-ops1/.scratch/logo/favicon.png"/>
          <p:cNvPicPr>
            <a:picLocks noChangeAspect="1"/>
          </p:cNvPicPr>
          <p:nvPr/>
        </p:nvPicPr>
        <p:blipFill>
          <a:blip r:embed="rId3"/>
          <a:stretch>
            <a:fillRect/>
          </a:stretch>
        </p:blipFill>
        <p:spPr>
          <a:xfrm>
            <a:off x="11313871" y="502920"/>
            <a:ext cx="310896" cy="310896"/>
          </a:xfrm>
          <a:prstGeom prst="rect">
            <a:avLst/>
          </a:prstGeom>
        </p:spPr>
      </p:pic>
      <p:sp>
        <p:nvSpPr>
          <p:cNvPr id="3"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4"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THE FIX</a:t>
            </a:r>
            <a:endParaRPr lang="en-US" sz="1200" dirty="0"/>
          </a:p>
        </p:txBody>
      </p:sp>
      <p:sp>
        <p:nvSpPr>
          <p:cNvPr id="5" name="Text 2"/>
          <p:cNvSpPr/>
          <p:nvPr/>
        </p:nvSpPr>
        <p:spPr>
          <a:xfrm>
            <a:off x="566928" y="960120"/>
            <a:ext cx="10881360" cy="822960"/>
          </a:xfrm>
          <a:prstGeom prst="rect">
            <a:avLst/>
          </a:prstGeom>
          <a:noFill/>
          <a:ln/>
        </p:spPr>
        <p:txBody>
          <a:bodyPr wrap="square" rtlCol="0" anchor="ctr"/>
          <a:lstStyle/>
          <a:p>
            <a:pPr marL="0" indent="0">
              <a:lnSpc>
                <a:spcPct val="105000"/>
              </a:lnSpc>
              <a:buNone/>
            </a:pPr>
            <a:r>
              <a:rPr lang="en-US" sz="3000" b="1" dirty="0">
                <a:solidFill>
                  <a:srgbClr val="F3F6FB"/>
                </a:solidFill>
                <a:latin typeface="Segoe UI Semibold" pitchFamily="34" charset="0"/>
                <a:ea typeface="Segoe UI Semibold" pitchFamily="34" charset="-122"/>
                <a:cs typeface="Segoe UI Semibold" pitchFamily="34" charset="-120"/>
              </a:rPr>
              <a:t>So we built the fix.
</a:t>
            </a:r>
            <a:r>
              <a:rPr lang="en-US" sz="3000" b="1" dirty="0">
                <a:solidFill>
                  <a:srgbClr val="3BE3E0"/>
                </a:solidFill>
                <a:latin typeface="Segoe UI Semibold" pitchFamily="34" charset="0"/>
                <a:ea typeface="Segoe UI Semibold" pitchFamily="34" charset="-122"/>
                <a:cs typeface="Segoe UI Semibold" pitchFamily="34" charset="-120"/>
              </a:rPr>
              <a:t>One governed layer for SAP Treasury.</a:t>
            </a:r>
            <a:endParaRPr lang="en-US" sz="3000" dirty="0"/>
          </a:p>
        </p:txBody>
      </p:sp>
      <p:sp>
        <p:nvSpPr>
          <p:cNvPr id="6" name="Shape 3"/>
          <p:cNvSpPr/>
          <p:nvPr/>
        </p:nvSpPr>
        <p:spPr>
          <a:xfrm>
            <a:off x="566928"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7" name="Shape 4"/>
          <p:cNvSpPr/>
          <p:nvPr/>
        </p:nvSpPr>
        <p:spPr>
          <a:xfrm>
            <a:off x="841248"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8" name="Image 1" descr="C:/Users/neuma_p1qrsic/Repo/agentic-ops1/.scratch/icons/shield.png"/>
          <p:cNvPicPr>
            <a:picLocks noChangeAspect="1"/>
          </p:cNvPicPr>
          <p:nvPr/>
        </p:nvPicPr>
        <p:blipFill>
          <a:blip r:embed="rId4"/>
          <a:stretch>
            <a:fillRect/>
          </a:stretch>
        </p:blipFill>
        <p:spPr>
          <a:xfrm>
            <a:off x="990478" y="2590678"/>
            <a:ext cx="323332" cy="323332"/>
          </a:xfrm>
          <a:prstGeom prst="rect">
            <a:avLst/>
          </a:prstGeom>
        </p:spPr>
      </p:pic>
      <p:sp>
        <p:nvSpPr>
          <p:cNvPr id="9" name="Text 5"/>
          <p:cNvSpPr/>
          <p:nvPr/>
        </p:nvSpPr>
        <p:spPr>
          <a:xfrm>
            <a:off x="841248"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Built into SAP</a:t>
            </a:r>
            <a:endParaRPr lang="en-US" sz="1850" dirty="0"/>
          </a:p>
        </p:txBody>
      </p:sp>
      <p:sp>
        <p:nvSpPr>
          <p:cNvPr id="10" name="Text 6"/>
          <p:cNvSpPr/>
          <p:nvPr/>
        </p:nvSpPr>
        <p:spPr>
          <a:xfrm>
            <a:off x="841248"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An SAP co-innovation partner. The hub runs natively within SAP’s own cloud infrastructure, so it sits inside your landscape, not beside it.</a:t>
            </a:r>
            <a:endParaRPr lang="en-US" sz="1300" dirty="0"/>
          </a:p>
        </p:txBody>
      </p:sp>
      <p:sp>
        <p:nvSpPr>
          <p:cNvPr id="11" name="Shape 7"/>
          <p:cNvSpPr/>
          <p:nvPr/>
        </p:nvSpPr>
        <p:spPr>
          <a:xfrm>
            <a:off x="4359554"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12" name="Shape 8"/>
          <p:cNvSpPr/>
          <p:nvPr/>
        </p:nvSpPr>
        <p:spPr>
          <a:xfrm>
            <a:off x="4633874"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13" name="Image 2" descr="C:/Users/neuma_p1qrsic/Repo/agentic-ops1/.scratch/icons/globe.png"/>
          <p:cNvPicPr>
            <a:picLocks noChangeAspect="1"/>
          </p:cNvPicPr>
          <p:nvPr/>
        </p:nvPicPr>
        <p:blipFill>
          <a:blip r:embed="rId5"/>
          <a:stretch>
            <a:fillRect/>
          </a:stretch>
        </p:blipFill>
        <p:spPr>
          <a:xfrm>
            <a:off x="4783104" y="2590678"/>
            <a:ext cx="323332" cy="323332"/>
          </a:xfrm>
          <a:prstGeom prst="rect">
            <a:avLst/>
          </a:prstGeom>
        </p:spPr>
      </p:pic>
      <p:sp>
        <p:nvSpPr>
          <p:cNvPr id="14" name="Text 9"/>
          <p:cNvSpPr/>
          <p:nvPr/>
        </p:nvSpPr>
        <p:spPr>
          <a:xfrm>
            <a:off x="4633874"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Any source, any system</a:t>
            </a:r>
            <a:endParaRPr lang="en-US" sz="1850" dirty="0"/>
          </a:p>
        </p:txBody>
      </p:sp>
      <p:sp>
        <p:nvSpPr>
          <p:cNvPr id="15" name="Text 10"/>
          <p:cNvSpPr/>
          <p:nvPr/>
        </p:nvSpPr>
        <p:spPr>
          <a:xfrm>
            <a:off x="4633874"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Provider and target agnostic. Pull from any feed, push to any system, SAP or not, and change your sources any time.</a:t>
            </a:r>
            <a:endParaRPr lang="en-US" sz="1300" dirty="0"/>
          </a:p>
        </p:txBody>
      </p:sp>
      <p:sp>
        <p:nvSpPr>
          <p:cNvPr id="16" name="Shape 11"/>
          <p:cNvSpPr/>
          <p:nvPr/>
        </p:nvSpPr>
        <p:spPr>
          <a:xfrm>
            <a:off x="8152181" y="2148840"/>
            <a:ext cx="3472586" cy="2788920"/>
          </a:xfrm>
          <a:prstGeom prst="roundRect">
            <a:avLst>
              <a:gd name="adj" fmla="val 2951"/>
            </a:avLst>
          </a:prstGeom>
          <a:solidFill>
            <a:srgbClr val="141A25"/>
          </a:solidFill>
          <a:ln w="13970">
            <a:solidFill>
              <a:srgbClr val="36414F"/>
            </a:solidFill>
            <a:prstDash val="solid"/>
          </a:ln>
        </p:spPr>
        <p:txBody>
          <a:bodyPr/>
          <a:lstStyle/>
          <a:p>
            <a:endParaRPr lang="en-US"/>
          </a:p>
        </p:txBody>
      </p:sp>
      <p:sp>
        <p:nvSpPr>
          <p:cNvPr id="17" name="Shape 12"/>
          <p:cNvSpPr/>
          <p:nvPr/>
        </p:nvSpPr>
        <p:spPr>
          <a:xfrm>
            <a:off x="8426501" y="2441448"/>
            <a:ext cx="621792" cy="621792"/>
          </a:xfrm>
          <a:prstGeom prst="roundRect">
            <a:avLst>
              <a:gd name="adj" fmla="val 16176"/>
            </a:avLst>
          </a:prstGeom>
          <a:solidFill>
            <a:srgbClr val="1B2330"/>
          </a:solidFill>
          <a:ln w="15240">
            <a:solidFill>
              <a:srgbClr val="3BE3E0"/>
            </a:solidFill>
            <a:prstDash val="solid"/>
          </a:ln>
        </p:spPr>
        <p:txBody>
          <a:bodyPr/>
          <a:lstStyle/>
          <a:p>
            <a:endParaRPr lang="en-US"/>
          </a:p>
        </p:txBody>
      </p:sp>
      <p:pic>
        <p:nvPicPr>
          <p:cNvPr id="18" name="Image 3" descr="C:/Users/neuma_p1qrsic/Repo/agentic-ops1/.scratch/icons/blocks.png"/>
          <p:cNvPicPr>
            <a:picLocks noChangeAspect="1"/>
          </p:cNvPicPr>
          <p:nvPr/>
        </p:nvPicPr>
        <p:blipFill>
          <a:blip r:embed="rId6"/>
          <a:stretch>
            <a:fillRect/>
          </a:stretch>
        </p:blipFill>
        <p:spPr>
          <a:xfrm>
            <a:off x="8575731" y="2590678"/>
            <a:ext cx="323332" cy="323332"/>
          </a:xfrm>
          <a:prstGeom prst="rect">
            <a:avLst/>
          </a:prstGeom>
        </p:spPr>
      </p:pic>
      <p:sp>
        <p:nvSpPr>
          <p:cNvPr id="19" name="Text 13"/>
          <p:cNvSpPr/>
          <p:nvPr/>
        </p:nvSpPr>
        <p:spPr>
          <a:xfrm>
            <a:off x="8426501" y="3191256"/>
            <a:ext cx="2923946" cy="457200"/>
          </a:xfrm>
          <a:prstGeom prst="rect">
            <a:avLst/>
          </a:prstGeom>
          <a:noFill/>
          <a:ln/>
        </p:spPr>
        <p:txBody>
          <a:bodyPr wrap="square" rtlCol="0" anchor="ctr"/>
          <a:lstStyle/>
          <a:p>
            <a:pPr marL="0" indent="0">
              <a:buNone/>
            </a:pPr>
            <a:r>
              <a:rPr lang="en-US" sz="1850" b="1" dirty="0">
                <a:solidFill>
                  <a:srgbClr val="F3F6FB"/>
                </a:solidFill>
                <a:latin typeface="Segoe UI Semibold" pitchFamily="34" charset="0"/>
                <a:ea typeface="Segoe UI Semibold" pitchFamily="34" charset="-122"/>
                <a:cs typeface="Segoe UI Semibold" pitchFamily="34" charset="-120"/>
              </a:rPr>
              <a:t>Beyond market data</a:t>
            </a:r>
            <a:endParaRPr lang="en-US" sz="1850" dirty="0"/>
          </a:p>
        </p:txBody>
      </p:sp>
      <p:sp>
        <p:nvSpPr>
          <p:cNvPr id="20" name="Text 14"/>
          <p:cNvSpPr/>
          <p:nvPr/>
        </p:nvSpPr>
        <p:spPr>
          <a:xfrm>
            <a:off x="8426501" y="3630168"/>
            <a:ext cx="2923946" cy="1143000"/>
          </a:xfrm>
          <a:prstGeom prst="rect">
            <a:avLst/>
          </a:prstGeom>
          <a:noFill/>
          <a:ln/>
        </p:spPr>
        <p:txBody>
          <a:bodyPr wrap="square" rtlCol="0" anchor="t"/>
          <a:lstStyle/>
          <a:p>
            <a:pPr marL="0" indent="0">
              <a:lnSpc>
                <a:spcPct val="116000"/>
              </a:lnSpc>
              <a:buNone/>
            </a:pPr>
            <a:r>
              <a:rPr lang="en-US" sz="1300" dirty="0">
                <a:solidFill>
                  <a:srgbClr val="AAB6C7"/>
                </a:solidFill>
                <a:latin typeface="Segoe UI" pitchFamily="34" charset="0"/>
                <a:ea typeface="Segoe UI" pitchFamily="34" charset="-122"/>
                <a:cs typeface="Segoe UI" pitchFamily="34" charset="-120"/>
              </a:rPr>
              <a:t>Not only rates. Credit risk, security master, ESG and climate data, all governed in one place, with no code to run it.</a:t>
            </a:r>
            <a:endParaRPr lang="en-US" sz="1300" dirty="0"/>
          </a:p>
        </p:txBody>
      </p:sp>
      <p:sp>
        <p:nvSpPr>
          <p:cNvPr id="21" name="Text 15"/>
          <p:cNvSpPr/>
          <p:nvPr/>
        </p:nvSpPr>
        <p:spPr>
          <a:xfrm>
            <a:off x="566928" y="5349240"/>
            <a:ext cx="1371600" cy="777240"/>
          </a:xfrm>
          <a:prstGeom prst="rect">
            <a:avLst/>
          </a:prstGeom>
          <a:noFill/>
          <a:ln/>
        </p:spPr>
        <p:txBody>
          <a:bodyPr wrap="square" rtlCol="0" anchor="ctr"/>
          <a:lstStyle/>
          <a:p>
            <a:pPr marL="0" indent="0">
              <a:buNone/>
            </a:pPr>
            <a:r>
              <a:rPr lang="en-US" sz="3800" b="1" dirty="0">
                <a:solidFill>
                  <a:srgbClr val="3BE3E0"/>
                </a:solidFill>
                <a:latin typeface="Segoe UI Semibold" pitchFamily="34" charset="0"/>
                <a:ea typeface="Segoe UI Semibold" pitchFamily="34" charset="-122"/>
                <a:cs typeface="Segoe UI Semibold" pitchFamily="34" charset="-120"/>
              </a:rPr>
              <a:t>1</a:t>
            </a:r>
            <a:endParaRPr lang="en-US" sz="3800" dirty="0"/>
          </a:p>
        </p:txBody>
      </p:sp>
      <p:sp>
        <p:nvSpPr>
          <p:cNvPr id="22" name="Text 16"/>
          <p:cNvSpPr/>
          <p:nvPr/>
        </p:nvSpPr>
        <p:spPr>
          <a:xfrm>
            <a:off x="1892808" y="5349240"/>
            <a:ext cx="214670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hub for every source and system</a:t>
            </a:r>
            <a:endParaRPr lang="en-US" sz="1250" dirty="0"/>
          </a:p>
        </p:txBody>
      </p:sp>
      <p:sp>
        <p:nvSpPr>
          <p:cNvPr id="23" name="Text 17"/>
          <p:cNvSpPr/>
          <p:nvPr/>
        </p:nvSpPr>
        <p:spPr>
          <a:xfrm>
            <a:off x="4359554" y="5349240"/>
            <a:ext cx="1371600" cy="777240"/>
          </a:xfrm>
          <a:prstGeom prst="rect">
            <a:avLst/>
          </a:prstGeom>
          <a:noFill/>
          <a:ln/>
        </p:spPr>
        <p:txBody>
          <a:bodyPr wrap="square" rtlCol="0" anchor="ctr"/>
          <a:lstStyle/>
          <a:p>
            <a:pPr marL="0" indent="0">
              <a:buNone/>
            </a:pPr>
            <a:r>
              <a:rPr lang="en-US" sz="3800" b="1" dirty="0">
                <a:solidFill>
                  <a:srgbClr val="3BE3E0"/>
                </a:solidFill>
                <a:latin typeface="Segoe UI Semibold" pitchFamily="34" charset="0"/>
                <a:ea typeface="Segoe UI Semibold" pitchFamily="34" charset="-122"/>
                <a:cs typeface="Segoe UI Semibold" pitchFamily="34" charset="-120"/>
              </a:rPr>
              <a:t>0</a:t>
            </a:r>
            <a:endParaRPr lang="en-US" sz="3800" dirty="0"/>
          </a:p>
        </p:txBody>
      </p:sp>
      <p:sp>
        <p:nvSpPr>
          <p:cNvPr id="24" name="Text 18"/>
          <p:cNvSpPr/>
          <p:nvPr/>
        </p:nvSpPr>
        <p:spPr>
          <a:xfrm>
            <a:off x="5685434" y="5349240"/>
            <a:ext cx="214670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code to run it</a:t>
            </a:r>
            <a:endParaRPr lang="en-US" sz="1250" dirty="0"/>
          </a:p>
        </p:txBody>
      </p:sp>
      <p:sp>
        <p:nvSpPr>
          <p:cNvPr id="25" name="Text 19"/>
          <p:cNvSpPr/>
          <p:nvPr/>
        </p:nvSpPr>
        <p:spPr>
          <a:xfrm>
            <a:off x="8152181" y="5349240"/>
            <a:ext cx="1371600" cy="777240"/>
          </a:xfrm>
          <a:prstGeom prst="rect">
            <a:avLst/>
          </a:prstGeom>
          <a:noFill/>
          <a:ln/>
        </p:spPr>
        <p:txBody>
          <a:bodyPr wrap="square" rtlCol="0" anchor="ctr"/>
          <a:lstStyle/>
          <a:p>
            <a:pPr marL="0" indent="0">
              <a:buNone/>
            </a:pPr>
            <a:r>
              <a:rPr lang="en-US" sz="3800" b="1" dirty="0">
                <a:solidFill>
                  <a:srgbClr val="3BE3E0"/>
                </a:solidFill>
                <a:latin typeface="Segoe UI Semibold" pitchFamily="34" charset="0"/>
                <a:ea typeface="Segoe UI Semibold" pitchFamily="34" charset="-122"/>
                <a:cs typeface="Segoe UI Semibold" pitchFamily="34" charset="-120"/>
              </a:rPr>
              <a:t>360°</a:t>
            </a:r>
            <a:endParaRPr lang="en-US" sz="3800" dirty="0"/>
          </a:p>
        </p:txBody>
      </p:sp>
      <p:sp>
        <p:nvSpPr>
          <p:cNvPr id="26" name="Text 20"/>
          <p:cNvSpPr/>
          <p:nvPr/>
        </p:nvSpPr>
        <p:spPr>
          <a:xfrm>
            <a:off x="9478061" y="5349240"/>
            <a:ext cx="2146706" cy="77724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audit on every change</a:t>
            </a:r>
            <a:endParaRPr lang="en-US" sz="1250" dirty="0"/>
          </a:p>
        </p:txBody>
      </p:sp>
      <p:sp>
        <p:nvSpPr>
          <p:cNvPr id="27" name="Text 21"/>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28" name="Text 22"/>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02 / 12</a:t>
            </a:r>
            <a:endParaRPr lang="en-US" sz="900" dirty="0"/>
          </a:p>
        </p:txBody>
      </p:sp>
      <p:sp>
        <p:nvSpPr>
          <p:cNvPr id="29" name="Shape 23"/>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248816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WHY IT FITS</a:t>
            </a:r>
            <a:endParaRPr lang="en-US" sz="1200" dirty="0"/>
          </a:p>
        </p:txBody>
      </p:sp>
      <p:sp>
        <p:nvSpPr>
          <p:cNvPr id="4" name="Text 2"/>
          <p:cNvSpPr/>
          <p:nvPr/>
        </p:nvSpPr>
        <p:spPr>
          <a:xfrm>
            <a:off x="566928" y="960120"/>
            <a:ext cx="1097280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What “one governed layer” </a:t>
            </a:r>
            <a:r>
              <a:rPr lang="en-US" sz="2800" b="1" dirty="0">
                <a:solidFill>
                  <a:srgbClr val="3BE3E0"/>
                </a:solidFill>
                <a:latin typeface="Segoe UI Semibold" pitchFamily="34" charset="0"/>
                <a:ea typeface="Segoe UI Semibold" pitchFamily="34" charset="-122"/>
                <a:cs typeface="Segoe UI Semibold" pitchFamily="34" charset="-120"/>
              </a:rPr>
              <a:t>looks like in practice.</a:t>
            </a:r>
            <a:endParaRPr lang="en-US" sz="2800" dirty="0"/>
          </a:p>
        </p:txBody>
      </p:sp>
      <p:sp>
        <p:nvSpPr>
          <p:cNvPr id="5" name="Shape 3"/>
          <p:cNvSpPr/>
          <p:nvPr/>
        </p:nvSpPr>
        <p:spPr>
          <a:xfrm>
            <a:off x="566928" y="2148839"/>
            <a:ext cx="5346040" cy="3291831"/>
          </a:xfrm>
          <a:prstGeom prst="roundRect">
            <a:avLst>
              <a:gd name="adj" fmla="val 2687"/>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932688" y="2560320"/>
            <a:ext cx="777240" cy="777240"/>
          </a:xfrm>
          <a:prstGeom prst="roundRect">
            <a:avLst>
              <a:gd name="adj" fmla="val 12941"/>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link.png"/>
          <p:cNvPicPr>
            <a:picLocks noChangeAspect="1"/>
          </p:cNvPicPr>
          <p:nvPr/>
        </p:nvPicPr>
        <p:blipFill>
          <a:blip r:embed="rId3"/>
          <a:stretch>
            <a:fillRect/>
          </a:stretch>
        </p:blipFill>
        <p:spPr>
          <a:xfrm>
            <a:off x="1119226" y="2746858"/>
            <a:ext cx="404165" cy="404165"/>
          </a:xfrm>
          <a:prstGeom prst="rect">
            <a:avLst/>
          </a:prstGeom>
        </p:spPr>
      </p:pic>
      <p:sp>
        <p:nvSpPr>
          <p:cNvPr id="8" name="Text 5"/>
          <p:cNvSpPr/>
          <p:nvPr/>
        </p:nvSpPr>
        <p:spPr>
          <a:xfrm>
            <a:off x="1938528" y="2651760"/>
            <a:ext cx="3700120" cy="640080"/>
          </a:xfrm>
          <a:prstGeom prst="rect">
            <a:avLst/>
          </a:prstGeom>
          <a:noFill/>
          <a:ln/>
        </p:spPr>
        <p:txBody>
          <a:bodyPr wrap="square" rtlCol="0" anchor="ctr"/>
          <a:lstStyle/>
          <a:p>
            <a:pPr marL="0" indent="0">
              <a:buNone/>
            </a:pPr>
            <a:r>
              <a:rPr lang="en-US" sz="2300" b="1" dirty="0">
                <a:solidFill>
                  <a:srgbClr val="F3F6FB"/>
                </a:solidFill>
                <a:latin typeface="Segoe UI Semibold" pitchFamily="34" charset="0"/>
                <a:ea typeface="Segoe UI Semibold" pitchFamily="34" charset="-122"/>
                <a:cs typeface="Segoe UI Semibold" pitchFamily="34" charset="-120"/>
              </a:rPr>
              <a:t>Every feed, in</a:t>
            </a:r>
            <a:endParaRPr lang="en-US" sz="2300" dirty="0"/>
          </a:p>
        </p:txBody>
      </p:sp>
      <p:sp>
        <p:nvSpPr>
          <p:cNvPr id="9" name="Text 6"/>
          <p:cNvSpPr/>
          <p:nvPr/>
        </p:nvSpPr>
        <p:spPr>
          <a:xfrm>
            <a:off x="932688" y="3657600"/>
            <a:ext cx="4614520" cy="1325880"/>
          </a:xfrm>
          <a:prstGeom prst="rect">
            <a:avLst/>
          </a:prstGeom>
          <a:noFill/>
          <a:ln/>
        </p:spPr>
        <p:txBody>
          <a:bodyPr wrap="square" rtlCol="0" anchor="t"/>
          <a:lstStyle/>
          <a:p>
            <a:pPr marL="0" indent="0">
              <a:lnSpc>
                <a:spcPct val="130000"/>
              </a:lnSpc>
              <a:buNone/>
            </a:pPr>
            <a:r>
              <a:rPr lang="en-US" sz="1550" dirty="0">
                <a:solidFill>
                  <a:srgbClr val="AAB6C7"/>
                </a:solidFill>
                <a:latin typeface="Segoe UI" pitchFamily="34" charset="0"/>
                <a:ea typeface="Segoe UI" pitchFamily="34" charset="-122"/>
                <a:cs typeface="Segoe UI" pitchFamily="34" charset="-120"/>
              </a:rPr>
              <a:t>Connect any provider or feed, with nothing to swap out. Bloomberg, Refinitiv, 360T, OANDA, central banks, exchanges, government agencies, websites, your own internal data. Add or drop a source any time.</a:t>
            </a:r>
            <a:endParaRPr lang="en-US" sz="1550" dirty="0"/>
          </a:p>
        </p:txBody>
      </p:sp>
      <p:sp>
        <p:nvSpPr>
          <p:cNvPr id="10" name="Shape 7"/>
          <p:cNvSpPr/>
          <p:nvPr/>
        </p:nvSpPr>
        <p:spPr>
          <a:xfrm>
            <a:off x="6278728" y="2148839"/>
            <a:ext cx="5346040" cy="3291825"/>
          </a:xfrm>
          <a:prstGeom prst="roundRect">
            <a:avLst>
              <a:gd name="adj" fmla="val 2687"/>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6644488" y="2560320"/>
            <a:ext cx="777240" cy="777240"/>
          </a:xfrm>
          <a:prstGeom prst="roundRect">
            <a:avLst>
              <a:gd name="adj" fmla="val 12941"/>
            </a:avLst>
          </a:prstGeom>
          <a:solidFill>
            <a:srgbClr val="1B2330"/>
          </a:solidFill>
          <a:ln w="15240">
            <a:solidFill>
              <a:srgbClr val="3BE3E0"/>
            </a:solidFill>
            <a:prstDash val="solid"/>
          </a:ln>
        </p:spPr>
        <p:txBody>
          <a:bodyPr/>
          <a:lstStyle/>
          <a:p>
            <a:endParaRPr lang="en-US"/>
          </a:p>
        </p:txBody>
      </p:sp>
      <p:pic>
        <p:nvPicPr>
          <p:cNvPr id="12" name="Image 1" descr="C:/Users/neuma_p1qrsic/Repo/agentic-ops1/.scratch/icons/database.png"/>
          <p:cNvPicPr>
            <a:picLocks noChangeAspect="1"/>
          </p:cNvPicPr>
          <p:nvPr/>
        </p:nvPicPr>
        <p:blipFill>
          <a:blip r:embed="rId4"/>
          <a:stretch>
            <a:fillRect/>
          </a:stretch>
        </p:blipFill>
        <p:spPr>
          <a:xfrm>
            <a:off x="6831025" y="2746858"/>
            <a:ext cx="404165" cy="404165"/>
          </a:xfrm>
          <a:prstGeom prst="rect">
            <a:avLst/>
          </a:prstGeom>
        </p:spPr>
      </p:pic>
      <p:sp>
        <p:nvSpPr>
          <p:cNvPr id="13" name="Text 9"/>
          <p:cNvSpPr/>
          <p:nvPr/>
        </p:nvSpPr>
        <p:spPr>
          <a:xfrm>
            <a:off x="7650328" y="2651760"/>
            <a:ext cx="3700120" cy="640080"/>
          </a:xfrm>
          <a:prstGeom prst="rect">
            <a:avLst/>
          </a:prstGeom>
          <a:noFill/>
          <a:ln/>
        </p:spPr>
        <p:txBody>
          <a:bodyPr wrap="square" rtlCol="0" anchor="ctr"/>
          <a:lstStyle/>
          <a:p>
            <a:pPr marL="0" indent="0">
              <a:buNone/>
            </a:pPr>
            <a:r>
              <a:rPr lang="en-US" sz="2300" b="1" dirty="0">
                <a:solidFill>
                  <a:srgbClr val="F3F6FB"/>
                </a:solidFill>
                <a:latin typeface="Segoe UI Semibold" pitchFamily="34" charset="0"/>
                <a:ea typeface="Segoe UI Semibold" pitchFamily="34" charset="-122"/>
                <a:cs typeface="Segoe UI Semibold" pitchFamily="34" charset="-120"/>
              </a:rPr>
              <a:t>Every system, out</a:t>
            </a:r>
            <a:endParaRPr lang="en-US" sz="2300" dirty="0"/>
          </a:p>
        </p:txBody>
      </p:sp>
      <p:sp>
        <p:nvSpPr>
          <p:cNvPr id="14" name="Text 10"/>
          <p:cNvSpPr/>
          <p:nvPr/>
        </p:nvSpPr>
        <p:spPr>
          <a:xfrm>
            <a:off x="6644488" y="3657600"/>
            <a:ext cx="4614520" cy="1325880"/>
          </a:xfrm>
          <a:prstGeom prst="rect">
            <a:avLst/>
          </a:prstGeom>
          <a:noFill/>
          <a:ln/>
        </p:spPr>
        <p:txBody>
          <a:bodyPr wrap="square" rtlCol="0" anchor="t"/>
          <a:lstStyle/>
          <a:p>
            <a:pPr marL="0" indent="0">
              <a:lnSpc>
                <a:spcPct val="130000"/>
              </a:lnSpc>
              <a:buNone/>
            </a:pPr>
            <a:r>
              <a:rPr lang="en-US" sz="1550" dirty="0">
                <a:solidFill>
                  <a:srgbClr val="AAB6C7"/>
                </a:solidFill>
                <a:latin typeface="Segoe UI" pitchFamily="34" charset="0"/>
                <a:ea typeface="Segoe UI" pitchFamily="34" charset="-122"/>
                <a:cs typeface="Segoe UI" pitchFamily="34" charset="-120"/>
              </a:rPr>
              <a:t>Push the curated data into SAP ECC and S/4HANA, or any non-SAP system, database, website or analytics tool. Any protocol you use: API, ODATA, SFTP, email, Excel add-in. Push it or let them pull it.</a:t>
            </a:r>
            <a:endParaRPr lang="en-US" sz="1550" dirty="0"/>
          </a:p>
        </p:txBody>
      </p:sp>
      <p:sp>
        <p:nvSpPr>
          <p:cNvPr id="15" name="Text 11"/>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16" name="Text 12"/>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04 / 12</a:t>
            </a:r>
            <a:endParaRPr lang="en-US" sz="900" dirty="0"/>
          </a:p>
        </p:txBody>
      </p:sp>
      <p:sp>
        <p:nvSpPr>
          <p:cNvPr id="17" name="Shape 13"/>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2963946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HOW IT FITS TOGETHER</a:t>
            </a:r>
            <a:endParaRPr lang="en-US" sz="1200" dirty="0"/>
          </a:p>
        </p:txBody>
      </p:sp>
      <p:sp>
        <p:nvSpPr>
          <p:cNvPr id="4" name="Text 2"/>
          <p:cNvSpPr/>
          <p:nvPr/>
        </p:nvSpPr>
        <p:spPr>
          <a:xfrm>
            <a:off x="566928" y="960120"/>
            <a:ext cx="1088136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One hub between your sources and your systems.</a:t>
            </a:r>
            <a:endParaRPr lang="en-US" sz="2800" dirty="0"/>
          </a:p>
        </p:txBody>
      </p:sp>
      <p:sp>
        <p:nvSpPr>
          <p:cNvPr id="5" name="Shape 3"/>
          <p:cNvSpPr/>
          <p:nvPr/>
        </p:nvSpPr>
        <p:spPr>
          <a:xfrm>
            <a:off x="566928" y="2148840"/>
            <a:ext cx="3063240" cy="2514600"/>
          </a:xfrm>
          <a:prstGeom prst="roundRect">
            <a:avLst>
              <a:gd name="adj" fmla="val 3273"/>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41248" y="2423160"/>
            <a:ext cx="548640" cy="548640"/>
          </a:xfrm>
          <a:prstGeom prst="roundRect">
            <a:avLst>
              <a:gd name="adj" fmla="val 18333"/>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venue.png"/>
          <p:cNvPicPr>
            <a:picLocks noChangeAspect="1"/>
          </p:cNvPicPr>
          <p:nvPr/>
        </p:nvPicPr>
        <p:blipFill>
          <a:blip r:embed="rId3"/>
          <a:stretch>
            <a:fillRect/>
          </a:stretch>
        </p:blipFill>
        <p:spPr>
          <a:xfrm>
            <a:off x="972922" y="2554834"/>
            <a:ext cx="285293" cy="285293"/>
          </a:xfrm>
          <a:prstGeom prst="rect">
            <a:avLst/>
          </a:prstGeom>
        </p:spPr>
      </p:pic>
      <p:sp>
        <p:nvSpPr>
          <p:cNvPr id="8" name="Text 5"/>
          <p:cNvSpPr/>
          <p:nvPr/>
        </p:nvSpPr>
        <p:spPr>
          <a:xfrm>
            <a:off x="1527048" y="2423160"/>
            <a:ext cx="1920240" cy="548640"/>
          </a:xfrm>
          <a:prstGeom prst="rect">
            <a:avLst/>
          </a:prstGeom>
          <a:noFill/>
          <a:ln/>
        </p:spPr>
        <p:txBody>
          <a:bodyPr wrap="square" rtlCol="0" anchor="ctr"/>
          <a:lstStyle/>
          <a:p>
            <a:pPr marL="0" indent="0">
              <a:buNone/>
            </a:pPr>
            <a:r>
              <a:rPr lang="en-US" sz="1350" b="1" dirty="0">
                <a:solidFill>
                  <a:srgbClr val="F3F6FB"/>
                </a:solidFill>
                <a:latin typeface="Segoe UI Semibold" pitchFamily="34" charset="0"/>
                <a:ea typeface="Segoe UI Semibold" pitchFamily="34" charset="-122"/>
                <a:cs typeface="Segoe UI Semibold" pitchFamily="34" charset="-120"/>
              </a:rPr>
              <a:t>Sources &amp; feeds</a:t>
            </a:r>
            <a:endParaRPr lang="en-US" sz="1350" dirty="0"/>
          </a:p>
        </p:txBody>
      </p:sp>
      <p:sp>
        <p:nvSpPr>
          <p:cNvPr id="9" name="Text 6"/>
          <p:cNvSpPr/>
          <p:nvPr/>
        </p:nvSpPr>
        <p:spPr>
          <a:xfrm>
            <a:off x="841248" y="3200400"/>
            <a:ext cx="2606040" cy="1371600"/>
          </a:xfrm>
          <a:prstGeom prst="rect">
            <a:avLst/>
          </a:prstGeom>
          <a:noFill/>
          <a:ln/>
        </p:spPr>
        <p:txBody>
          <a:bodyPr wrap="square" rtlCol="0" anchor="ctr"/>
          <a:lstStyle/>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Bloomberg, Refinitiv,</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360T, OANDA, central</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banks, websites, internal</a:t>
            </a:r>
            <a:endParaRPr lang="en-US" sz="1300" dirty="0"/>
          </a:p>
        </p:txBody>
      </p:sp>
      <p:sp>
        <p:nvSpPr>
          <p:cNvPr id="10" name="Shape 7"/>
          <p:cNvSpPr/>
          <p:nvPr/>
        </p:nvSpPr>
        <p:spPr>
          <a:xfrm>
            <a:off x="4087368" y="2148840"/>
            <a:ext cx="3566160" cy="2514600"/>
          </a:xfrm>
          <a:prstGeom prst="roundRect">
            <a:avLst>
              <a:gd name="adj" fmla="val 3273"/>
            </a:avLst>
          </a:prstGeom>
          <a:solidFill>
            <a:srgbClr val="10222A"/>
          </a:solidFill>
          <a:ln w="19050">
            <a:solidFill>
              <a:srgbClr val="3BE3E0"/>
            </a:solidFill>
            <a:prstDash val="solid"/>
          </a:ln>
        </p:spPr>
        <p:txBody>
          <a:bodyPr/>
          <a:lstStyle/>
          <a:p>
            <a:endParaRPr lang="en-US"/>
          </a:p>
        </p:txBody>
      </p:sp>
      <p:pic>
        <p:nvPicPr>
          <p:cNvPr id="11" name="Image 1" descr="C:/Users/neuma_p1qrsic/Repo/agentic-ops1/.scratch/logo/favicon.png"/>
          <p:cNvPicPr>
            <a:picLocks noChangeAspect="1"/>
          </p:cNvPicPr>
          <p:nvPr/>
        </p:nvPicPr>
        <p:blipFill>
          <a:blip r:embed="rId4"/>
          <a:stretch>
            <a:fillRect/>
          </a:stretch>
        </p:blipFill>
        <p:spPr>
          <a:xfrm>
            <a:off x="5650992" y="2514600"/>
            <a:ext cx="438912" cy="438912"/>
          </a:xfrm>
          <a:prstGeom prst="rect">
            <a:avLst/>
          </a:prstGeom>
        </p:spPr>
      </p:pic>
      <p:sp>
        <p:nvSpPr>
          <p:cNvPr id="12" name="Text 8"/>
          <p:cNvSpPr/>
          <p:nvPr/>
        </p:nvSpPr>
        <p:spPr>
          <a:xfrm>
            <a:off x="4087368" y="3063240"/>
            <a:ext cx="3566160" cy="411480"/>
          </a:xfrm>
          <a:prstGeom prst="rect">
            <a:avLst/>
          </a:prstGeom>
          <a:noFill/>
          <a:ln/>
        </p:spPr>
        <p:txBody>
          <a:bodyPr wrap="square" rtlCol="0" anchor="ctr"/>
          <a:lstStyle/>
          <a:p>
            <a:pPr marL="0" indent="0" algn="ctr">
              <a:buNone/>
            </a:pPr>
            <a:r>
              <a:rPr lang="en-US" sz="2000" b="1" dirty="0">
                <a:solidFill>
                  <a:srgbClr val="F3F6FB"/>
                </a:solidFill>
                <a:latin typeface="Segoe UI Semibold" pitchFamily="34" charset="0"/>
                <a:ea typeface="Segoe UI Semibold" pitchFamily="34" charset="-122"/>
                <a:cs typeface="Segoe UI Semibold" pitchFamily="34" charset="-120"/>
              </a:rPr>
              <a:t>Market Data Hub</a:t>
            </a:r>
            <a:endParaRPr lang="en-US" sz="2000" dirty="0"/>
          </a:p>
        </p:txBody>
      </p:sp>
      <p:sp>
        <p:nvSpPr>
          <p:cNvPr id="13" name="Text 9"/>
          <p:cNvSpPr/>
          <p:nvPr/>
        </p:nvSpPr>
        <p:spPr>
          <a:xfrm>
            <a:off x="4087368" y="3447288"/>
            <a:ext cx="3566160" cy="320040"/>
          </a:xfrm>
          <a:prstGeom prst="rect">
            <a:avLst/>
          </a:prstGeom>
          <a:noFill/>
          <a:ln/>
        </p:spPr>
        <p:txBody>
          <a:bodyPr wrap="square" rtlCol="0" anchor="ctr"/>
          <a:lstStyle/>
          <a:p>
            <a:pPr marL="0" indent="0" algn="ctr">
              <a:buNone/>
            </a:pPr>
            <a:r>
              <a:rPr lang="en-US" sz="1350" dirty="0">
                <a:solidFill>
                  <a:srgbClr val="3BE3E0"/>
                </a:solidFill>
                <a:latin typeface="Segoe UI" pitchFamily="34" charset="0"/>
                <a:ea typeface="Segoe UI" pitchFamily="34" charset="-122"/>
                <a:cs typeface="Segoe UI" pitchFamily="34" charset="-120"/>
              </a:rPr>
              <a:t>one app on OnePilot</a:t>
            </a:r>
            <a:endParaRPr lang="en-US" sz="1350" dirty="0"/>
          </a:p>
        </p:txBody>
      </p:sp>
      <p:sp>
        <p:nvSpPr>
          <p:cNvPr id="14" name="Text 10"/>
          <p:cNvSpPr/>
          <p:nvPr/>
        </p:nvSpPr>
        <p:spPr>
          <a:xfrm>
            <a:off x="4087368" y="3813048"/>
            <a:ext cx="3566160" cy="685800"/>
          </a:xfrm>
          <a:prstGeom prst="rect">
            <a:avLst/>
          </a:prstGeom>
          <a:noFill/>
          <a:ln/>
        </p:spPr>
        <p:txBody>
          <a:bodyPr wrap="square" rtlCol="0" anchor="ctr"/>
          <a:lstStyle/>
          <a:p>
            <a:pPr algn="ctr">
              <a:lnSpc>
                <a:spcPct val="110000"/>
              </a:lnSpc>
            </a:pPr>
            <a:r>
              <a:rPr lang="en-US" sz="1200" dirty="0">
                <a:solidFill>
                  <a:srgbClr val="AAB6C7"/>
                </a:solidFill>
                <a:latin typeface="Segoe UI" pitchFamily="34" charset="0"/>
                <a:ea typeface="Segoe UI" pitchFamily="34" charset="-122"/>
                <a:cs typeface="Segoe UI" pitchFamily="34" charset="-120"/>
              </a:rPr>
              <a:t>anomaly </a:t>
            </a:r>
            <a:r>
              <a:rPr lang="en-US" sz="1200" dirty="0" err="1">
                <a:solidFill>
                  <a:srgbClr val="AAB6C7"/>
                </a:solidFill>
                <a:latin typeface="Segoe UI" pitchFamily="34" charset="0"/>
                <a:ea typeface="Segoe UI" pitchFamily="34" charset="-122"/>
                <a:cs typeface="Segoe UI" pitchFamily="34" charset="-120"/>
              </a:rPr>
              <a:t>checks・data</a:t>
            </a:r>
            <a:r>
              <a:rPr lang="en-US" sz="1200" dirty="0">
                <a:solidFill>
                  <a:srgbClr val="AAB6C7"/>
                </a:solidFill>
                <a:latin typeface="Segoe UI" pitchFamily="34" charset="0"/>
                <a:ea typeface="Segoe UI" pitchFamily="34" charset="-122"/>
                <a:cs typeface="Segoe UI" pitchFamily="34" charset="-120"/>
              </a:rPr>
              <a:t> </a:t>
            </a:r>
            <a:r>
              <a:rPr lang="en-US" sz="1200" dirty="0" err="1">
                <a:solidFill>
                  <a:srgbClr val="AAB6C7"/>
                </a:solidFill>
                <a:latin typeface="Segoe UI" pitchFamily="34" charset="0"/>
                <a:ea typeface="Segoe UI" pitchFamily="34" charset="-122"/>
                <a:cs typeface="Segoe UI" pitchFamily="34" charset="-120"/>
              </a:rPr>
              <a:t>quality・calculations</a:t>
            </a:r>
            <a:endParaRPr lang="en-US" sz="1200" dirty="0"/>
          </a:p>
          <a:p>
            <a:pPr algn="ctr">
              <a:lnSpc>
                <a:spcPct val="110000"/>
              </a:lnSpc>
            </a:pPr>
            <a:r>
              <a:rPr lang="en-US" sz="1200" dirty="0">
                <a:solidFill>
                  <a:srgbClr val="AAB6C7"/>
                </a:solidFill>
                <a:latin typeface="Segoe UI" pitchFamily="34" charset="0"/>
                <a:ea typeface="Segoe UI" pitchFamily="34" charset="-122"/>
                <a:cs typeface="Segoe UI" pitchFamily="34" charset="-120"/>
              </a:rPr>
              <a:t>audit logs ・ integration monitor</a:t>
            </a:r>
            <a:endParaRPr lang="en-US" sz="1200" dirty="0"/>
          </a:p>
        </p:txBody>
      </p:sp>
      <p:sp>
        <p:nvSpPr>
          <p:cNvPr id="15" name="Shape 11"/>
          <p:cNvSpPr/>
          <p:nvPr/>
        </p:nvSpPr>
        <p:spPr>
          <a:xfrm>
            <a:off x="8110728" y="2148840"/>
            <a:ext cx="3514039" cy="2514600"/>
          </a:xfrm>
          <a:prstGeom prst="roundRect">
            <a:avLst>
              <a:gd name="adj" fmla="val 3273"/>
            </a:avLst>
          </a:prstGeom>
          <a:solidFill>
            <a:srgbClr val="141A25"/>
          </a:solidFill>
          <a:ln w="13970">
            <a:solidFill>
              <a:srgbClr val="36414F"/>
            </a:solidFill>
            <a:prstDash val="solid"/>
          </a:ln>
        </p:spPr>
        <p:txBody>
          <a:bodyPr/>
          <a:lstStyle/>
          <a:p>
            <a:endParaRPr lang="en-US"/>
          </a:p>
        </p:txBody>
      </p:sp>
      <p:sp>
        <p:nvSpPr>
          <p:cNvPr id="16" name="Shape 12"/>
          <p:cNvSpPr/>
          <p:nvPr/>
        </p:nvSpPr>
        <p:spPr>
          <a:xfrm>
            <a:off x="8385048" y="2423160"/>
            <a:ext cx="548640" cy="548640"/>
          </a:xfrm>
          <a:prstGeom prst="roundRect">
            <a:avLst>
              <a:gd name="adj" fmla="val 18333"/>
            </a:avLst>
          </a:prstGeom>
          <a:solidFill>
            <a:srgbClr val="1B2330"/>
          </a:solidFill>
          <a:ln w="15240">
            <a:solidFill>
              <a:srgbClr val="3BE3E0"/>
            </a:solidFill>
            <a:prstDash val="solid"/>
          </a:ln>
        </p:spPr>
        <p:txBody>
          <a:bodyPr/>
          <a:lstStyle/>
          <a:p>
            <a:endParaRPr lang="en-US"/>
          </a:p>
        </p:txBody>
      </p:sp>
      <p:pic>
        <p:nvPicPr>
          <p:cNvPr id="17" name="Image 2" descr="C:/Users/neuma_p1qrsic/Repo/agentic-ops1/.scratch/icons/database.png"/>
          <p:cNvPicPr>
            <a:picLocks noChangeAspect="1"/>
          </p:cNvPicPr>
          <p:nvPr/>
        </p:nvPicPr>
        <p:blipFill>
          <a:blip r:embed="rId5"/>
          <a:stretch>
            <a:fillRect/>
          </a:stretch>
        </p:blipFill>
        <p:spPr>
          <a:xfrm>
            <a:off x="8516722" y="2554834"/>
            <a:ext cx="285293" cy="285293"/>
          </a:xfrm>
          <a:prstGeom prst="rect">
            <a:avLst/>
          </a:prstGeom>
        </p:spPr>
      </p:pic>
      <p:sp>
        <p:nvSpPr>
          <p:cNvPr id="18" name="Text 13"/>
          <p:cNvSpPr/>
          <p:nvPr/>
        </p:nvSpPr>
        <p:spPr>
          <a:xfrm>
            <a:off x="9070848" y="2423160"/>
            <a:ext cx="2325319" cy="548640"/>
          </a:xfrm>
          <a:prstGeom prst="rect">
            <a:avLst/>
          </a:prstGeom>
          <a:noFill/>
          <a:ln/>
        </p:spPr>
        <p:txBody>
          <a:bodyPr wrap="square" rtlCol="0" anchor="ctr"/>
          <a:lstStyle/>
          <a:p>
            <a:pPr marL="0" indent="0">
              <a:buNone/>
            </a:pPr>
            <a:r>
              <a:rPr lang="en-US" sz="1350" b="1" dirty="0">
                <a:solidFill>
                  <a:srgbClr val="F3F6FB"/>
                </a:solidFill>
                <a:latin typeface="Segoe UI Semibold" pitchFamily="34" charset="0"/>
                <a:ea typeface="Segoe UI Semibold" pitchFamily="34" charset="-122"/>
                <a:cs typeface="Segoe UI Semibold" pitchFamily="34" charset="-120"/>
              </a:rPr>
              <a:t>Systems &amp; analytics</a:t>
            </a:r>
            <a:endParaRPr lang="en-US" sz="1350" dirty="0"/>
          </a:p>
        </p:txBody>
      </p:sp>
      <p:sp>
        <p:nvSpPr>
          <p:cNvPr id="19" name="Text 14"/>
          <p:cNvSpPr/>
          <p:nvPr/>
        </p:nvSpPr>
        <p:spPr>
          <a:xfrm>
            <a:off x="8385048" y="3200400"/>
            <a:ext cx="3011119" cy="1371600"/>
          </a:xfrm>
          <a:prstGeom prst="rect">
            <a:avLst/>
          </a:prstGeom>
          <a:noFill/>
          <a:ln/>
        </p:spPr>
        <p:txBody>
          <a:bodyPr wrap="square" rtlCol="0" anchor="ctr"/>
          <a:lstStyle/>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SAP ECC, S/4HANA,</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non-SAP apps, databases,</a:t>
            </a:r>
            <a:endParaRPr lang="en-US" sz="1300" dirty="0"/>
          </a:p>
          <a:p>
            <a:pPr marL="0" indent="0">
              <a:lnSpc>
                <a:spcPct val="125000"/>
              </a:lnSpc>
              <a:buNone/>
            </a:pPr>
            <a:r>
              <a:rPr lang="en-US" sz="1300" dirty="0">
                <a:solidFill>
                  <a:srgbClr val="AAB6C7"/>
                </a:solidFill>
                <a:latin typeface="Segoe UI" pitchFamily="34" charset="0"/>
                <a:ea typeface="Segoe UI" pitchFamily="34" charset="-122"/>
                <a:cs typeface="Segoe UI" pitchFamily="34" charset="-120"/>
              </a:rPr>
              <a:t>websites, Analytics Cloud</a:t>
            </a:r>
            <a:endParaRPr lang="en-US" sz="1300" dirty="0"/>
          </a:p>
        </p:txBody>
      </p:sp>
      <p:sp>
        <p:nvSpPr>
          <p:cNvPr id="20" name="Shape 15"/>
          <p:cNvSpPr/>
          <p:nvPr/>
        </p:nvSpPr>
        <p:spPr>
          <a:xfrm>
            <a:off x="3630168" y="3406140"/>
            <a:ext cx="457200" cy="0"/>
          </a:xfrm>
          <a:prstGeom prst="line">
            <a:avLst/>
          </a:prstGeom>
          <a:noFill/>
          <a:ln w="19050">
            <a:solidFill>
              <a:srgbClr val="3BE3E0"/>
            </a:solidFill>
            <a:prstDash val="solid"/>
            <a:headEnd type="triangle"/>
            <a:tailEnd type="triangle"/>
          </a:ln>
        </p:spPr>
        <p:txBody>
          <a:bodyPr/>
          <a:lstStyle/>
          <a:p>
            <a:endParaRPr lang="en-US"/>
          </a:p>
        </p:txBody>
      </p:sp>
      <p:sp>
        <p:nvSpPr>
          <p:cNvPr id="21" name="Shape 16"/>
          <p:cNvSpPr/>
          <p:nvPr/>
        </p:nvSpPr>
        <p:spPr>
          <a:xfrm>
            <a:off x="7653528" y="3406140"/>
            <a:ext cx="457200" cy="0"/>
          </a:xfrm>
          <a:prstGeom prst="line">
            <a:avLst/>
          </a:prstGeom>
          <a:noFill/>
          <a:ln w="19050">
            <a:solidFill>
              <a:srgbClr val="3BE3E0"/>
            </a:solidFill>
            <a:prstDash val="solid"/>
            <a:headEnd type="triangle"/>
            <a:tailEnd type="triangle"/>
          </a:ln>
        </p:spPr>
        <p:txBody>
          <a:bodyPr/>
          <a:lstStyle/>
          <a:p>
            <a:endParaRPr lang="en-US"/>
          </a:p>
        </p:txBody>
      </p:sp>
      <p:sp>
        <p:nvSpPr>
          <p:cNvPr id="22" name="Shape 17"/>
          <p:cNvSpPr/>
          <p:nvPr/>
        </p:nvSpPr>
        <p:spPr>
          <a:xfrm>
            <a:off x="566928" y="4956048"/>
            <a:ext cx="11057839" cy="914400"/>
          </a:xfrm>
          <a:prstGeom prst="roundRect">
            <a:avLst>
              <a:gd name="adj" fmla="val 8000"/>
            </a:avLst>
          </a:prstGeom>
          <a:solidFill>
            <a:srgbClr val="141A25"/>
          </a:solidFill>
          <a:ln w="13970">
            <a:solidFill>
              <a:srgbClr val="36414F"/>
            </a:solidFill>
            <a:prstDash val="solid"/>
          </a:ln>
        </p:spPr>
        <p:txBody>
          <a:bodyPr/>
          <a:lstStyle/>
          <a:p>
            <a:endParaRPr lang="en-US"/>
          </a:p>
        </p:txBody>
      </p:sp>
      <p:pic>
        <p:nvPicPr>
          <p:cNvPr id="23" name="Image 3" descr="C:/Users/neuma_p1qrsic/Repo/agentic-ops1/.scratch/icons/shield.png"/>
          <p:cNvPicPr>
            <a:picLocks noChangeAspect="1"/>
          </p:cNvPicPr>
          <p:nvPr/>
        </p:nvPicPr>
        <p:blipFill>
          <a:blip r:embed="rId6"/>
          <a:stretch>
            <a:fillRect/>
          </a:stretch>
        </p:blipFill>
        <p:spPr>
          <a:xfrm>
            <a:off x="841248" y="5212080"/>
            <a:ext cx="402336" cy="402336"/>
          </a:xfrm>
          <a:prstGeom prst="rect">
            <a:avLst/>
          </a:prstGeom>
        </p:spPr>
      </p:pic>
      <p:sp>
        <p:nvSpPr>
          <p:cNvPr id="24" name="Text 18"/>
          <p:cNvSpPr/>
          <p:nvPr/>
        </p:nvSpPr>
        <p:spPr>
          <a:xfrm>
            <a:off x="1435608" y="4956048"/>
            <a:ext cx="9914839" cy="914400"/>
          </a:xfrm>
          <a:prstGeom prst="rect">
            <a:avLst/>
          </a:prstGeom>
          <a:noFill/>
          <a:ln/>
        </p:spPr>
        <p:txBody>
          <a:bodyPr wrap="square" rtlCol="0" anchor="ctr"/>
          <a:lstStyle/>
          <a:p>
            <a:pPr marL="0" indent="0">
              <a:lnSpc>
                <a:spcPct val="110000"/>
              </a:lnSpc>
              <a:buNone/>
            </a:pPr>
            <a:r>
              <a:rPr lang="en-US" sz="1350" dirty="0">
                <a:solidFill>
                  <a:srgbClr val="F3F6FB"/>
                </a:solidFill>
                <a:latin typeface="Segoe UI" pitchFamily="34" charset="0"/>
                <a:ea typeface="Segoe UI" pitchFamily="34" charset="-122"/>
                <a:cs typeface="Segoe UI" pitchFamily="34" charset="-120"/>
              </a:rPr>
              <a:t>Every value is validated, checked for anomalies and logged: a full audit trail, segregation of duty, no-code rules, ISO 27001 and SOC 1.</a:t>
            </a:r>
            <a:endParaRPr lang="en-US" sz="1350" dirty="0"/>
          </a:p>
        </p:txBody>
      </p:sp>
      <p:sp>
        <p:nvSpPr>
          <p:cNvPr id="25" name="Text 19"/>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26" name="Text 20"/>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05 / 12</a:t>
            </a:r>
            <a:endParaRPr lang="en-US" sz="900" dirty="0"/>
          </a:p>
        </p:txBody>
      </p:sp>
      <p:sp>
        <p:nvSpPr>
          <p:cNvPr id="27" name="Shape 21"/>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HOW IT WORKS</a:t>
            </a:r>
            <a:endParaRPr lang="en-US" sz="1200" dirty="0"/>
          </a:p>
        </p:txBody>
      </p:sp>
      <p:sp>
        <p:nvSpPr>
          <p:cNvPr id="4" name="Text 2"/>
          <p:cNvSpPr/>
          <p:nvPr/>
        </p:nvSpPr>
        <p:spPr>
          <a:xfrm>
            <a:off x="566928" y="960120"/>
            <a:ext cx="1005840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Six steps, from the source to your systems.</a:t>
            </a:r>
            <a:endParaRPr lang="en-US" sz="2900" dirty="0"/>
          </a:p>
        </p:txBody>
      </p:sp>
      <p:sp>
        <p:nvSpPr>
          <p:cNvPr id="5" name="Shape 3"/>
          <p:cNvSpPr/>
          <p:nvPr/>
        </p:nvSpPr>
        <p:spPr>
          <a:xfrm>
            <a:off x="566928" y="2697480"/>
            <a:ext cx="1660093" cy="2514600"/>
          </a:xfrm>
          <a:prstGeom prst="roundRect">
            <a:avLst>
              <a:gd name="adj" fmla="val 4957"/>
            </a:avLst>
          </a:prstGeom>
          <a:solidFill>
            <a:srgbClr val="141A25"/>
          </a:solidFill>
          <a:ln w="19050">
            <a:solidFill>
              <a:srgbClr val="3BE3E0"/>
            </a:solidFill>
            <a:prstDash val="solid"/>
          </a:ln>
        </p:spPr>
        <p:txBody>
          <a:bodyPr/>
          <a:lstStyle/>
          <a:p>
            <a:endParaRPr lang="en-US"/>
          </a:p>
        </p:txBody>
      </p:sp>
      <p:sp>
        <p:nvSpPr>
          <p:cNvPr id="7" name="Text 4"/>
          <p:cNvSpPr/>
          <p:nvPr/>
        </p:nvSpPr>
        <p:spPr>
          <a:xfrm>
            <a:off x="566928" y="3867912"/>
            <a:ext cx="1660093" cy="365760"/>
          </a:xfrm>
          <a:prstGeom prst="rect">
            <a:avLst/>
          </a:prstGeom>
          <a:noFill/>
          <a:ln/>
        </p:spPr>
        <p:txBody>
          <a:bodyPr wrap="square" rtlCol="0" anchor="ctr"/>
          <a:lstStyle/>
          <a:p>
            <a:pPr marL="0" indent="0" algn="ctr">
              <a:buNone/>
            </a:pPr>
            <a:r>
              <a:rPr lang="en-US" sz="1200" b="1" dirty="0">
                <a:solidFill>
                  <a:srgbClr val="3BE3E0"/>
                </a:solidFill>
                <a:latin typeface="Segoe UI" pitchFamily="34" charset="0"/>
                <a:ea typeface="Segoe UI" pitchFamily="34" charset="-122"/>
                <a:cs typeface="Segoe UI" pitchFamily="34" charset="-120"/>
              </a:rPr>
              <a:t>01</a:t>
            </a:r>
            <a:endParaRPr lang="en-US" sz="1200" dirty="0"/>
          </a:p>
        </p:txBody>
      </p:sp>
      <p:sp>
        <p:nvSpPr>
          <p:cNvPr id="8" name="Text 5"/>
          <p:cNvSpPr/>
          <p:nvPr/>
        </p:nvSpPr>
        <p:spPr>
          <a:xfrm>
            <a:off x="566928" y="4233672"/>
            <a:ext cx="1660093" cy="457200"/>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Ingest</a:t>
            </a:r>
            <a:endParaRPr lang="en-US" sz="1450" dirty="0"/>
          </a:p>
        </p:txBody>
      </p:sp>
      <p:sp>
        <p:nvSpPr>
          <p:cNvPr id="9" name="Text 6"/>
          <p:cNvSpPr/>
          <p:nvPr/>
        </p:nvSpPr>
        <p:spPr>
          <a:xfrm>
            <a:off x="2190445" y="3662172"/>
            <a:ext cx="292608" cy="585216"/>
          </a:xfrm>
          <a:prstGeom prst="rect">
            <a:avLst/>
          </a:prstGeom>
          <a:noFill/>
          <a:ln/>
        </p:spPr>
        <p:txBody>
          <a:bodyPr wrap="square" rtlCol="0" anchor="ctr"/>
          <a:lstStyle/>
          <a:p>
            <a:pPr marL="0" indent="0" algn="ctr">
              <a:buNone/>
            </a:pPr>
            <a:r>
              <a:rPr lang="en-US" sz="2400" b="1" dirty="0">
                <a:solidFill>
                  <a:srgbClr val="3BE3E0"/>
                </a:solidFill>
                <a:latin typeface="Segoe UI" pitchFamily="34" charset="0"/>
                <a:ea typeface="Segoe UI" pitchFamily="34" charset="-122"/>
                <a:cs typeface="Segoe UI" pitchFamily="34" charset="-120"/>
              </a:rPr>
              <a:t>›</a:t>
            </a:r>
            <a:endParaRPr lang="en-US" sz="2400" dirty="0"/>
          </a:p>
        </p:txBody>
      </p:sp>
      <p:sp>
        <p:nvSpPr>
          <p:cNvPr id="10" name="Shape 7"/>
          <p:cNvSpPr/>
          <p:nvPr/>
        </p:nvSpPr>
        <p:spPr>
          <a:xfrm>
            <a:off x="2446477" y="2697480"/>
            <a:ext cx="1660093" cy="2514600"/>
          </a:xfrm>
          <a:prstGeom prst="roundRect">
            <a:avLst>
              <a:gd name="adj" fmla="val 4957"/>
            </a:avLst>
          </a:prstGeom>
          <a:solidFill>
            <a:srgbClr val="141A25"/>
          </a:solidFill>
          <a:ln w="19050">
            <a:solidFill>
              <a:srgbClr val="3BE3E0"/>
            </a:solidFill>
            <a:prstDash val="solid"/>
          </a:ln>
        </p:spPr>
        <p:txBody>
          <a:bodyPr/>
          <a:lstStyle/>
          <a:p>
            <a:endParaRPr lang="en-US"/>
          </a:p>
        </p:txBody>
      </p:sp>
      <p:sp>
        <p:nvSpPr>
          <p:cNvPr id="12" name="Text 8"/>
          <p:cNvSpPr/>
          <p:nvPr/>
        </p:nvSpPr>
        <p:spPr>
          <a:xfrm>
            <a:off x="2446477" y="3867912"/>
            <a:ext cx="1660093" cy="365760"/>
          </a:xfrm>
          <a:prstGeom prst="rect">
            <a:avLst/>
          </a:prstGeom>
          <a:noFill/>
          <a:ln/>
        </p:spPr>
        <p:txBody>
          <a:bodyPr wrap="square" rtlCol="0" anchor="ctr"/>
          <a:lstStyle/>
          <a:p>
            <a:pPr marL="0" indent="0" algn="ctr">
              <a:buNone/>
            </a:pPr>
            <a:r>
              <a:rPr lang="en-US" sz="1200" b="1" dirty="0">
                <a:solidFill>
                  <a:srgbClr val="3BE3E0"/>
                </a:solidFill>
                <a:latin typeface="Segoe UI" pitchFamily="34" charset="0"/>
                <a:ea typeface="Segoe UI" pitchFamily="34" charset="-122"/>
                <a:cs typeface="Segoe UI" pitchFamily="34" charset="-120"/>
              </a:rPr>
              <a:t>02</a:t>
            </a:r>
            <a:endParaRPr lang="en-US" sz="1200" dirty="0"/>
          </a:p>
        </p:txBody>
      </p:sp>
      <p:sp>
        <p:nvSpPr>
          <p:cNvPr id="13" name="Text 9"/>
          <p:cNvSpPr/>
          <p:nvPr/>
        </p:nvSpPr>
        <p:spPr>
          <a:xfrm>
            <a:off x="2446477" y="4233672"/>
            <a:ext cx="1660093" cy="457200"/>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Validate</a:t>
            </a:r>
            <a:endParaRPr lang="en-US" sz="1450" dirty="0"/>
          </a:p>
        </p:txBody>
      </p:sp>
      <p:sp>
        <p:nvSpPr>
          <p:cNvPr id="14" name="Text 10"/>
          <p:cNvSpPr/>
          <p:nvPr/>
        </p:nvSpPr>
        <p:spPr>
          <a:xfrm>
            <a:off x="4069994" y="3662172"/>
            <a:ext cx="292608" cy="585216"/>
          </a:xfrm>
          <a:prstGeom prst="rect">
            <a:avLst/>
          </a:prstGeom>
          <a:noFill/>
          <a:ln/>
        </p:spPr>
        <p:txBody>
          <a:bodyPr wrap="square" rtlCol="0" anchor="ctr"/>
          <a:lstStyle/>
          <a:p>
            <a:pPr marL="0" indent="0" algn="ctr">
              <a:buNone/>
            </a:pPr>
            <a:r>
              <a:rPr lang="en-US" sz="2400" b="1" dirty="0">
                <a:solidFill>
                  <a:srgbClr val="4EA8DE"/>
                </a:solidFill>
                <a:latin typeface="Segoe UI" pitchFamily="34" charset="0"/>
                <a:ea typeface="Segoe UI" pitchFamily="34" charset="-122"/>
                <a:cs typeface="Segoe UI" pitchFamily="34" charset="-120"/>
              </a:rPr>
              <a:t>›</a:t>
            </a:r>
            <a:endParaRPr lang="en-US" sz="2400" dirty="0"/>
          </a:p>
        </p:txBody>
      </p:sp>
      <p:sp>
        <p:nvSpPr>
          <p:cNvPr id="15" name="Shape 11"/>
          <p:cNvSpPr/>
          <p:nvPr/>
        </p:nvSpPr>
        <p:spPr>
          <a:xfrm>
            <a:off x="4326026" y="2697480"/>
            <a:ext cx="1660093" cy="2514600"/>
          </a:xfrm>
          <a:prstGeom prst="roundRect">
            <a:avLst>
              <a:gd name="adj" fmla="val 4957"/>
            </a:avLst>
          </a:prstGeom>
          <a:solidFill>
            <a:srgbClr val="141A25"/>
          </a:solidFill>
          <a:ln w="19050">
            <a:solidFill>
              <a:srgbClr val="4EA8DE"/>
            </a:solidFill>
            <a:prstDash val="solid"/>
          </a:ln>
        </p:spPr>
        <p:txBody>
          <a:bodyPr/>
          <a:lstStyle/>
          <a:p>
            <a:endParaRPr lang="en-US"/>
          </a:p>
        </p:txBody>
      </p:sp>
      <p:sp>
        <p:nvSpPr>
          <p:cNvPr id="17" name="Text 12"/>
          <p:cNvSpPr/>
          <p:nvPr/>
        </p:nvSpPr>
        <p:spPr>
          <a:xfrm>
            <a:off x="4326026" y="3867912"/>
            <a:ext cx="1660093" cy="365760"/>
          </a:xfrm>
          <a:prstGeom prst="rect">
            <a:avLst/>
          </a:prstGeom>
          <a:noFill/>
          <a:ln/>
        </p:spPr>
        <p:txBody>
          <a:bodyPr wrap="square" rtlCol="0" anchor="ctr"/>
          <a:lstStyle/>
          <a:p>
            <a:pPr marL="0" indent="0" algn="ctr">
              <a:buNone/>
            </a:pPr>
            <a:r>
              <a:rPr lang="en-US" sz="1200" b="1" dirty="0">
                <a:solidFill>
                  <a:srgbClr val="4EA8DE"/>
                </a:solidFill>
                <a:latin typeface="Segoe UI" pitchFamily="34" charset="0"/>
                <a:ea typeface="Segoe UI" pitchFamily="34" charset="-122"/>
                <a:cs typeface="Segoe UI" pitchFamily="34" charset="-120"/>
              </a:rPr>
              <a:t>03</a:t>
            </a:r>
            <a:endParaRPr lang="en-US" sz="1200" dirty="0"/>
          </a:p>
        </p:txBody>
      </p:sp>
      <p:sp>
        <p:nvSpPr>
          <p:cNvPr id="18" name="Text 13"/>
          <p:cNvSpPr/>
          <p:nvPr/>
        </p:nvSpPr>
        <p:spPr>
          <a:xfrm>
            <a:off x="4326026" y="4233672"/>
            <a:ext cx="1660093" cy="457200"/>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Cleanse</a:t>
            </a:r>
            <a:endParaRPr lang="en-US" sz="1450" dirty="0"/>
          </a:p>
        </p:txBody>
      </p:sp>
      <p:sp>
        <p:nvSpPr>
          <p:cNvPr id="19" name="Text 14"/>
          <p:cNvSpPr/>
          <p:nvPr/>
        </p:nvSpPr>
        <p:spPr>
          <a:xfrm>
            <a:off x="5949544" y="3662172"/>
            <a:ext cx="292608" cy="585216"/>
          </a:xfrm>
          <a:prstGeom prst="rect">
            <a:avLst/>
          </a:prstGeom>
          <a:noFill/>
          <a:ln/>
        </p:spPr>
        <p:txBody>
          <a:bodyPr wrap="square" rtlCol="0" anchor="ctr"/>
          <a:lstStyle/>
          <a:p>
            <a:pPr marL="0" indent="0" algn="ctr">
              <a:buNone/>
            </a:pPr>
            <a:r>
              <a:rPr lang="en-US" sz="2400" b="1" dirty="0">
                <a:solidFill>
                  <a:srgbClr val="4EA8DE"/>
                </a:solidFill>
                <a:latin typeface="Segoe UI" pitchFamily="34" charset="0"/>
                <a:ea typeface="Segoe UI" pitchFamily="34" charset="-122"/>
                <a:cs typeface="Segoe UI" pitchFamily="34" charset="-120"/>
              </a:rPr>
              <a:t>›</a:t>
            </a:r>
            <a:endParaRPr lang="en-US" sz="2400" dirty="0"/>
          </a:p>
        </p:txBody>
      </p:sp>
      <p:sp>
        <p:nvSpPr>
          <p:cNvPr id="20" name="Shape 15"/>
          <p:cNvSpPr/>
          <p:nvPr/>
        </p:nvSpPr>
        <p:spPr>
          <a:xfrm>
            <a:off x="6205576" y="2697480"/>
            <a:ext cx="1660093" cy="2514600"/>
          </a:xfrm>
          <a:prstGeom prst="roundRect">
            <a:avLst>
              <a:gd name="adj" fmla="val 4957"/>
            </a:avLst>
          </a:prstGeom>
          <a:solidFill>
            <a:srgbClr val="141A25"/>
          </a:solidFill>
          <a:ln w="19050">
            <a:solidFill>
              <a:srgbClr val="4EA8DE"/>
            </a:solidFill>
            <a:prstDash val="solid"/>
          </a:ln>
        </p:spPr>
        <p:txBody>
          <a:bodyPr/>
          <a:lstStyle/>
          <a:p>
            <a:endParaRPr lang="en-US"/>
          </a:p>
        </p:txBody>
      </p:sp>
      <p:sp>
        <p:nvSpPr>
          <p:cNvPr id="22" name="Text 16"/>
          <p:cNvSpPr/>
          <p:nvPr/>
        </p:nvSpPr>
        <p:spPr>
          <a:xfrm>
            <a:off x="6205576" y="3867912"/>
            <a:ext cx="1660093" cy="365760"/>
          </a:xfrm>
          <a:prstGeom prst="rect">
            <a:avLst/>
          </a:prstGeom>
          <a:noFill/>
          <a:ln/>
        </p:spPr>
        <p:txBody>
          <a:bodyPr wrap="square" rtlCol="0" anchor="ctr"/>
          <a:lstStyle/>
          <a:p>
            <a:pPr marL="0" indent="0" algn="ctr">
              <a:buNone/>
            </a:pPr>
            <a:r>
              <a:rPr lang="en-US" sz="1200" b="1" dirty="0">
                <a:solidFill>
                  <a:srgbClr val="4EA8DE"/>
                </a:solidFill>
                <a:latin typeface="Segoe UI" pitchFamily="34" charset="0"/>
                <a:ea typeface="Segoe UI" pitchFamily="34" charset="-122"/>
                <a:cs typeface="Segoe UI" pitchFamily="34" charset="-120"/>
              </a:rPr>
              <a:t>04</a:t>
            </a:r>
            <a:endParaRPr lang="en-US" sz="1200" dirty="0"/>
          </a:p>
        </p:txBody>
      </p:sp>
      <p:sp>
        <p:nvSpPr>
          <p:cNvPr id="23" name="Text 17"/>
          <p:cNvSpPr/>
          <p:nvPr/>
        </p:nvSpPr>
        <p:spPr>
          <a:xfrm>
            <a:off x="6205576" y="4233672"/>
            <a:ext cx="1660093" cy="457200"/>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Transform</a:t>
            </a:r>
            <a:endParaRPr lang="en-US" sz="1450" dirty="0"/>
          </a:p>
        </p:txBody>
      </p:sp>
      <p:sp>
        <p:nvSpPr>
          <p:cNvPr id="24" name="Text 18"/>
          <p:cNvSpPr/>
          <p:nvPr/>
        </p:nvSpPr>
        <p:spPr>
          <a:xfrm>
            <a:off x="7829093" y="3662172"/>
            <a:ext cx="292608" cy="585216"/>
          </a:xfrm>
          <a:prstGeom prst="rect">
            <a:avLst/>
          </a:prstGeom>
          <a:noFill/>
          <a:ln/>
        </p:spPr>
        <p:txBody>
          <a:bodyPr wrap="square" rtlCol="0" anchor="ctr"/>
          <a:lstStyle/>
          <a:p>
            <a:pPr marL="0" indent="0" algn="ctr">
              <a:buNone/>
            </a:pPr>
            <a:r>
              <a:rPr lang="en-US" sz="2400" b="1" dirty="0">
                <a:solidFill>
                  <a:srgbClr val="46D9A0"/>
                </a:solidFill>
                <a:latin typeface="Segoe UI" pitchFamily="34" charset="0"/>
                <a:ea typeface="Segoe UI" pitchFamily="34" charset="-122"/>
                <a:cs typeface="Segoe UI" pitchFamily="34" charset="-120"/>
              </a:rPr>
              <a:t>›</a:t>
            </a:r>
            <a:endParaRPr lang="en-US" sz="2400" dirty="0"/>
          </a:p>
        </p:txBody>
      </p:sp>
      <p:sp>
        <p:nvSpPr>
          <p:cNvPr id="25" name="Shape 19"/>
          <p:cNvSpPr/>
          <p:nvPr/>
        </p:nvSpPr>
        <p:spPr>
          <a:xfrm>
            <a:off x="8085125" y="2697480"/>
            <a:ext cx="1660093" cy="2514600"/>
          </a:xfrm>
          <a:prstGeom prst="roundRect">
            <a:avLst>
              <a:gd name="adj" fmla="val 4957"/>
            </a:avLst>
          </a:prstGeom>
          <a:solidFill>
            <a:srgbClr val="141A25"/>
          </a:solidFill>
          <a:ln w="19050">
            <a:solidFill>
              <a:srgbClr val="46D9A0"/>
            </a:solidFill>
            <a:prstDash val="solid"/>
          </a:ln>
        </p:spPr>
        <p:txBody>
          <a:bodyPr/>
          <a:lstStyle/>
          <a:p>
            <a:endParaRPr lang="en-US"/>
          </a:p>
        </p:txBody>
      </p:sp>
      <p:sp>
        <p:nvSpPr>
          <p:cNvPr id="27" name="Text 20"/>
          <p:cNvSpPr/>
          <p:nvPr/>
        </p:nvSpPr>
        <p:spPr>
          <a:xfrm>
            <a:off x="8085125" y="3867912"/>
            <a:ext cx="1660093" cy="365760"/>
          </a:xfrm>
          <a:prstGeom prst="rect">
            <a:avLst/>
          </a:prstGeom>
          <a:noFill/>
          <a:ln/>
        </p:spPr>
        <p:txBody>
          <a:bodyPr wrap="square" rtlCol="0" anchor="ctr"/>
          <a:lstStyle/>
          <a:p>
            <a:pPr marL="0" indent="0" algn="ctr">
              <a:buNone/>
            </a:pPr>
            <a:r>
              <a:rPr lang="en-US" sz="1200" b="1" dirty="0">
                <a:solidFill>
                  <a:srgbClr val="46D9A0"/>
                </a:solidFill>
                <a:latin typeface="Segoe UI" pitchFamily="34" charset="0"/>
                <a:ea typeface="Segoe UI" pitchFamily="34" charset="-122"/>
                <a:cs typeface="Segoe UI" pitchFamily="34" charset="-120"/>
              </a:rPr>
              <a:t>05</a:t>
            </a:r>
            <a:endParaRPr lang="en-US" sz="1200" dirty="0"/>
          </a:p>
        </p:txBody>
      </p:sp>
      <p:sp>
        <p:nvSpPr>
          <p:cNvPr id="28" name="Text 21"/>
          <p:cNvSpPr/>
          <p:nvPr/>
        </p:nvSpPr>
        <p:spPr>
          <a:xfrm>
            <a:off x="8085125" y="4233672"/>
            <a:ext cx="1660093" cy="457200"/>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Govern</a:t>
            </a:r>
            <a:endParaRPr lang="en-US" sz="1450" dirty="0"/>
          </a:p>
        </p:txBody>
      </p:sp>
      <p:sp>
        <p:nvSpPr>
          <p:cNvPr id="29" name="Text 22"/>
          <p:cNvSpPr/>
          <p:nvPr/>
        </p:nvSpPr>
        <p:spPr>
          <a:xfrm>
            <a:off x="9708642" y="3662172"/>
            <a:ext cx="292608" cy="585216"/>
          </a:xfrm>
          <a:prstGeom prst="rect">
            <a:avLst/>
          </a:prstGeom>
          <a:noFill/>
          <a:ln/>
        </p:spPr>
        <p:txBody>
          <a:bodyPr wrap="square" rtlCol="0" anchor="ctr"/>
          <a:lstStyle/>
          <a:p>
            <a:pPr marL="0" indent="0" algn="ctr">
              <a:buNone/>
            </a:pPr>
            <a:r>
              <a:rPr lang="en-US" sz="2400" b="1" dirty="0">
                <a:solidFill>
                  <a:srgbClr val="46D9A0"/>
                </a:solidFill>
                <a:latin typeface="Segoe UI" pitchFamily="34" charset="0"/>
                <a:ea typeface="Segoe UI" pitchFamily="34" charset="-122"/>
                <a:cs typeface="Segoe UI" pitchFamily="34" charset="-120"/>
              </a:rPr>
              <a:t>›</a:t>
            </a:r>
            <a:endParaRPr lang="en-US" sz="2400" dirty="0"/>
          </a:p>
        </p:txBody>
      </p:sp>
      <p:sp>
        <p:nvSpPr>
          <p:cNvPr id="30" name="Shape 23"/>
          <p:cNvSpPr/>
          <p:nvPr/>
        </p:nvSpPr>
        <p:spPr>
          <a:xfrm>
            <a:off x="9964674" y="2697480"/>
            <a:ext cx="1660093" cy="2514600"/>
          </a:xfrm>
          <a:prstGeom prst="roundRect">
            <a:avLst>
              <a:gd name="adj" fmla="val 4957"/>
            </a:avLst>
          </a:prstGeom>
          <a:solidFill>
            <a:srgbClr val="141A25"/>
          </a:solidFill>
          <a:ln w="19050">
            <a:solidFill>
              <a:srgbClr val="46D9A0"/>
            </a:solidFill>
            <a:prstDash val="solid"/>
          </a:ln>
        </p:spPr>
        <p:txBody>
          <a:bodyPr/>
          <a:lstStyle/>
          <a:p>
            <a:endParaRPr lang="en-US"/>
          </a:p>
        </p:txBody>
      </p:sp>
      <p:sp>
        <p:nvSpPr>
          <p:cNvPr id="32" name="Text 24"/>
          <p:cNvSpPr/>
          <p:nvPr/>
        </p:nvSpPr>
        <p:spPr>
          <a:xfrm>
            <a:off x="9964674" y="3867912"/>
            <a:ext cx="1660093" cy="365760"/>
          </a:xfrm>
          <a:prstGeom prst="rect">
            <a:avLst/>
          </a:prstGeom>
          <a:noFill/>
          <a:ln/>
        </p:spPr>
        <p:txBody>
          <a:bodyPr wrap="square" rtlCol="0" anchor="ctr"/>
          <a:lstStyle/>
          <a:p>
            <a:pPr marL="0" indent="0" algn="ctr">
              <a:buNone/>
            </a:pPr>
            <a:r>
              <a:rPr lang="en-US" sz="1200" b="1" dirty="0">
                <a:solidFill>
                  <a:srgbClr val="46D9A0"/>
                </a:solidFill>
                <a:latin typeface="Segoe UI" pitchFamily="34" charset="0"/>
                <a:ea typeface="Segoe UI" pitchFamily="34" charset="-122"/>
                <a:cs typeface="Segoe UI" pitchFamily="34" charset="-120"/>
              </a:rPr>
              <a:t>06</a:t>
            </a:r>
            <a:endParaRPr lang="en-US" sz="1200" dirty="0"/>
          </a:p>
        </p:txBody>
      </p:sp>
      <p:sp>
        <p:nvSpPr>
          <p:cNvPr id="33" name="Text 25"/>
          <p:cNvSpPr/>
          <p:nvPr/>
        </p:nvSpPr>
        <p:spPr>
          <a:xfrm>
            <a:off x="9964674" y="4233672"/>
            <a:ext cx="1660093" cy="457200"/>
          </a:xfrm>
          <a:prstGeom prst="rect">
            <a:avLst/>
          </a:prstGeom>
          <a:noFill/>
          <a:ln/>
        </p:spPr>
        <p:txBody>
          <a:bodyPr wrap="square" rtlCol="0" anchor="ctr"/>
          <a:lstStyle/>
          <a:p>
            <a:pPr marL="0" indent="0" algn="ctr">
              <a:buNone/>
            </a:pPr>
            <a:r>
              <a:rPr lang="en-US" sz="1450" b="1" dirty="0">
                <a:solidFill>
                  <a:srgbClr val="F3F6FB"/>
                </a:solidFill>
                <a:latin typeface="Segoe UI Semibold" pitchFamily="34" charset="0"/>
                <a:ea typeface="Segoe UI Semibold" pitchFamily="34" charset="-122"/>
                <a:cs typeface="Segoe UI Semibold" pitchFamily="34" charset="-120"/>
              </a:rPr>
              <a:t>Distribute</a:t>
            </a:r>
            <a:endParaRPr lang="en-US" sz="1450" dirty="0"/>
          </a:p>
        </p:txBody>
      </p:sp>
      <p:sp>
        <p:nvSpPr>
          <p:cNvPr id="34" name="Text 26"/>
          <p:cNvSpPr/>
          <p:nvPr/>
        </p:nvSpPr>
        <p:spPr>
          <a:xfrm>
            <a:off x="566928" y="5532120"/>
            <a:ext cx="11057839" cy="457200"/>
          </a:xfrm>
          <a:prstGeom prst="rect">
            <a:avLst/>
          </a:prstGeom>
          <a:noFill/>
          <a:ln/>
        </p:spPr>
        <p:txBody>
          <a:bodyPr wrap="square" rtlCol="0" anchor="ctr"/>
          <a:lstStyle/>
          <a:p>
            <a:pPr marL="0" indent="0">
              <a:buNone/>
            </a:pPr>
            <a:r>
              <a:rPr lang="en-US" sz="1500" dirty="0">
                <a:solidFill>
                  <a:srgbClr val="AAB6C7"/>
                </a:solidFill>
                <a:latin typeface="Segoe UI" pitchFamily="34" charset="0"/>
                <a:ea typeface="Segoe UI" pitchFamily="34" charset="-122"/>
                <a:cs typeface="Segoe UI" pitchFamily="34" charset="-120"/>
              </a:rPr>
              <a:t>Each step runs on a schedule or on demand, on its own or with a person in the loop. Everything is logged.</a:t>
            </a:r>
            <a:endParaRPr lang="en-US" sz="1500" dirty="0"/>
          </a:p>
        </p:txBody>
      </p:sp>
      <p:sp>
        <p:nvSpPr>
          <p:cNvPr id="35" name="Text 27"/>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36" name="Text 28"/>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06 / 12</a:t>
            </a:r>
            <a:endParaRPr lang="en-US" sz="900" dirty="0"/>
          </a:p>
        </p:txBody>
      </p:sp>
      <p:sp>
        <p:nvSpPr>
          <p:cNvPr id="37" name="Shape 29"/>
          <p:cNvSpPr/>
          <p:nvPr/>
        </p:nvSpPr>
        <p:spPr>
          <a:xfrm>
            <a:off x="566928" y="6327648"/>
            <a:ext cx="11057839" cy="0"/>
          </a:xfrm>
          <a:prstGeom prst="line">
            <a:avLst/>
          </a:prstGeom>
          <a:noFill/>
          <a:ln w="9525">
            <a:solidFill>
              <a:srgbClr val="36414F"/>
            </a:solidFill>
            <a:prstDash val="solid"/>
          </a:ln>
        </p:spPr>
        <p:txBody>
          <a:bodyPr/>
          <a:lstStyle/>
          <a:p>
            <a:endParaRPr lang="en-US"/>
          </a:p>
        </p:txBody>
      </p:sp>
      <p:sp>
        <p:nvSpPr>
          <p:cNvPr id="101" name="Phase Label CAPTURE"/>
          <p:cNvSpPr txBox="1"/>
          <p:nvPr/>
        </p:nvSpPr>
        <p:spPr>
          <a:xfrm>
            <a:off x="571500" y="2387600"/>
            <a:ext cx="3543300" cy="254000"/>
          </a:xfrm>
          <a:prstGeom prst="rect">
            <a:avLst/>
          </a:prstGeom>
          <a:noFill/>
          <a:ln>
            <a:noFill/>
          </a:ln>
        </p:spPr>
        <p:txBody>
          <a:bodyPr wrap="square" lIns="0" tIns="0" rIns="0" bIns="0" anchor="ctr">
            <a:noAutofit/>
          </a:bodyPr>
          <a:lstStyle/>
          <a:p>
            <a:pPr algn="ctr">
              <a:buNone/>
            </a:pPr>
            <a:r>
              <a:rPr lang="en-US" sz="1100" b="1" kern="0" spc="200" dirty="0">
                <a:solidFill>
                  <a:srgbClr val="3BE3E0"/>
                </a:solidFill>
                <a:latin typeface="Segoe UI Semibold" pitchFamily="34" charset="0"/>
              </a:rPr>
              <a:t>CAPTURE</a:t>
            </a:r>
          </a:p>
        </p:txBody>
      </p:sp>
      <p:sp>
        <p:nvSpPr>
          <p:cNvPr id="102" name="Phase Bar CAPTURE"/>
          <p:cNvSpPr/>
          <p:nvPr/>
        </p:nvSpPr>
        <p:spPr>
          <a:xfrm>
            <a:off x="571500" y="2616200"/>
            <a:ext cx="3543300" cy="38100"/>
          </a:xfrm>
          <a:prstGeom prst="rect">
            <a:avLst/>
          </a:prstGeom>
          <a:solidFill>
            <a:srgbClr val="3BE3E0"/>
          </a:solidFill>
          <a:ln>
            <a:noFill/>
          </a:ln>
        </p:spPr>
        <p:txBody>
          <a:bodyPr/>
          <a:lstStyle/>
          <a:p>
            <a:endParaRPr/>
          </a:p>
        </p:txBody>
      </p:sp>
      <p:sp>
        <p:nvSpPr>
          <p:cNvPr id="103" name="Phase Label REFINE"/>
          <p:cNvSpPr txBox="1"/>
          <p:nvPr/>
        </p:nvSpPr>
        <p:spPr>
          <a:xfrm>
            <a:off x="4330700" y="2387600"/>
            <a:ext cx="3543300" cy="254000"/>
          </a:xfrm>
          <a:prstGeom prst="rect">
            <a:avLst/>
          </a:prstGeom>
          <a:noFill/>
          <a:ln>
            <a:noFill/>
          </a:ln>
        </p:spPr>
        <p:txBody>
          <a:bodyPr wrap="square" lIns="0" tIns="0" rIns="0" bIns="0" anchor="ctr">
            <a:noAutofit/>
          </a:bodyPr>
          <a:lstStyle/>
          <a:p>
            <a:pPr algn="ctr">
              <a:buNone/>
            </a:pPr>
            <a:r>
              <a:rPr lang="en-US" sz="1100" b="1" kern="0" spc="200" dirty="0">
                <a:solidFill>
                  <a:srgbClr val="4EA8DE"/>
                </a:solidFill>
                <a:latin typeface="Segoe UI Semibold" pitchFamily="34" charset="0"/>
              </a:rPr>
              <a:t>REFINE</a:t>
            </a:r>
          </a:p>
        </p:txBody>
      </p:sp>
      <p:sp>
        <p:nvSpPr>
          <p:cNvPr id="104" name="Phase Bar REFINE"/>
          <p:cNvSpPr/>
          <p:nvPr/>
        </p:nvSpPr>
        <p:spPr>
          <a:xfrm>
            <a:off x="4330700" y="2616200"/>
            <a:ext cx="3543300" cy="38100"/>
          </a:xfrm>
          <a:prstGeom prst="rect">
            <a:avLst/>
          </a:prstGeom>
          <a:solidFill>
            <a:srgbClr val="4EA8DE"/>
          </a:solidFill>
          <a:ln>
            <a:noFill/>
          </a:ln>
        </p:spPr>
        <p:txBody>
          <a:bodyPr/>
          <a:lstStyle/>
          <a:p>
            <a:endParaRPr/>
          </a:p>
        </p:txBody>
      </p:sp>
      <p:sp>
        <p:nvSpPr>
          <p:cNvPr id="105" name="Phase Label DELIVER"/>
          <p:cNvSpPr txBox="1"/>
          <p:nvPr/>
        </p:nvSpPr>
        <p:spPr>
          <a:xfrm>
            <a:off x="8089900" y="2387600"/>
            <a:ext cx="3543300" cy="254000"/>
          </a:xfrm>
          <a:prstGeom prst="rect">
            <a:avLst/>
          </a:prstGeom>
          <a:noFill/>
          <a:ln>
            <a:noFill/>
          </a:ln>
        </p:spPr>
        <p:txBody>
          <a:bodyPr wrap="square" lIns="0" tIns="0" rIns="0" bIns="0" anchor="ctr">
            <a:noAutofit/>
          </a:bodyPr>
          <a:lstStyle/>
          <a:p>
            <a:pPr algn="ctr">
              <a:buNone/>
            </a:pPr>
            <a:r>
              <a:rPr lang="en-US" sz="1100" b="1" kern="0" spc="200" dirty="0">
                <a:solidFill>
                  <a:srgbClr val="46D9A0"/>
                </a:solidFill>
                <a:latin typeface="Segoe UI Semibold" pitchFamily="34" charset="0"/>
              </a:rPr>
              <a:t>DELIVER</a:t>
            </a:r>
          </a:p>
        </p:txBody>
      </p:sp>
      <p:sp>
        <p:nvSpPr>
          <p:cNvPr id="106" name="Phase Bar DELIVER"/>
          <p:cNvSpPr/>
          <p:nvPr/>
        </p:nvSpPr>
        <p:spPr>
          <a:xfrm>
            <a:off x="8089900" y="2616200"/>
            <a:ext cx="3543300" cy="38100"/>
          </a:xfrm>
          <a:prstGeom prst="rect">
            <a:avLst/>
          </a:prstGeom>
          <a:solidFill>
            <a:srgbClr val="46D9A0"/>
          </a:solidFill>
          <a:ln>
            <a:noFill/>
          </a:ln>
        </p:spPr>
        <p:txBody>
          <a:bodyPr/>
          <a:lstStyle/>
          <a:p>
            <a:endParaRPr/>
          </a:p>
        </p:txBody>
      </p:sp>
      <p:pic>
        <p:nvPicPr>
          <p:cNvPr id="107" name="Graphic 107" descr="Inges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8070" y="3063240"/>
            <a:ext cx="657860" cy="657860"/>
          </a:xfrm>
          <a:prstGeom prst="rect">
            <a:avLst/>
          </a:prstGeom>
        </p:spPr>
      </p:pic>
      <p:pic>
        <p:nvPicPr>
          <p:cNvPr id="108" name="Graphic 108" descr="Validate"/>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47670" y="3063240"/>
            <a:ext cx="657860" cy="657860"/>
          </a:xfrm>
          <a:prstGeom prst="rect">
            <a:avLst/>
          </a:prstGeom>
        </p:spPr>
      </p:pic>
      <p:pic>
        <p:nvPicPr>
          <p:cNvPr id="109" name="Graphic 109" descr="Cleans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827270" y="3063240"/>
            <a:ext cx="657860" cy="657860"/>
          </a:xfrm>
          <a:prstGeom prst="rect">
            <a:avLst/>
          </a:prstGeom>
        </p:spPr>
      </p:pic>
      <p:pic>
        <p:nvPicPr>
          <p:cNvPr id="111" name="Graphic 111" descr="Govern"/>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586470" y="3063240"/>
            <a:ext cx="657860" cy="657860"/>
          </a:xfrm>
          <a:prstGeom prst="rect">
            <a:avLst/>
          </a:prstGeom>
        </p:spPr>
      </p:pic>
      <p:pic>
        <p:nvPicPr>
          <p:cNvPr id="112" name="Graphic 112" descr="Distribute"/>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66070" y="3063240"/>
            <a:ext cx="657860" cy="657860"/>
          </a:xfrm>
          <a:prstGeom prst="rect">
            <a:avLst/>
          </a:prstGeom>
        </p:spPr>
      </p:pic>
      <p:pic>
        <p:nvPicPr>
          <p:cNvPr id="113" name="Graphic 113" descr="Transform"/>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06870" y="3063240"/>
            <a:ext cx="657860" cy="657860"/>
          </a:xfrm>
          <a:prstGeom prst="rect">
            <a:avLst/>
          </a:prstGeom>
        </p:spPr>
      </p:pic>
    </p:spTree>
    <p:extLst>
      <p:ext uri="{BB962C8B-B14F-4D97-AF65-F5344CB8AC3E}">
        <p14:creationId xmlns:p14="http://schemas.microsoft.com/office/powerpoint/2010/main" val="1063657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HOW IT WORKS · STEP 1 AND 2</a:t>
            </a:r>
            <a:endParaRPr lang="en-US" sz="1200" dirty="0"/>
          </a:p>
        </p:txBody>
      </p:sp>
      <p:sp>
        <p:nvSpPr>
          <p:cNvPr id="4" name="Text 2"/>
          <p:cNvSpPr/>
          <p:nvPr/>
        </p:nvSpPr>
        <p:spPr>
          <a:xfrm>
            <a:off x="566928" y="960120"/>
            <a:ext cx="1005840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Ingest, then validate.</a:t>
            </a:r>
            <a:endParaRPr lang="en-US" sz="2800" dirty="0"/>
          </a:p>
        </p:txBody>
      </p:sp>
      <p:sp>
        <p:nvSpPr>
          <p:cNvPr id="5" name="Shape 3"/>
          <p:cNvSpPr/>
          <p:nvPr/>
        </p:nvSpPr>
        <p:spPr>
          <a:xfrm>
            <a:off x="566928" y="2286000"/>
            <a:ext cx="5346040" cy="2971800"/>
          </a:xfrm>
          <a:prstGeom prst="roundRect">
            <a:avLst>
              <a:gd name="adj" fmla="val 2769"/>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932688" y="2670048"/>
            <a:ext cx="822960" cy="822960"/>
          </a:xfrm>
          <a:prstGeom prst="roundRect">
            <a:avLst>
              <a:gd name="adj" fmla="val 12222"/>
            </a:avLst>
          </a:prstGeom>
          <a:solidFill>
            <a:srgbClr val="1A3841"/>
          </a:solidFill>
          <a:ln w="15240">
            <a:solidFill>
              <a:srgbClr val="3BE3E0"/>
            </a:solidFill>
            <a:prstDash val="solid"/>
          </a:ln>
        </p:spPr>
        <p:txBody>
          <a:bodyPr/>
          <a:lstStyle/>
          <a:p>
            <a:endParaRPr lang="en-US"/>
          </a:p>
        </p:txBody>
      </p:sp>
      <p:sp>
        <p:nvSpPr>
          <p:cNvPr id="8" name="Text 5"/>
          <p:cNvSpPr/>
          <p:nvPr/>
        </p:nvSpPr>
        <p:spPr>
          <a:xfrm>
            <a:off x="1984248" y="2670048"/>
            <a:ext cx="3608680" cy="822960"/>
          </a:xfrm>
          <a:prstGeom prst="rect">
            <a:avLst/>
          </a:prstGeom>
          <a:noFill/>
          <a:ln/>
        </p:spPr>
        <p:txBody>
          <a:bodyPr wrap="square" rtlCol="0" anchor="ctr"/>
          <a:lstStyle/>
          <a:p>
            <a:pPr marL="0" indent="0">
              <a:lnSpc>
                <a:spcPct val="105000"/>
              </a:lnSpc>
              <a:buNone/>
            </a:pPr>
            <a:r>
              <a:rPr lang="en-US" sz="1100" b="1" dirty="0">
                <a:solidFill>
                  <a:srgbClr val="3BE3E0"/>
                </a:solidFill>
                <a:latin typeface="Segoe UI Semibold" pitchFamily="34" charset="0"/>
                <a:ea typeface="Segoe UI Semibold" pitchFamily="34" charset="-122"/>
                <a:cs typeface="Segoe UI Semibold" pitchFamily="34" charset="-120"/>
              </a:rPr>
              <a:t>STEP 01
</a:t>
            </a:r>
            <a:r>
              <a:rPr lang="en-US" sz="2000" b="1" dirty="0">
                <a:solidFill>
                  <a:srgbClr val="F3F6FB"/>
                </a:solidFill>
                <a:latin typeface="Segoe UI Semibold" pitchFamily="34" charset="0"/>
                <a:ea typeface="Segoe UI Semibold" pitchFamily="34" charset="-122"/>
                <a:cs typeface="Segoe UI Semibold" pitchFamily="34" charset="-120"/>
              </a:rPr>
              <a:t>Ingest</a:t>
            </a:r>
            <a:endParaRPr lang="en-US" sz="1100" dirty="0"/>
          </a:p>
        </p:txBody>
      </p:sp>
      <p:sp>
        <p:nvSpPr>
          <p:cNvPr id="9" name="Text 6"/>
          <p:cNvSpPr/>
          <p:nvPr/>
        </p:nvSpPr>
        <p:spPr>
          <a:xfrm>
            <a:off x="932688" y="3703320"/>
            <a:ext cx="4614520" cy="1325880"/>
          </a:xfrm>
          <a:prstGeom prst="rect">
            <a:avLst/>
          </a:prstGeom>
          <a:noFill/>
          <a:ln/>
        </p:spPr>
        <p:txBody>
          <a:bodyPr wrap="square" rtlCol="0" anchor="t"/>
          <a:lstStyle/>
          <a:p>
            <a:pPr marL="0" indent="0">
              <a:lnSpc>
                <a:spcPct val="132000"/>
              </a:lnSpc>
              <a:buNone/>
            </a:pPr>
            <a:r>
              <a:rPr lang="en-US" sz="1550" dirty="0">
                <a:solidFill>
                  <a:srgbClr val="AAB6C7"/>
                </a:solidFill>
                <a:latin typeface="Segoe UI" pitchFamily="34" charset="0"/>
                <a:ea typeface="Segoe UI" pitchFamily="34" charset="-122"/>
                <a:cs typeface="Segoe UI" pitchFamily="34" charset="-120"/>
              </a:rPr>
              <a:t>Pull data from any source: market data providers, central banks, government agencies, websites, or your own systems. Any protocol, on a schedule or on demand.</a:t>
            </a:r>
            <a:endParaRPr lang="en-US" sz="1550" dirty="0"/>
          </a:p>
        </p:txBody>
      </p:sp>
      <p:sp>
        <p:nvSpPr>
          <p:cNvPr id="10" name="Shape 7"/>
          <p:cNvSpPr/>
          <p:nvPr/>
        </p:nvSpPr>
        <p:spPr>
          <a:xfrm>
            <a:off x="6278728" y="2286000"/>
            <a:ext cx="5346040" cy="2971800"/>
          </a:xfrm>
          <a:prstGeom prst="roundRect">
            <a:avLst>
              <a:gd name="adj" fmla="val 2769"/>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6644488" y="2670048"/>
            <a:ext cx="822960" cy="822960"/>
          </a:xfrm>
          <a:prstGeom prst="roundRect">
            <a:avLst>
              <a:gd name="adj" fmla="val 12222"/>
            </a:avLst>
          </a:prstGeom>
          <a:solidFill>
            <a:srgbClr val="1A3841"/>
          </a:solidFill>
          <a:ln w="15240">
            <a:solidFill>
              <a:srgbClr val="3BE3E0"/>
            </a:solidFill>
            <a:prstDash val="solid"/>
          </a:ln>
        </p:spPr>
        <p:txBody>
          <a:bodyPr/>
          <a:lstStyle/>
          <a:p>
            <a:endParaRPr lang="en-US"/>
          </a:p>
        </p:txBody>
      </p:sp>
      <p:sp>
        <p:nvSpPr>
          <p:cNvPr id="13" name="Text 9"/>
          <p:cNvSpPr/>
          <p:nvPr/>
        </p:nvSpPr>
        <p:spPr>
          <a:xfrm>
            <a:off x="7696048" y="2670048"/>
            <a:ext cx="3608680" cy="822960"/>
          </a:xfrm>
          <a:prstGeom prst="rect">
            <a:avLst/>
          </a:prstGeom>
          <a:noFill/>
          <a:ln/>
        </p:spPr>
        <p:txBody>
          <a:bodyPr wrap="square" rtlCol="0" anchor="ctr"/>
          <a:lstStyle/>
          <a:p>
            <a:pPr marL="0" indent="0">
              <a:lnSpc>
                <a:spcPct val="105000"/>
              </a:lnSpc>
              <a:buNone/>
            </a:pPr>
            <a:r>
              <a:rPr lang="en-US" sz="1100" b="1" dirty="0">
                <a:solidFill>
                  <a:srgbClr val="3BE3E0"/>
                </a:solidFill>
                <a:latin typeface="Segoe UI Semibold" pitchFamily="34" charset="0"/>
                <a:ea typeface="Segoe UI Semibold" pitchFamily="34" charset="-122"/>
                <a:cs typeface="Segoe UI Semibold" pitchFamily="34" charset="-120"/>
              </a:rPr>
              <a:t>STEP 02
</a:t>
            </a:r>
            <a:r>
              <a:rPr lang="en-US" sz="2000" b="1" dirty="0">
                <a:solidFill>
                  <a:srgbClr val="F3F6FB"/>
                </a:solidFill>
                <a:latin typeface="Segoe UI Semibold" pitchFamily="34" charset="0"/>
                <a:ea typeface="Segoe UI Semibold" pitchFamily="34" charset="-122"/>
                <a:cs typeface="Segoe UI Semibold" pitchFamily="34" charset="-120"/>
              </a:rPr>
              <a:t>Validate</a:t>
            </a:r>
            <a:endParaRPr lang="en-US" sz="1100" dirty="0"/>
          </a:p>
        </p:txBody>
      </p:sp>
      <p:sp>
        <p:nvSpPr>
          <p:cNvPr id="14" name="Text 10"/>
          <p:cNvSpPr/>
          <p:nvPr/>
        </p:nvSpPr>
        <p:spPr>
          <a:xfrm>
            <a:off x="6644488" y="3703320"/>
            <a:ext cx="4614520" cy="1325880"/>
          </a:xfrm>
          <a:prstGeom prst="rect">
            <a:avLst/>
          </a:prstGeom>
          <a:noFill/>
          <a:ln/>
        </p:spPr>
        <p:txBody>
          <a:bodyPr wrap="square" rtlCol="0" anchor="t"/>
          <a:lstStyle/>
          <a:p>
            <a:pPr marL="0" indent="0">
              <a:lnSpc>
                <a:spcPct val="132000"/>
              </a:lnSpc>
              <a:buNone/>
            </a:pPr>
            <a:r>
              <a:rPr lang="en-US" sz="1550" dirty="0">
                <a:solidFill>
                  <a:srgbClr val="AAB6C7"/>
                </a:solidFill>
                <a:latin typeface="Segoe UI" pitchFamily="34" charset="0"/>
                <a:ea typeface="Segoe UI" pitchFamily="34" charset="-122"/>
                <a:cs typeface="Segoe UI" pitchFamily="34" charset="-120"/>
              </a:rPr>
              <a:t>Every value is checked as it arrives: anomaly detection, completeness, accuracy and timeliness. Bad data is caught before it moves anywhere.</a:t>
            </a:r>
            <a:endParaRPr lang="en-US" sz="1550" dirty="0"/>
          </a:p>
        </p:txBody>
      </p:sp>
      <p:sp>
        <p:nvSpPr>
          <p:cNvPr id="15" name="Text 11"/>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16" name="Text 12"/>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07 / 12</a:t>
            </a:r>
            <a:endParaRPr lang="en-US" sz="900" dirty="0"/>
          </a:p>
        </p:txBody>
      </p:sp>
      <p:sp>
        <p:nvSpPr>
          <p:cNvPr id="17" name="Shape 13"/>
          <p:cNvSpPr/>
          <p:nvPr/>
        </p:nvSpPr>
        <p:spPr>
          <a:xfrm>
            <a:off x="566928" y="6327648"/>
            <a:ext cx="11057839" cy="0"/>
          </a:xfrm>
          <a:prstGeom prst="line">
            <a:avLst/>
          </a:prstGeom>
          <a:noFill/>
          <a:ln w="9525">
            <a:solidFill>
              <a:srgbClr val="36414F"/>
            </a:solidFill>
            <a:prstDash val="solid"/>
          </a:ln>
        </p:spPr>
        <p:txBody>
          <a:bodyPr/>
          <a:lstStyle/>
          <a:p>
            <a:endParaRPr lang="en-US"/>
          </a:p>
        </p:txBody>
      </p:sp>
      <p:pic>
        <p:nvPicPr>
          <p:cNvPr id="18" name="Graphic 18" descr="Inges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0300" y="2870200"/>
            <a:ext cx="431800" cy="431800"/>
          </a:xfrm>
          <a:prstGeom prst="rect">
            <a:avLst/>
          </a:prstGeom>
        </p:spPr>
      </p:pic>
      <p:pic>
        <p:nvPicPr>
          <p:cNvPr id="19" name="Graphic 19" descr="Validate"/>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5300" y="2870200"/>
            <a:ext cx="431800" cy="431800"/>
          </a:xfrm>
          <a:prstGeom prst="rect">
            <a:avLst/>
          </a:prstGeom>
        </p:spPr>
      </p:pic>
    </p:spTree>
    <p:extLst>
      <p:ext uri="{BB962C8B-B14F-4D97-AF65-F5344CB8AC3E}">
        <p14:creationId xmlns:p14="http://schemas.microsoft.com/office/powerpoint/2010/main" val="8523836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4EA8DE"/>
                </a:solidFill>
                <a:latin typeface="Segoe UI Semibold" pitchFamily="34" charset="0"/>
                <a:ea typeface="Segoe UI Semibold" pitchFamily="34" charset="-122"/>
                <a:cs typeface="Segoe UI Semibold" pitchFamily="34" charset="-120"/>
              </a:rPr>
              <a:t>HOW IT WORKS · STEP 3 AND 4</a:t>
            </a:r>
            <a:endParaRPr lang="en-US" sz="1200" dirty="0"/>
          </a:p>
        </p:txBody>
      </p:sp>
      <p:sp>
        <p:nvSpPr>
          <p:cNvPr id="4" name="Text 2"/>
          <p:cNvSpPr/>
          <p:nvPr/>
        </p:nvSpPr>
        <p:spPr>
          <a:xfrm>
            <a:off x="566928" y="960120"/>
            <a:ext cx="1005840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Clean, then transform.</a:t>
            </a:r>
            <a:endParaRPr lang="en-US" sz="2800" dirty="0"/>
          </a:p>
        </p:txBody>
      </p:sp>
      <p:sp>
        <p:nvSpPr>
          <p:cNvPr id="5" name="Shape 3"/>
          <p:cNvSpPr/>
          <p:nvPr/>
        </p:nvSpPr>
        <p:spPr>
          <a:xfrm>
            <a:off x="566928" y="2286000"/>
            <a:ext cx="5346040" cy="2971800"/>
          </a:xfrm>
          <a:prstGeom prst="roundRect">
            <a:avLst>
              <a:gd name="adj" fmla="val 2769"/>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932688" y="2670048"/>
            <a:ext cx="822960" cy="822960"/>
          </a:xfrm>
          <a:prstGeom prst="roundRect">
            <a:avLst>
              <a:gd name="adj" fmla="val 12222"/>
            </a:avLst>
          </a:prstGeom>
          <a:solidFill>
            <a:srgbClr val="1D2F41"/>
          </a:solidFill>
          <a:ln w="15240">
            <a:solidFill>
              <a:srgbClr val="3BE3E0"/>
            </a:solidFill>
            <a:prstDash val="solid"/>
          </a:ln>
        </p:spPr>
        <p:txBody>
          <a:bodyPr/>
          <a:lstStyle/>
          <a:p>
            <a:endParaRPr lang="en-US"/>
          </a:p>
        </p:txBody>
      </p:sp>
      <p:sp>
        <p:nvSpPr>
          <p:cNvPr id="8" name="Text 5"/>
          <p:cNvSpPr/>
          <p:nvPr/>
        </p:nvSpPr>
        <p:spPr>
          <a:xfrm>
            <a:off x="1984248" y="2670048"/>
            <a:ext cx="3608680" cy="822960"/>
          </a:xfrm>
          <a:prstGeom prst="rect">
            <a:avLst/>
          </a:prstGeom>
          <a:noFill/>
          <a:ln/>
        </p:spPr>
        <p:txBody>
          <a:bodyPr wrap="square" rtlCol="0" anchor="ctr"/>
          <a:lstStyle/>
          <a:p>
            <a:pPr marL="0" indent="0">
              <a:lnSpc>
                <a:spcPct val="105000"/>
              </a:lnSpc>
              <a:buNone/>
            </a:pPr>
            <a:r>
              <a:rPr lang="en-US" sz="1100" b="1" dirty="0">
                <a:solidFill>
                  <a:srgbClr val="3BE3E0"/>
                </a:solidFill>
                <a:latin typeface="Segoe UI Semibold" pitchFamily="34" charset="0"/>
                <a:ea typeface="Segoe UI Semibold" pitchFamily="34" charset="-122"/>
                <a:cs typeface="Segoe UI Semibold" pitchFamily="34" charset="-120"/>
              </a:rPr>
              <a:t>STEP 03
</a:t>
            </a:r>
            <a:r>
              <a:rPr lang="en-US" sz="2000" b="1" dirty="0">
                <a:solidFill>
                  <a:srgbClr val="F3F6FB"/>
                </a:solidFill>
                <a:latin typeface="Segoe UI Semibold" pitchFamily="34" charset="0"/>
                <a:ea typeface="Segoe UI Semibold" pitchFamily="34" charset="-122"/>
                <a:cs typeface="Segoe UI Semibold" pitchFamily="34" charset="-120"/>
              </a:rPr>
              <a:t>Cleanse &amp; Normalize</a:t>
            </a:r>
            <a:endParaRPr lang="en-US" sz="1100" dirty="0"/>
          </a:p>
        </p:txBody>
      </p:sp>
      <p:sp>
        <p:nvSpPr>
          <p:cNvPr id="9" name="Text 6"/>
          <p:cNvSpPr/>
          <p:nvPr/>
        </p:nvSpPr>
        <p:spPr>
          <a:xfrm>
            <a:off x="932688" y="3703320"/>
            <a:ext cx="4614520" cy="1325880"/>
          </a:xfrm>
          <a:prstGeom prst="rect">
            <a:avLst/>
          </a:prstGeom>
          <a:noFill/>
          <a:ln/>
        </p:spPr>
        <p:txBody>
          <a:bodyPr wrap="square" rtlCol="0" anchor="t"/>
          <a:lstStyle/>
          <a:p>
            <a:pPr marL="0" indent="0">
              <a:lnSpc>
                <a:spcPct val="132000"/>
              </a:lnSpc>
              <a:buNone/>
            </a:pPr>
            <a:r>
              <a:rPr lang="en-US" sz="1550" dirty="0">
                <a:solidFill>
                  <a:srgbClr val="AAB6C7"/>
                </a:solidFill>
                <a:latin typeface="Segoe UI" pitchFamily="34" charset="0"/>
                <a:ea typeface="Segoe UI" pitchFamily="34" charset="-122"/>
                <a:cs typeface="Segoe UI" pitchFamily="34" charset="-120"/>
              </a:rPr>
              <a:t>Clean, standardize and map every source into one model, so a rate from Bloomberg and a rate from 360T line up the same way.</a:t>
            </a:r>
            <a:endParaRPr lang="en-US" sz="1550" dirty="0"/>
          </a:p>
        </p:txBody>
      </p:sp>
      <p:sp>
        <p:nvSpPr>
          <p:cNvPr id="10" name="Shape 7"/>
          <p:cNvSpPr/>
          <p:nvPr/>
        </p:nvSpPr>
        <p:spPr>
          <a:xfrm>
            <a:off x="6278728" y="2286000"/>
            <a:ext cx="5346040" cy="2971800"/>
          </a:xfrm>
          <a:prstGeom prst="roundRect">
            <a:avLst>
              <a:gd name="adj" fmla="val 2769"/>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6644488" y="2670048"/>
            <a:ext cx="822960" cy="822960"/>
          </a:xfrm>
          <a:prstGeom prst="roundRect">
            <a:avLst>
              <a:gd name="adj" fmla="val 12222"/>
            </a:avLst>
          </a:prstGeom>
          <a:solidFill>
            <a:srgbClr val="1D2F41"/>
          </a:solidFill>
          <a:ln w="15240">
            <a:solidFill>
              <a:srgbClr val="3BE3E0"/>
            </a:solidFill>
            <a:prstDash val="solid"/>
          </a:ln>
        </p:spPr>
        <p:txBody>
          <a:bodyPr/>
          <a:lstStyle/>
          <a:p>
            <a:endParaRPr lang="en-US"/>
          </a:p>
        </p:txBody>
      </p:sp>
      <p:sp>
        <p:nvSpPr>
          <p:cNvPr id="13" name="Text 9"/>
          <p:cNvSpPr/>
          <p:nvPr/>
        </p:nvSpPr>
        <p:spPr>
          <a:xfrm>
            <a:off x="7696048" y="2670048"/>
            <a:ext cx="3608680" cy="822960"/>
          </a:xfrm>
          <a:prstGeom prst="rect">
            <a:avLst/>
          </a:prstGeom>
          <a:noFill/>
          <a:ln/>
        </p:spPr>
        <p:txBody>
          <a:bodyPr wrap="square" rtlCol="0" anchor="ctr"/>
          <a:lstStyle/>
          <a:p>
            <a:pPr marL="0" indent="0">
              <a:lnSpc>
                <a:spcPct val="105000"/>
              </a:lnSpc>
              <a:buNone/>
            </a:pPr>
            <a:r>
              <a:rPr lang="en-US" sz="1100" b="1" dirty="0">
                <a:solidFill>
                  <a:srgbClr val="3BE3E0"/>
                </a:solidFill>
                <a:latin typeface="Segoe UI Semibold" pitchFamily="34" charset="0"/>
                <a:ea typeface="Segoe UI Semibold" pitchFamily="34" charset="-122"/>
                <a:cs typeface="Segoe UI Semibold" pitchFamily="34" charset="-120"/>
              </a:rPr>
              <a:t>STEP 04
</a:t>
            </a:r>
            <a:r>
              <a:rPr lang="en-US" sz="2000" b="1" dirty="0">
                <a:solidFill>
                  <a:srgbClr val="F3F6FB"/>
                </a:solidFill>
                <a:latin typeface="Segoe UI Semibold" pitchFamily="34" charset="0"/>
                <a:ea typeface="Segoe UI Semibold" pitchFamily="34" charset="-122"/>
                <a:cs typeface="Segoe UI Semibold" pitchFamily="34" charset="-120"/>
              </a:rPr>
              <a:t>Transform</a:t>
            </a:r>
            <a:endParaRPr lang="en-US" sz="1100" dirty="0"/>
          </a:p>
        </p:txBody>
      </p:sp>
      <p:sp>
        <p:nvSpPr>
          <p:cNvPr id="14" name="Text 10"/>
          <p:cNvSpPr/>
          <p:nvPr/>
        </p:nvSpPr>
        <p:spPr>
          <a:xfrm>
            <a:off x="6644488" y="3703320"/>
            <a:ext cx="4614520" cy="1325880"/>
          </a:xfrm>
          <a:prstGeom prst="rect">
            <a:avLst/>
          </a:prstGeom>
          <a:noFill/>
          <a:ln/>
        </p:spPr>
        <p:txBody>
          <a:bodyPr wrap="square" rtlCol="0" anchor="t"/>
          <a:lstStyle/>
          <a:p>
            <a:pPr marL="0" indent="0">
              <a:lnSpc>
                <a:spcPct val="132000"/>
              </a:lnSpc>
              <a:buNone/>
            </a:pPr>
            <a:r>
              <a:rPr lang="en-US" sz="1550" dirty="0">
                <a:solidFill>
                  <a:srgbClr val="AAB6C7"/>
                </a:solidFill>
                <a:latin typeface="Segoe UI" pitchFamily="34" charset="0"/>
                <a:ea typeface="Segoe UI" pitchFamily="34" charset="-122"/>
                <a:cs typeface="Segoe UI" pitchFamily="34" charset="-120"/>
              </a:rPr>
              <a:t>Calculations, date shifts, inversion, triangulation of rates, interpolation, averages, your own formula libraries. Shaped exactly how each system needs it.</a:t>
            </a:r>
            <a:endParaRPr lang="en-US" sz="1550" dirty="0"/>
          </a:p>
        </p:txBody>
      </p:sp>
      <p:sp>
        <p:nvSpPr>
          <p:cNvPr id="15" name="Text 11"/>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16" name="Text 12"/>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08 / 12</a:t>
            </a:r>
            <a:endParaRPr lang="en-US" sz="900" dirty="0"/>
          </a:p>
        </p:txBody>
      </p:sp>
      <p:sp>
        <p:nvSpPr>
          <p:cNvPr id="17" name="Shape 13"/>
          <p:cNvSpPr/>
          <p:nvPr/>
        </p:nvSpPr>
        <p:spPr>
          <a:xfrm>
            <a:off x="566928" y="6327648"/>
            <a:ext cx="11057839" cy="0"/>
          </a:xfrm>
          <a:prstGeom prst="line">
            <a:avLst/>
          </a:prstGeom>
          <a:noFill/>
          <a:ln w="9525">
            <a:solidFill>
              <a:srgbClr val="36414F"/>
            </a:solidFill>
            <a:prstDash val="solid"/>
          </a:ln>
        </p:spPr>
        <p:txBody>
          <a:bodyPr/>
          <a:lstStyle/>
          <a:p>
            <a:endParaRPr lang="en-US"/>
          </a:p>
        </p:txBody>
      </p:sp>
      <p:pic>
        <p:nvPicPr>
          <p:cNvPr id="18" name="Graphic 18" descr="Cleans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0300" y="2870200"/>
            <a:ext cx="431800" cy="431800"/>
          </a:xfrm>
          <a:prstGeom prst="rect">
            <a:avLst/>
          </a:prstGeom>
        </p:spPr>
      </p:pic>
      <p:pic>
        <p:nvPicPr>
          <p:cNvPr id="19" name="Graphic 19" descr="Transform"/>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5300" y="2870200"/>
            <a:ext cx="431800" cy="431800"/>
          </a:xfrm>
          <a:prstGeom prst="rect">
            <a:avLst/>
          </a:prstGeom>
        </p:spPr>
      </p:pic>
    </p:spTree>
    <p:extLst>
      <p:ext uri="{BB962C8B-B14F-4D97-AF65-F5344CB8AC3E}">
        <p14:creationId xmlns:p14="http://schemas.microsoft.com/office/powerpoint/2010/main" val="2368451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46D9A0"/>
                </a:solidFill>
                <a:latin typeface="Segoe UI Semibold" pitchFamily="34" charset="0"/>
                <a:ea typeface="Segoe UI Semibold" pitchFamily="34" charset="-122"/>
                <a:cs typeface="Segoe UI Semibold" pitchFamily="34" charset="-120"/>
              </a:rPr>
              <a:t>HOW IT WORKS · STEP 5 AND 6</a:t>
            </a:r>
            <a:endParaRPr lang="en-US" sz="1200" dirty="0"/>
          </a:p>
        </p:txBody>
      </p:sp>
      <p:sp>
        <p:nvSpPr>
          <p:cNvPr id="4" name="Text 2"/>
          <p:cNvSpPr/>
          <p:nvPr/>
        </p:nvSpPr>
        <p:spPr>
          <a:xfrm>
            <a:off x="566928" y="960120"/>
            <a:ext cx="1005840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Govern, then distribute.</a:t>
            </a:r>
            <a:endParaRPr lang="en-US" sz="2800" dirty="0"/>
          </a:p>
        </p:txBody>
      </p:sp>
      <p:sp>
        <p:nvSpPr>
          <p:cNvPr id="5" name="Shape 3"/>
          <p:cNvSpPr/>
          <p:nvPr/>
        </p:nvSpPr>
        <p:spPr>
          <a:xfrm>
            <a:off x="566928" y="2286000"/>
            <a:ext cx="5346040" cy="2971800"/>
          </a:xfrm>
          <a:prstGeom prst="roundRect">
            <a:avLst>
              <a:gd name="adj" fmla="val 2769"/>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932688" y="2670048"/>
            <a:ext cx="822960" cy="822960"/>
          </a:xfrm>
          <a:prstGeom prst="roundRect">
            <a:avLst>
              <a:gd name="adj" fmla="val 12222"/>
            </a:avLst>
          </a:prstGeom>
          <a:solidFill>
            <a:srgbClr val="1C3737"/>
          </a:solidFill>
          <a:ln w="15240">
            <a:solidFill>
              <a:srgbClr val="3BE3E0"/>
            </a:solidFill>
            <a:prstDash val="solid"/>
          </a:ln>
        </p:spPr>
        <p:txBody>
          <a:bodyPr/>
          <a:lstStyle/>
          <a:p>
            <a:endParaRPr lang="en-US"/>
          </a:p>
        </p:txBody>
      </p:sp>
      <p:sp>
        <p:nvSpPr>
          <p:cNvPr id="8" name="Text 5"/>
          <p:cNvSpPr/>
          <p:nvPr/>
        </p:nvSpPr>
        <p:spPr>
          <a:xfrm>
            <a:off x="1984248" y="2670048"/>
            <a:ext cx="3608680" cy="822960"/>
          </a:xfrm>
          <a:prstGeom prst="rect">
            <a:avLst/>
          </a:prstGeom>
          <a:noFill/>
          <a:ln/>
        </p:spPr>
        <p:txBody>
          <a:bodyPr wrap="square" rtlCol="0" anchor="ctr"/>
          <a:lstStyle/>
          <a:p>
            <a:pPr marL="0" indent="0">
              <a:lnSpc>
                <a:spcPct val="105000"/>
              </a:lnSpc>
              <a:buNone/>
            </a:pPr>
            <a:r>
              <a:rPr lang="en-US" sz="1100" b="1" dirty="0">
                <a:solidFill>
                  <a:srgbClr val="3BE3E0"/>
                </a:solidFill>
                <a:latin typeface="Segoe UI Semibold" pitchFamily="34" charset="0"/>
                <a:ea typeface="Segoe UI Semibold" pitchFamily="34" charset="-122"/>
                <a:cs typeface="Segoe UI Semibold" pitchFamily="34" charset="-120"/>
              </a:rPr>
              <a:t>STEP 05
</a:t>
            </a:r>
            <a:r>
              <a:rPr lang="en-US" sz="2000" b="1" dirty="0">
                <a:solidFill>
                  <a:srgbClr val="F3F6FB"/>
                </a:solidFill>
                <a:latin typeface="Segoe UI Semibold" pitchFamily="34" charset="0"/>
                <a:ea typeface="Segoe UI Semibold" pitchFamily="34" charset="-122"/>
                <a:cs typeface="Segoe UI Semibold" pitchFamily="34" charset="-120"/>
              </a:rPr>
              <a:t>Govern</a:t>
            </a:r>
            <a:endParaRPr lang="en-US" sz="1100" dirty="0"/>
          </a:p>
        </p:txBody>
      </p:sp>
      <p:sp>
        <p:nvSpPr>
          <p:cNvPr id="9" name="Text 6"/>
          <p:cNvSpPr/>
          <p:nvPr/>
        </p:nvSpPr>
        <p:spPr>
          <a:xfrm>
            <a:off x="932688" y="3703320"/>
            <a:ext cx="4614520" cy="1325880"/>
          </a:xfrm>
          <a:prstGeom prst="rect">
            <a:avLst/>
          </a:prstGeom>
          <a:noFill/>
          <a:ln/>
        </p:spPr>
        <p:txBody>
          <a:bodyPr wrap="square" rtlCol="0" anchor="t"/>
          <a:lstStyle/>
          <a:p>
            <a:pPr marL="0" indent="0">
              <a:lnSpc>
                <a:spcPct val="132000"/>
              </a:lnSpc>
              <a:buNone/>
            </a:pPr>
            <a:r>
              <a:rPr lang="en-US" sz="1550" dirty="0">
                <a:solidFill>
                  <a:srgbClr val="AAB6C7"/>
                </a:solidFill>
                <a:latin typeface="Segoe UI" pitchFamily="34" charset="0"/>
                <a:ea typeface="Segoe UI" pitchFamily="34" charset="-122"/>
                <a:cs typeface="Segoe UI" pitchFamily="34" charset="-120"/>
              </a:rPr>
              <a:t>A full audit trail on every change, segregation of duty, and alerts when something looks off. You see the exception; the rest just runs.</a:t>
            </a:r>
            <a:endParaRPr lang="en-US" sz="1550" dirty="0"/>
          </a:p>
        </p:txBody>
      </p:sp>
      <p:sp>
        <p:nvSpPr>
          <p:cNvPr id="10" name="Shape 7"/>
          <p:cNvSpPr/>
          <p:nvPr/>
        </p:nvSpPr>
        <p:spPr>
          <a:xfrm>
            <a:off x="6278728" y="2286000"/>
            <a:ext cx="5346040" cy="2971800"/>
          </a:xfrm>
          <a:prstGeom prst="roundRect">
            <a:avLst>
              <a:gd name="adj" fmla="val 2769"/>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6644488" y="2670048"/>
            <a:ext cx="822960" cy="822960"/>
          </a:xfrm>
          <a:prstGeom prst="roundRect">
            <a:avLst>
              <a:gd name="adj" fmla="val 12222"/>
            </a:avLst>
          </a:prstGeom>
          <a:solidFill>
            <a:srgbClr val="1C3737"/>
          </a:solidFill>
          <a:ln w="15240">
            <a:solidFill>
              <a:srgbClr val="46D9A0"/>
            </a:solidFill>
            <a:prstDash val="solid"/>
          </a:ln>
        </p:spPr>
        <p:txBody>
          <a:bodyPr/>
          <a:lstStyle/>
          <a:p>
            <a:endParaRPr lang="en-US"/>
          </a:p>
        </p:txBody>
      </p:sp>
      <p:sp>
        <p:nvSpPr>
          <p:cNvPr id="13" name="Text 9"/>
          <p:cNvSpPr/>
          <p:nvPr/>
        </p:nvSpPr>
        <p:spPr>
          <a:xfrm>
            <a:off x="7696048" y="2670048"/>
            <a:ext cx="3608680" cy="822960"/>
          </a:xfrm>
          <a:prstGeom prst="rect">
            <a:avLst/>
          </a:prstGeom>
          <a:noFill/>
          <a:ln/>
        </p:spPr>
        <p:txBody>
          <a:bodyPr wrap="square" rtlCol="0" anchor="ctr"/>
          <a:lstStyle/>
          <a:p>
            <a:pPr marL="0" indent="0">
              <a:lnSpc>
                <a:spcPct val="105000"/>
              </a:lnSpc>
              <a:buNone/>
            </a:pPr>
            <a:r>
              <a:rPr lang="en-US" sz="1100" b="1" dirty="0">
                <a:solidFill>
                  <a:srgbClr val="46D9A0"/>
                </a:solidFill>
                <a:latin typeface="Segoe UI Semibold" pitchFamily="34" charset="0"/>
                <a:ea typeface="Segoe UI Semibold" pitchFamily="34" charset="-122"/>
                <a:cs typeface="Segoe UI Semibold" pitchFamily="34" charset="-120"/>
              </a:rPr>
              <a:t>STEP 06
</a:t>
            </a:r>
            <a:r>
              <a:rPr lang="en-US" sz="2000" b="1" dirty="0">
                <a:solidFill>
                  <a:srgbClr val="F3F6FB"/>
                </a:solidFill>
                <a:latin typeface="Segoe UI Semibold" pitchFamily="34" charset="0"/>
                <a:ea typeface="Segoe UI Semibold" pitchFamily="34" charset="-122"/>
                <a:cs typeface="Segoe UI Semibold" pitchFamily="34" charset="-120"/>
              </a:rPr>
              <a:t>Distribute</a:t>
            </a:r>
            <a:endParaRPr lang="en-US" sz="1100" dirty="0"/>
          </a:p>
        </p:txBody>
      </p:sp>
      <p:sp>
        <p:nvSpPr>
          <p:cNvPr id="14" name="Text 10"/>
          <p:cNvSpPr/>
          <p:nvPr/>
        </p:nvSpPr>
        <p:spPr>
          <a:xfrm>
            <a:off x="6644488" y="3703320"/>
            <a:ext cx="4614520" cy="1325880"/>
          </a:xfrm>
          <a:prstGeom prst="rect">
            <a:avLst/>
          </a:prstGeom>
          <a:noFill/>
          <a:ln/>
        </p:spPr>
        <p:txBody>
          <a:bodyPr wrap="square" rtlCol="0" anchor="t"/>
          <a:lstStyle/>
          <a:p>
            <a:pPr marL="0" indent="0">
              <a:lnSpc>
                <a:spcPct val="132000"/>
              </a:lnSpc>
              <a:buNone/>
            </a:pPr>
            <a:r>
              <a:rPr lang="en-US" sz="1550" dirty="0">
                <a:solidFill>
                  <a:srgbClr val="AAB6C7"/>
                </a:solidFill>
                <a:latin typeface="Segoe UI" pitchFamily="34" charset="0"/>
                <a:ea typeface="Segoe UI" pitchFamily="34" charset="-122"/>
                <a:cs typeface="Segoe UI" pitchFamily="34" charset="-120"/>
              </a:rPr>
              <a:t>Send the curated data to any system, SAP or not: push it out, or let systems pull it through ODATA and APIs. Nothing re-typed.</a:t>
            </a:r>
            <a:endParaRPr lang="en-US" sz="1550" dirty="0"/>
          </a:p>
        </p:txBody>
      </p:sp>
      <p:sp>
        <p:nvSpPr>
          <p:cNvPr id="15" name="Text 11"/>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16" name="Text 12"/>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09 / 12</a:t>
            </a:r>
            <a:endParaRPr lang="en-US" sz="900" dirty="0"/>
          </a:p>
        </p:txBody>
      </p:sp>
      <p:sp>
        <p:nvSpPr>
          <p:cNvPr id="17" name="Shape 13"/>
          <p:cNvSpPr/>
          <p:nvPr/>
        </p:nvSpPr>
        <p:spPr>
          <a:xfrm>
            <a:off x="566928" y="6327648"/>
            <a:ext cx="11057839" cy="0"/>
          </a:xfrm>
          <a:prstGeom prst="line">
            <a:avLst/>
          </a:prstGeom>
          <a:noFill/>
          <a:ln w="9525">
            <a:solidFill>
              <a:srgbClr val="36414F"/>
            </a:solidFill>
            <a:prstDash val="solid"/>
          </a:ln>
        </p:spPr>
        <p:txBody>
          <a:bodyPr/>
          <a:lstStyle/>
          <a:p>
            <a:endParaRPr lang="en-US"/>
          </a:p>
        </p:txBody>
      </p:sp>
      <p:pic>
        <p:nvPicPr>
          <p:cNvPr id="18" name="Graphic 18" descr="Gover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0300" y="2870200"/>
            <a:ext cx="431800" cy="431800"/>
          </a:xfrm>
          <a:prstGeom prst="rect">
            <a:avLst/>
          </a:prstGeom>
        </p:spPr>
      </p:pic>
      <p:pic>
        <p:nvPicPr>
          <p:cNvPr id="19" name="Graphic 19" descr="Distribute"/>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5300" y="2870200"/>
            <a:ext cx="431800" cy="431800"/>
          </a:xfrm>
          <a:prstGeom prst="rect">
            <a:avLst/>
          </a:prstGeom>
        </p:spPr>
      </p:pic>
    </p:spTree>
    <p:extLst>
      <p:ext uri="{BB962C8B-B14F-4D97-AF65-F5344CB8AC3E}">
        <p14:creationId xmlns:p14="http://schemas.microsoft.com/office/powerpoint/2010/main" val="33569180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WHY IT IS SAFE TO AUTOMATE</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The controls are built in, not bolted on.</a:t>
            </a:r>
            <a:endParaRPr lang="en-US" sz="2800" dirty="0"/>
          </a:p>
        </p:txBody>
      </p:sp>
      <p:sp>
        <p:nvSpPr>
          <p:cNvPr id="5" name="Shape 3"/>
          <p:cNvSpPr/>
          <p:nvPr/>
        </p:nvSpPr>
        <p:spPr>
          <a:xfrm>
            <a:off x="566928" y="2194560"/>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6" name="Shape 4"/>
          <p:cNvSpPr/>
          <p:nvPr/>
        </p:nvSpPr>
        <p:spPr>
          <a:xfrm>
            <a:off x="822960" y="249631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7" name="Image 0" descr="C:/Users/neuma_p1qrsic/Repo/agentic-ops1/.scratch/icons/list.png"/>
          <p:cNvPicPr>
            <a:picLocks noChangeAspect="1"/>
          </p:cNvPicPr>
          <p:nvPr/>
        </p:nvPicPr>
        <p:blipFill>
          <a:blip r:embed="rId3"/>
          <a:stretch>
            <a:fillRect/>
          </a:stretch>
        </p:blipFill>
        <p:spPr>
          <a:xfrm>
            <a:off x="959023" y="2632375"/>
            <a:ext cx="294803" cy="294803"/>
          </a:xfrm>
          <a:prstGeom prst="rect">
            <a:avLst/>
          </a:prstGeom>
        </p:spPr>
      </p:pic>
      <p:sp>
        <p:nvSpPr>
          <p:cNvPr id="8" name="Text 5"/>
          <p:cNvSpPr/>
          <p:nvPr/>
        </p:nvSpPr>
        <p:spPr>
          <a:xfrm>
            <a:off x="1572768" y="2414016"/>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A full audit trail</a:t>
            </a:r>
            <a:endParaRPr lang="en-US" sz="1650" dirty="0"/>
          </a:p>
        </p:txBody>
      </p:sp>
      <p:sp>
        <p:nvSpPr>
          <p:cNvPr id="9" name="Text 6"/>
          <p:cNvSpPr/>
          <p:nvPr/>
        </p:nvSpPr>
        <p:spPr>
          <a:xfrm>
            <a:off x="1572768" y="2798064"/>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Every value and every change is recorded, end to end.</a:t>
            </a:r>
            <a:endParaRPr lang="en-US" sz="1250" dirty="0"/>
          </a:p>
        </p:txBody>
      </p:sp>
      <p:sp>
        <p:nvSpPr>
          <p:cNvPr id="10" name="Shape 7"/>
          <p:cNvSpPr/>
          <p:nvPr/>
        </p:nvSpPr>
        <p:spPr>
          <a:xfrm>
            <a:off x="6278728" y="2194560"/>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11" name="Shape 8"/>
          <p:cNvSpPr/>
          <p:nvPr/>
        </p:nvSpPr>
        <p:spPr>
          <a:xfrm>
            <a:off x="6534760" y="2496312"/>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2" name="Image 1" descr="C:/Users/neuma_p1qrsic/Repo/agentic-ops1/.scratch/icons/shield.png"/>
          <p:cNvPicPr>
            <a:picLocks noChangeAspect="1"/>
          </p:cNvPicPr>
          <p:nvPr/>
        </p:nvPicPr>
        <p:blipFill>
          <a:blip r:embed="rId4"/>
          <a:stretch>
            <a:fillRect/>
          </a:stretch>
        </p:blipFill>
        <p:spPr>
          <a:xfrm>
            <a:off x="6670822" y="2632375"/>
            <a:ext cx="294803" cy="294803"/>
          </a:xfrm>
          <a:prstGeom prst="rect">
            <a:avLst/>
          </a:prstGeom>
        </p:spPr>
      </p:pic>
      <p:sp>
        <p:nvSpPr>
          <p:cNvPr id="13" name="Text 9"/>
          <p:cNvSpPr/>
          <p:nvPr/>
        </p:nvSpPr>
        <p:spPr>
          <a:xfrm>
            <a:off x="7284568" y="2414016"/>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Segregation of duty</a:t>
            </a:r>
            <a:endParaRPr lang="en-US" sz="1650" dirty="0"/>
          </a:p>
        </p:txBody>
      </p:sp>
      <p:sp>
        <p:nvSpPr>
          <p:cNvPr id="14" name="Text 10"/>
          <p:cNvSpPr/>
          <p:nvPr/>
        </p:nvSpPr>
        <p:spPr>
          <a:xfrm>
            <a:off x="7284568" y="2798064"/>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The changes that matter need a second person.</a:t>
            </a:r>
            <a:endParaRPr lang="en-US" sz="1250" dirty="0"/>
          </a:p>
        </p:txBody>
      </p:sp>
      <p:sp>
        <p:nvSpPr>
          <p:cNvPr id="15" name="Shape 11"/>
          <p:cNvSpPr/>
          <p:nvPr/>
        </p:nvSpPr>
        <p:spPr>
          <a:xfrm>
            <a:off x="566928" y="3547872"/>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16" name="Shape 12"/>
          <p:cNvSpPr/>
          <p:nvPr/>
        </p:nvSpPr>
        <p:spPr>
          <a:xfrm>
            <a:off x="822960" y="3849624"/>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17" name="Image 2" descr="C:/Users/neuma_p1qrsic/Repo/agentic-ops1/.scratch/icons/eye.png"/>
          <p:cNvPicPr>
            <a:picLocks noChangeAspect="1"/>
          </p:cNvPicPr>
          <p:nvPr/>
        </p:nvPicPr>
        <p:blipFill>
          <a:blip r:embed="rId5"/>
          <a:stretch>
            <a:fillRect/>
          </a:stretch>
        </p:blipFill>
        <p:spPr>
          <a:xfrm>
            <a:off x="959023" y="3985687"/>
            <a:ext cx="294803" cy="294803"/>
          </a:xfrm>
          <a:prstGeom prst="rect">
            <a:avLst/>
          </a:prstGeom>
        </p:spPr>
      </p:pic>
      <p:sp>
        <p:nvSpPr>
          <p:cNvPr id="18" name="Text 13"/>
          <p:cNvSpPr/>
          <p:nvPr/>
        </p:nvSpPr>
        <p:spPr>
          <a:xfrm>
            <a:off x="1572768" y="3767328"/>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Automatic checks</a:t>
            </a:r>
            <a:endParaRPr lang="en-US" sz="1650" dirty="0"/>
          </a:p>
        </p:txBody>
      </p:sp>
      <p:sp>
        <p:nvSpPr>
          <p:cNvPr id="19" name="Text 14"/>
          <p:cNvSpPr/>
          <p:nvPr/>
        </p:nvSpPr>
        <p:spPr>
          <a:xfrm>
            <a:off x="1572768" y="4151376"/>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Odd or bad data is caught before it reaches a system.</a:t>
            </a:r>
            <a:endParaRPr lang="en-US" sz="1250" dirty="0"/>
          </a:p>
        </p:txBody>
      </p:sp>
      <p:sp>
        <p:nvSpPr>
          <p:cNvPr id="20" name="Shape 15"/>
          <p:cNvSpPr/>
          <p:nvPr/>
        </p:nvSpPr>
        <p:spPr>
          <a:xfrm>
            <a:off x="6278728" y="3547872"/>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21" name="Shape 16"/>
          <p:cNvSpPr/>
          <p:nvPr/>
        </p:nvSpPr>
        <p:spPr>
          <a:xfrm>
            <a:off x="6534760" y="3849624"/>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22" name="Image 3" descr="C:/Users/neuma_p1qrsic/Repo/agentic-ops1/.scratch/icons/bell.png"/>
          <p:cNvPicPr>
            <a:picLocks noChangeAspect="1"/>
          </p:cNvPicPr>
          <p:nvPr/>
        </p:nvPicPr>
        <p:blipFill>
          <a:blip r:embed="rId6"/>
          <a:stretch>
            <a:fillRect/>
          </a:stretch>
        </p:blipFill>
        <p:spPr>
          <a:xfrm>
            <a:off x="6670822" y="3985687"/>
            <a:ext cx="294803" cy="294803"/>
          </a:xfrm>
          <a:prstGeom prst="rect">
            <a:avLst/>
          </a:prstGeom>
        </p:spPr>
      </p:pic>
      <p:sp>
        <p:nvSpPr>
          <p:cNvPr id="23" name="Text 17"/>
          <p:cNvSpPr/>
          <p:nvPr/>
        </p:nvSpPr>
        <p:spPr>
          <a:xfrm>
            <a:off x="7284568" y="3767328"/>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Alerts on exceptions</a:t>
            </a:r>
            <a:endParaRPr lang="en-US" sz="1650" dirty="0"/>
          </a:p>
        </p:txBody>
      </p:sp>
      <p:sp>
        <p:nvSpPr>
          <p:cNvPr id="24" name="Text 18"/>
          <p:cNvSpPr/>
          <p:nvPr/>
        </p:nvSpPr>
        <p:spPr>
          <a:xfrm>
            <a:off x="7284568" y="4151376"/>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You hear about the odd one out; the rest just runs.</a:t>
            </a:r>
            <a:endParaRPr lang="en-US" sz="1250" dirty="0"/>
          </a:p>
        </p:txBody>
      </p:sp>
      <p:sp>
        <p:nvSpPr>
          <p:cNvPr id="25" name="Shape 19"/>
          <p:cNvSpPr/>
          <p:nvPr/>
        </p:nvSpPr>
        <p:spPr>
          <a:xfrm>
            <a:off x="566928" y="4901184"/>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26" name="Shape 20"/>
          <p:cNvSpPr/>
          <p:nvPr/>
        </p:nvSpPr>
        <p:spPr>
          <a:xfrm>
            <a:off x="822960" y="5202936"/>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27" name="Image 4" descr="C:/Users/neuma_p1qrsic/Repo/agentic-ops1/.scratch/icons/blocks.png"/>
          <p:cNvPicPr>
            <a:picLocks noChangeAspect="1"/>
          </p:cNvPicPr>
          <p:nvPr/>
        </p:nvPicPr>
        <p:blipFill>
          <a:blip r:embed="rId7"/>
          <a:stretch>
            <a:fillRect/>
          </a:stretch>
        </p:blipFill>
        <p:spPr>
          <a:xfrm>
            <a:off x="959023" y="5338999"/>
            <a:ext cx="294803" cy="294803"/>
          </a:xfrm>
          <a:prstGeom prst="rect">
            <a:avLst/>
          </a:prstGeom>
        </p:spPr>
      </p:pic>
      <p:sp>
        <p:nvSpPr>
          <p:cNvPr id="28" name="Text 21"/>
          <p:cNvSpPr/>
          <p:nvPr/>
        </p:nvSpPr>
        <p:spPr>
          <a:xfrm>
            <a:off x="1572768" y="5120640"/>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No code to change it</a:t>
            </a:r>
            <a:endParaRPr lang="en-US" sz="1650" dirty="0"/>
          </a:p>
        </p:txBody>
      </p:sp>
      <p:sp>
        <p:nvSpPr>
          <p:cNvPr id="29" name="Text 22"/>
          <p:cNvSpPr/>
          <p:nvPr/>
        </p:nvSpPr>
        <p:spPr>
          <a:xfrm>
            <a:off x="1572768" y="5504688"/>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Your rules, changed by your team, no IT project.</a:t>
            </a:r>
            <a:endParaRPr lang="en-US" sz="1250" dirty="0"/>
          </a:p>
        </p:txBody>
      </p:sp>
      <p:sp>
        <p:nvSpPr>
          <p:cNvPr id="30" name="Shape 23"/>
          <p:cNvSpPr/>
          <p:nvPr/>
        </p:nvSpPr>
        <p:spPr>
          <a:xfrm>
            <a:off x="6278728" y="4901184"/>
            <a:ext cx="5346040" cy="1188720"/>
          </a:xfrm>
          <a:prstGeom prst="roundRect">
            <a:avLst>
              <a:gd name="adj" fmla="val 6154"/>
            </a:avLst>
          </a:prstGeom>
          <a:solidFill>
            <a:srgbClr val="141A25"/>
          </a:solidFill>
          <a:ln w="13970">
            <a:solidFill>
              <a:srgbClr val="36414F"/>
            </a:solidFill>
            <a:prstDash val="solid"/>
          </a:ln>
        </p:spPr>
        <p:txBody>
          <a:bodyPr/>
          <a:lstStyle/>
          <a:p>
            <a:endParaRPr lang="en-US"/>
          </a:p>
        </p:txBody>
      </p:sp>
      <p:sp>
        <p:nvSpPr>
          <p:cNvPr id="31" name="Shape 24"/>
          <p:cNvSpPr/>
          <p:nvPr/>
        </p:nvSpPr>
        <p:spPr>
          <a:xfrm>
            <a:off x="6534760" y="5202936"/>
            <a:ext cx="566928" cy="566928"/>
          </a:xfrm>
          <a:prstGeom prst="roundRect">
            <a:avLst>
              <a:gd name="adj" fmla="val 17742"/>
            </a:avLst>
          </a:prstGeom>
          <a:solidFill>
            <a:srgbClr val="1B2330"/>
          </a:solidFill>
          <a:ln w="15240">
            <a:solidFill>
              <a:srgbClr val="3BE3E0"/>
            </a:solidFill>
            <a:prstDash val="solid"/>
          </a:ln>
        </p:spPr>
        <p:txBody>
          <a:bodyPr/>
          <a:lstStyle/>
          <a:p>
            <a:endParaRPr lang="en-US"/>
          </a:p>
        </p:txBody>
      </p:sp>
      <p:pic>
        <p:nvPicPr>
          <p:cNvPr id="32" name="Image 5" descr="C:/Users/neuma_p1qrsic/Repo/agentic-ops1/.scratch/icons/lock.png"/>
          <p:cNvPicPr>
            <a:picLocks noChangeAspect="1"/>
          </p:cNvPicPr>
          <p:nvPr/>
        </p:nvPicPr>
        <p:blipFill>
          <a:blip r:embed="rId8"/>
          <a:stretch>
            <a:fillRect/>
          </a:stretch>
        </p:blipFill>
        <p:spPr>
          <a:xfrm>
            <a:off x="6670822" y="5338999"/>
            <a:ext cx="294803" cy="294803"/>
          </a:xfrm>
          <a:prstGeom prst="rect">
            <a:avLst/>
          </a:prstGeom>
        </p:spPr>
      </p:pic>
      <p:sp>
        <p:nvSpPr>
          <p:cNvPr id="33" name="Text 25"/>
          <p:cNvSpPr/>
          <p:nvPr/>
        </p:nvSpPr>
        <p:spPr>
          <a:xfrm>
            <a:off x="7284568" y="5120640"/>
            <a:ext cx="4111600" cy="384048"/>
          </a:xfrm>
          <a:prstGeom prst="rect">
            <a:avLst/>
          </a:prstGeom>
          <a:noFill/>
          <a:ln/>
        </p:spPr>
        <p:txBody>
          <a:bodyPr wrap="square" rtlCol="0" anchor="ctr"/>
          <a:lstStyle/>
          <a:p>
            <a:pPr marL="0" indent="0">
              <a:buNone/>
            </a:pPr>
            <a:r>
              <a:rPr lang="en-US" sz="1650" b="1" dirty="0">
                <a:solidFill>
                  <a:srgbClr val="F3F6FB"/>
                </a:solidFill>
                <a:latin typeface="Segoe UI Semibold" pitchFamily="34" charset="0"/>
                <a:ea typeface="Segoe UI Semibold" pitchFamily="34" charset="-122"/>
                <a:cs typeface="Segoe UI Semibold" pitchFamily="34" charset="-120"/>
              </a:rPr>
              <a:t>ISO 27001 and SOC 1</a:t>
            </a:r>
            <a:endParaRPr lang="en-US" sz="1650" dirty="0"/>
          </a:p>
        </p:txBody>
      </p:sp>
      <p:sp>
        <p:nvSpPr>
          <p:cNvPr id="34" name="Text 26"/>
          <p:cNvSpPr/>
          <p:nvPr/>
        </p:nvSpPr>
        <p:spPr>
          <a:xfrm>
            <a:off x="7284568" y="5504688"/>
            <a:ext cx="4111600" cy="457200"/>
          </a:xfrm>
          <a:prstGeom prst="rect">
            <a:avLst/>
          </a:prstGeom>
          <a:noFill/>
          <a:ln/>
        </p:spPr>
        <p:txBody>
          <a:bodyPr wrap="square" rtlCol="0" anchor="ctr"/>
          <a:lstStyle/>
          <a:p>
            <a:pPr marL="0" indent="0">
              <a:buNone/>
            </a:pPr>
            <a:r>
              <a:rPr lang="en-US" sz="1250" dirty="0">
                <a:solidFill>
                  <a:srgbClr val="AAB6C7"/>
                </a:solidFill>
                <a:latin typeface="Segoe UI" pitchFamily="34" charset="0"/>
                <a:ea typeface="Segoe UI" pitchFamily="34" charset="-122"/>
                <a:cs typeface="Segoe UI" pitchFamily="34" charset="-120"/>
              </a:rPr>
              <a:t>The security controls your auditors already expect.</a:t>
            </a:r>
            <a:endParaRPr lang="en-US" sz="1250" dirty="0"/>
          </a:p>
        </p:txBody>
      </p:sp>
      <p:sp>
        <p:nvSpPr>
          <p:cNvPr id="35" name="Text 27"/>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36" name="Text 28"/>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10 / 12</a:t>
            </a:r>
            <a:endParaRPr lang="en-US" sz="900" dirty="0"/>
          </a:p>
        </p:txBody>
      </p:sp>
      <p:sp>
        <p:nvSpPr>
          <p:cNvPr id="37" name="Shape 29"/>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21B"/>
        </a:solidFill>
        <a:effectLst/>
      </p:bgPr>
    </p:bg>
    <p:spTree>
      <p:nvGrpSpPr>
        <p:cNvPr id="1" name=""/>
        <p:cNvGrpSpPr/>
        <p:nvPr/>
      </p:nvGrpSpPr>
      <p:grpSpPr>
        <a:xfrm>
          <a:off x="0" y="0"/>
          <a:ext cx="0" cy="0"/>
          <a:chOff x="0" y="0"/>
          <a:chExt cx="0" cy="0"/>
        </a:xfrm>
      </p:grpSpPr>
      <p:sp>
        <p:nvSpPr>
          <p:cNvPr id="2" name="Shape 0"/>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3" name="Text 1"/>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WHAT IT RUNS ON</a:t>
            </a:r>
            <a:endParaRPr lang="en-US" sz="1200" dirty="0"/>
          </a:p>
        </p:txBody>
      </p:sp>
      <p:sp>
        <p:nvSpPr>
          <p:cNvPr id="4" name="Text 2"/>
          <p:cNvSpPr/>
          <p:nvPr/>
        </p:nvSpPr>
        <p:spPr>
          <a:xfrm>
            <a:off x="566928" y="960120"/>
            <a:ext cx="10789920" cy="731520"/>
          </a:xfrm>
          <a:prstGeom prst="rect">
            <a:avLst/>
          </a:prstGeom>
          <a:noFill/>
          <a:ln/>
        </p:spPr>
        <p:txBody>
          <a:bodyPr wrap="square" rtlCol="0" anchor="ctr"/>
          <a:lstStyle/>
          <a:p>
            <a:pPr marL="0" indent="0">
              <a:buNone/>
            </a:pPr>
            <a:r>
              <a:rPr lang="en-US" sz="2900" b="1" dirty="0">
                <a:solidFill>
                  <a:srgbClr val="F3F6FB"/>
                </a:solidFill>
                <a:latin typeface="Segoe UI Semibold" pitchFamily="34" charset="0"/>
                <a:ea typeface="Segoe UI Semibold" pitchFamily="34" charset="-122"/>
                <a:cs typeface="Segoe UI Semibold" pitchFamily="34" charset="-120"/>
              </a:rPr>
              <a:t>Under the hood, it’s a single app: </a:t>
            </a:r>
            <a:r>
              <a:rPr lang="en-US" sz="2900" b="1" dirty="0">
                <a:solidFill>
                  <a:srgbClr val="3BE3E0"/>
                </a:solidFill>
                <a:latin typeface="Segoe UI Semibold" pitchFamily="34" charset="0"/>
                <a:ea typeface="Segoe UI Semibold" pitchFamily="34" charset="-122"/>
                <a:cs typeface="Segoe UI Semibold" pitchFamily="34" charset="-120"/>
              </a:rPr>
              <a:t>OnePilot</a:t>
            </a:r>
            <a:r>
              <a:rPr lang="en-US" sz="2900" b="1" dirty="0">
                <a:solidFill>
                  <a:srgbClr val="F3F6FB"/>
                </a:solidFill>
                <a:latin typeface="Segoe UI Semibold" pitchFamily="34" charset="0"/>
                <a:ea typeface="Segoe UI Semibold" pitchFamily="34" charset="-122"/>
                <a:cs typeface="Segoe UI Semibold" pitchFamily="34" charset="-120"/>
              </a:rPr>
              <a:t>.</a:t>
            </a:r>
            <a:endParaRPr lang="en-US" sz="2900" dirty="0"/>
          </a:p>
        </p:txBody>
      </p:sp>
      <p:sp>
        <p:nvSpPr>
          <p:cNvPr id="5" name="Text 3"/>
          <p:cNvSpPr/>
          <p:nvPr/>
        </p:nvSpPr>
        <p:spPr>
          <a:xfrm>
            <a:off x="566928" y="1828800"/>
            <a:ext cx="10607040" cy="1051560"/>
          </a:xfrm>
          <a:prstGeom prst="rect">
            <a:avLst/>
          </a:prstGeom>
          <a:noFill/>
          <a:ln/>
        </p:spPr>
        <p:txBody>
          <a:bodyPr wrap="square" rtlCol="0" anchor="ctr"/>
          <a:lstStyle/>
          <a:p>
            <a:pPr marL="0" indent="0">
              <a:lnSpc>
                <a:spcPct val="130000"/>
              </a:lnSpc>
              <a:buNone/>
            </a:pPr>
            <a:r>
              <a:rPr lang="en-US" sz="1600" dirty="0">
                <a:solidFill>
                  <a:srgbClr val="AAB6C7"/>
                </a:solidFill>
                <a:latin typeface="Segoe UI" pitchFamily="34" charset="0"/>
                <a:ea typeface="Segoe UI" pitchFamily="34" charset="-122"/>
                <a:cs typeface="Segoe UI" pitchFamily="34" charset="-120"/>
              </a:rPr>
              <a:t>OnePilot is the layer underneath. It moves your data cleanly between systems, both ways, across SAP and everything else, with the checks and the AI built in. One way to connect to all of it:</a:t>
            </a:r>
            <a:endParaRPr lang="en-US" sz="1600" dirty="0"/>
          </a:p>
        </p:txBody>
      </p:sp>
      <p:sp>
        <p:nvSpPr>
          <p:cNvPr id="6" name="Shape 4"/>
          <p:cNvSpPr/>
          <p:nvPr/>
        </p:nvSpPr>
        <p:spPr>
          <a:xfrm>
            <a:off x="566420"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7" name="Image 0" descr="C:/Users/neuma_p1qrsic/Repo/agentic-ops1/.scratch/icons/database.png"/>
          <p:cNvPicPr>
            <a:picLocks noChangeAspect="1"/>
          </p:cNvPicPr>
          <p:nvPr/>
        </p:nvPicPr>
        <p:blipFill>
          <a:blip r:embed="rId3"/>
          <a:stretch>
            <a:fillRect/>
          </a:stretch>
        </p:blipFill>
        <p:spPr>
          <a:xfrm>
            <a:off x="1542256" y="3538728"/>
            <a:ext cx="621792" cy="621792"/>
          </a:xfrm>
          <a:prstGeom prst="rect">
            <a:avLst/>
          </a:prstGeom>
        </p:spPr>
      </p:pic>
      <p:sp>
        <p:nvSpPr>
          <p:cNvPr id="8" name="Text 5"/>
          <p:cNvSpPr/>
          <p:nvPr/>
        </p:nvSpPr>
        <p:spPr>
          <a:xfrm>
            <a:off x="709930"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SAP systems</a:t>
            </a:r>
            <a:endParaRPr lang="en-US" sz="1300" dirty="0"/>
          </a:p>
        </p:txBody>
      </p:sp>
      <p:sp>
        <p:nvSpPr>
          <p:cNvPr id="9" name="Shape 6"/>
          <p:cNvSpPr/>
          <p:nvPr/>
        </p:nvSpPr>
        <p:spPr>
          <a:xfrm>
            <a:off x="3394392"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0" name="Image 1" descr="C:/Users/neuma_p1qrsic/Repo/agentic-ops1/.scratch/icons/sheet.png"/>
          <p:cNvPicPr>
            <a:picLocks noChangeAspect="1"/>
          </p:cNvPicPr>
          <p:nvPr/>
        </p:nvPicPr>
        <p:blipFill>
          <a:blip r:embed="rId4"/>
          <a:stretch>
            <a:fillRect/>
          </a:stretch>
        </p:blipFill>
        <p:spPr>
          <a:xfrm>
            <a:off x="4370228" y="3538728"/>
            <a:ext cx="621792" cy="621792"/>
          </a:xfrm>
          <a:prstGeom prst="rect">
            <a:avLst/>
          </a:prstGeom>
        </p:spPr>
      </p:pic>
      <p:sp>
        <p:nvSpPr>
          <p:cNvPr id="11" name="Text 7"/>
          <p:cNvSpPr/>
          <p:nvPr/>
        </p:nvSpPr>
        <p:spPr>
          <a:xfrm>
            <a:off x="3537902"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Spreadsheets &amp; files</a:t>
            </a:r>
            <a:endParaRPr lang="en-US" sz="1300" dirty="0"/>
          </a:p>
        </p:txBody>
      </p:sp>
      <p:sp>
        <p:nvSpPr>
          <p:cNvPr id="12" name="Shape 8"/>
          <p:cNvSpPr/>
          <p:nvPr/>
        </p:nvSpPr>
        <p:spPr>
          <a:xfrm>
            <a:off x="6222365"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3" name="Image 2" descr="C:/Users/neuma_p1qrsic/Repo/agentic-ops1/.scratch/icons/mail.png"/>
          <p:cNvPicPr>
            <a:picLocks noChangeAspect="1"/>
          </p:cNvPicPr>
          <p:nvPr/>
        </p:nvPicPr>
        <p:blipFill>
          <a:blip r:embed="rId5"/>
          <a:stretch>
            <a:fillRect/>
          </a:stretch>
        </p:blipFill>
        <p:spPr>
          <a:xfrm>
            <a:off x="7198201" y="3538728"/>
            <a:ext cx="621792" cy="621792"/>
          </a:xfrm>
          <a:prstGeom prst="rect">
            <a:avLst/>
          </a:prstGeom>
        </p:spPr>
      </p:pic>
      <p:sp>
        <p:nvSpPr>
          <p:cNvPr id="14" name="Text 9"/>
          <p:cNvSpPr/>
          <p:nvPr/>
        </p:nvSpPr>
        <p:spPr>
          <a:xfrm>
            <a:off x="6365875"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Email</a:t>
            </a:r>
            <a:endParaRPr lang="en-US" sz="1300" dirty="0"/>
          </a:p>
        </p:txBody>
      </p:sp>
      <p:sp>
        <p:nvSpPr>
          <p:cNvPr id="15" name="Shape 10"/>
          <p:cNvSpPr/>
          <p:nvPr/>
        </p:nvSpPr>
        <p:spPr>
          <a:xfrm>
            <a:off x="9050337" y="3246120"/>
            <a:ext cx="2573972" cy="1554480"/>
          </a:xfrm>
          <a:prstGeom prst="roundRect">
            <a:avLst>
              <a:gd name="adj" fmla="val 5882"/>
            </a:avLst>
          </a:prstGeom>
          <a:solidFill>
            <a:srgbClr val="141A25"/>
          </a:solidFill>
          <a:ln w="13970">
            <a:solidFill>
              <a:srgbClr val="36414F"/>
            </a:solidFill>
            <a:prstDash val="solid"/>
          </a:ln>
        </p:spPr>
        <p:txBody>
          <a:bodyPr/>
          <a:lstStyle/>
          <a:p>
            <a:endParaRPr lang="en-US"/>
          </a:p>
        </p:txBody>
      </p:sp>
      <p:pic>
        <p:nvPicPr>
          <p:cNvPr id="16" name="Image 3" descr="C:/Users/neuma_p1qrsic/Repo/agentic-ops1/.scratch/icons/globe.png"/>
          <p:cNvPicPr>
            <a:picLocks noChangeAspect="1"/>
          </p:cNvPicPr>
          <p:nvPr/>
        </p:nvPicPr>
        <p:blipFill>
          <a:blip r:embed="rId6"/>
          <a:stretch>
            <a:fillRect/>
          </a:stretch>
        </p:blipFill>
        <p:spPr>
          <a:xfrm>
            <a:off x="10026173" y="3538728"/>
            <a:ext cx="621792" cy="621792"/>
          </a:xfrm>
          <a:prstGeom prst="rect">
            <a:avLst/>
          </a:prstGeom>
        </p:spPr>
      </p:pic>
      <p:sp>
        <p:nvSpPr>
          <p:cNvPr id="17" name="Text 11"/>
          <p:cNvSpPr/>
          <p:nvPr/>
        </p:nvSpPr>
        <p:spPr>
          <a:xfrm>
            <a:off x="9193847" y="4233672"/>
            <a:ext cx="2286952" cy="457200"/>
          </a:xfrm>
          <a:prstGeom prst="rect">
            <a:avLst/>
          </a:prstGeom>
          <a:noFill/>
          <a:ln/>
        </p:spPr>
        <p:txBody>
          <a:bodyPr wrap="square" rtlCol="0" anchor="ctr"/>
          <a:lstStyle/>
          <a:p>
            <a:pPr marL="0" indent="0" algn="ctr">
              <a:buNone/>
            </a:pPr>
            <a:r>
              <a:rPr lang="en-US" sz="1300" dirty="0">
                <a:solidFill>
                  <a:srgbClr val="F3F6FB"/>
                </a:solidFill>
                <a:latin typeface="Segoe UI" pitchFamily="34" charset="0"/>
                <a:ea typeface="Segoe UI" pitchFamily="34" charset="-122"/>
                <a:cs typeface="Segoe UI" pitchFamily="34" charset="-120"/>
              </a:rPr>
              <a:t>Web &amp; APIs</a:t>
            </a:r>
            <a:endParaRPr lang="en-US" sz="1300" dirty="0"/>
          </a:p>
        </p:txBody>
      </p:sp>
      <p:sp>
        <p:nvSpPr>
          <p:cNvPr id="21" name="Text 14"/>
          <p:cNvSpPr/>
          <p:nvPr/>
        </p:nvSpPr>
        <p:spPr>
          <a:xfrm>
            <a:off x="566928" y="5166360"/>
            <a:ext cx="11057839" cy="457200"/>
          </a:xfrm>
          <a:prstGeom prst="rect">
            <a:avLst/>
          </a:prstGeom>
          <a:noFill/>
          <a:ln/>
        </p:spPr>
        <p:txBody>
          <a:bodyPr wrap="square" rtlCol="0" anchor="ctr"/>
          <a:lstStyle/>
          <a:p>
            <a:pPr marL="0" indent="0">
              <a:buNone/>
            </a:pPr>
            <a:r>
              <a:rPr lang="en-US" sz="1450" dirty="0">
                <a:solidFill>
                  <a:srgbClr val="3BE3E0"/>
                </a:solidFill>
                <a:latin typeface="Segoe UI" pitchFamily="34" charset="0"/>
                <a:ea typeface="Segoe UI" pitchFamily="34" charset="-122"/>
                <a:cs typeface="Segoe UI" pitchFamily="34" charset="-120"/>
              </a:rPr>
              <a:t>It reads and writes to each of them, so your market data lands where it needs to with nothing re-typed.</a:t>
            </a:r>
            <a:endParaRPr lang="en-US" sz="1450" dirty="0"/>
          </a:p>
        </p:txBody>
      </p:sp>
      <p:sp>
        <p:nvSpPr>
          <p:cNvPr id="22" name="Text 15"/>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23" name="Text 16"/>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11 / 12</a:t>
            </a:r>
            <a:endParaRPr lang="en-US" sz="900" dirty="0"/>
          </a:p>
        </p:txBody>
      </p:sp>
      <p:sp>
        <p:nvSpPr>
          <p:cNvPr id="24" name="Shape 17"/>
          <p:cNvSpPr/>
          <p:nvPr/>
        </p:nvSpPr>
        <p:spPr>
          <a:xfrm>
            <a:off x="566928" y="6327648"/>
            <a:ext cx="11057839" cy="0"/>
          </a:xfrm>
          <a:prstGeom prst="line">
            <a:avLst/>
          </a:prstGeom>
          <a:noFill/>
          <a:ln w="9525">
            <a:solidFill>
              <a:srgbClr val="36414F"/>
            </a:solidFill>
            <a:prstDash val="solid"/>
          </a:ln>
        </p:spPr>
        <p:txBody>
          <a:bodyPr/>
          <a:lstStyle/>
          <a:p>
            <a:endParaRPr lang="en-US"/>
          </a:p>
        </p:txBody>
      </p:sp>
    </p:spTree>
    <p:extLst>
      <p:ext uri="{BB962C8B-B14F-4D97-AF65-F5344CB8AC3E}">
        <p14:creationId xmlns:p14="http://schemas.microsoft.com/office/powerpoint/2010/main" val="1564520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0E121B"/>
        </a:solidFill>
        <a:effectLst/>
      </p:bgPr>
    </p:bg>
    <p:spTree>
      <p:nvGrpSpPr>
        <p:cNvPr id="1" name="">
          <a:extLst>
            <a:ext uri="{FF2B5EF4-FFF2-40B4-BE49-F238E27FC236}">
              <a16:creationId xmlns:a16="http://schemas.microsoft.com/office/drawing/2014/main" id="{0D6F85E9-82B3-AB71-FFD6-4D98B86886BA}"/>
            </a:ext>
          </a:extLst>
        </p:cNvPr>
        <p:cNvGrpSpPr/>
        <p:nvPr/>
      </p:nvGrpSpPr>
      <p:grpSpPr>
        <a:xfrm>
          <a:off x="0" y="0"/>
          <a:ext cx="0" cy="0"/>
          <a:chOff x="0" y="0"/>
          <a:chExt cx="0" cy="0"/>
        </a:xfrm>
      </p:grpSpPr>
      <p:sp>
        <p:nvSpPr>
          <p:cNvPr id="22" name="Text 15">
            <a:extLst>
              <a:ext uri="{FF2B5EF4-FFF2-40B4-BE49-F238E27FC236}">
                <a16:creationId xmlns:a16="http://schemas.microsoft.com/office/drawing/2014/main" id="{AFCF3E26-9717-25BE-38B4-DBA0AD5BD708}"/>
              </a:ext>
            </a:extLst>
          </p:cNvPr>
          <p:cNvSpPr/>
          <p:nvPr/>
        </p:nvSpPr>
        <p:spPr>
          <a:xfrm>
            <a:off x="566928" y="6400800"/>
            <a:ext cx="8229600" cy="274320"/>
          </a:xfrm>
          <a:prstGeom prst="rect">
            <a:avLst/>
          </a:prstGeom>
          <a:noFill/>
          <a:ln/>
        </p:spPr>
        <p:txBody>
          <a:bodyPr wrap="square" rtlCol="0" anchor="ctr"/>
          <a:lstStyle/>
          <a:p>
            <a:pPr marL="0" indent="0" algn="l">
              <a:buNone/>
            </a:pPr>
            <a:r>
              <a:rPr lang="en-US" sz="900" b="1" dirty="0">
                <a:solidFill>
                  <a:srgbClr val="AAB6C7"/>
                </a:solidFill>
                <a:latin typeface="Segoe UI" pitchFamily="34" charset="0"/>
                <a:ea typeface="Segoe UI" pitchFamily="34" charset="-122"/>
                <a:cs typeface="Segoe UI" pitchFamily="34" charset="-120"/>
              </a:rPr>
              <a:t>Brisken</a:t>
            </a:r>
            <a:r>
              <a:rPr lang="en-US" sz="900" dirty="0">
                <a:solidFill>
                  <a:srgbClr val="7C8A9B"/>
                </a:solidFill>
                <a:latin typeface="Segoe UI" pitchFamily="34" charset="0"/>
                <a:ea typeface="Segoe UI" pitchFamily="34" charset="-122"/>
                <a:cs typeface="Segoe UI" pitchFamily="34" charset="-120"/>
              </a:rPr>
              <a:t>   Market Data Hub, part of OnePilot</a:t>
            </a:r>
            <a:endParaRPr lang="en-US" sz="900" dirty="0"/>
          </a:p>
        </p:txBody>
      </p:sp>
      <p:sp>
        <p:nvSpPr>
          <p:cNvPr id="23" name="Text 16">
            <a:extLst>
              <a:ext uri="{FF2B5EF4-FFF2-40B4-BE49-F238E27FC236}">
                <a16:creationId xmlns:a16="http://schemas.microsoft.com/office/drawing/2014/main" id="{61D6AD83-85D3-8A7E-A207-1F61BD3FDE01}"/>
              </a:ext>
            </a:extLst>
          </p:cNvPr>
          <p:cNvSpPr/>
          <p:nvPr/>
        </p:nvSpPr>
        <p:spPr>
          <a:xfrm>
            <a:off x="10527487" y="6400800"/>
            <a:ext cx="1097280" cy="274320"/>
          </a:xfrm>
          <a:prstGeom prst="rect">
            <a:avLst/>
          </a:prstGeom>
          <a:noFill/>
          <a:ln/>
        </p:spPr>
        <p:txBody>
          <a:bodyPr wrap="square" rtlCol="0" anchor="ctr"/>
          <a:lstStyle/>
          <a:p>
            <a:pPr marL="0" indent="0" algn="r">
              <a:buNone/>
            </a:pPr>
            <a:r>
              <a:rPr lang="en-US" sz="900" dirty="0">
                <a:solidFill>
                  <a:srgbClr val="AAB6C7"/>
                </a:solidFill>
                <a:latin typeface="Segoe UI" pitchFamily="34" charset="0"/>
                <a:ea typeface="Segoe UI" pitchFamily="34" charset="-122"/>
                <a:cs typeface="Segoe UI" pitchFamily="34" charset="-120"/>
              </a:rPr>
              <a:t>11 / 12</a:t>
            </a:r>
            <a:endParaRPr lang="en-US" sz="900" dirty="0"/>
          </a:p>
        </p:txBody>
      </p:sp>
      <p:sp>
        <p:nvSpPr>
          <p:cNvPr id="24" name="Shape 17">
            <a:extLst>
              <a:ext uri="{FF2B5EF4-FFF2-40B4-BE49-F238E27FC236}">
                <a16:creationId xmlns:a16="http://schemas.microsoft.com/office/drawing/2014/main" id="{905B0A8B-F3E2-667A-352E-B6DD9468ED2D}"/>
              </a:ext>
            </a:extLst>
          </p:cNvPr>
          <p:cNvSpPr/>
          <p:nvPr/>
        </p:nvSpPr>
        <p:spPr>
          <a:xfrm>
            <a:off x="566928" y="6327648"/>
            <a:ext cx="11057839" cy="0"/>
          </a:xfrm>
          <a:prstGeom prst="line">
            <a:avLst/>
          </a:prstGeom>
          <a:noFill/>
          <a:ln w="9525">
            <a:solidFill>
              <a:srgbClr val="36414F"/>
            </a:solidFill>
            <a:prstDash val="solid"/>
          </a:ln>
        </p:spPr>
        <p:txBody>
          <a:bodyPr/>
          <a:lstStyle/>
          <a:p>
            <a:endParaRPr lang="en-US"/>
          </a:p>
        </p:txBody>
      </p:sp>
      <p:sp>
        <p:nvSpPr>
          <p:cNvPr id="18" name="Shape 0">
            <a:extLst>
              <a:ext uri="{FF2B5EF4-FFF2-40B4-BE49-F238E27FC236}">
                <a16:creationId xmlns:a16="http://schemas.microsoft.com/office/drawing/2014/main" id="{5C8A0C6E-E9E7-ED66-2B30-3C2BC4C8CDE5}"/>
              </a:ext>
            </a:extLst>
          </p:cNvPr>
          <p:cNvSpPr/>
          <p:nvPr/>
        </p:nvSpPr>
        <p:spPr>
          <a:xfrm>
            <a:off x="566928" y="585216"/>
            <a:ext cx="45720" cy="219456"/>
          </a:xfrm>
          <a:prstGeom prst="rect">
            <a:avLst/>
          </a:prstGeom>
          <a:solidFill>
            <a:srgbClr val="3BE3E0"/>
          </a:solidFill>
          <a:ln w="12700">
            <a:solidFill>
              <a:srgbClr val="333333"/>
            </a:solidFill>
            <a:prstDash val="solid"/>
          </a:ln>
        </p:spPr>
        <p:txBody>
          <a:bodyPr/>
          <a:lstStyle/>
          <a:p>
            <a:endParaRPr lang="en-US"/>
          </a:p>
        </p:txBody>
      </p:sp>
      <p:sp>
        <p:nvSpPr>
          <p:cNvPr id="19" name="Text 1">
            <a:extLst>
              <a:ext uri="{FF2B5EF4-FFF2-40B4-BE49-F238E27FC236}">
                <a16:creationId xmlns:a16="http://schemas.microsoft.com/office/drawing/2014/main" id="{A9063237-6C3E-0041-2CD3-8B38B83E3722}"/>
              </a:ext>
            </a:extLst>
          </p:cNvPr>
          <p:cNvSpPr/>
          <p:nvPr/>
        </p:nvSpPr>
        <p:spPr>
          <a:xfrm>
            <a:off x="713232" y="512064"/>
            <a:ext cx="8229600" cy="329184"/>
          </a:xfrm>
          <a:prstGeom prst="rect">
            <a:avLst/>
          </a:prstGeom>
          <a:noFill/>
          <a:ln/>
        </p:spPr>
        <p:txBody>
          <a:bodyPr wrap="square" rtlCol="0" anchor="ctr"/>
          <a:lstStyle/>
          <a:p>
            <a:pPr marL="0" indent="0" algn="l">
              <a:buNone/>
            </a:pPr>
            <a:r>
              <a:rPr lang="en-US" sz="1200" b="1" kern="0" spc="200" dirty="0">
                <a:solidFill>
                  <a:srgbClr val="3BE3E0"/>
                </a:solidFill>
                <a:latin typeface="Segoe UI Semibold" pitchFamily="34" charset="0"/>
                <a:ea typeface="Segoe UI Semibold" pitchFamily="34" charset="-122"/>
                <a:cs typeface="Segoe UI Semibold" pitchFamily="34" charset="-120"/>
              </a:rPr>
              <a:t>PARTNERS AND CUSTOMERS</a:t>
            </a:r>
            <a:endParaRPr lang="en-US" sz="1200" dirty="0"/>
          </a:p>
        </p:txBody>
      </p:sp>
      <p:sp>
        <p:nvSpPr>
          <p:cNvPr id="20" name="Text 2">
            <a:extLst>
              <a:ext uri="{FF2B5EF4-FFF2-40B4-BE49-F238E27FC236}">
                <a16:creationId xmlns:a16="http://schemas.microsoft.com/office/drawing/2014/main" id="{B5C3B336-A68D-B8E2-59EA-7A8C803C99C7}"/>
              </a:ext>
            </a:extLst>
          </p:cNvPr>
          <p:cNvSpPr/>
          <p:nvPr/>
        </p:nvSpPr>
        <p:spPr>
          <a:xfrm>
            <a:off x="566928" y="960120"/>
            <a:ext cx="10881360" cy="731520"/>
          </a:xfrm>
          <a:prstGeom prst="rect">
            <a:avLst/>
          </a:prstGeom>
          <a:noFill/>
          <a:ln/>
        </p:spPr>
        <p:txBody>
          <a:bodyPr wrap="square" rtlCol="0" anchor="ctr"/>
          <a:lstStyle/>
          <a:p>
            <a:pPr marL="0" indent="0">
              <a:buNone/>
            </a:pPr>
            <a:r>
              <a:rPr lang="en-US" sz="2800" b="1" dirty="0">
                <a:solidFill>
                  <a:srgbClr val="F3F6FB"/>
                </a:solidFill>
                <a:latin typeface="Segoe UI Semibold" pitchFamily="34" charset="0"/>
                <a:ea typeface="Segoe UI Semibold" pitchFamily="34" charset="-122"/>
                <a:cs typeface="Segoe UI Semibold" pitchFamily="34" charset="-120"/>
              </a:rPr>
              <a:t>The data, the platform, and the teams behind it.</a:t>
            </a:r>
            <a:endParaRPr lang="en-US" sz="2800" dirty="0"/>
          </a:p>
        </p:txBody>
      </p:sp>
      <p:sp>
        <p:nvSpPr>
          <p:cNvPr id="25" name="Text 3">
            <a:extLst>
              <a:ext uri="{FF2B5EF4-FFF2-40B4-BE49-F238E27FC236}">
                <a16:creationId xmlns:a16="http://schemas.microsoft.com/office/drawing/2014/main" id="{09EB65BF-81B0-AB11-6D1D-87AC821DE0B1}"/>
              </a:ext>
            </a:extLst>
          </p:cNvPr>
          <p:cNvSpPr/>
          <p:nvPr/>
        </p:nvSpPr>
        <p:spPr>
          <a:xfrm>
            <a:off x="585216" y="2103120"/>
            <a:ext cx="5486400" cy="256032"/>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TECHNOLOGY PARTNER</a:t>
            </a:r>
            <a:endParaRPr lang="en-US" sz="1050" dirty="0"/>
          </a:p>
        </p:txBody>
      </p:sp>
      <p:sp>
        <p:nvSpPr>
          <p:cNvPr id="26" name="Shape 4">
            <a:extLst>
              <a:ext uri="{FF2B5EF4-FFF2-40B4-BE49-F238E27FC236}">
                <a16:creationId xmlns:a16="http://schemas.microsoft.com/office/drawing/2014/main" id="{9D2B250C-05E6-9E1C-2921-7FE121A879B8}"/>
              </a:ext>
            </a:extLst>
          </p:cNvPr>
          <p:cNvSpPr/>
          <p:nvPr/>
        </p:nvSpPr>
        <p:spPr>
          <a:xfrm>
            <a:off x="585216" y="2377440"/>
            <a:ext cx="1828800" cy="731520"/>
          </a:xfrm>
          <a:prstGeom prst="roundRect">
            <a:avLst>
              <a:gd name="adj" fmla="val 17500"/>
            </a:avLst>
          </a:prstGeom>
          <a:solidFill>
            <a:srgbClr val="FFFFFF"/>
          </a:solidFill>
          <a:ln w="9525">
            <a:solidFill>
              <a:srgbClr val="36414F"/>
            </a:solidFill>
            <a:prstDash val="solid"/>
          </a:ln>
        </p:spPr>
        <p:txBody>
          <a:bodyPr/>
          <a:lstStyle/>
          <a:p>
            <a:endParaRPr lang="en-US"/>
          </a:p>
        </p:txBody>
      </p:sp>
      <p:pic>
        <p:nvPicPr>
          <p:cNvPr id="27" name="Image 0" descr="C:/Users/neuma_p1qrsic/Repo/agentic-ops1/.scratch/deckgen/logos/sap.png">
            <a:extLst>
              <a:ext uri="{FF2B5EF4-FFF2-40B4-BE49-F238E27FC236}">
                <a16:creationId xmlns:a16="http://schemas.microsoft.com/office/drawing/2014/main" id="{5FAE4670-7B63-F2A6-A449-C36717E4950E}"/>
              </a:ext>
            </a:extLst>
          </p:cNvPr>
          <p:cNvPicPr>
            <a:picLocks noChangeAspect="1"/>
          </p:cNvPicPr>
          <p:nvPr/>
        </p:nvPicPr>
        <p:blipFill>
          <a:blip r:embed="rId3"/>
          <a:stretch>
            <a:fillRect/>
          </a:stretch>
        </p:blipFill>
        <p:spPr>
          <a:xfrm>
            <a:off x="1012244" y="2501798"/>
            <a:ext cx="974745" cy="482803"/>
          </a:xfrm>
          <a:prstGeom prst="rect">
            <a:avLst/>
          </a:prstGeom>
        </p:spPr>
      </p:pic>
      <p:sp>
        <p:nvSpPr>
          <p:cNvPr id="28" name="Text 5">
            <a:extLst>
              <a:ext uri="{FF2B5EF4-FFF2-40B4-BE49-F238E27FC236}">
                <a16:creationId xmlns:a16="http://schemas.microsoft.com/office/drawing/2014/main" id="{F44CEEEF-330D-787D-D7C9-4367A17BCC2D}"/>
              </a:ext>
            </a:extLst>
          </p:cNvPr>
          <p:cNvSpPr/>
          <p:nvPr/>
        </p:nvSpPr>
        <p:spPr>
          <a:xfrm>
            <a:off x="585216" y="3401568"/>
            <a:ext cx="5486400" cy="256032"/>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TRUSTED BY TEAMS AT</a:t>
            </a:r>
            <a:endParaRPr lang="en-US" sz="1050" dirty="0"/>
          </a:p>
        </p:txBody>
      </p:sp>
      <p:sp>
        <p:nvSpPr>
          <p:cNvPr id="29" name="Shape 6">
            <a:extLst>
              <a:ext uri="{FF2B5EF4-FFF2-40B4-BE49-F238E27FC236}">
                <a16:creationId xmlns:a16="http://schemas.microsoft.com/office/drawing/2014/main" id="{4DA1C303-F9A9-6FDA-BEA1-535F477B6446}"/>
              </a:ext>
            </a:extLst>
          </p:cNvPr>
          <p:cNvSpPr/>
          <p:nvPr/>
        </p:nvSpPr>
        <p:spPr>
          <a:xfrm>
            <a:off x="585216"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30" name="Image 1" descr="C:/Users/neuma_p1qrsic/Repo/agentic-ops1/.scratch/deckgen/logos/nestle.png">
            <a:extLst>
              <a:ext uri="{FF2B5EF4-FFF2-40B4-BE49-F238E27FC236}">
                <a16:creationId xmlns:a16="http://schemas.microsoft.com/office/drawing/2014/main" id="{DFE36863-15FF-711C-C53A-B6B2A8E552B2}"/>
              </a:ext>
            </a:extLst>
          </p:cNvPr>
          <p:cNvPicPr>
            <a:picLocks noChangeAspect="1"/>
          </p:cNvPicPr>
          <p:nvPr/>
        </p:nvPicPr>
        <p:blipFill>
          <a:blip r:embed="rId4"/>
          <a:stretch>
            <a:fillRect/>
          </a:stretch>
        </p:blipFill>
        <p:spPr>
          <a:xfrm>
            <a:off x="765164" y="3807069"/>
            <a:ext cx="1639530" cy="450871"/>
          </a:xfrm>
          <a:prstGeom prst="rect">
            <a:avLst/>
          </a:prstGeom>
        </p:spPr>
      </p:pic>
      <p:sp>
        <p:nvSpPr>
          <p:cNvPr id="31" name="Shape 7">
            <a:extLst>
              <a:ext uri="{FF2B5EF4-FFF2-40B4-BE49-F238E27FC236}">
                <a16:creationId xmlns:a16="http://schemas.microsoft.com/office/drawing/2014/main" id="{C899A758-D4A5-86CE-30A9-D41C0F633A8C}"/>
              </a:ext>
            </a:extLst>
          </p:cNvPr>
          <p:cNvSpPr/>
          <p:nvPr/>
        </p:nvSpPr>
        <p:spPr>
          <a:xfrm>
            <a:off x="2840675"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32" name="Image 2" descr="C:/Users/neuma_p1qrsic/Repo/agentic-ops1/.scratch/deckgen/logos/ford.png">
            <a:extLst>
              <a:ext uri="{FF2B5EF4-FFF2-40B4-BE49-F238E27FC236}">
                <a16:creationId xmlns:a16="http://schemas.microsoft.com/office/drawing/2014/main" id="{B1DA722E-A132-74E6-6CB9-7076E9D6A104}"/>
              </a:ext>
            </a:extLst>
          </p:cNvPr>
          <p:cNvPicPr>
            <a:picLocks noChangeAspect="1"/>
          </p:cNvPicPr>
          <p:nvPr/>
        </p:nvPicPr>
        <p:blipFill>
          <a:blip r:embed="rId5"/>
          <a:stretch>
            <a:fillRect/>
          </a:stretch>
        </p:blipFill>
        <p:spPr>
          <a:xfrm>
            <a:off x="3153363" y="3785067"/>
            <a:ext cx="1374052" cy="494873"/>
          </a:xfrm>
          <a:prstGeom prst="rect">
            <a:avLst/>
          </a:prstGeom>
        </p:spPr>
      </p:pic>
      <p:sp>
        <p:nvSpPr>
          <p:cNvPr id="33" name="Shape 8">
            <a:extLst>
              <a:ext uri="{FF2B5EF4-FFF2-40B4-BE49-F238E27FC236}">
                <a16:creationId xmlns:a16="http://schemas.microsoft.com/office/drawing/2014/main" id="{0D327E15-D929-4152-2770-830D4603AE3E}"/>
              </a:ext>
            </a:extLst>
          </p:cNvPr>
          <p:cNvSpPr/>
          <p:nvPr/>
        </p:nvSpPr>
        <p:spPr>
          <a:xfrm>
            <a:off x="5096134"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34" name="Image 3" descr="C:/Users/neuma_p1qrsic/Repo/agentic-ops1/.scratch/deckgen/logos/siemens.png">
            <a:extLst>
              <a:ext uri="{FF2B5EF4-FFF2-40B4-BE49-F238E27FC236}">
                <a16:creationId xmlns:a16="http://schemas.microsoft.com/office/drawing/2014/main" id="{B6662C67-5CDE-7B33-92F8-1F37F52B69D8}"/>
              </a:ext>
            </a:extLst>
          </p:cNvPr>
          <p:cNvPicPr>
            <a:picLocks noChangeAspect="1"/>
          </p:cNvPicPr>
          <p:nvPr/>
        </p:nvPicPr>
        <p:blipFill>
          <a:blip r:embed="rId6"/>
          <a:stretch>
            <a:fillRect/>
          </a:stretch>
        </p:blipFill>
        <p:spPr>
          <a:xfrm>
            <a:off x="5276083" y="3837169"/>
            <a:ext cx="1639530" cy="390669"/>
          </a:xfrm>
          <a:prstGeom prst="rect">
            <a:avLst/>
          </a:prstGeom>
        </p:spPr>
      </p:pic>
      <p:sp>
        <p:nvSpPr>
          <p:cNvPr id="35" name="Shape 9">
            <a:extLst>
              <a:ext uri="{FF2B5EF4-FFF2-40B4-BE49-F238E27FC236}">
                <a16:creationId xmlns:a16="http://schemas.microsoft.com/office/drawing/2014/main" id="{002CDEE2-0EE8-A0D2-15B9-2F9164EAA74B}"/>
              </a:ext>
            </a:extLst>
          </p:cNvPr>
          <p:cNvSpPr/>
          <p:nvPr/>
        </p:nvSpPr>
        <p:spPr>
          <a:xfrm>
            <a:off x="7351593"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36" name="Image 4" descr="C:/Users/neuma_p1qrsic/Repo/agentic-ops1/.scratch/deckgen/logos/yeti.png">
            <a:extLst>
              <a:ext uri="{FF2B5EF4-FFF2-40B4-BE49-F238E27FC236}">
                <a16:creationId xmlns:a16="http://schemas.microsoft.com/office/drawing/2014/main" id="{A60AC062-3543-3136-0D39-92399ACD6F82}"/>
              </a:ext>
            </a:extLst>
          </p:cNvPr>
          <p:cNvPicPr>
            <a:picLocks noChangeAspect="1"/>
          </p:cNvPicPr>
          <p:nvPr/>
        </p:nvPicPr>
        <p:blipFill>
          <a:blip r:embed="rId7"/>
          <a:stretch>
            <a:fillRect/>
          </a:stretch>
        </p:blipFill>
        <p:spPr>
          <a:xfrm>
            <a:off x="7531542" y="3807709"/>
            <a:ext cx="1639530" cy="449590"/>
          </a:xfrm>
          <a:prstGeom prst="rect">
            <a:avLst/>
          </a:prstGeom>
        </p:spPr>
      </p:pic>
      <p:sp>
        <p:nvSpPr>
          <p:cNvPr id="37" name="Shape 10">
            <a:extLst>
              <a:ext uri="{FF2B5EF4-FFF2-40B4-BE49-F238E27FC236}">
                <a16:creationId xmlns:a16="http://schemas.microsoft.com/office/drawing/2014/main" id="{F5777D6C-D135-C692-59A2-57A79B6FD755}"/>
              </a:ext>
            </a:extLst>
          </p:cNvPr>
          <p:cNvSpPr/>
          <p:nvPr/>
        </p:nvSpPr>
        <p:spPr>
          <a:xfrm>
            <a:off x="9607052" y="3657600"/>
            <a:ext cx="1999427" cy="749808"/>
          </a:xfrm>
          <a:prstGeom prst="roundRect">
            <a:avLst>
              <a:gd name="adj" fmla="val 17073"/>
            </a:avLst>
          </a:prstGeom>
          <a:solidFill>
            <a:srgbClr val="FFFFFF"/>
          </a:solidFill>
          <a:ln w="9525">
            <a:solidFill>
              <a:srgbClr val="36414F"/>
            </a:solidFill>
            <a:prstDash val="solid"/>
          </a:ln>
        </p:spPr>
        <p:txBody>
          <a:bodyPr/>
          <a:lstStyle/>
          <a:p>
            <a:endParaRPr lang="en-US"/>
          </a:p>
        </p:txBody>
      </p:sp>
      <p:pic>
        <p:nvPicPr>
          <p:cNvPr id="38" name="Image 5" descr="C:/Users/neuma_p1qrsic/Repo/agentic-ops1/.scratch/deckgen/logos/bat.png">
            <a:extLst>
              <a:ext uri="{FF2B5EF4-FFF2-40B4-BE49-F238E27FC236}">
                <a16:creationId xmlns:a16="http://schemas.microsoft.com/office/drawing/2014/main" id="{0848D3FA-394F-1DCA-E960-1E8DD8F3DAD2}"/>
              </a:ext>
            </a:extLst>
          </p:cNvPr>
          <p:cNvPicPr>
            <a:picLocks noChangeAspect="1"/>
          </p:cNvPicPr>
          <p:nvPr/>
        </p:nvPicPr>
        <p:blipFill>
          <a:blip r:embed="rId8"/>
          <a:stretch>
            <a:fillRect/>
          </a:stretch>
        </p:blipFill>
        <p:spPr>
          <a:xfrm>
            <a:off x="10025630" y="3785067"/>
            <a:ext cx="1162271" cy="494873"/>
          </a:xfrm>
          <a:prstGeom prst="rect">
            <a:avLst/>
          </a:prstGeom>
        </p:spPr>
      </p:pic>
      <p:sp>
        <p:nvSpPr>
          <p:cNvPr id="39" name="Text 11">
            <a:extLst>
              <a:ext uri="{FF2B5EF4-FFF2-40B4-BE49-F238E27FC236}">
                <a16:creationId xmlns:a16="http://schemas.microsoft.com/office/drawing/2014/main" id="{65C13D71-DF68-E117-C2D1-CB3AD575557D}"/>
              </a:ext>
            </a:extLst>
          </p:cNvPr>
          <p:cNvSpPr/>
          <p:nvPr/>
        </p:nvSpPr>
        <p:spPr>
          <a:xfrm>
            <a:off x="585216" y="4754880"/>
            <a:ext cx="5486400" cy="256032"/>
          </a:xfrm>
          <a:prstGeom prst="rect">
            <a:avLst/>
          </a:prstGeom>
          <a:noFill/>
          <a:ln/>
        </p:spPr>
        <p:txBody>
          <a:bodyPr wrap="square" rtlCol="0" anchor="ctr"/>
          <a:lstStyle/>
          <a:p>
            <a:pPr marL="0" indent="0">
              <a:buNone/>
            </a:pPr>
            <a:r>
              <a:rPr lang="en-US" sz="1050" b="1" kern="0" spc="200" dirty="0">
                <a:solidFill>
                  <a:srgbClr val="7C8A9B"/>
                </a:solidFill>
                <a:latin typeface="Segoe UI Semibold" pitchFamily="34" charset="0"/>
                <a:ea typeface="Segoe UI Semibold" pitchFamily="34" charset="-122"/>
                <a:cs typeface="Segoe UI Semibold" pitchFamily="34" charset="-120"/>
              </a:rPr>
              <a:t>MARKET DATA PROVIDERS</a:t>
            </a:r>
            <a:endParaRPr lang="en-US" sz="1050" dirty="0"/>
          </a:p>
        </p:txBody>
      </p:sp>
      <p:sp>
        <p:nvSpPr>
          <p:cNvPr id="40" name="Shape 12">
            <a:extLst>
              <a:ext uri="{FF2B5EF4-FFF2-40B4-BE49-F238E27FC236}">
                <a16:creationId xmlns:a16="http://schemas.microsoft.com/office/drawing/2014/main" id="{040F3A7C-2AF4-E525-7374-0CCDFB18E8FF}"/>
              </a:ext>
            </a:extLst>
          </p:cNvPr>
          <p:cNvSpPr/>
          <p:nvPr/>
        </p:nvSpPr>
        <p:spPr>
          <a:xfrm>
            <a:off x="585216"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41" name="Image 6" descr="C:/Users/neuma_p1qrsic/Repo/agentic-ops1/.scratch/deckgen/logos/bloomberg.png">
            <a:extLst>
              <a:ext uri="{FF2B5EF4-FFF2-40B4-BE49-F238E27FC236}">
                <a16:creationId xmlns:a16="http://schemas.microsoft.com/office/drawing/2014/main" id="{540257A1-B029-8D99-16B1-D8274A3CC7E0}"/>
              </a:ext>
            </a:extLst>
          </p:cNvPr>
          <p:cNvPicPr>
            <a:picLocks noChangeAspect="1"/>
          </p:cNvPicPr>
          <p:nvPr/>
        </p:nvPicPr>
        <p:blipFill>
          <a:blip r:embed="rId9"/>
          <a:stretch>
            <a:fillRect/>
          </a:stretch>
        </p:blipFill>
        <p:spPr>
          <a:xfrm>
            <a:off x="815912" y="5155696"/>
            <a:ext cx="2101899" cy="423664"/>
          </a:xfrm>
          <a:prstGeom prst="rect">
            <a:avLst/>
          </a:prstGeom>
        </p:spPr>
      </p:pic>
      <p:sp>
        <p:nvSpPr>
          <p:cNvPr id="42" name="Shape 13">
            <a:extLst>
              <a:ext uri="{FF2B5EF4-FFF2-40B4-BE49-F238E27FC236}">
                <a16:creationId xmlns:a16="http://schemas.microsoft.com/office/drawing/2014/main" id="{C89A3673-CDB8-E4DD-F8A5-FF0EDD544E45}"/>
              </a:ext>
            </a:extLst>
          </p:cNvPr>
          <p:cNvSpPr/>
          <p:nvPr/>
        </p:nvSpPr>
        <p:spPr>
          <a:xfrm>
            <a:off x="3404540"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43" name="Image 7" descr="C:/Users/neuma_p1qrsic/Repo/agentic-ops1/.scratch/deckgen/logos/lseg.png">
            <a:extLst>
              <a:ext uri="{FF2B5EF4-FFF2-40B4-BE49-F238E27FC236}">
                <a16:creationId xmlns:a16="http://schemas.microsoft.com/office/drawing/2014/main" id="{1627B8E0-8240-FA3A-47F5-395CE6857791}"/>
              </a:ext>
            </a:extLst>
          </p:cNvPr>
          <p:cNvPicPr>
            <a:picLocks noChangeAspect="1"/>
          </p:cNvPicPr>
          <p:nvPr/>
        </p:nvPicPr>
        <p:blipFill>
          <a:blip r:embed="rId10"/>
          <a:stretch>
            <a:fillRect/>
          </a:stretch>
        </p:blipFill>
        <p:spPr>
          <a:xfrm>
            <a:off x="3791080" y="5132161"/>
            <a:ext cx="1790212" cy="470733"/>
          </a:xfrm>
          <a:prstGeom prst="rect">
            <a:avLst/>
          </a:prstGeom>
        </p:spPr>
      </p:pic>
      <p:sp>
        <p:nvSpPr>
          <p:cNvPr id="44" name="Shape 14">
            <a:extLst>
              <a:ext uri="{FF2B5EF4-FFF2-40B4-BE49-F238E27FC236}">
                <a16:creationId xmlns:a16="http://schemas.microsoft.com/office/drawing/2014/main" id="{7949407F-62CC-710F-266C-E20AEA0EB123}"/>
              </a:ext>
            </a:extLst>
          </p:cNvPr>
          <p:cNvSpPr/>
          <p:nvPr/>
        </p:nvSpPr>
        <p:spPr>
          <a:xfrm>
            <a:off x="6223864"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45" name="Image 8" descr="C:/Users/neuma_p1qrsic/Repo/agentic-ops1/.scratch/deckgen/logos/ice.png">
            <a:extLst>
              <a:ext uri="{FF2B5EF4-FFF2-40B4-BE49-F238E27FC236}">
                <a16:creationId xmlns:a16="http://schemas.microsoft.com/office/drawing/2014/main" id="{30B1307E-6677-4E51-611B-7EBC6314016B}"/>
              </a:ext>
            </a:extLst>
          </p:cNvPr>
          <p:cNvPicPr>
            <a:picLocks noChangeAspect="1"/>
          </p:cNvPicPr>
          <p:nvPr/>
        </p:nvPicPr>
        <p:blipFill>
          <a:blip r:embed="rId11"/>
          <a:stretch>
            <a:fillRect/>
          </a:stretch>
        </p:blipFill>
        <p:spPr>
          <a:xfrm>
            <a:off x="7270143" y="5132161"/>
            <a:ext cx="470733" cy="470733"/>
          </a:xfrm>
          <a:prstGeom prst="rect">
            <a:avLst/>
          </a:prstGeom>
        </p:spPr>
      </p:pic>
      <p:sp>
        <p:nvSpPr>
          <p:cNvPr id="46" name="Shape 15">
            <a:extLst>
              <a:ext uri="{FF2B5EF4-FFF2-40B4-BE49-F238E27FC236}">
                <a16:creationId xmlns:a16="http://schemas.microsoft.com/office/drawing/2014/main" id="{53742621-C083-D5CE-D536-14C664AC991A}"/>
              </a:ext>
            </a:extLst>
          </p:cNvPr>
          <p:cNvSpPr/>
          <p:nvPr/>
        </p:nvSpPr>
        <p:spPr>
          <a:xfrm>
            <a:off x="9043187" y="5010912"/>
            <a:ext cx="2563292" cy="713232"/>
          </a:xfrm>
          <a:prstGeom prst="roundRect">
            <a:avLst>
              <a:gd name="adj" fmla="val 17949"/>
            </a:avLst>
          </a:prstGeom>
          <a:solidFill>
            <a:srgbClr val="FFFFFF"/>
          </a:solidFill>
          <a:ln w="9525">
            <a:solidFill>
              <a:srgbClr val="36414F"/>
            </a:solidFill>
            <a:prstDash val="solid"/>
          </a:ln>
        </p:spPr>
        <p:txBody>
          <a:bodyPr/>
          <a:lstStyle/>
          <a:p>
            <a:endParaRPr lang="en-US"/>
          </a:p>
        </p:txBody>
      </p:sp>
      <p:pic>
        <p:nvPicPr>
          <p:cNvPr id="47" name="Image 9" descr="C:/Users/neuma_p1qrsic/Repo/agentic-ops1/.scratch/deckgen/logos/cme.png">
            <a:extLst>
              <a:ext uri="{FF2B5EF4-FFF2-40B4-BE49-F238E27FC236}">
                <a16:creationId xmlns:a16="http://schemas.microsoft.com/office/drawing/2014/main" id="{F87D4B5E-3F19-AA89-0197-5BC8ACE3D788}"/>
              </a:ext>
            </a:extLst>
          </p:cNvPr>
          <p:cNvPicPr>
            <a:picLocks noChangeAspect="1"/>
          </p:cNvPicPr>
          <p:nvPr/>
        </p:nvPicPr>
        <p:blipFill>
          <a:blip r:embed="rId12"/>
          <a:stretch>
            <a:fillRect/>
          </a:stretch>
        </p:blipFill>
        <p:spPr>
          <a:xfrm>
            <a:off x="9273884" y="5205780"/>
            <a:ext cx="2101899" cy="323495"/>
          </a:xfrm>
          <a:prstGeom prst="rect">
            <a:avLst/>
          </a:prstGeom>
        </p:spPr>
      </p:pic>
    </p:spTree>
    <p:extLst>
      <p:ext uri="{BB962C8B-B14F-4D97-AF65-F5344CB8AC3E}">
        <p14:creationId xmlns:p14="http://schemas.microsoft.com/office/powerpoint/2010/main" val="13699704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B0E14"/>
        </a:solidFill>
        <a:effectLst/>
      </p:bgPr>
    </p:bg>
    <p:spTree>
      <p:nvGrpSpPr>
        <p:cNvPr id="1" name=""/>
        <p:cNvGrpSpPr/>
        <p:nvPr/>
      </p:nvGrpSpPr>
      <p:grpSpPr>
        <a:xfrm>
          <a:off x="0" y="0"/>
          <a:ext cx="0" cy="0"/>
          <a:chOff x="0" y="0"/>
          <a:chExt cx="0" cy="0"/>
        </a:xfrm>
      </p:grpSpPr>
      <p:sp>
        <p:nvSpPr>
          <p:cNvPr id="2" name="Shape 0"/>
          <p:cNvSpPr/>
          <p:nvPr/>
        </p:nvSpPr>
        <p:spPr>
          <a:xfrm>
            <a:off x="3072384" y="0"/>
            <a:ext cx="6035040" cy="6035040"/>
          </a:xfrm>
          <a:prstGeom prst="ellipse">
            <a:avLst/>
          </a:prstGeom>
          <a:solidFill>
            <a:srgbClr val="3BE3E0">
              <a:alpha val="7000"/>
            </a:srgbClr>
          </a:solidFill>
          <a:ln w="12700">
            <a:solidFill>
              <a:srgbClr val="333333"/>
            </a:solidFill>
            <a:prstDash val="solid"/>
          </a:ln>
        </p:spPr>
        <p:txBody>
          <a:bodyPr/>
          <a:lstStyle/>
          <a:p>
            <a:endParaRPr lang="en-US"/>
          </a:p>
        </p:txBody>
      </p:sp>
      <p:sp>
        <p:nvSpPr>
          <p:cNvPr id="3" name="Shape 1"/>
          <p:cNvSpPr/>
          <p:nvPr/>
        </p:nvSpPr>
        <p:spPr>
          <a:xfrm>
            <a:off x="4443984" y="1371600"/>
            <a:ext cx="3291840" cy="3291840"/>
          </a:xfrm>
          <a:prstGeom prst="ellipse">
            <a:avLst/>
          </a:prstGeom>
          <a:solidFill>
            <a:srgbClr val="3BE3E0">
              <a:alpha val="12000"/>
            </a:srgbClr>
          </a:solidFill>
          <a:ln w="12700">
            <a:solidFill>
              <a:srgbClr val="333333"/>
            </a:solidFill>
            <a:prstDash val="solid"/>
          </a:ln>
        </p:spPr>
        <p:txBody>
          <a:bodyPr/>
          <a:lstStyle/>
          <a:p>
            <a:endParaRPr lang="en-US"/>
          </a:p>
        </p:txBody>
      </p:sp>
      <p:pic>
        <p:nvPicPr>
          <p:cNvPr id="4" name="Image 0" descr="C:/Users/neuma_p1qrsic/Repo/agentic-ops1/.scratch/brisken-logo-light.png"/>
          <p:cNvPicPr>
            <a:picLocks noChangeAspect="1"/>
          </p:cNvPicPr>
          <p:nvPr/>
        </p:nvPicPr>
        <p:blipFill>
          <a:blip r:embed="rId3"/>
          <a:stretch>
            <a:fillRect/>
          </a:stretch>
        </p:blipFill>
        <p:spPr>
          <a:xfrm>
            <a:off x="5312664" y="1417320"/>
            <a:ext cx="1554480" cy="338328"/>
          </a:xfrm>
          <a:prstGeom prst="rect">
            <a:avLst/>
          </a:prstGeom>
        </p:spPr>
      </p:pic>
      <p:sp>
        <p:nvSpPr>
          <p:cNvPr id="5" name="Text 2"/>
          <p:cNvSpPr/>
          <p:nvPr/>
        </p:nvSpPr>
        <p:spPr>
          <a:xfrm>
            <a:off x="914400" y="2514600"/>
            <a:ext cx="10360152" cy="1005840"/>
          </a:xfrm>
          <a:prstGeom prst="rect">
            <a:avLst/>
          </a:prstGeom>
          <a:noFill/>
          <a:ln/>
        </p:spPr>
        <p:txBody>
          <a:bodyPr wrap="square" rtlCol="0" anchor="ctr"/>
          <a:lstStyle/>
          <a:p>
            <a:pPr marL="0" indent="0" algn="ctr">
              <a:buNone/>
            </a:pPr>
            <a:r>
              <a:rPr lang="en-US" sz="5200" b="1" dirty="0">
                <a:solidFill>
                  <a:srgbClr val="F3F6FB"/>
                </a:solidFill>
                <a:latin typeface="Segoe UI Semibold" pitchFamily="34" charset="0"/>
                <a:ea typeface="Segoe UI Semibold" pitchFamily="34" charset="-122"/>
                <a:cs typeface="Segoe UI Semibold" pitchFamily="34" charset="-120"/>
              </a:rPr>
              <a:t>Built to stay done.</a:t>
            </a:r>
            <a:endParaRPr lang="en-US" sz="5200" dirty="0"/>
          </a:p>
        </p:txBody>
      </p:sp>
      <p:sp>
        <p:nvSpPr>
          <p:cNvPr id="6" name="Text 3"/>
          <p:cNvSpPr/>
          <p:nvPr/>
        </p:nvSpPr>
        <p:spPr>
          <a:xfrm>
            <a:off x="1828800" y="3611880"/>
            <a:ext cx="8531352" cy="822960"/>
          </a:xfrm>
          <a:prstGeom prst="rect">
            <a:avLst/>
          </a:prstGeom>
          <a:noFill/>
          <a:ln/>
        </p:spPr>
        <p:txBody>
          <a:bodyPr wrap="square" rtlCol="0" anchor="ctr"/>
          <a:lstStyle/>
          <a:p>
            <a:pPr marL="0" indent="0" algn="ctr">
              <a:lnSpc>
                <a:spcPct val="125000"/>
              </a:lnSpc>
              <a:buNone/>
            </a:pPr>
            <a:r>
              <a:rPr lang="en-US" sz="1700" dirty="0">
                <a:solidFill>
                  <a:srgbClr val="C4CEDA"/>
                </a:solidFill>
                <a:latin typeface="Segoe UI" pitchFamily="34" charset="0"/>
                <a:ea typeface="Segoe UI" pitchFamily="34" charset="-122"/>
                <a:cs typeface="Segoe UI" pitchFamily="34" charset="-120"/>
              </a:rPr>
              <a:t>Give us twenty minutes on where your market data comes from, and we will show you one governed source feeding every system.</a:t>
            </a:r>
            <a:endParaRPr lang="en-US" sz="1700" dirty="0"/>
          </a:p>
        </p:txBody>
      </p:sp>
      <p:sp>
        <p:nvSpPr>
          <p:cNvPr id="7" name="Shape 4">
            <a:hlinkClick r:id="rId4"/>
          </p:cNvPr>
          <p:cNvSpPr/>
          <p:nvPr/>
        </p:nvSpPr>
        <p:spPr>
          <a:xfrm>
            <a:off x="3575304" y="4754880"/>
            <a:ext cx="5029200" cy="658368"/>
          </a:xfrm>
          <a:prstGeom prst="roundRect">
            <a:avLst>
              <a:gd name="adj" fmla="val 50000"/>
            </a:avLst>
          </a:prstGeom>
          <a:solidFill>
            <a:srgbClr val="3BE3E0"/>
          </a:solidFill>
          <a:ln w="12700">
            <a:solidFill>
              <a:srgbClr val="333333"/>
            </a:solidFill>
            <a:prstDash val="solid"/>
          </a:ln>
        </p:spPr>
        <p:txBody>
          <a:bodyPr/>
          <a:lstStyle/>
          <a:p>
            <a:endParaRPr lang="en-US"/>
          </a:p>
        </p:txBody>
      </p:sp>
      <p:sp>
        <p:nvSpPr>
          <p:cNvPr id="8" name="Text 5"/>
          <p:cNvSpPr/>
          <p:nvPr/>
        </p:nvSpPr>
        <p:spPr>
          <a:xfrm>
            <a:off x="3575304" y="4754880"/>
            <a:ext cx="5029200" cy="658368"/>
          </a:xfrm>
          <a:prstGeom prst="rect">
            <a:avLst/>
          </a:prstGeom>
          <a:noFill/>
          <a:ln/>
        </p:spPr>
        <p:txBody>
          <a:bodyPr wrap="square" rtlCol="0" anchor="ctr"/>
          <a:lstStyle/>
          <a:p>
            <a:pPr marL="0" indent="0" algn="ctr">
              <a:buNone/>
            </a:pPr>
            <a:r>
              <a:rPr lang="en-US" sz="1500" b="1" dirty="0">
                <a:solidFill>
                  <a:srgbClr val="07222A"/>
                </a:solidFill>
                <a:latin typeface="Segoe UI" pitchFamily="34" charset="0"/>
                <a:ea typeface="Segoe UI" pitchFamily="34" charset="-122"/>
                <a:cs typeface="Segoe UI" pitchFamily="34" charset="-120"/>
              </a:rPr>
              <a:t>Dirk Neumann   ·   dirk.neumann@brisken.com</a:t>
            </a:r>
            <a:endParaRPr lang="en-US" sz="1500" dirty="0"/>
          </a:p>
        </p:txBody>
      </p:sp>
      <p:sp>
        <p:nvSpPr>
          <p:cNvPr id="9" name="Text 6"/>
          <p:cNvSpPr/>
          <p:nvPr/>
        </p:nvSpPr>
        <p:spPr>
          <a:xfrm>
            <a:off x="914400" y="5623560"/>
            <a:ext cx="10360152" cy="365760"/>
          </a:xfrm>
          <a:prstGeom prst="rect">
            <a:avLst/>
          </a:prstGeom>
          <a:noFill/>
          <a:ln/>
        </p:spPr>
        <p:txBody>
          <a:bodyPr wrap="square" rtlCol="0" anchor="ctr"/>
          <a:lstStyle/>
          <a:p>
            <a:pPr marL="0" indent="0" algn="ctr">
              <a:buNone/>
            </a:pPr>
            <a:r>
              <a:rPr lang="en-US" sz="1150" dirty="0">
                <a:solidFill>
                  <a:srgbClr val="AAB6C7"/>
                </a:solidFill>
                <a:latin typeface="Segoe UI" pitchFamily="34" charset="0"/>
                <a:ea typeface="Segoe UI" pitchFamily="34" charset="-122"/>
                <a:cs typeface="Segoe UI" pitchFamily="34" charset="-120"/>
              </a:rPr>
              <a:t>brisken.com   ·   Houston, TX</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ADFA678-938A-A241-AC13-CCC135DC9849}">
  <we:reference id="f5f369e5-aa35-49d7-ad7b-638152ddb008" version="1.0.0.1" store="EXCatalog" storeType="EXCatalog"/>
  <we:alternateReferences>
    <we:reference id="WA200010001" version="1.0.0.1" store="en-US" storeType="OMEX"/>
  </we:alternateReferences>
  <we:properties>
    <we:property name="claude.fileId" value="&quot;67d6d74a-050f-40cd-ac67-7e3ad38ee552&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E36004C6954FC41BFA5A9934AAC0872" ma:contentTypeVersion="24" ma:contentTypeDescription="Create a new document." ma:contentTypeScope="" ma:versionID="1cf73f14b085dc989d6ca704a5f7b696">
  <xsd:schema xmlns:xsd="http://www.w3.org/2001/XMLSchema" xmlns:xs="http://www.w3.org/2001/XMLSchema" xmlns:p="http://schemas.microsoft.com/office/2006/metadata/properties" xmlns:ns1="http://schemas.microsoft.com/sharepoint/v3" xmlns:ns2="f7c12939-211d-4aac-95d7-b8d38b675650" xmlns:ns3="e9089a15-9498-4149-a6f3-b4bc8e4d21ac" targetNamespace="http://schemas.microsoft.com/office/2006/metadata/properties" ma:root="true" ma:fieldsID="d257115e6736aa2126af141fdcd75720" ns1:_="" ns2:_="" ns3:_="">
    <xsd:import namespace="http://schemas.microsoft.com/sharepoint/v3"/>
    <xsd:import namespace="f7c12939-211d-4aac-95d7-b8d38b675650"/>
    <xsd:import namespace="e9089a15-9498-4149-a6f3-b4bc8e4d21a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Location" minOccurs="0"/>
                <xsd:element ref="ns3:TaxCatchAll" minOccurs="0"/>
                <xsd:element ref="ns2:lcf76f155ced4ddcb4097134ff3c332f" minOccurs="0"/>
                <xsd:element ref="ns1:_ip_UnifiedCompliancePolicyProperties" minOccurs="0"/>
                <xsd:element ref="ns1:_ip_UnifiedCompliancePolicyUIAc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Unified Compliance Policy Properties" ma:hidden="true" ma:internalName="_ip_UnifiedCompliancePolicyProperties">
      <xsd:simpleType>
        <xsd:restriction base="dms:Note"/>
      </xsd:simpleType>
    </xsd:element>
    <xsd:element name="_ip_UnifiedCompliancePolicyUIAction" ma:index="2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7c12939-211d-4aac-95d7-b8d38b6756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hidden="true" ma:internalName="MediaServiceKeyPoints" ma:readOnly="true">
      <xsd:simpleType>
        <xsd:restriction base="dms:Note"/>
      </xsd:simpleType>
    </xsd:element>
    <xsd:element name="MediaServiceAutoTags" ma:index="12" nillable="true" ma:displayName="Tags" ma:hidden="true" ma:internalName="MediaServiceAutoTags" ma:readOnly="true">
      <xsd:simpleType>
        <xsd:restriction base="dms:Text"/>
      </xsd:simpleType>
    </xsd:element>
    <xsd:element name="MediaServiceOCR" ma:index="13" nillable="true" ma:displayName="Extracted Text" ma:hidden="true" ma:internalName="MediaServiceOCR"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hidden="true" ma:internalName="MediaLengthInSeconds" ma:readOnly="true">
      <xsd:simpleType>
        <xsd:restriction base="dms:Unknown"/>
      </xsd:simpleType>
    </xsd:element>
    <xsd:element name="MediaServiceLocation" ma:index="20" nillable="true" ma:displayName="Location" ma:hidden="true" ma:internalName="MediaServiceLocation" ma:readOnly="true">
      <xsd:simpleType>
        <xsd:restriction base="dms:Text"/>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0fd6ee07-b435-4fc4-a9c7-316946df4b76"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BillingMetadata" ma:index="2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9089a15-9498-4149-a6f3-b4bc8e4d21ac" elementFormDefault="qualified">
    <xsd:import namespace="http://schemas.microsoft.com/office/2006/documentManagement/types"/>
    <xsd:import namespace="http://schemas.microsoft.com/office/infopath/2007/PartnerControls"/>
    <xsd:element name="SharedWithUsers" ma:index="17"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hidden="true" ma:internalName="SharedWithDetails" ma:readOnly="true">
      <xsd:simpleType>
        <xsd:restriction base="dms:Note"/>
      </xsd:simpleType>
    </xsd:element>
    <xsd:element name="TaxCatchAll" ma:index="21" nillable="true" ma:displayName="Taxonomy Catch All Column" ma:hidden="true" ma:list="{3ed79911-b83d-417d-9b12-a1fdc4449e3b}" ma:internalName="TaxCatchAll" ma:showField="CatchAllData" ma:web="e9089a15-9498-4149-a6f3-b4bc8e4d21a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f7c12939-211d-4aac-95d7-b8d38b675650">
      <Terms xmlns="http://schemas.microsoft.com/office/infopath/2007/PartnerControls"/>
    </lcf76f155ced4ddcb4097134ff3c332f>
    <_ip_UnifiedCompliancePolicyProperties xmlns="http://schemas.microsoft.com/sharepoint/v3" xsi:nil="true"/>
    <TaxCatchAll xmlns="e9089a15-9498-4149-a6f3-b4bc8e4d21ac" xsi:nil="true"/>
  </documentManagement>
</p:properties>
</file>

<file path=customXml/itemProps1.xml><?xml version="1.0" encoding="utf-8"?>
<ds:datastoreItem xmlns:ds="http://schemas.openxmlformats.org/officeDocument/2006/customXml" ds:itemID="{2FF6C671-B130-4763-AD83-B0443DD21A33}">
  <ds:schemaRefs>
    <ds:schemaRef ds:uri="http://schemas.microsoft.com/sharepoint/v3/contenttype/forms"/>
  </ds:schemaRefs>
</ds:datastoreItem>
</file>

<file path=customXml/itemProps2.xml><?xml version="1.0" encoding="utf-8"?>
<ds:datastoreItem xmlns:ds="http://schemas.openxmlformats.org/officeDocument/2006/customXml" ds:itemID="{8F561F51-E5D5-4B2B-AD66-9C8E468EC1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7c12939-211d-4aac-95d7-b8d38b675650"/>
    <ds:schemaRef ds:uri="e9089a15-9498-4149-a6f3-b4bc8e4d21a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C2F736D-DC26-40F4-9F5A-C48CF08FE95D}">
  <ds:schemaRefs>
    <ds:schemaRef ds:uri="http://purl.org/dc/terms/"/>
    <ds:schemaRef ds:uri="http://www.w3.org/XML/1998/namespace"/>
    <ds:schemaRef ds:uri="e9089a15-9498-4149-a6f3-b4bc8e4d21ac"/>
    <ds:schemaRef ds:uri="http://schemas.microsoft.com/office/infopath/2007/PartnerControls"/>
    <ds:schemaRef ds:uri="http://schemas.microsoft.com/office/2006/documentManagement/types"/>
    <ds:schemaRef ds:uri="f7c12939-211d-4aac-95d7-b8d38b675650"/>
    <ds:schemaRef ds:uri="http://purl.org/dc/elements/1.1/"/>
    <ds:schemaRef ds:uri="http://schemas.microsoft.com/sharepoint/v3"/>
    <ds:schemaRef ds:uri="http://schemas.openxmlformats.org/package/2006/metadata/core-properties"/>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c5f3e595-28df-4b6d-866e-5db0c24f0139}" enabled="1" method="Standard" siteId="{aa3bd2bf-9c6e-4f49-9c4f-44f878ae9e74}" removed="0"/>
</clbl:labelList>
</file>

<file path=docProps/app.xml><?xml version="1.0" encoding="utf-8"?>
<Properties xmlns="http://schemas.openxmlformats.org/officeDocument/2006/extended-properties" xmlns:vt="http://schemas.openxmlformats.org/officeDocument/2006/docPropsVTypes">
  <TotalTime>695</TotalTime>
  <Words>1155</Words>
  <Application>Microsoft Macintosh PowerPoint</Application>
  <PresentationFormat>Widescreen</PresentationFormat>
  <Paragraphs>157</Paragraphs>
  <Slides>13</Slides>
  <Notes>13</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Brisken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Brisken</dc:creator>
  <cp:lastModifiedBy>Dirk Neumann</cp:lastModifiedBy>
  <cp:revision>2</cp:revision>
  <dcterms:created xsi:type="dcterms:W3CDTF">2026-07-07T18:10:09Z</dcterms:created>
  <dcterms:modified xsi:type="dcterms:W3CDTF">2026-07-09T23:10:49Z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0x0101002E36004C6954FC41BFA5A9934AAC0872</vt:lpwstr>
  </property>
  <property fmtid="{D5CDD505-2E9C-101B-9397-08002B2CF9AE}" pid="3" name="MediaServiceImageTags">
    <vt:lpwstr/>
  </property>
</Properties>
</file>