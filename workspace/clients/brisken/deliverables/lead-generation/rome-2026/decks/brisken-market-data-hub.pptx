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70" r:id="rId6"/>
    <p:sldId id="271" r:id="rId7"/>
    <p:sldId id="272" r:id="rId8"/>
    <p:sldId id="260" r:id="rId9"/>
    <p:sldId id="289" r:id="rId10"/>
    <p:sldId id="284" r:id="rId11"/>
    <p:sldId id="290" r:id="rId12"/>
    <p:sldId id="288" r:id="rId13"/>
    <p:sldId id="265" r:id="rId14"/>
    <p:sldId id="291" r:id="rId15"/>
    <p:sldId id="292" r:id="rId16"/>
    <p:sldId id="26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635D36-BAB7-8C4E-8C39-B17451E32DD3}" v="2" dt="2026-07-09T11:46:46.9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301"/>
  </p:normalViewPr>
  <p:slideViewPr>
    <p:cSldViewPr snapToGrid="0" snapToObjects="1">
      <p:cViewPr varScale="1">
        <p:scale>
          <a:sx n="118" d="100"/>
          <a:sy n="118" d="100"/>
        </p:scale>
        <p:origin x="8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4596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CE29E-A60D-236A-E36C-425460085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4C709-FE04-12A2-607C-94212C4D0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F727C-5C47-AD2E-D79F-ABDB059B5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03D685-7DF6-37A0-2460-40AA23B2D95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19861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mailto:dirk.neumann@brisken.com?subject=Meeting%20request%3A%20Market%20Data%20Hub&amp;body=Hi%20Dirk%2C%0D%0A%0D%0AI%27d%20like%20to%20schedule%2020%20minutes%20to%20discuss%20how%20Market%20Data%20Hub%20could%20work%20for%20our%20market%20data%20setup.%0D%0A%0D%0ABest%20regards%2C"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txBody>
          <a:bodyPr/>
          <a:lstStyle/>
          <a:p>
            <a:endParaRPr lang="en-US"/>
          </a:p>
        </p:txBody>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txBody>
          <a:bodyPr/>
          <a:lstStyle/>
          <a:p>
            <a:endParaRPr lang="en-US"/>
          </a:p>
        </p:txBody>
      </p:sp>
      <p:pic>
        <p:nvPicPr>
          <p:cNvPr id="6" name="Image 0" descr="C:/Users/neuma_p1qrsic/Repo/agentic-ops1/.scratch/brisken-logo-light.png"/>
          <p:cNvPicPr>
            <a:picLocks noChangeAspect="1"/>
          </p:cNvPicPr>
          <p:nvPr/>
        </p:nvPicPr>
        <p:blipFill>
          <a:blip r:embed="rId3"/>
          <a:stretch>
            <a:fillRect/>
          </a:stretch>
        </p:blipFill>
        <p:spPr>
          <a:xfrm>
            <a:off x="566928" y="548640"/>
            <a:ext cx="1417320" cy="310896"/>
          </a:xfrm>
          <a:prstGeom prst="rect">
            <a:avLst/>
          </a:prstGeom>
        </p:spPr>
      </p:pic>
      <p:sp>
        <p:nvSpPr>
          <p:cNvPr id="7" name="Shape 4"/>
          <p:cNvSpPr/>
          <p:nvPr/>
        </p:nvSpPr>
        <p:spPr>
          <a:xfrm>
            <a:off x="566928" y="2624328"/>
            <a:ext cx="45720" cy="219456"/>
          </a:xfrm>
          <a:prstGeom prst="rect">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713232" y="2551176"/>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ONEPILOT · MARKET DATA HUB</a:t>
            </a:r>
            <a:endParaRPr lang="en-US" sz="1200" dirty="0"/>
          </a:p>
        </p:txBody>
      </p:sp>
      <p:sp>
        <p:nvSpPr>
          <p:cNvPr id="9" name="Text 6"/>
          <p:cNvSpPr/>
          <p:nvPr/>
        </p:nvSpPr>
        <p:spPr>
          <a:xfrm>
            <a:off x="539496" y="2880360"/>
            <a:ext cx="10972800" cy="1371600"/>
          </a:xfrm>
          <a:prstGeom prst="rect">
            <a:avLst/>
          </a:prstGeom>
          <a:noFill/>
          <a:ln/>
        </p:spPr>
        <p:txBody>
          <a:bodyPr wrap="square" rtlCol="0" anchor="ctr"/>
          <a:lstStyle/>
          <a:p>
            <a:pPr marL="0" indent="0">
              <a:buNone/>
            </a:pPr>
            <a:r>
              <a:rPr lang="en-US" sz="7000" b="1" dirty="0">
                <a:solidFill>
                  <a:srgbClr val="F3F6FB"/>
                </a:solidFill>
                <a:latin typeface="Segoe UI Semibold" pitchFamily="34" charset="0"/>
                <a:ea typeface="Segoe UI Semibold" pitchFamily="34" charset="-122"/>
                <a:cs typeface="Segoe UI Semibold" pitchFamily="34" charset="-120"/>
              </a:rPr>
              <a:t>Market Data Hub</a:t>
            </a:r>
            <a:endParaRPr lang="en-US" sz="7000" dirty="0"/>
          </a:p>
        </p:txBody>
      </p:sp>
      <p:sp>
        <p:nvSpPr>
          <p:cNvPr id="10" name="Text 7"/>
          <p:cNvSpPr/>
          <p:nvPr/>
        </p:nvSpPr>
        <p:spPr>
          <a:xfrm>
            <a:off x="566928" y="4206240"/>
            <a:ext cx="10241280" cy="822960"/>
          </a:xfrm>
          <a:prstGeom prst="rect">
            <a:avLst/>
          </a:prstGeom>
          <a:noFill/>
          <a:ln/>
        </p:spPr>
        <p:txBody>
          <a:bodyPr wrap="square" rtlCol="0" anchor="t"/>
          <a:lstStyle/>
          <a:p>
            <a:pPr marL="0" indent="0">
              <a:lnSpc>
                <a:spcPct val="115000"/>
              </a:lnSpc>
              <a:buNone/>
            </a:pPr>
            <a:r>
              <a:rPr lang="en-US" sz="2000" dirty="0">
                <a:solidFill>
                  <a:srgbClr val="AAB6C7"/>
                </a:solidFill>
                <a:latin typeface="Segoe UI" pitchFamily="34" charset="0"/>
                <a:ea typeface="Segoe UI" pitchFamily="34" charset="-122"/>
                <a:cs typeface="Segoe UI" pitchFamily="34" charset="-120"/>
              </a:rPr>
              <a:t>Every rate and reference you rely on, from any source to every system. </a:t>
            </a:r>
            <a:r>
              <a:rPr lang="en-US" sz="2000" dirty="0">
                <a:solidFill>
                  <a:srgbClr val="3BE3E0"/>
                </a:solidFill>
                <a:latin typeface="Segoe UI" pitchFamily="34" charset="0"/>
                <a:ea typeface="Segoe UI" pitchFamily="34" charset="-122"/>
                <a:cs typeface="Segoe UI" pitchFamily="34" charset="-120"/>
              </a:rPr>
              <a:t>Curated once, governed end to end.</a:t>
            </a:r>
            <a:endParaRPr lang="en-US" sz="2000" dirty="0"/>
          </a:p>
        </p:txBody>
      </p:sp>
      <p:sp>
        <p:nvSpPr>
          <p:cNvPr id="11" name="Shape 8"/>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venue.png"/>
          <p:cNvPicPr>
            <a:picLocks noChangeAspect="1"/>
          </p:cNvPicPr>
          <p:nvPr/>
        </p:nvPicPr>
        <p:blipFill>
          <a:blip r:embed="rId4"/>
          <a:stretch>
            <a:fillRect/>
          </a:stretch>
        </p:blipFill>
        <p:spPr>
          <a:xfrm>
            <a:off x="702991" y="5668183"/>
            <a:ext cx="294803" cy="294803"/>
          </a:xfrm>
          <a:prstGeom prst="rect">
            <a:avLst/>
          </a:prstGeom>
        </p:spPr>
      </p:pic>
      <p:sp>
        <p:nvSpPr>
          <p:cNvPr id="13" name="Text 9"/>
          <p:cNvSpPr/>
          <p:nvPr/>
        </p:nvSpPr>
        <p:spPr>
          <a:xfrm>
            <a:off x="1252728" y="5532120"/>
            <a:ext cx="256032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Your data sources</a:t>
            </a:r>
            <a:endParaRPr lang="en-US" sz="1300" dirty="0"/>
          </a:p>
        </p:txBody>
      </p:sp>
      <p:sp>
        <p:nvSpPr>
          <p:cNvPr id="14" name="Shape 10"/>
          <p:cNvSpPr/>
          <p:nvPr/>
        </p:nvSpPr>
        <p:spPr>
          <a:xfrm>
            <a:off x="3813048" y="5815584"/>
            <a:ext cx="640080" cy="0"/>
          </a:xfrm>
          <a:prstGeom prst="line">
            <a:avLst/>
          </a:prstGeom>
          <a:noFill/>
          <a:ln w="25400">
            <a:solidFill>
              <a:srgbClr val="3BE3E0"/>
            </a:solidFill>
            <a:prstDash val="solid"/>
            <a:tailEnd type="triangle"/>
          </a:ln>
        </p:spPr>
        <p:txBody>
          <a:bodyPr/>
          <a:lstStyle/>
          <a:p>
            <a:endParaRPr lang="en-US"/>
          </a:p>
        </p:txBody>
      </p:sp>
      <p:sp>
        <p:nvSpPr>
          <p:cNvPr id="15" name="Text 11"/>
          <p:cNvSpPr/>
          <p:nvPr/>
        </p:nvSpPr>
        <p:spPr>
          <a:xfrm>
            <a:off x="4544568" y="5532120"/>
            <a:ext cx="2011680" cy="566928"/>
          </a:xfrm>
          <a:prstGeom prst="rect">
            <a:avLst/>
          </a:prstGeom>
          <a:noFill/>
          <a:ln/>
        </p:spPr>
        <p:txBody>
          <a:bodyPr wrap="square" rtlCol="0" anchor="ctr"/>
          <a:lstStyle/>
          <a:p>
            <a:pPr marL="0" indent="0" algn="ctr">
              <a:buNone/>
            </a:pPr>
            <a:r>
              <a:rPr lang="en-US" sz="1200" i="1" dirty="0">
                <a:solidFill>
                  <a:srgbClr val="3BE3E0"/>
                </a:solidFill>
                <a:latin typeface="Segoe UI" pitchFamily="34" charset="0"/>
                <a:ea typeface="Segoe UI" pitchFamily="34" charset="-122"/>
                <a:cs typeface="Segoe UI" pitchFamily="34" charset="-120"/>
              </a:rPr>
              <a:t>Market Data Hub</a:t>
            </a:r>
            <a:endParaRPr lang="en-US" sz="1200" dirty="0"/>
          </a:p>
        </p:txBody>
      </p:sp>
      <p:sp>
        <p:nvSpPr>
          <p:cNvPr id="16" name="Shape 12"/>
          <p:cNvSpPr/>
          <p:nvPr/>
        </p:nvSpPr>
        <p:spPr>
          <a:xfrm>
            <a:off x="6510528" y="5815584"/>
            <a:ext cx="640080" cy="0"/>
          </a:xfrm>
          <a:prstGeom prst="line">
            <a:avLst/>
          </a:prstGeom>
          <a:noFill/>
          <a:ln w="25400">
            <a:solidFill>
              <a:srgbClr val="3BE3E0"/>
            </a:solidFill>
            <a:prstDash val="solid"/>
            <a:tailEnd type="triangle"/>
          </a:ln>
        </p:spPr>
        <p:txBody>
          <a:bodyPr/>
          <a:lstStyle/>
          <a:p>
            <a:endParaRPr lang="en-US"/>
          </a:p>
        </p:txBody>
      </p:sp>
      <p:sp>
        <p:nvSpPr>
          <p:cNvPr id="17" name="Shape 13"/>
          <p:cNvSpPr/>
          <p:nvPr/>
        </p:nvSpPr>
        <p:spPr>
          <a:xfrm>
            <a:off x="728776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8" name="Image 2" descr="C:/Users/neuma_p1qrsic/Repo/agentic-ops1/.scratch/icons/database.png"/>
          <p:cNvPicPr>
            <a:picLocks noChangeAspect="1"/>
          </p:cNvPicPr>
          <p:nvPr/>
        </p:nvPicPr>
        <p:blipFill>
          <a:blip r:embed="rId5"/>
          <a:stretch>
            <a:fillRect/>
          </a:stretch>
        </p:blipFill>
        <p:spPr>
          <a:xfrm>
            <a:off x="7423831" y="5668183"/>
            <a:ext cx="294803" cy="294803"/>
          </a:xfrm>
          <a:prstGeom prst="rect">
            <a:avLst/>
          </a:prstGeom>
        </p:spPr>
      </p:pic>
      <p:sp>
        <p:nvSpPr>
          <p:cNvPr id="19" name="Text 14"/>
          <p:cNvSpPr/>
          <p:nvPr/>
        </p:nvSpPr>
        <p:spPr>
          <a:xfrm>
            <a:off x="7973568" y="5532120"/>
            <a:ext cx="310896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Every system, SAP and beyond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marL="0" indent="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Your rates live in a dozen places.
</a:t>
            </a:r>
            <a:r>
              <a:rPr lang="en-US" sz="3300" b="1" dirty="0">
                <a:solidFill>
                  <a:srgbClr val="3BE3E0"/>
                </a:solidFill>
                <a:latin typeface="Segoe UI Semibold" pitchFamily="34" charset="0"/>
                <a:ea typeface="Segoe UI Semibold" pitchFamily="34" charset="-122"/>
                <a:cs typeface="Segoe UI Semibold" pitchFamily="34" charset="-120"/>
              </a:rPr>
              <a:t>Someone lines them up by hand (kind of).</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venue.png"/>
          <p:cNvPicPr>
            <a:picLocks noChangeAspect="1"/>
          </p:cNvPicPr>
          <p:nvPr/>
        </p:nvPicPr>
        <p:blipFill>
          <a:blip r:embed="rId3"/>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Your sources</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Bloomberg, Refinitiv, 360T, OANDA, central banks, websites, anywhere</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txBody>
          <a:bodyPr/>
          <a:lstStyle/>
          <a:p>
            <a:endParaRPr lang="en-US"/>
          </a:p>
        </p:txBody>
      </p:sp>
      <p:pic>
        <p:nvPicPr>
          <p:cNvPr id="11" name="Image 1" descr="C:/Users/neuma_p1qrsic/Repo/agentic-ops1/.scratch/icons/gap.png"/>
          <p:cNvPicPr>
            <a:picLocks noChangeAspect="1"/>
          </p:cNvPicPr>
          <p:nvPr/>
        </p:nvPicPr>
        <p:blipFill>
          <a:blip r:embed="rId4"/>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marL="0" indent="0" algn="ctr">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374573" y="4617720"/>
            <a:ext cx="3449782" cy="457200"/>
          </a:xfrm>
          <a:prstGeom prst="rect">
            <a:avLst/>
          </a:prstGeom>
          <a:noFill/>
          <a:ln/>
        </p:spPr>
        <p:txBody>
          <a:bodyPr wrap="square" rtlCol="0" anchor="ctr"/>
          <a:lstStyle/>
          <a:p>
            <a:pPr marL="0" indent="0" algn="ctr">
              <a:lnSpc>
                <a:spcPct val="105000"/>
              </a:lnSpc>
              <a:buNone/>
            </a:pPr>
            <a:r>
              <a:rPr lang="en-US" sz="1200" dirty="0">
                <a:solidFill>
                  <a:srgbClr val="F3F6FB"/>
                </a:solidFill>
                <a:latin typeface="Segoe UI" pitchFamily="34" charset="0"/>
                <a:ea typeface="Segoe UI" pitchFamily="34" charset="-122"/>
                <a:cs typeface="Segoe UI" pitchFamily="34" charset="-120"/>
              </a:rPr>
              <a:t>re-keying rates, fixing formats, chasing bad values, reconciling by hand, fearing month-end</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6" name="Image 2" descr="C:/Users/neuma_p1qrsic/Repo/agentic-ops1/.scratch/icons/database.png"/>
          <p:cNvPicPr>
            <a:picLocks noChangeAspect="1"/>
          </p:cNvPicPr>
          <p:nvPr/>
        </p:nvPicPr>
        <p:blipFill>
          <a:blip r:embed="rId5"/>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Your systems</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SAP, analytics, non-SAP apps, everywhere</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txBody>
          <a:bodyPr/>
          <a:lstStyle/>
          <a:p>
            <a:endParaRPr lang="en-US"/>
          </a:p>
        </p:txBody>
      </p:sp>
      <p:sp>
        <p:nvSpPr>
          <p:cNvPr id="20" name="Shape 15"/>
          <p:cNvSpPr/>
          <p:nvPr/>
        </p:nvSpPr>
        <p:spPr>
          <a:xfrm>
            <a:off x="7927848" y="4183380"/>
            <a:ext cx="457200" cy="0"/>
          </a:xfrm>
          <a:prstGeom prst="line">
            <a:avLst/>
          </a:prstGeom>
          <a:noFill/>
          <a:ln w="25400">
            <a:solidFill>
              <a:srgbClr val="FFC96B"/>
            </a:solidFill>
            <a:prstDash val="solid"/>
            <a:tailEnd type="triangle"/>
          </a:ln>
        </p:spPr>
        <p:txBody>
          <a:bodyPr/>
          <a:lstStyle/>
          <a:p>
            <a:endParaRPr lang="en-US"/>
          </a:p>
        </p:txBody>
      </p:sp>
      <p:sp>
        <p:nvSpPr>
          <p:cNvPr id="21" name="Text 16"/>
          <p:cNvSpPr/>
          <p:nvPr/>
        </p:nvSpPr>
        <p:spPr>
          <a:xfrm>
            <a:off x="566928" y="5532120"/>
            <a:ext cx="11057839" cy="457200"/>
          </a:xfrm>
          <a:prstGeom prst="rect">
            <a:avLst/>
          </a:prstGeom>
          <a:noFill/>
          <a:ln/>
        </p:spPr>
        <p:txBody>
          <a:bodyPr wrap="square" rtlCol="0" anchor="ctr"/>
          <a:lstStyle/>
          <a:p>
            <a:pPr marL="0" indent="0">
              <a:buNone/>
            </a:pPr>
            <a:r>
              <a:rPr lang="en-US" sz="1600" b="1" dirty="0">
                <a:solidFill>
                  <a:srgbClr val="FFC96B"/>
                </a:solidFill>
                <a:latin typeface="Segoe UI Semibold" pitchFamily="34" charset="0"/>
                <a:ea typeface="Segoe UI Semibold" pitchFamily="34" charset="-122"/>
                <a:cs typeface="Segoe UI Semibold" pitchFamily="34" charset="-120"/>
              </a:rPr>
              <a:t>Sound familiar? Late nights stitching rates together, a month-end everyone dreads, and reports that never stay final.</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03 / 12</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42555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0E14"/>
        </a:solidFill>
        <a:effectLst/>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3"/>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4"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FIX</a:t>
            </a:r>
            <a:endParaRPr lang="en-US" sz="1200" dirty="0"/>
          </a:p>
        </p:txBody>
      </p:sp>
      <p:sp>
        <p:nvSpPr>
          <p:cNvPr id="5" name="Text 2"/>
          <p:cNvSpPr/>
          <p:nvPr/>
        </p:nvSpPr>
        <p:spPr>
          <a:xfrm>
            <a:off x="566928" y="960120"/>
            <a:ext cx="10881360" cy="822960"/>
          </a:xfrm>
          <a:prstGeom prst="rect">
            <a:avLst/>
          </a:prstGeom>
          <a:noFill/>
          <a:ln/>
        </p:spPr>
        <p:txBody>
          <a:bodyPr wrap="square" rtlCol="0" anchor="ctr"/>
          <a:lstStyle/>
          <a:p>
            <a:pPr marL="0" indent="0">
              <a:lnSpc>
                <a:spcPct val="105000"/>
              </a:lnSpc>
              <a:buNone/>
            </a:pPr>
            <a:r>
              <a:rPr lang="en-US" sz="3000" b="1" dirty="0">
                <a:solidFill>
                  <a:srgbClr val="F3F6FB"/>
                </a:solidFill>
                <a:latin typeface="Segoe UI Semibold" pitchFamily="34" charset="0"/>
                <a:ea typeface="Segoe UI Semibold" pitchFamily="34" charset="-122"/>
                <a:cs typeface="Segoe UI Semibold" pitchFamily="34" charset="-120"/>
              </a:rPr>
              <a:t>So we built the fix.
</a:t>
            </a:r>
            <a:r>
              <a:rPr lang="en-US" sz="3000" b="1" dirty="0">
                <a:solidFill>
                  <a:srgbClr val="3BE3E0"/>
                </a:solidFill>
                <a:latin typeface="Segoe UI Semibold" pitchFamily="34" charset="0"/>
                <a:ea typeface="Segoe UI Semibold" pitchFamily="34" charset="-122"/>
                <a:cs typeface="Segoe UI Semibold" pitchFamily="34" charset="-120"/>
              </a:rPr>
              <a:t>One governed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8" name="Image 1" descr="C:/Users/neuma_p1qrsic/Repo/agentic-ops1/.scratch/icons/shield.png"/>
          <p:cNvPicPr>
            <a:picLocks noChangeAspect="1"/>
          </p:cNvPicPr>
          <p:nvPr/>
        </p:nvPicPr>
        <p:blipFill>
          <a:blip r:embed="rId4"/>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The hub runs natively within SAP’s own cloud infrastructure,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3" name="Image 2" descr="C:/Users/neuma_p1qrsic/Repo/agentic-ops1/.scratch/icons/globe.png"/>
          <p:cNvPicPr>
            <a:picLocks noChangeAspect="1"/>
          </p:cNvPicPr>
          <p:nvPr/>
        </p:nvPicPr>
        <p:blipFill>
          <a:blip r:embed="rId5"/>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Any source, any system</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Provider and target agnostic. Pull from any feed, push to any system, SAP or not, and change your sources any time.</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blocks.png"/>
          <p:cNvPicPr>
            <a:picLocks noChangeAspect="1"/>
          </p:cNvPicPr>
          <p:nvPr/>
        </p:nvPicPr>
        <p:blipFill>
          <a:blip r:embed="rId6"/>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Beyond market data</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Not only rates. Credit risk, security master, ESG and climate data, all governed in one place, with no code to run it.</a:t>
            </a:r>
            <a:endParaRPr lang="en-US" sz="1300" dirty="0"/>
          </a:p>
        </p:txBody>
      </p:sp>
      <p:sp>
        <p:nvSpPr>
          <p:cNvPr id="21" name="Text 15"/>
          <p:cNvSpPr/>
          <p:nvPr/>
        </p:nvSpPr>
        <p:spPr>
          <a:xfrm>
            <a:off x="566928"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1</a:t>
            </a:r>
            <a:endParaRPr lang="en-US" sz="3800" dirty="0"/>
          </a:p>
        </p:txBody>
      </p:sp>
      <p:sp>
        <p:nvSpPr>
          <p:cNvPr id="22" name="Text 16"/>
          <p:cNvSpPr/>
          <p:nvPr/>
        </p:nvSpPr>
        <p:spPr>
          <a:xfrm>
            <a:off x="1892808"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hub for every source and system</a:t>
            </a:r>
            <a:endParaRPr lang="en-US" sz="1250" dirty="0"/>
          </a:p>
        </p:txBody>
      </p:sp>
      <p:sp>
        <p:nvSpPr>
          <p:cNvPr id="23" name="Text 17"/>
          <p:cNvSpPr/>
          <p:nvPr/>
        </p:nvSpPr>
        <p:spPr>
          <a:xfrm>
            <a:off x="4359554"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0</a:t>
            </a:r>
            <a:endParaRPr lang="en-US" sz="3800" dirty="0"/>
          </a:p>
        </p:txBody>
      </p:sp>
      <p:sp>
        <p:nvSpPr>
          <p:cNvPr id="24" name="Text 18"/>
          <p:cNvSpPr/>
          <p:nvPr/>
        </p:nvSpPr>
        <p:spPr>
          <a:xfrm>
            <a:off x="5685434"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code to run it</a:t>
            </a:r>
            <a:endParaRPr lang="en-US" sz="1250" dirty="0"/>
          </a:p>
        </p:txBody>
      </p:sp>
      <p:sp>
        <p:nvSpPr>
          <p:cNvPr id="25" name="Text 19"/>
          <p:cNvSpPr/>
          <p:nvPr/>
        </p:nvSpPr>
        <p:spPr>
          <a:xfrm>
            <a:off x="8152181"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360°</a:t>
            </a:r>
            <a:endParaRPr lang="en-US" sz="3800" dirty="0"/>
          </a:p>
        </p:txBody>
      </p:sp>
      <p:sp>
        <p:nvSpPr>
          <p:cNvPr id="26" name="Text 20"/>
          <p:cNvSpPr/>
          <p:nvPr/>
        </p:nvSpPr>
        <p:spPr>
          <a:xfrm>
            <a:off x="9478061"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audit on every change</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02 / 12</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48816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FITS</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What “one governed layer” </a:t>
            </a:r>
            <a:r>
              <a:rPr lang="en-US" sz="2800" b="1" dirty="0">
                <a:solidFill>
                  <a:srgbClr val="3BE3E0"/>
                </a:solidFill>
                <a:latin typeface="Segoe UI Semibold" pitchFamily="34" charset="0"/>
                <a:ea typeface="Segoe UI Semibold" pitchFamily="34" charset="-122"/>
                <a:cs typeface="Segoe UI Semibold" pitchFamily="34" charset="-120"/>
              </a:rPr>
              <a:t>looks like in practice.</a:t>
            </a:r>
            <a:endParaRPr lang="en-US" sz="2800" dirty="0"/>
          </a:p>
        </p:txBody>
      </p:sp>
      <p:sp>
        <p:nvSpPr>
          <p:cNvPr id="5" name="Shape 3"/>
          <p:cNvSpPr/>
          <p:nvPr/>
        </p:nvSpPr>
        <p:spPr>
          <a:xfrm>
            <a:off x="566928" y="2148839"/>
            <a:ext cx="5346040" cy="3291831"/>
          </a:xfrm>
          <a:prstGeom prst="roundRect">
            <a:avLst>
              <a:gd name="adj" fmla="val 2687"/>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932688" y="2560320"/>
            <a:ext cx="777240" cy="777240"/>
          </a:xfrm>
          <a:prstGeom prst="roundRect">
            <a:avLst>
              <a:gd name="adj" fmla="val 12941"/>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nk.png"/>
          <p:cNvPicPr>
            <a:picLocks noChangeAspect="1"/>
          </p:cNvPicPr>
          <p:nvPr/>
        </p:nvPicPr>
        <p:blipFill>
          <a:blip r:embed="rId3"/>
          <a:stretch>
            <a:fillRect/>
          </a:stretch>
        </p:blipFill>
        <p:spPr>
          <a:xfrm>
            <a:off x="1119226" y="2746858"/>
            <a:ext cx="404165" cy="404165"/>
          </a:xfrm>
          <a:prstGeom prst="rect">
            <a:avLst/>
          </a:prstGeom>
        </p:spPr>
      </p:pic>
      <p:sp>
        <p:nvSpPr>
          <p:cNvPr id="8" name="Text 5"/>
          <p:cNvSpPr/>
          <p:nvPr/>
        </p:nvSpPr>
        <p:spPr>
          <a:xfrm>
            <a:off x="1938528" y="2651760"/>
            <a:ext cx="3700120" cy="640080"/>
          </a:xfrm>
          <a:prstGeom prst="rect">
            <a:avLst/>
          </a:prstGeom>
          <a:noFill/>
          <a:ln/>
        </p:spPr>
        <p:txBody>
          <a:bodyPr wrap="square" rtlCol="0" anchor="ctr"/>
          <a:lstStyle/>
          <a:p>
            <a:pPr marL="0" indent="0">
              <a:buNone/>
            </a:pPr>
            <a:r>
              <a:rPr lang="en-US" sz="2300" b="1" dirty="0">
                <a:solidFill>
                  <a:srgbClr val="F3F6FB"/>
                </a:solidFill>
                <a:latin typeface="Segoe UI Semibold" pitchFamily="34" charset="0"/>
                <a:ea typeface="Segoe UI Semibold" pitchFamily="34" charset="-122"/>
                <a:cs typeface="Segoe UI Semibold" pitchFamily="34" charset="-120"/>
              </a:rPr>
              <a:t>Every feed, in</a:t>
            </a:r>
            <a:endParaRPr lang="en-US" sz="2300" dirty="0"/>
          </a:p>
        </p:txBody>
      </p:sp>
      <p:sp>
        <p:nvSpPr>
          <p:cNvPr id="9" name="Text 6"/>
          <p:cNvSpPr/>
          <p:nvPr/>
        </p:nvSpPr>
        <p:spPr>
          <a:xfrm>
            <a:off x="932688" y="3657600"/>
            <a:ext cx="4614520" cy="1325880"/>
          </a:xfrm>
          <a:prstGeom prst="rect">
            <a:avLst/>
          </a:prstGeom>
          <a:noFill/>
          <a:ln/>
        </p:spPr>
        <p:txBody>
          <a:bodyPr wrap="square" rtlCol="0" anchor="t"/>
          <a:lstStyle/>
          <a:p>
            <a:pPr marL="0" indent="0">
              <a:lnSpc>
                <a:spcPct val="130000"/>
              </a:lnSpc>
              <a:buNone/>
            </a:pPr>
            <a:r>
              <a:rPr lang="en-US" sz="1550" dirty="0">
                <a:solidFill>
                  <a:srgbClr val="AAB6C7"/>
                </a:solidFill>
                <a:latin typeface="Segoe UI" pitchFamily="34" charset="0"/>
                <a:ea typeface="Segoe UI" pitchFamily="34" charset="-122"/>
                <a:cs typeface="Segoe UI" pitchFamily="34" charset="-120"/>
              </a:rPr>
              <a:t>Connect any provider or feed, with nothing to swap out. Bloomberg, Refinitiv, 360T, OANDA, central banks, exchanges, government agencies, websites, your own internal data. Add or drop a source any time.</a:t>
            </a:r>
            <a:endParaRPr lang="en-US" sz="1550" dirty="0"/>
          </a:p>
        </p:txBody>
      </p:sp>
      <p:sp>
        <p:nvSpPr>
          <p:cNvPr id="10" name="Shape 7"/>
          <p:cNvSpPr/>
          <p:nvPr/>
        </p:nvSpPr>
        <p:spPr>
          <a:xfrm>
            <a:off x="6278728" y="2148839"/>
            <a:ext cx="5346040" cy="3291825"/>
          </a:xfrm>
          <a:prstGeom prst="roundRect">
            <a:avLst>
              <a:gd name="adj" fmla="val 2687"/>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644488" y="2560320"/>
            <a:ext cx="777240" cy="777240"/>
          </a:xfrm>
          <a:prstGeom prst="roundRect">
            <a:avLst>
              <a:gd name="adj" fmla="val 12941"/>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database.png"/>
          <p:cNvPicPr>
            <a:picLocks noChangeAspect="1"/>
          </p:cNvPicPr>
          <p:nvPr/>
        </p:nvPicPr>
        <p:blipFill>
          <a:blip r:embed="rId4"/>
          <a:stretch>
            <a:fillRect/>
          </a:stretch>
        </p:blipFill>
        <p:spPr>
          <a:xfrm>
            <a:off x="6831025" y="2746858"/>
            <a:ext cx="404165" cy="404165"/>
          </a:xfrm>
          <a:prstGeom prst="rect">
            <a:avLst/>
          </a:prstGeom>
        </p:spPr>
      </p:pic>
      <p:sp>
        <p:nvSpPr>
          <p:cNvPr id="13" name="Text 9"/>
          <p:cNvSpPr/>
          <p:nvPr/>
        </p:nvSpPr>
        <p:spPr>
          <a:xfrm>
            <a:off x="7650328" y="2651760"/>
            <a:ext cx="3700120" cy="640080"/>
          </a:xfrm>
          <a:prstGeom prst="rect">
            <a:avLst/>
          </a:prstGeom>
          <a:noFill/>
          <a:ln/>
        </p:spPr>
        <p:txBody>
          <a:bodyPr wrap="square" rtlCol="0" anchor="ctr"/>
          <a:lstStyle/>
          <a:p>
            <a:pPr marL="0" indent="0">
              <a:buNone/>
            </a:pPr>
            <a:r>
              <a:rPr lang="en-US" sz="2300" b="1" dirty="0">
                <a:solidFill>
                  <a:srgbClr val="F3F6FB"/>
                </a:solidFill>
                <a:latin typeface="Segoe UI Semibold" pitchFamily="34" charset="0"/>
                <a:ea typeface="Segoe UI Semibold" pitchFamily="34" charset="-122"/>
                <a:cs typeface="Segoe UI Semibold" pitchFamily="34" charset="-120"/>
              </a:rPr>
              <a:t>Every system, out</a:t>
            </a:r>
            <a:endParaRPr lang="en-US" sz="2300" dirty="0"/>
          </a:p>
        </p:txBody>
      </p:sp>
      <p:sp>
        <p:nvSpPr>
          <p:cNvPr id="14" name="Text 10"/>
          <p:cNvSpPr/>
          <p:nvPr/>
        </p:nvSpPr>
        <p:spPr>
          <a:xfrm>
            <a:off x="6644488" y="3657600"/>
            <a:ext cx="4614520" cy="1325880"/>
          </a:xfrm>
          <a:prstGeom prst="rect">
            <a:avLst/>
          </a:prstGeom>
          <a:noFill/>
          <a:ln/>
        </p:spPr>
        <p:txBody>
          <a:bodyPr wrap="square" rtlCol="0" anchor="t"/>
          <a:lstStyle/>
          <a:p>
            <a:pPr marL="0" indent="0">
              <a:lnSpc>
                <a:spcPct val="130000"/>
              </a:lnSpc>
              <a:buNone/>
            </a:pPr>
            <a:r>
              <a:rPr lang="en-US" sz="1550" dirty="0">
                <a:solidFill>
                  <a:srgbClr val="AAB6C7"/>
                </a:solidFill>
                <a:latin typeface="Segoe UI" pitchFamily="34" charset="0"/>
                <a:ea typeface="Segoe UI" pitchFamily="34" charset="-122"/>
                <a:cs typeface="Segoe UI" pitchFamily="34" charset="-120"/>
              </a:rPr>
              <a:t>Push the curated data into SAP ECC and S/4HANA, or any non-SAP system, database, website or analytics tool. Any protocol you use: API, ODATA, SFTP, email, Excel add-in. Push it or let them pull it.</a:t>
            </a:r>
            <a:endParaRPr lang="en-US" sz="1550" dirty="0"/>
          </a:p>
        </p:txBody>
      </p:sp>
      <p:sp>
        <p:nvSpPr>
          <p:cNvPr id="15" name="Text 1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16" name="Text 1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04 / 12</a:t>
            </a:r>
            <a:endParaRPr lang="en-US" sz="900" dirty="0"/>
          </a:p>
        </p:txBody>
      </p:sp>
      <p:sp>
        <p:nvSpPr>
          <p:cNvPr id="17" name="Shape 1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963946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One hub between your sources and your systems.</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venue.png"/>
          <p:cNvPicPr>
            <a:picLocks noChangeAspect="1"/>
          </p:cNvPicPr>
          <p:nvPr/>
        </p:nvPicPr>
        <p:blipFill>
          <a:blip r:embed="rId3"/>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Sources &amp; feeds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Bloomberg, Refinitiv,</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360T, OANDA, central</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banks, websites, internal</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txBody>
          <a:bodyPr/>
          <a:lstStyle/>
          <a:p>
            <a:endParaRPr lang="en-US"/>
          </a:p>
        </p:txBody>
      </p:sp>
      <p:pic>
        <p:nvPicPr>
          <p:cNvPr id="11" name="Image 1" descr="C:/Users/neuma_p1qrsic/Repo/agentic-ops1/.scratch/logo/favicon.png"/>
          <p:cNvPicPr>
            <a:picLocks noChangeAspect="1"/>
          </p:cNvPicPr>
          <p:nvPr/>
        </p:nvPicPr>
        <p:blipFill>
          <a:blip r:embed="rId4"/>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marL="0" indent="0" algn="ctr">
              <a:buNone/>
            </a:pPr>
            <a:r>
              <a:rPr lang="en-US" sz="2000" b="1" dirty="0">
                <a:solidFill>
                  <a:srgbClr val="F3F6FB"/>
                </a:solidFill>
                <a:latin typeface="Segoe UI Semibold" pitchFamily="34" charset="0"/>
                <a:ea typeface="Segoe UI Semibold" pitchFamily="34" charset="-122"/>
                <a:cs typeface="Segoe UI Semibold" pitchFamily="34" charset="-120"/>
              </a:rPr>
              <a:t>Market Data Hub</a:t>
            </a:r>
            <a:endParaRPr lang="en-US" sz="2000" dirty="0"/>
          </a:p>
        </p:txBody>
      </p:sp>
      <p:sp>
        <p:nvSpPr>
          <p:cNvPr id="13" name="Text 9"/>
          <p:cNvSpPr/>
          <p:nvPr/>
        </p:nvSpPr>
        <p:spPr>
          <a:xfrm>
            <a:off x="4087368" y="3447288"/>
            <a:ext cx="3566160" cy="320040"/>
          </a:xfrm>
          <a:prstGeom prst="rect">
            <a:avLst/>
          </a:prstGeom>
          <a:noFill/>
          <a:ln/>
        </p:spPr>
        <p:txBody>
          <a:bodyPr wrap="square" rtlCol="0" anchor="ctr"/>
          <a:lstStyle/>
          <a:p>
            <a:pPr marL="0" indent="0" algn="ctr">
              <a:buNone/>
            </a:pPr>
            <a:r>
              <a:rPr lang="en-US" sz="1350" dirty="0">
                <a:solidFill>
                  <a:srgbClr val="3BE3E0"/>
                </a:solidFill>
                <a:latin typeface="Segoe UI" pitchFamily="34" charset="0"/>
                <a:ea typeface="Segoe UI" pitchFamily="34" charset="-122"/>
                <a:cs typeface="Segoe UI" pitchFamily="34" charset="-120"/>
              </a:rPr>
              <a:t>one app 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algn="ctr">
              <a:lnSpc>
                <a:spcPct val="110000"/>
              </a:lnSpc>
            </a:pPr>
            <a:r>
              <a:rPr lang="en-US" sz="1200" dirty="0">
                <a:solidFill>
                  <a:srgbClr val="AAB6C7"/>
                </a:solidFill>
                <a:latin typeface="Segoe UI" pitchFamily="34" charset="0"/>
                <a:ea typeface="Segoe UI" pitchFamily="34" charset="-122"/>
                <a:cs typeface="Segoe UI" pitchFamily="34" charset="-120"/>
              </a:rPr>
              <a:t>anomaly </a:t>
            </a:r>
            <a:r>
              <a:rPr lang="en-US" sz="1200" dirty="0" err="1">
                <a:solidFill>
                  <a:srgbClr val="AAB6C7"/>
                </a:solidFill>
                <a:latin typeface="Segoe UI" pitchFamily="34" charset="0"/>
                <a:ea typeface="Segoe UI" pitchFamily="34" charset="-122"/>
                <a:cs typeface="Segoe UI" pitchFamily="34" charset="-120"/>
              </a:rPr>
              <a:t>checks・data</a:t>
            </a:r>
            <a:r>
              <a:rPr lang="en-US" sz="1200" dirty="0">
                <a:solidFill>
                  <a:srgbClr val="AAB6C7"/>
                </a:solidFill>
                <a:latin typeface="Segoe UI" pitchFamily="34" charset="0"/>
                <a:ea typeface="Segoe UI" pitchFamily="34" charset="-122"/>
                <a:cs typeface="Segoe UI" pitchFamily="34" charset="-120"/>
              </a:rPr>
              <a:t> </a:t>
            </a:r>
            <a:r>
              <a:rPr lang="en-US" sz="1200" dirty="0" err="1">
                <a:solidFill>
                  <a:srgbClr val="AAB6C7"/>
                </a:solidFill>
                <a:latin typeface="Segoe UI" pitchFamily="34" charset="0"/>
                <a:ea typeface="Segoe UI" pitchFamily="34" charset="-122"/>
                <a:cs typeface="Segoe UI" pitchFamily="34" charset="-120"/>
              </a:rPr>
              <a:t>quality・calculations</a:t>
            </a:r>
            <a:endParaRPr lang="en-US" sz="1200" dirty="0"/>
          </a:p>
          <a:p>
            <a:pPr algn="ctr">
              <a:lnSpc>
                <a:spcPct val="110000"/>
              </a:lnSpc>
            </a:pPr>
            <a:r>
              <a:rPr lang="en-US" sz="1200" dirty="0">
                <a:solidFill>
                  <a:srgbClr val="AAB6C7"/>
                </a:solidFill>
                <a:latin typeface="Segoe UI" pitchFamily="34" charset="0"/>
                <a:ea typeface="Segoe UI" pitchFamily="34" charset="-122"/>
                <a:cs typeface="Segoe UI" pitchFamily="34" charset="-120"/>
              </a:rPr>
              <a:t>audit logs ・ integration monitor</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database.png"/>
          <p:cNvPicPr>
            <a:picLocks noChangeAspect="1"/>
          </p:cNvPicPr>
          <p:nvPr/>
        </p:nvPicPr>
        <p:blipFill>
          <a:blip r:embed="rId5"/>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Systems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SAP ECC, S/4HANA,</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non-SAP apps, databases,</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websites, Analytics Cloud</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txBody>
          <a:bodyPr/>
          <a:lstStyle/>
          <a:p>
            <a:endParaRPr lang="en-US"/>
          </a:p>
        </p:txBody>
      </p:sp>
      <p:pic>
        <p:nvPicPr>
          <p:cNvPr id="23" name="Image 3" descr="C:/Users/neuma_p1qrsic/Repo/agentic-ops1/.scratch/icons/shield.png"/>
          <p:cNvPicPr>
            <a:picLocks noChangeAspect="1"/>
          </p:cNvPicPr>
          <p:nvPr/>
        </p:nvPicPr>
        <p:blipFill>
          <a:blip r:embed="rId6"/>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marL="0" indent="0">
              <a:lnSpc>
                <a:spcPct val="110000"/>
              </a:lnSpc>
              <a:buNone/>
            </a:pPr>
            <a:r>
              <a:rPr lang="en-US" sz="1350" dirty="0">
                <a:solidFill>
                  <a:srgbClr val="F3F6FB"/>
                </a:solidFill>
                <a:latin typeface="Segoe UI" pitchFamily="34" charset="0"/>
                <a:ea typeface="Segoe UI" pitchFamily="34" charset="-122"/>
                <a:cs typeface="Segoe UI" pitchFamily="34" charset="-120"/>
              </a:rPr>
              <a:t>Every value is validated, checked for anomalies and logged: a full audit trail, segregation of duty, no-code rules, ISO 27001 and SOC 1.</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05 / 12</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WORKS</a:t>
            </a:r>
            <a:endParaRPr lang="en-US" sz="1200" dirty="0"/>
          </a:p>
        </p:txBody>
      </p:sp>
      <p:sp>
        <p:nvSpPr>
          <p:cNvPr id="4" name="Text 2"/>
          <p:cNvSpPr/>
          <p:nvPr/>
        </p:nvSpPr>
        <p:spPr>
          <a:xfrm>
            <a:off x="566928" y="960120"/>
            <a:ext cx="100584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Six steps, from the source to your systems.</a:t>
            </a:r>
            <a:endParaRPr lang="en-US" sz="2900" dirty="0"/>
          </a:p>
        </p:txBody>
      </p:sp>
      <p:sp>
        <p:nvSpPr>
          <p:cNvPr id="5" name="Shape 3"/>
          <p:cNvSpPr/>
          <p:nvPr/>
        </p:nvSpPr>
        <p:spPr>
          <a:xfrm>
            <a:off x="566928" y="2697480"/>
            <a:ext cx="1660093" cy="2514600"/>
          </a:xfrm>
          <a:prstGeom prst="roundRect">
            <a:avLst>
              <a:gd name="adj" fmla="val 4957"/>
            </a:avLst>
          </a:prstGeom>
          <a:solidFill>
            <a:srgbClr val="141A25"/>
          </a:solidFill>
          <a:ln w="19050">
            <a:solidFill>
              <a:srgbClr val="3BE3E0"/>
            </a:solidFill>
            <a:prstDash val="solid"/>
          </a:ln>
        </p:spPr>
        <p:txBody>
          <a:bodyPr/>
          <a:lstStyle/>
          <a:p>
            <a:endParaRPr lang="en-US"/>
          </a:p>
        </p:txBody>
      </p:sp>
      <p:sp>
        <p:nvSpPr>
          <p:cNvPr id="7" name="Text 4"/>
          <p:cNvSpPr/>
          <p:nvPr/>
        </p:nvSpPr>
        <p:spPr>
          <a:xfrm>
            <a:off x="566928" y="3867912"/>
            <a:ext cx="1660093" cy="365760"/>
          </a:xfrm>
          <a:prstGeom prst="rect">
            <a:avLst/>
          </a:prstGeom>
          <a:noFill/>
          <a:ln/>
        </p:spPr>
        <p:txBody>
          <a:bodyPr wrap="square" rtlCol="0" anchor="ctr"/>
          <a:lstStyle/>
          <a:p>
            <a:pPr marL="0" indent="0" algn="ctr">
              <a:buNone/>
            </a:pPr>
            <a:r>
              <a:rPr lang="en-US" sz="1200" b="1" dirty="0">
                <a:solidFill>
                  <a:srgbClr val="3BE3E0"/>
                </a:solidFill>
                <a:latin typeface="Segoe UI" pitchFamily="34" charset="0"/>
                <a:ea typeface="Segoe UI" pitchFamily="34" charset="-122"/>
                <a:cs typeface="Segoe UI" pitchFamily="34" charset="-120"/>
              </a:rPr>
              <a:t>01</a:t>
            </a:r>
            <a:endParaRPr lang="en-US" sz="1200" dirty="0"/>
          </a:p>
        </p:txBody>
      </p:sp>
      <p:sp>
        <p:nvSpPr>
          <p:cNvPr id="8" name="Text 5"/>
          <p:cNvSpPr/>
          <p:nvPr/>
        </p:nvSpPr>
        <p:spPr>
          <a:xfrm>
            <a:off x="566928" y="4233672"/>
            <a:ext cx="1660093" cy="457200"/>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Ingest</a:t>
            </a:r>
            <a:endParaRPr lang="en-US" sz="1450" dirty="0"/>
          </a:p>
        </p:txBody>
      </p:sp>
      <p:sp>
        <p:nvSpPr>
          <p:cNvPr id="9" name="Text 6"/>
          <p:cNvSpPr/>
          <p:nvPr/>
        </p:nvSpPr>
        <p:spPr>
          <a:xfrm>
            <a:off x="2190445" y="3662172"/>
            <a:ext cx="292608" cy="585216"/>
          </a:xfrm>
          <a:prstGeom prst="rect">
            <a:avLst/>
          </a:prstGeom>
          <a:noFill/>
          <a:ln/>
        </p:spPr>
        <p:txBody>
          <a:bodyPr wrap="square" rtlCol="0" anchor="ctr"/>
          <a:lstStyle/>
          <a:p>
            <a:pPr marL="0" indent="0" algn="ctr">
              <a:buNone/>
            </a:pPr>
            <a:r>
              <a:rPr lang="en-US" sz="2400" b="1" dirty="0">
                <a:solidFill>
                  <a:srgbClr val="3BE3E0"/>
                </a:solidFill>
                <a:latin typeface="Segoe UI" pitchFamily="34" charset="0"/>
                <a:ea typeface="Segoe UI" pitchFamily="34" charset="-122"/>
                <a:cs typeface="Segoe UI" pitchFamily="34" charset="-120"/>
              </a:rPr>
              <a:t>›</a:t>
            </a:r>
            <a:endParaRPr lang="en-US" sz="2400" dirty="0"/>
          </a:p>
        </p:txBody>
      </p:sp>
      <p:sp>
        <p:nvSpPr>
          <p:cNvPr id="10" name="Shape 7"/>
          <p:cNvSpPr/>
          <p:nvPr/>
        </p:nvSpPr>
        <p:spPr>
          <a:xfrm>
            <a:off x="2446477" y="2697480"/>
            <a:ext cx="1660093" cy="2514600"/>
          </a:xfrm>
          <a:prstGeom prst="roundRect">
            <a:avLst>
              <a:gd name="adj" fmla="val 4957"/>
            </a:avLst>
          </a:prstGeom>
          <a:solidFill>
            <a:srgbClr val="141A25"/>
          </a:solidFill>
          <a:ln w="19050">
            <a:solidFill>
              <a:srgbClr val="3BE3E0"/>
            </a:solidFill>
            <a:prstDash val="solid"/>
          </a:ln>
        </p:spPr>
        <p:txBody>
          <a:bodyPr/>
          <a:lstStyle/>
          <a:p>
            <a:endParaRPr lang="en-US"/>
          </a:p>
        </p:txBody>
      </p:sp>
      <p:sp>
        <p:nvSpPr>
          <p:cNvPr id="12" name="Text 8"/>
          <p:cNvSpPr/>
          <p:nvPr/>
        </p:nvSpPr>
        <p:spPr>
          <a:xfrm>
            <a:off x="2446477" y="3867912"/>
            <a:ext cx="1660093" cy="365760"/>
          </a:xfrm>
          <a:prstGeom prst="rect">
            <a:avLst/>
          </a:prstGeom>
          <a:noFill/>
          <a:ln/>
        </p:spPr>
        <p:txBody>
          <a:bodyPr wrap="square" rtlCol="0" anchor="ctr"/>
          <a:lstStyle/>
          <a:p>
            <a:pPr marL="0" indent="0" algn="ctr">
              <a:buNone/>
            </a:pPr>
            <a:r>
              <a:rPr lang="en-US" sz="1200" b="1" dirty="0">
                <a:solidFill>
                  <a:srgbClr val="3BE3E0"/>
                </a:solidFill>
                <a:latin typeface="Segoe UI" pitchFamily="34" charset="0"/>
                <a:ea typeface="Segoe UI" pitchFamily="34" charset="-122"/>
                <a:cs typeface="Segoe UI" pitchFamily="34" charset="-120"/>
              </a:rPr>
              <a:t>02</a:t>
            </a:r>
            <a:endParaRPr lang="en-US" sz="1200" dirty="0"/>
          </a:p>
        </p:txBody>
      </p:sp>
      <p:sp>
        <p:nvSpPr>
          <p:cNvPr id="13" name="Text 9"/>
          <p:cNvSpPr/>
          <p:nvPr/>
        </p:nvSpPr>
        <p:spPr>
          <a:xfrm>
            <a:off x="2446477" y="4233672"/>
            <a:ext cx="1660093" cy="457200"/>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Validate</a:t>
            </a:r>
            <a:endParaRPr lang="en-US" sz="1450" dirty="0"/>
          </a:p>
        </p:txBody>
      </p:sp>
      <p:sp>
        <p:nvSpPr>
          <p:cNvPr id="14" name="Text 10"/>
          <p:cNvSpPr/>
          <p:nvPr/>
        </p:nvSpPr>
        <p:spPr>
          <a:xfrm>
            <a:off x="4069994" y="3662172"/>
            <a:ext cx="292608" cy="585216"/>
          </a:xfrm>
          <a:prstGeom prst="rect">
            <a:avLst/>
          </a:prstGeom>
          <a:noFill/>
          <a:ln/>
        </p:spPr>
        <p:txBody>
          <a:bodyPr wrap="square" rtlCol="0" anchor="ctr"/>
          <a:lstStyle/>
          <a:p>
            <a:pPr marL="0" indent="0" algn="ctr">
              <a:buNone/>
            </a:pPr>
            <a:r>
              <a:rPr lang="en-US" sz="2400" b="1" dirty="0">
                <a:solidFill>
                  <a:srgbClr val="4EA8DE"/>
                </a:solidFill>
                <a:latin typeface="Segoe UI" pitchFamily="34" charset="0"/>
                <a:ea typeface="Segoe UI" pitchFamily="34" charset="-122"/>
                <a:cs typeface="Segoe UI" pitchFamily="34" charset="-120"/>
              </a:rPr>
              <a:t>›</a:t>
            </a:r>
            <a:endParaRPr lang="en-US" sz="2400" dirty="0"/>
          </a:p>
        </p:txBody>
      </p:sp>
      <p:sp>
        <p:nvSpPr>
          <p:cNvPr id="15" name="Shape 11"/>
          <p:cNvSpPr/>
          <p:nvPr/>
        </p:nvSpPr>
        <p:spPr>
          <a:xfrm>
            <a:off x="4326026" y="2697480"/>
            <a:ext cx="1660093" cy="2514600"/>
          </a:xfrm>
          <a:prstGeom prst="roundRect">
            <a:avLst>
              <a:gd name="adj" fmla="val 4957"/>
            </a:avLst>
          </a:prstGeom>
          <a:solidFill>
            <a:srgbClr val="141A25"/>
          </a:solidFill>
          <a:ln w="19050">
            <a:solidFill>
              <a:srgbClr val="4EA8DE"/>
            </a:solidFill>
            <a:prstDash val="solid"/>
          </a:ln>
        </p:spPr>
        <p:txBody>
          <a:bodyPr/>
          <a:lstStyle/>
          <a:p>
            <a:endParaRPr lang="en-US"/>
          </a:p>
        </p:txBody>
      </p:sp>
      <p:sp>
        <p:nvSpPr>
          <p:cNvPr id="17" name="Text 12"/>
          <p:cNvSpPr/>
          <p:nvPr/>
        </p:nvSpPr>
        <p:spPr>
          <a:xfrm>
            <a:off x="4326026" y="3867912"/>
            <a:ext cx="1660093" cy="365760"/>
          </a:xfrm>
          <a:prstGeom prst="rect">
            <a:avLst/>
          </a:prstGeom>
          <a:noFill/>
          <a:ln/>
        </p:spPr>
        <p:txBody>
          <a:bodyPr wrap="square" rtlCol="0" anchor="ctr"/>
          <a:lstStyle/>
          <a:p>
            <a:pPr marL="0" indent="0" algn="ctr">
              <a:buNone/>
            </a:pPr>
            <a:r>
              <a:rPr lang="en-US" sz="1200" b="1" dirty="0">
                <a:solidFill>
                  <a:srgbClr val="4EA8DE"/>
                </a:solidFill>
                <a:latin typeface="Segoe UI" pitchFamily="34" charset="0"/>
                <a:ea typeface="Segoe UI" pitchFamily="34" charset="-122"/>
                <a:cs typeface="Segoe UI" pitchFamily="34" charset="-120"/>
              </a:rPr>
              <a:t>03</a:t>
            </a:r>
            <a:endParaRPr lang="en-US" sz="1200" dirty="0"/>
          </a:p>
        </p:txBody>
      </p:sp>
      <p:sp>
        <p:nvSpPr>
          <p:cNvPr id="18" name="Text 13"/>
          <p:cNvSpPr/>
          <p:nvPr/>
        </p:nvSpPr>
        <p:spPr>
          <a:xfrm>
            <a:off x="4326026" y="4233672"/>
            <a:ext cx="1660093" cy="457200"/>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Cleanse</a:t>
            </a:r>
            <a:endParaRPr lang="en-US" sz="1450" dirty="0"/>
          </a:p>
        </p:txBody>
      </p:sp>
      <p:sp>
        <p:nvSpPr>
          <p:cNvPr id="19" name="Text 14"/>
          <p:cNvSpPr/>
          <p:nvPr/>
        </p:nvSpPr>
        <p:spPr>
          <a:xfrm>
            <a:off x="5949544" y="3662172"/>
            <a:ext cx="292608" cy="585216"/>
          </a:xfrm>
          <a:prstGeom prst="rect">
            <a:avLst/>
          </a:prstGeom>
          <a:noFill/>
          <a:ln/>
        </p:spPr>
        <p:txBody>
          <a:bodyPr wrap="square" rtlCol="0" anchor="ctr"/>
          <a:lstStyle/>
          <a:p>
            <a:pPr marL="0" indent="0" algn="ctr">
              <a:buNone/>
            </a:pPr>
            <a:r>
              <a:rPr lang="en-US" sz="2400" b="1" dirty="0">
                <a:solidFill>
                  <a:srgbClr val="4EA8DE"/>
                </a:solidFill>
                <a:latin typeface="Segoe UI" pitchFamily="34" charset="0"/>
                <a:ea typeface="Segoe UI" pitchFamily="34" charset="-122"/>
                <a:cs typeface="Segoe UI" pitchFamily="34" charset="-120"/>
              </a:rPr>
              <a:t>›</a:t>
            </a:r>
            <a:endParaRPr lang="en-US" sz="2400" dirty="0"/>
          </a:p>
        </p:txBody>
      </p:sp>
      <p:sp>
        <p:nvSpPr>
          <p:cNvPr id="20" name="Shape 15"/>
          <p:cNvSpPr/>
          <p:nvPr/>
        </p:nvSpPr>
        <p:spPr>
          <a:xfrm>
            <a:off x="6205576" y="2697480"/>
            <a:ext cx="1660093" cy="2514600"/>
          </a:xfrm>
          <a:prstGeom prst="roundRect">
            <a:avLst>
              <a:gd name="adj" fmla="val 4957"/>
            </a:avLst>
          </a:prstGeom>
          <a:solidFill>
            <a:srgbClr val="141A25"/>
          </a:solidFill>
          <a:ln w="19050">
            <a:solidFill>
              <a:srgbClr val="4EA8DE"/>
            </a:solidFill>
            <a:prstDash val="solid"/>
          </a:ln>
        </p:spPr>
        <p:txBody>
          <a:bodyPr/>
          <a:lstStyle/>
          <a:p>
            <a:endParaRPr lang="en-US"/>
          </a:p>
        </p:txBody>
      </p:sp>
      <p:sp>
        <p:nvSpPr>
          <p:cNvPr id="22" name="Text 16"/>
          <p:cNvSpPr/>
          <p:nvPr/>
        </p:nvSpPr>
        <p:spPr>
          <a:xfrm>
            <a:off x="6205576" y="3867912"/>
            <a:ext cx="1660093" cy="365760"/>
          </a:xfrm>
          <a:prstGeom prst="rect">
            <a:avLst/>
          </a:prstGeom>
          <a:noFill/>
          <a:ln/>
        </p:spPr>
        <p:txBody>
          <a:bodyPr wrap="square" rtlCol="0" anchor="ctr"/>
          <a:lstStyle/>
          <a:p>
            <a:pPr marL="0" indent="0" algn="ctr">
              <a:buNone/>
            </a:pPr>
            <a:r>
              <a:rPr lang="en-US" sz="1200" b="1" dirty="0">
                <a:solidFill>
                  <a:srgbClr val="4EA8DE"/>
                </a:solidFill>
                <a:latin typeface="Segoe UI" pitchFamily="34" charset="0"/>
                <a:ea typeface="Segoe UI" pitchFamily="34" charset="-122"/>
                <a:cs typeface="Segoe UI" pitchFamily="34" charset="-120"/>
              </a:rPr>
              <a:t>04</a:t>
            </a:r>
            <a:endParaRPr lang="en-US" sz="1200" dirty="0"/>
          </a:p>
        </p:txBody>
      </p:sp>
      <p:sp>
        <p:nvSpPr>
          <p:cNvPr id="23" name="Text 17"/>
          <p:cNvSpPr/>
          <p:nvPr/>
        </p:nvSpPr>
        <p:spPr>
          <a:xfrm>
            <a:off x="6205576" y="4233672"/>
            <a:ext cx="1660093" cy="457200"/>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Transform</a:t>
            </a:r>
            <a:endParaRPr lang="en-US" sz="1450" dirty="0"/>
          </a:p>
        </p:txBody>
      </p:sp>
      <p:sp>
        <p:nvSpPr>
          <p:cNvPr id="24" name="Text 18"/>
          <p:cNvSpPr/>
          <p:nvPr/>
        </p:nvSpPr>
        <p:spPr>
          <a:xfrm>
            <a:off x="7829093" y="3662172"/>
            <a:ext cx="292608" cy="585216"/>
          </a:xfrm>
          <a:prstGeom prst="rect">
            <a:avLst/>
          </a:prstGeom>
          <a:noFill/>
          <a:ln/>
        </p:spPr>
        <p:txBody>
          <a:bodyPr wrap="square" rtlCol="0" anchor="ctr"/>
          <a:lstStyle/>
          <a:p>
            <a:pPr marL="0" indent="0" algn="ctr">
              <a:buNone/>
            </a:pPr>
            <a:r>
              <a:rPr lang="en-US" sz="2400" b="1" dirty="0">
                <a:solidFill>
                  <a:srgbClr val="46D9A0"/>
                </a:solidFill>
                <a:latin typeface="Segoe UI" pitchFamily="34" charset="0"/>
                <a:ea typeface="Segoe UI" pitchFamily="34" charset="-122"/>
                <a:cs typeface="Segoe UI" pitchFamily="34" charset="-120"/>
              </a:rPr>
              <a:t>›</a:t>
            </a:r>
            <a:endParaRPr lang="en-US" sz="2400" dirty="0"/>
          </a:p>
        </p:txBody>
      </p:sp>
      <p:sp>
        <p:nvSpPr>
          <p:cNvPr id="25" name="Shape 19"/>
          <p:cNvSpPr/>
          <p:nvPr/>
        </p:nvSpPr>
        <p:spPr>
          <a:xfrm>
            <a:off x="8085125" y="2697480"/>
            <a:ext cx="1660093" cy="2514600"/>
          </a:xfrm>
          <a:prstGeom prst="roundRect">
            <a:avLst>
              <a:gd name="adj" fmla="val 4957"/>
            </a:avLst>
          </a:prstGeom>
          <a:solidFill>
            <a:srgbClr val="141A25"/>
          </a:solidFill>
          <a:ln w="19050">
            <a:solidFill>
              <a:srgbClr val="46D9A0"/>
            </a:solidFill>
            <a:prstDash val="solid"/>
          </a:ln>
        </p:spPr>
        <p:txBody>
          <a:bodyPr/>
          <a:lstStyle/>
          <a:p>
            <a:endParaRPr lang="en-US"/>
          </a:p>
        </p:txBody>
      </p:sp>
      <p:sp>
        <p:nvSpPr>
          <p:cNvPr id="27" name="Text 20"/>
          <p:cNvSpPr/>
          <p:nvPr/>
        </p:nvSpPr>
        <p:spPr>
          <a:xfrm>
            <a:off x="8085125" y="3867912"/>
            <a:ext cx="1660093" cy="365760"/>
          </a:xfrm>
          <a:prstGeom prst="rect">
            <a:avLst/>
          </a:prstGeom>
          <a:noFill/>
          <a:ln/>
        </p:spPr>
        <p:txBody>
          <a:bodyPr wrap="square" rtlCol="0" anchor="ctr"/>
          <a:lstStyle/>
          <a:p>
            <a:pPr marL="0" indent="0" algn="ctr">
              <a:buNone/>
            </a:pPr>
            <a:r>
              <a:rPr lang="en-US" sz="1200" b="1" dirty="0">
                <a:solidFill>
                  <a:srgbClr val="46D9A0"/>
                </a:solidFill>
                <a:latin typeface="Segoe UI" pitchFamily="34" charset="0"/>
                <a:ea typeface="Segoe UI" pitchFamily="34" charset="-122"/>
                <a:cs typeface="Segoe UI" pitchFamily="34" charset="-120"/>
              </a:rPr>
              <a:t>05</a:t>
            </a:r>
            <a:endParaRPr lang="en-US" sz="1200" dirty="0"/>
          </a:p>
        </p:txBody>
      </p:sp>
      <p:sp>
        <p:nvSpPr>
          <p:cNvPr id="28" name="Text 21"/>
          <p:cNvSpPr/>
          <p:nvPr/>
        </p:nvSpPr>
        <p:spPr>
          <a:xfrm>
            <a:off x="8085125" y="4233672"/>
            <a:ext cx="1660093" cy="457200"/>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Govern</a:t>
            </a:r>
            <a:endParaRPr lang="en-US" sz="1450" dirty="0"/>
          </a:p>
        </p:txBody>
      </p:sp>
      <p:sp>
        <p:nvSpPr>
          <p:cNvPr id="29" name="Text 22"/>
          <p:cNvSpPr/>
          <p:nvPr/>
        </p:nvSpPr>
        <p:spPr>
          <a:xfrm>
            <a:off x="9708642" y="3662172"/>
            <a:ext cx="292608" cy="585216"/>
          </a:xfrm>
          <a:prstGeom prst="rect">
            <a:avLst/>
          </a:prstGeom>
          <a:noFill/>
          <a:ln/>
        </p:spPr>
        <p:txBody>
          <a:bodyPr wrap="square" rtlCol="0" anchor="ctr"/>
          <a:lstStyle/>
          <a:p>
            <a:pPr marL="0" indent="0" algn="ctr">
              <a:buNone/>
            </a:pPr>
            <a:r>
              <a:rPr lang="en-US" sz="2400" b="1" dirty="0">
                <a:solidFill>
                  <a:srgbClr val="46D9A0"/>
                </a:solidFill>
                <a:latin typeface="Segoe UI" pitchFamily="34" charset="0"/>
                <a:ea typeface="Segoe UI" pitchFamily="34" charset="-122"/>
                <a:cs typeface="Segoe UI" pitchFamily="34" charset="-120"/>
              </a:rPr>
              <a:t>›</a:t>
            </a:r>
            <a:endParaRPr lang="en-US" sz="2400" dirty="0"/>
          </a:p>
        </p:txBody>
      </p:sp>
      <p:sp>
        <p:nvSpPr>
          <p:cNvPr id="30" name="Shape 23"/>
          <p:cNvSpPr/>
          <p:nvPr/>
        </p:nvSpPr>
        <p:spPr>
          <a:xfrm>
            <a:off x="9964674" y="2697480"/>
            <a:ext cx="1660093" cy="2514600"/>
          </a:xfrm>
          <a:prstGeom prst="roundRect">
            <a:avLst>
              <a:gd name="adj" fmla="val 4957"/>
            </a:avLst>
          </a:prstGeom>
          <a:solidFill>
            <a:srgbClr val="141A25"/>
          </a:solidFill>
          <a:ln w="19050">
            <a:solidFill>
              <a:srgbClr val="46D9A0"/>
            </a:solidFill>
            <a:prstDash val="solid"/>
          </a:ln>
        </p:spPr>
        <p:txBody>
          <a:bodyPr/>
          <a:lstStyle/>
          <a:p>
            <a:endParaRPr lang="en-US"/>
          </a:p>
        </p:txBody>
      </p:sp>
      <p:sp>
        <p:nvSpPr>
          <p:cNvPr id="32" name="Text 24"/>
          <p:cNvSpPr/>
          <p:nvPr/>
        </p:nvSpPr>
        <p:spPr>
          <a:xfrm>
            <a:off x="9964674" y="3867912"/>
            <a:ext cx="1660093" cy="365760"/>
          </a:xfrm>
          <a:prstGeom prst="rect">
            <a:avLst/>
          </a:prstGeom>
          <a:noFill/>
          <a:ln/>
        </p:spPr>
        <p:txBody>
          <a:bodyPr wrap="square" rtlCol="0" anchor="ctr"/>
          <a:lstStyle/>
          <a:p>
            <a:pPr marL="0" indent="0" algn="ctr">
              <a:buNone/>
            </a:pPr>
            <a:r>
              <a:rPr lang="en-US" sz="1200" b="1" dirty="0">
                <a:solidFill>
                  <a:srgbClr val="46D9A0"/>
                </a:solidFill>
                <a:latin typeface="Segoe UI" pitchFamily="34" charset="0"/>
                <a:ea typeface="Segoe UI" pitchFamily="34" charset="-122"/>
                <a:cs typeface="Segoe UI" pitchFamily="34" charset="-120"/>
              </a:rPr>
              <a:t>06</a:t>
            </a:r>
            <a:endParaRPr lang="en-US" sz="1200" dirty="0"/>
          </a:p>
        </p:txBody>
      </p:sp>
      <p:sp>
        <p:nvSpPr>
          <p:cNvPr id="33" name="Text 25"/>
          <p:cNvSpPr/>
          <p:nvPr/>
        </p:nvSpPr>
        <p:spPr>
          <a:xfrm>
            <a:off x="9964674" y="4233672"/>
            <a:ext cx="1660093" cy="457200"/>
          </a:xfrm>
          <a:prstGeom prst="rect">
            <a:avLst/>
          </a:prstGeom>
          <a:noFill/>
          <a:ln/>
        </p:spPr>
        <p:txBody>
          <a:bodyPr wrap="square" rtlCol="0" anchor="ctr"/>
          <a:lstStyle/>
          <a:p>
            <a:pPr marL="0" indent="0" algn="ctr">
              <a:buNone/>
            </a:pPr>
            <a:r>
              <a:rPr lang="en-US" sz="1450" b="1" dirty="0">
                <a:solidFill>
                  <a:srgbClr val="F3F6FB"/>
                </a:solidFill>
                <a:latin typeface="Segoe UI Semibold" pitchFamily="34" charset="0"/>
                <a:ea typeface="Segoe UI Semibold" pitchFamily="34" charset="-122"/>
                <a:cs typeface="Segoe UI Semibold" pitchFamily="34" charset="-120"/>
              </a:rPr>
              <a:t>Distribute</a:t>
            </a:r>
            <a:endParaRPr lang="en-US" sz="1450" dirty="0"/>
          </a:p>
        </p:txBody>
      </p:sp>
      <p:sp>
        <p:nvSpPr>
          <p:cNvPr id="34" name="Text 26"/>
          <p:cNvSpPr/>
          <p:nvPr/>
        </p:nvSpPr>
        <p:spPr>
          <a:xfrm>
            <a:off x="566928" y="5532120"/>
            <a:ext cx="11057839" cy="457200"/>
          </a:xfrm>
          <a:prstGeom prst="rect">
            <a:avLst/>
          </a:prstGeom>
          <a:noFill/>
          <a:ln/>
        </p:spPr>
        <p:txBody>
          <a:bodyPr wrap="square" rtlCol="0" anchor="ctr"/>
          <a:lstStyle/>
          <a:p>
            <a:pPr marL="0" indent="0">
              <a:buNone/>
            </a:pPr>
            <a:r>
              <a:rPr lang="en-US" sz="1500" dirty="0">
                <a:solidFill>
                  <a:srgbClr val="AAB6C7"/>
                </a:solidFill>
                <a:latin typeface="Segoe UI" pitchFamily="34" charset="0"/>
                <a:ea typeface="Segoe UI" pitchFamily="34" charset="-122"/>
                <a:cs typeface="Segoe UI" pitchFamily="34" charset="-120"/>
              </a:rPr>
              <a:t>Each step runs on a schedule or on demand, on its own or with a person in the loop. Everything is logged.</a:t>
            </a:r>
            <a:endParaRPr lang="en-US" sz="1500" dirty="0"/>
          </a:p>
        </p:txBody>
      </p:sp>
      <p:sp>
        <p:nvSpPr>
          <p:cNvPr id="35" name="Text 2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06 / 12</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txBody>
          <a:bodyPr/>
          <a:lstStyle/>
          <a:p>
            <a:endParaRPr lang="en-US"/>
          </a:p>
        </p:txBody>
      </p:sp>
      <p:sp>
        <p:nvSpPr>
          <p:cNvPr id="101" name="Phase Label CAPTURE"/>
          <p:cNvSpPr txBox="1"/>
          <p:nvPr/>
        </p:nvSpPr>
        <p:spPr>
          <a:xfrm>
            <a:off x="571500" y="2387600"/>
            <a:ext cx="3543300" cy="254000"/>
          </a:xfrm>
          <a:prstGeom prst="rect">
            <a:avLst/>
          </a:prstGeom>
          <a:noFill/>
          <a:ln>
            <a:noFill/>
          </a:ln>
        </p:spPr>
        <p:txBody>
          <a:bodyPr wrap="square" lIns="0" tIns="0" rIns="0" bIns="0" anchor="ctr">
            <a:noAutofit/>
          </a:bodyPr>
          <a:lstStyle/>
          <a:p>
            <a:pPr algn="ctr">
              <a:buNone/>
            </a:pPr>
            <a:r>
              <a:rPr lang="en-US" sz="1100" b="1" kern="0" spc="200" dirty="0">
                <a:solidFill>
                  <a:srgbClr val="3BE3E0"/>
                </a:solidFill>
                <a:latin typeface="Segoe UI Semibold" pitchFamily="34" charset="0"/>
              </a:rPr>
              <a:t>CAPTURE</a:t>
            </a:r>
          </a:p>
        </p:txBody>
      </p:sp>
      <p:sp>
        <p:nvSpPr>
          <p:cNvPr id="102" name="Phase Bar CAPTURE"/>
          <p:cNvSpPr/>
          <p:nvPr/>
        </p:nvSpPr>
        <p:spPr>
          <a:xfrm>
            <a:off x="571500" y="2616200"/>
            <a:ext cx="3543300" cy="38100"/>
          </a:xfrm>
          <a:prstGeom prst="rect">
            <a:avLst/>
          </a:prstGeom>
          <a:solidFill>
            <a:srgbClr val="3BE3E0"/>
          </a:solidFill>
          <a:ln>
            <a:noFill/>
          </a:ln>
        </p:spPr>
        <p:txBody>
          <a:bodyPr/>
          <a:lstStyle/>
          <a:p>
            <a:endParaRPr/>
          </a:p>
        </p:txBody>
      </p:sp>
      <p:sp>
        <p:nvSpPr>
          <p:cNvPr id="103" name="Phase Label REFINE"/>
          <p:cNvSpPr txBox="1"/>
          <p:nvPr/>
        </p:nvSpPr>
        <p:spPr>
          <a:xfrm>
            <a:off x="4330700" y="2387600"/>
            <a:ext cx="3543300" cy="254000"/>
          </a:xfrm>
          <a:prstGeom prst="rect">
            <a:avLst/>
          </a:prstGeom>
          <a:noFill/>
          <a:ln>
            <a:noFill/>
          </a:ln>
        </p:spPr>
        <p:txBody>
          <a:bodyPr wrap="square" lIns="0" tIns="0" rIns="0" bIns="0" anchor="ctr">
            <a:noAutofit/>
          </a:bodyPr>
          <a:lstStyle/>
          <a:p>
            <a:pPr algn="ctr">
              <a:buNone/>
            </a:pPr>
            <a:r>
              <a:rPr lang="en-US" sz="1100" b="1" kern="0" spc="200" dirty="0">
                <a:solidFill>
                  <a:srgbClr val="4EA8DE"/>
                </a:solidFill>
                <a:latin typeface="Segoe UI Semibold" pitchFamily="34" charset="0"/>
              </a:rPr>
              <a:t>REFINE</a:t>
            </a:r>
          </a:p>
        </p:txBody>
      </p:sp>
      <p:sp>
        <p:nvSpPr>
          <p:cNvPr id="104" name="Phase Bar REFINE"/>
          <p:cNvSpPr/>
          <p:nvPr/>
        </p:nvSpPr>
        <p:spPr>
          <a:xfrm>
            <a:off x="4330700" y="2616200"/>
            <a:ext cx="3543300" cy="38100"/>
          </a:xfrm>
          <a:prstGeom prst="rect">
            <a:avLst/>
          </a:prstGeom>
          <a:solidFill>
            <a:srgbClr val="4EA8DE"/>
          </a:solidFill>
          <a:ln>
            <a:noFill/>
          </a:ln>
        </p:spPr>
        <p:txBody>
          <a:bodyPr/>
          <a:lstStyle/>
          <a:p>
            <a:endParaRPr/>
          </a:p>
        </p:txBody>
      </p:sp>
      <p:sp>
        <p:nvSpPr>
          <p:cNvPr id="105" name="Phase Label DELIVER"/>
          <p:cNvSpPr txBox="1"/>
          <p:nvPr/>
        </p:nvSpPr>
        <p:spPr>
          <a:xfrm>
            <a:off x="8089900" y="2387600"/>
            <a:ext cx="3543300" cy="254000"/>
          </a:xfrm>
          <a:prstGeom prst="rect">
            <a:avLst/>
          </a:prstGeom>
          <a:noFill/>
          <a:ln>
            <a:noFill/>
          </a:ln>
        </p:spPr>
        <p:txBody>
          <a:bodyPr wrap="square" lIns="0" tIns="0" rIns="0" bIns="0" anchor="ctr">
            <a:noAutofit/>
          </a:bodyPr>
          <a:lstStyle/>
          <a:p>
            <a:pPr algn="ctr">
              <a:buNone/>
            </a:pPr>
            <a:r>
              <a:rPr lang="en-US" sz="1100" b="1" kern="0" spc="200" dirty="0">
                <a:solidFill>
                  <a:srgbClr val="46D9A0"/>
                </a:solidFill>
                <a:latin typeface="Segoe UI Semibold" pitchFamily="34" charset="0"/>
              </a:rPr>
              <a:t>DELIVER</a:t>
            </a:r>
          </a:p>
        </p:txBody>
      </p:sp>
      <p:sp>
        <p:nvSpPr>
          <p:cNvPr id="106" name="Phase Bar DELIVER"/>
          <p:cNvSpPr/>
          <p:nvPr/>
        </p:nvSpPr>
        <p:spPr>
          <a:xfrm>
            <a:off x="8089900" y="2616200"/>
            <a:ext cx="3543300" cy="38100"/>
          </a:xfrm>
          <a:prstGeom prst="rect">
            <a:avLst/>
          </a:prstGeom>
          <a:solidFill>
            <a:srgbClr val="46D9A0"/>
          </a:solidFill>
          <a:ln>
            <a:noFill/>
          </a:ln>
        </p:spPr>
        <p:txBody>
          <a:bodyPr/>
          <a:lstStyle/>
          <a:p>
            <a:endParaRPr/>
          </a:p>
        </p:txBody>
      </p:sp>
      <p:pic>
        <p:nvPicPr>
          <p:cNvPr id="107" name="Graphic 107" descr="Inges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8070" y="3063240"/>
            <a:ext cx="657860" cy="657860"/>
          </a:xfrm>
          <a:prstGeom prst="rect">
            <a:avLst/>
          </a:prstGeom>
        </p:spPr>
      </p:pic>
      <p:pic>
        <p:nvPicPr>
          <p:cNvPr id="108" name="Graphic 108" descr="Validat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7670" y="3063240"/>
            <a:ext cx="657860" cy="657860"/>
          </a:xfrm>
          <a:prstGeom prst="rect">
            <a:avLst/>
          </a:prstGeom>
        </p:spPr>
      </p:pic>
      <p:pic>
        <p:nvPicPr>
          <p:cNvPr id="109" name="Graphic 109" descr="Cleans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27270" y="3063240"/>
            <a:ext cx="657860" cy="657860"/>
          </a:xfrm>
          <a:prstGeom prst="rect">
            <a:avLst/>
          </a:prstGeom>
        </p:spPr>
      </p:pic>
      <p:pic>
        <p:nvPicPr>
          <p:cNvPr id="111" name="Graphic 111" descr="Gover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86470" y="3063240"/>
            <a:ext cx="657860" cy="657860"/>
          </a:xfrm>
          <a:prstGeom prst="rect">
            <a:avLst/>
          </a:prstGeom>
        </p:spPr>
      </p:pic>
      <p:pic>
        <p:nvPicPr>
          <p:cNvPr id="112" name="Graphic 112" descr="Distribute"/>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66070" y="3063240"/>
            <a:ext cx="657860" cy="657860"/>
          </a:xfrm>
          <a:prstGeom prst="rect">
            <a:avLst/>
          </a:prstGeom>
        </p:spPr>
      </p:pic>
      <p:pic>
        <p:nvPicPr>
          <p:cNvPr id="113" name="Graphic 113" descr="Transform"/>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06870" y="3063240"/>
            <a:ext cx="657860" cy="657860"/>
          </a:xfrm>
          <a:prstGeom prst="rect">
            <a:avLst/>
          </a:prstGeom>
        </p:spPr>
      </p:pic>
    </p:spTree>
    <p:extLst>
      <p:ext uri="{BB962C8B-B14F-4D97-AF65-F5344CB8AC3E}">
        <p14:creationId xmlns:p14="http://schemas.microsoft.com/office/powerpoint/2010/main" val="1063657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WORKS · STEP 1 AND 2</a:t>
            </a:r>
            <a:endParaRPr lang="en-US" sz="1200" dirty="0"/>
          </a:p>
        </p:txBody>
      </p:sp>
      <p:sp>
        <p:nvSpPr>
          <p:cNvPr id="4" name="Text 2"/>
          <p:cNvSpPr/>
          <p:nvPr/>
        </p:nvSpPr>
        <p:spPr>
          <a:xfrm>
            <a:off x="566928" y="960120"/>
            <a:ext cx="1005840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Ingest, then validate.</a:t>
            </a:r>
            <a:endParaRPr lang="en-US" sz="2800" dirty="0"/>
          </a:p>
        </p:txBody>
      </p:sp>
      <p:sp>
        <p:nvSpPr>
          <p:cNvPr id="5" name="Shape 3"/>
          <p:cNvSpPr/>
          <p:nvPr/>
        </p:nvSpPr>
        <p:spPr>
          <a:xfrm>
            <a:off x="566928" y="2286000"/>
            <a:ext cx="5346040"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932688" y="2670048"/>
            <a:ext cx="822960" cy="822960"/>
          </a:xfrm>
          <a:prstGeom prst="roundRect">
            <a:avLst>
              <a:gd name="adj" fmla="val 12222"/>
            </a:avLst>
          </a:prstGeom>
          <a:solidFill>
            <a:srgbClr val="1A3841"/>
          </a:solidFill>
          <a:ln w="15240">
            <a:solidFill>
              <a:srgbClr val="3BE3E0"/>
            </a:solidFill>
            <a:prstDash val="solid"/>
          </a:ln>
        </p:spPr>
        <p:txBody>
          <a:bodyPr/>
          <a:lstStyle/>
          <a:p>
            <a:endParaRPr lang="en-US"/>
          </a:p>
        </p:txBody>
      </p:sp>
      <p:sp>
        <p:nvSpPr>
          <p:cNvPr id="8" name="Text 5"/>
          <p:cNvSpPr/>
          <p:nvPr/>
        </p:nvSpPr>
        <p:spPr>
          <a:xfrm>
            <a:off x="1984248" y="2670048"/>
            <a:ext cx="3608680" cy="822960"/>
          </a:xfrm>
          <a:prstGeom prst="rect">
            <a:avLst/>
          </a:prstGeom>
          <a:noFill/>
          <a:ln/>
        </p:spPr>
        <p:txBody>
          <a:bodyPr wrap="square" rtlCol="0" anchor="ctr"/>
          <a:lstStyle/>
          <a:p>
            <a:pPr marL="0" indent="0">
              <a:lnSpc>
                <a:spcPct val="105000"/>
              </a:lnSpc>
              <a:buNone/>
            </a:pPr>
            <a:r>
              <a:rPr lang="en-US" sz="1100" b="1" dirty="0">
                <a:solidFill>
                  <a:srgbClr val="3BE3E0"/>
                </a:solidFill>
                <a:latin typeface="Segoe UI Semibold" pitchFamily="34" charset="0"/>
                <a:ea typeface="Segoe UI Semibold" pitchFamily="34" charset="-122"/>
                <a:cs typeface="Segoe UI Semibold" pitchFamily="34" charset="-120"/>
              </a:rPr>
              <a:t>STEP 01
</a:t>
            </a:r>
            <a:r>
              <a:rPr lang="en-US" sz="2000" b="1" dirty="0">
                <a:solidFill>
                  <a:srgbClr val="F3F6FB"/>
                </a:solidFill>
                <a:latin typeface="Segoe UI Semibold" pitchFamily="34" charset="0"/>
                <a:ea typeface="Segoe UI Semibold" pitchFamily="34" charset="-122"/>
                <a:cs typeface="Segoe UI Semibold" pitchFamily="34" charset="-120"/>
              </a:rPr>
              <a:t>Ingest</a:t>
            </a:r>
            <a:endParaRPr lang="en-US" sz="1100" dirty="0"/>
          </a:p>
        </p:txBody>
      </p:sp>
      <p:sp>
        <p:nvSpPr>
          <p:cNvPr id="9" name="Text 6"/>
          <p:cNvSpPr/>
          <p:nvPr/>
        </p:nvSpPr>
        <p:spPr>
          <a:xfrm>
            <a:off x="932688" y="3703320"/>
            <a:ext cx="4614520" cy="1325880"/>
          </a:xfrm>
          <a:prstGeom prst="rect">
            <a:avLst/>
          </a:prstGeom>
          <a:noFill/>
          <a:ln/>
        </p:spPr>
        <p:txBody>
          <a:bodyPr wrap="square" rtlCol="0" anchor="t"/>
          <a:lstStyle/>
          <a:p>
            <a:pPr marL="0" indent="0">
              <a:lnSpc>
                <a:spcPct val="132000"/>
              </a:lnSpc>
              <a:buNone/>
            </a:pPr>
            <a:r>
              <a:rPr lang="en-US" sz="1550" dirty="0">
                <a:solidFill>
                  <a:srgbClr val="AAB6C7"/>
                </a:solidFill>
                <a:latin typeface="Segoe UI" pitchFamily="34" charset="0"/>
                <a:ea typeface="Segoe UI" pitchFamily="34" charset="-122"/>
                <a:cs typeface="Segoe UI" pitchFamily="34" charset="-120"/>
              </a:rPr>
              <a:t>Pull data from any source: market data providers, central banks, government agencies, websites, or your own systems. Any protocol, on a schedule or on demand.</a:t>
            </a:r>
            <a:endParaRPr lang="en-US" sz="1550" dirty="0"/>
          </a:p>
        </p:txBody>
      </p:sp>
      <p:sp>
        <p:nvSpPr>
          <p:cNvPr id="10" name="Shape 7"/>
          <p:cNvSpPr/>
          <p:nvPr/>
        </p:nvSpPr>
        <p:spPr>
          <a:xfrm>
            <a:off x="6278728" y="2286000"/>
            <a:ext cx="5346040"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644488" y="2670048"/>
            <a:ext cx="822960" cy="822960"/>
          </a:xfrm>
          <a:prstGeom prst="roundRect">
            <a:avLst>
              <a:gd name="adj" fmla="val 12222"/>
            </a:avLst>
          </a:prstGeom>
          <a:solidFill>
            <a:srgbClr val="1A3841"/>
          </a:solidFill>
          <a:ln w="15240">
            <a:solidFill>
              <a:srgbClr val="3BE3E0"/>
            </a:solidFill>
            <a:prstDash val="solid"/>
          </a:ln>
        </p:spPr>
        <p:txBody>
          <a:bodyPr/>
          <a:lstStyle/>
          <a:p>
            <a:endParaRPr lang="en-US"/>
          </a:p>
        </p:txBody>
      </p:sp>
      <p:sp>
        <p:nvSpPr>
          <p:cNvPr id="13" name="Text 9"/>
          <p:cNvSpPr/>
          <p:nvPr/>
        </p:nvSpPr>
        <p:spPr>
          <a:xfrm>
            <a:off x="7696048" y="2670048"/>
            <a:ext cx="3608680" cy="822960"/>
          </a:xfrm>
          <a:prstGeom prst="rect">
            <a:avLst/>
          </a:prstGeom>
          <a:noFill/>
          <a:ln/>
        </p:spPr>
        <p:txBody>
          <a:bodyPr wrap="square" rtlCol="0" anchor="ctr"/>
          <a:lstStyle/>
          <a:p>
            <a:pPr marL="0" indent="0">
              <a:lnSpc>
                <a:spcPct val="105000"/>
              </a:lnSpc>
              <a:buNone/>
            </a:pPr>
            <a:r>
              <a:rPr lang="en-US" sz="1100" b="1" dirty="0">
                <a:solidFill>
                  <a:srgbClr val="3BE3E0"/>
                </a:solidFill>
                <a:latin typeface="Segoe UI Semibold" pitchFamily="34" charset="0"/>
                <a:ea typeface="Segoe UI Semibold" pitchFamily="34" charset="-122"/>
                <a:cs typeface="Segoe UI Semibold" pitchFamily="34" charset="-120"/>
              </a:rPr>
              <a:t>STEP 02
</a:t>
            </a:r>
            <a:r>
              <a:rPr lang="en-US" sz="2000" b="1" dirty="0">
                <a:solidFill>
                  <a:srgbClr val="F3F6FB"/>
                </a:solidFill>
                <a:latin typeface="Segoe UI Semibold" pitchFamily="34" charset="0"/>
                <a:ea typeface="Segoe UI Semibold" pitchFamily="34" charset="-122"/>
                <a:cs typeface="Segoe UI Semibold" pitchFamily="34" charset="-120"/>
              </a:rPr>
              <a:t>Validate</a:t>
            </a:r>
            <a:endParaRPr lang="en-US" sz="1100" dirty="0"/>
          </a:p>
        </p:txBody>
      </p:sp>
      <p:sp>
        <p:nvSpPr>
          <p:cNvPr id="14" name="Text 10"/>
          <p:cNvSpPr/>
          <p:nvPr/>
        </p:nvSpPr>
        <p:spPr>
          <a:xfrm>
            <a:off x="6644488" y="3703320"/>
            <a:ext cx="4614520" cy="1325880"/>
          </a:xfrm>
          <a:prstGeom prst="rect">
            <a:avLst/>
          </a:prstGeom>
          <a:noFill/>
          <a:ln/>
        </p:spPr>
        <p:txBody>
          <a:bodyPr wrap="square" rtlCol="0" anchor="t"/>
          <a:lstStyle/>
          <a:p>
            <a:pPr marL="0" indent="0">
              <a:lnSpc>
                <a:spcPct val="132000"/>
              </a:lnSpc>
              <a:buNone/>
            </a:pPr>
            <a:r>
              <a:rPr lang="en-US" sz="1550" dirty="0">
                <a:solidFill>
                  <a:srgbClr val="AAB6C7"/>
                </a:solidFill>
                <a:latin typeface="Segoe UI" pitchFamily="34" charset="0"/>
                <a:ea typeface="Segoe UI" pitchFamily="34" charset="-122"/>
                <a:cs typeface="Segoe UI" pitchFamily="34" charset="-120"/>
              </a:rPr>
              <a:t>Every value is checked as it arrives: anomaly detection, completeness, accuracy and timeliness. Bad data is caught before it moves anywhere.</a:t>
            </a:r>
            <a:endParaRPr lang="en-US" sz="1550" dirty="0"/>
          </a:p>
        </p:txBody>
      </p:sp>
      <p:sp>
        <p:nvSpPr>
          <p:cNvPr id="15" name="Text 1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16" name="Text 1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07 / 12</a:t>
            </a:r>
            <a:endParaRPr lang="en-US" sz="900" dirty="0"/>
          </a:p>
        </p:txBody>
      </p:sp>
      <p:sp>
        <p:nvSpPr>
          <p:cNvPr id="17" name="Shape 13"/>
          <p:cNvSpPr/>
          <p:nvPr/>
        </p:nvSpPr>
        <p:spPr>
          <a:xfrm>
            <a:off x="566928" y="6327648"/>
            <a:ext cx="11057839" cy="0"/>
          </a:xfrm>
          <a:prstGeom prst="line">
            <a:avLst/>
          </a:prstGeom>
          <a:noFill/>
          <a:ln w="9525">
            <a:solidFill>
              <a:srgbClr val="36414F"/>
            </a:solidFill>
            <a:prstDash val="solid"/>
          </a:ln>
        </p:spPr>
        <p:txBody>
          <a:bodyPr/>
          <a:lstStyle/>
          <a:p>
            <a:endParaRPr lang="en-US"/>
          </a:p>
        </p:txBody>
      </p:sp>
      <p:pic>
        <p:nvPicPr>
          <p:cNvPr id="18" name="Graphic 18" descr="Inges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0300" y="2870200"/>
            <a:ext cx="431800" cy="431800"/>
          </a:xfrm>
          <a:prstGeom prst="rect">
            <a:avLst/>
          </a:prstGeom>
        </p:spPr>
      </p:pic>
      <p:pic>
        <p:nvPicPr>
          <p:cNvPr id="19" name="Graphic 19" descr="Validat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5300" y="2870200"/>
            <a:ext cx="431800" cy="431800"/>
          </a:xfrm>
          <a:prstGeom prst="rect">
            <a:avLst/>
          </a:prstGeom>
        </p:spPr>
      </p:pic>
    </p:spTree>
    <p:extLst>
      <p:ext uri="{BB962C8B-B14F-4D97-AF65-F5344CB8AC3E}">
        <p14:creationId xmlns:p14="http://schemas.microsoft.com/office/powerpoint/2010/main" val="852383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4EA8DE"/>
                </a:solidFill>
                <a:latin typeface="Segoe UI Semibold" pitchFamily="34" charset="0"/>
                <a:ea typeface="Segoe UI Semibold" pitchFamily="34" charset="-122"/>
                <a:cs typeface="Segoe UI Semibold" pitchFamily="34" charset="-120"/>
              </a:rPr>
              <a:t>HOW IT WORKS · STEP 3 AND 4</a:t>
            </a:r>
            <a:endParaRPr lang="en-US" sz="1200" dirty="0"/>
          </a:p>
        </p:txBody>
      </p:sp>
      <p:sp>
        <p:nvSpPr>
          <p:cNvPr id="4" name="Text 2"/>
          <p:cNvSpPr/>
          <p:nvPr/>
        </p:nvSpPr>
        <p:spPr>
          <a:xfrm>
            <a:off x="566928" y="960120"/>
            <a:ext cx="1005840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Clean, then transform.</a:t>
            </a:r>
            <a:endParaRPr lang="en-US" sz="2800" dirty="0"/>
          </a:p>
        </p:txBody>
      </p:sp>
      <p:sp>
        <p:nvSpPr>
          <p:cNvPr id="5" name="Shape 3"/>
          <p:cNvSpPr/>
          <p:nvPr/>
        </p:nvSpPr>
        <p:spPr>
          <a:xfrm>
            <a:off x="566928" y="2286000"/>
            <a:ext cx="5346040"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932688" y="2670048"/>
            <a:ext cx="822960" cy="822960"/>
          </a:xfrm>
          <a:prstGeom prst="roundRect">
            <a:avLst>
              <a:gd name="adj" fmla="val 12222"/>
            </a:avLst>
          </a:prstGeom>
          <a:solidFill>
            <a:srgbClr val="1D2F41"/>
          </a:solidFill>
          <a:ln w="15240">
            <a:solidFill>
              <a:srgbClr val="3BE3E0"/>
            </a:solidFill>
            <a:prstDash val="solid"/>
          </a:ln>
        </p:spPr>
        <p:txBody>
          <a:bodyPr/>
          <a:lstStyle/>
          <a:p>
            <a:endParaRPr lang="en-US"/>
          </a:p>
        </p:txBody>
      </p:sp>
      <p:sp>
        <p:nvSpPr>
          <p:cNvPr id="8" name="Text 5"/>
          <p:cNvSpPr/>
          <p:nvPr/>
        </p:nvSpPr>
        <p:spPr>
          <a:xfrm>
            <a:off x="1984248" y="2670048"/>
            <a:ext cx="3608680" cy="822960"/>
          </a:xfrm>
          <a:prstGeom prst="rect">
            <a:avLst/>
          </a:prstGeom>
          <a:noFill/>
          <a:ln/>
        </p:spPr>
        <p:txBody>
          <a:bodyPr wrap="square" rtlCol="0" anchor="ctr"/>
          <a:lstStyle/>
          <a:p>
            <a:pPr marL="0" indent="0">
              <a:lnSpc>
                <a:spcPct val="105000"/>
              </a:lnSpc>
              <a:buNone/>
            </a:pPr>
            <a:r>
              <a:rPr lang="en-US" sz="1100" b="1" dirty="0">
                <a:solidFill>
                  <a:srgbClr val="3BE3E0"/>
                </a:solidFill>
                <a:latin typeface="Segoe UI Semibold" pitchFamily="34" charset="0"/>
                <a:ea typeface="Segoe UI Semibold" pitchFamily="34" charset="-122"/>
                <a:cs typeface="Segoe UI Semibold" pitchFamily="34" charset="-120"/>
              </a:rPr>
              <a:t>STEP 03
</a:t>
            </a:r>
            <a:r>
              <a:rPr lang="en-US" sz="2000" b="1" dirty="0">
                <a:solidFill>
                  <a:srgbClr val="F3F6FB"/>
                </a:solidFill>
                <a:latin typeface="Segoe UI Semibold" pitchFamily="34" charset="0"/>
                <a:ea typeface="Segoe UI Semibold" pitchFamily="34" charset="-122"/>
                <a:cs typeface="Segoe UI Semibold" pitchFamily="34" charset="-120"/>
              </a:rPr>
              <a:t>Cleanse &amp; Normalize</a:t>
            </a:r>
            <a:endParaRPr lang="en-US" sz="1100" dirty="0"/>
          </a:p>
        </p:txBody>
      </p:sp>
      <p:sp>
        <p:nvSpPr>
          <p:cNvPr id="9" name="Text 6"/>
          <p:cNvSpPr/>
          <p:nvPr/>
        </p:nvSpPr>
        <p:spPr>
          <a:xfrm>
            <a:off x="932688" y="3703320"/>
            <a:ext cx="4614520" cy="1325880"/>
          </a:xfrm>
          <a:prstGeom prst="rect">
            <a:avLst/>
          </a:prstGeom>
          <a:noFill/>
          <a:ln/>
        </p:spPr>
        <p:txBody>
          <a:bodyPr wrap="square" rtlCol="0" anchor="t"/>
          <a:lstStyle/>
          <a:p>
            <a:pPr marL="0" indent="0">
              <a:lnSpc>
                <a:spcPct val="132000"/>
              </a:lnSpc>
              <a:buNone/>
            </a:pPr>
            <a:r>
              <a:rPr lang="en-US" sz="1550" dirty="0">
                <a:solidFill>
                  <a:srgbClr val="AAB6C7"/>
                </a:solidFill>
                <a:latin typeface="Segoe UI" pitchFamily="34" charset="0"/>
                <a:ea typeface="Segoe UI" pitchFamily="34" charset="-122"/>
                <a:cs typeface="Segoe UI" pitchFamily="34" charset="-120"/>
              </a:rPr>
              <a:t>Clean, standardize and map every source into one model, so a rate from Bloomberg and a rate from 360T line up the same way.</a:t>
            </a:r>
            <a:endParaRPr lang="en-US" sz="1550" dirty="0"/>
          </a:p>
        </p:txBody>
      </p:sp>
      <p:sp>
        <p:nvSpPr>
          <p:cNvPr id="10" name="Shape 7"/>
          <p:cNvSpPr/>
          <p:nvPr/>
        </p:nvSpPr>
        <p:spPr>
          <a:xfrm>
            <a:off x="6278728" y="2286000"/>
            <a:ext cx="5346040"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644488" y="2670048"/>
            <a:ext cx="822960" cy="822960"/>
          </a:xfrm>
          <a:prstGeom prst="roundRect">
            <a:avLst>
              <a:gd name="adj" fmla="val 12222"/>
            </a:avLst>
          </a:prstGeom>
          <a:solidFill>
            <a:srgbClr val="1D2F41"/>
          </a:solidFill>
          <a:ln w="15240">
            <a:solidFill>
              <a:srgbClr val="3BE3E0"/>
            </a:solidFill>
            <a:prstDash val="solid"/>
          </a:ln>
        </p:spPr>
        <p:txBody>
          <a:bodyPr/>
          <a:lstStyle/>
          <a:p>
            <a:endParaRPr lang="en-US"/>
          </a:p>
        </p:txBody>
      </p:sp>
      <p:sp>
        <p:nvSpPr>
          <p:cNvPr id="13" name="Text 9"/>
          <p:cNvSpPr/>
          <p:nvPr/>
        </p:nvSpPr>
        <p:spPr>
          <a:xfrm>
            <a:off x="7696048" y="2670048"/>
            <a:ext cx="3608680" cy="822960"/>
          </a:xfrm>
          <a:prstGeom prst="rect">
            <a:avLst/>
          </a:prstGeom>
          <a:noFill/>
          <a:ln/>
        </p:spPr>
        <p:txBody>
          <a:bodyPr wrap="square" rtlCol="0" anchor="ctr"/>
          <a:lstStyle/>
          <a:p>
            <a:pPr marL="0" indent="0">
              <a:lnSpc>
                <a:spcPct val="105000"/>
              </a:lnSpc>
              <a:buNone/>
            </a:pPr>
            <a:r>
              <a:rPr lang="en-US" sz="1100" b="1" dirty="0">
                <a:solidFill>
                  <a:srgbClr val="3BE3E0"/>
                </a:solidFill>
                <a:latin typeface="Segoe UI Semibold" pitchFamily="34" charset="0"/>
                <a:ea typeface="Segoe UI Semibold" pitchFamily="34" charset="-122"/>
                <a:cs typeface="Segoe UI Semibold" pitchFamily="34" charset="-120"/>
              </a:rPr>
              <a:t>STEP 04
</a:t>
            </a:r>
            <a:r>
              <a:rPr lang="en-US" sz="2000" b="1" dirty="0">
                <a:solidFill>
                  <a:srgbClr val="F3F6FB"/>
                </a:solidFill>
                <a:latin typeface="Segoe UI Semibold" pitchFamily="34" charset="0"/>
                <a:ea typeface="Segoe UI Semibold" pitchFamily="34" charset="-122"/>
                <a:cs typeface="Segoe UI Semibold" pitchFamily="34" charset="-120"/>
              </a:rPr>
              <a:t>Transform</a:t>
            </a:r>
            <a:endParaRPr lang="en-US" sz="1100" dirty="0"/>
          </a:p>
        </p:txBody>
      </p:sp>
      <p:sp>
        <p:nvSpPr>
          <p:cNvPr id="14" name="Text 10"/>
          <p:cNvSpPr/>
          <p:nvPr/>
        </p:nvSpPr>
        <p:spPr>
          <a:xfrm>
            <a:off x="6644488" y="3703320"/>
            <a:ext cx="4614520" cy="1325880"/>
          </a:xfrm>
          <a:prstGeom prst="rect">
            <a:avLst/>
          </a:prstGeom>
          <a:noFill/>
          <a:ln/>
        </p:spPr>
        <p:txBody>
          <a:bodyPr wrap="square" rtlCol="0" anchor="t"/>
          <a:lstStyle/>
          <a:p>
            <a:pPr marL="0" indent="0">
              <a:lnSpc>
                <a:spcPct val="132000"/>
              </a:lnSpc>
              <a:buNone/>
            </a:pPr>
            <a:r>
              <a:rPr lang="en-US" sz="1550" dirty="0">
                <a:solidFill>
                  <a:srgbClr val="AAB6C7"/>
                </a:solidFill>
                <a:latin typeface="Segoe UI" pitchFamily="34" charset="0"/>
                <a:ea typeface="Segoe UI" pitchFamily="34" charset="-122"/>
                <a:cs typeface="Segoe UI" pitchFamily="34" charset="-120"/>
              </a:rPr>
              <a:t>Calculations, date shifts, inversion, triangulation of rates, interpolation, averages, your own formula libraries. Shaped exactly how each system needs it.</a:t>
            </a:r>
            <a:endParaRPr lang="en-US" sz="1550" dirty="0"/>
          </a:p>
        </p:txBody>
      </p:sp>
      <p:sp>
        <p:nvSpPr>
          <p:cNvPr id="15" name="Text 1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16" name="Text 1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08 / 12</a:t>
            </a:r>
            <a:endParaRPr lang="en-US" sz="900" dirty="0"/>
          </a:p>
        </p:txBody>
      </p:sp>
      <p:sp>
        <p:nvSpPr>
          <p:cNvPr id="17" name="Shape 13"/>
          <p:cNvSpPr/>
          <p:nvPr/>
        </p:nvSpPr>
        <p:spPr>
          <a:xfrm>
            <a:off x="566928" y="6327648"/>
            <a:ext cx="11057839" cy="0"/>
          </a:xfrm>
          <a:prstGeom prst="line">
            <a:avLst/>
          </a:prstGeom>
          <a:noFill/>
          <a:ln w="9525">
            <a:solidFill>
              <a:srgbClr val="36414F"/>
            </a:solidFill>
            <a:prstDash val="solid"/>
          </a:ln>
        </p:spPr>
        <p:txBody>
          <a:bodyPr/>
          <a:lstStyle/>
          <a:p>
            <a:endParaRPr lang="en-US"/>
          </a:p>
        </p:txBody>
      </p:sp>
      <p:pic>
        <p:nvPicPr>
          <p:cNvPr id="18" name="Graphic 18" descr="Cleans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0300" y="2870200"/>
            <a:ext cx="431800" cy="431800"/>
          </a:xfrm>
          <a:prstGeom prst="rect">
            <a:avLst/>
          </a:prstGeom>
        </p:spPr>
      </p:pic>
      <p:pic>
        <p:nvPicPr>
          <p:cNvPr id="19" name="Graphic 19" descr="Transform"/>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5300" y="2870200"/>
            <a:ext cx="431800" cy="431800"/>
          </a:xfrm>
          <a:prstGeom prst="rect">
            <a:avLst/>
          </a:prstGeom>
        </p:spPr>
      </p:pic>
    </p:spTree>
    <p:extLst>
      <p:ext uri="{BB962C8B-B14F-4D97-AF65-F5344CB8AC3E}">
        <p14:creationId xmlns:p14="http://schemas.microsoft.com/office/powerpoint/2010/main" val="236845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46D9A0"/>
                </a:solidFill>
                <a:latin typeface="Segoe UI Semibold" pitchFamily="34" charset="0"/>
                <a:ea typeface="Segoe UI Semibold" pitchFamily="34" charset="-122"/>
                <a:cs typeface="Segoe UI Semibold" pitchFamily="34" charset="-120"/>
              </a:rPr>
              <a:t>HOW IT WORKS · STEP 5 AND 6</a:t>
            </a:r>
            <a:endParaRPr lang="en-US" sz="1200" dirty="0"/>
          </a:p>
        </p:txBody>
      </p:sp>
      <p:sp>
        <p:nvSpPr>
          <p:cNvPr id="4" name="Text 2"/>
          <p:cNvSpPr/>
          <p:nvPr/>
        </p:nvSpPr>
        <p:spPr>
          <a:xfrm>
            <a:off x="566928" y="960120"/>
            <a:ext cx="1005840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Govern, then distribute.</a:t>
            </a:r>
            <a:endParaRPr lang="en-US" sz="2800" dirty="0"/>
          </a:p>
        </p:txBody>
      </p:sp>
      <p:sp>
        <p:nvSpPr>
          <p:cNvPr id="5" name="Shape 3"/>
          <p:cNvSpPr/>
          <p:nvPr/>
        </p:nvSpPr>
        <p:spPr>
          <a:xfrm>
            <a:off x="566928" y="2286000"/>
            <a:ext cx="5346040"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932688" y="2670048"/>
            <a:ext cx="822960" cy="822960"/>
          </a:xfrm>
          <a:prstGeom prst="roundRect">
            <a:avLst>
              <a:gd name="adj" fmla="val 12222"/>
            </a:avLst>
          </a:prstGeom>
          <a:solidFill>
            <a:srgbClr val="1C3737"/>
          </a:solidFill>
          <a:ln w="15240">
            <a:solidFill>
              <a:srgbClr val="3BE3E0"/>
            </a:solidFill>
            <a:prstDash val="solid"/>
          </a:ln>
        </p:spPr>
        <p:txBody>
          <a:bodyPr/>
          <a:lstStyle/>
          <a:p>
            <a:endParaRPr lang="en-US"/>
          </a:p>
        </p:txBody>
      </p:sp>
      <p:sp>
        <p:nvSpPr>
          <p:cNvPr id="8" name="Text 5"/>
          <p:cNvSpPr/>
          <p:nvPr/>
        </p:nvSpPr>
        <p:spPr>
          <a:xfrm>
            <a:off x="1984248" y="2670048"/>
            <a:ext cx="3608680" cy="822960"/>
          </a:xfrm>
          <a:prstGeom prst="rect">
            <a:avLst/>
          </a:prstGeom>
          <a:noFill/>
          <a:ln/>
        </p:spPr>
        <p:txBody>
          <a:bodyPr wrap="square" rtlCol="0" anchor="ctr"/>
          <a:lstStyle/>
          <a:p>
            <a:pPr marL="0" indent="0">
              <a:lnSpc>
                <a:spcPct val="105000"/>
              </a:lnSpc>
              <a:buNone/>
            </a:pPr>
            <a:r>
              <a:rPr lang="en-US" sz="1100" b="1" dirty="0">
                <a:solidFill>
                  <a:srgbClr val="3BE3E0"/>
                </a:solidFill>
                <a:latin typeface="Segoe UI Semibold" pitchFamily="34" charset="0"/>
                <a:ea typeface="Segoe UI Semibold" pitchFamily="34" charset="-122"/>
                <a:cs typeface="Segoe UI Semibold" pitchFamily="34" charset="-120"/>
              </a:rPr>
              <a:t>STEP 05
</a:t>
            </a:r>
            <a:r>
              <a:rPr lang="en-US" sz="2000" b="1" dirty="0">
                <a:solidFill>
                  <a:srgbClr val="F3F6FB"/>
                </a:solidFill>
                <a:latin typeface="Segoe UI Semibold" pitchFamily="34" charset="0"/>
                <a:ea typeface="Segoe UI Semibold" pitchFamily="34" charset="-122"/>
                <a:cs typeface="Segoe UI Semibold" pitchFamily="34" charset="-120"/>
              </a:rPr>
              <a:t>Govern</a:t>
            </a:r>
            <a:endParaRPr lang="en-US" sz="1100" dirty="0"/>
          </a:p>
        </p:txBody>
      </p:sp>
      <p:sp>
        <p:nvSpPr>
          <p:cNvPr id="9" name="Text 6"/>
          <p:cNvSpPr/>
          <p:nvPr/>
        </p:nvSpPr>
        <p:spPr>
          <a:xfrm>
            <a:off x="932688" y="3703320"/>
            <a:ext cx="4614520" cy="1325880"/>
          </a:xfrm>
          <a:prstGeom prst="rect">
            <a:avLst/>
          </a:prstGeom>
          <a:noFill/>
          <a:ln/>
        </p:spPr>
        <p:txBody>
          <a:bodyPr wrap="square" rtlCol="0" anchor="t"/>
          <a:lstStyle/>
          <a:p>
            <a:pPr marL="0" indent="0">
              <a:lnSpc>
                <a:spcPct val="132000"/>
              </a:lnSpc>
              <a:buNone/>
            </a:pPr>
            <a:r>
              <a:rPr lang="en-US" sz="1550" dirty="0">
                <a:solidFill>
                  <a:srgbClr val="AAB6C7"/>
                </a:solidFill>
                <a:latin typeface="Segoe UI" pitchFamily="34" charset="0"/>
                <a:ea typeface="Segoe UI" pitchFamily="34" charset="-122"/>
                <a:cs typeface="Segoe UI" pitchFamily="34" charset="-120"/>
              </a:rPr>
              <a:t>A full audit trail on every change, segregation of duty, and alerts when something looks off. You see the exception; the rest just runs.</a:t>
            </a:r>
            <a:endParaRPr lang="en-US" sz="1550" dirty="0"/>
          </a:p>
        </p:txBody>
      </p:sp>
      <p:sp>
        <p:nvSpPr>
          <p:cNvPr id="10" name="Shape 7"/>
          <p:cNvSpPr/>
          <p:nvPr/>
        </p:nvSpPr>
        <p:spPr>
          <a:xfrm>
            <a:off x="6278728" y="2286000"/>
            <a:ext cx="5346040" cy="2971800"/>
          </a:xfrm>
          <a:prstGeom prst="roundRect">
            <a:avLst>
              <a:gd name="adj" fmla="val 2769"/>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644488" y="2670048"/>
            <a:ext cx="822960" cy="822960"/>
          </a:xfrm>
          <a:prstGeom prst="roundRect">
            <a:avLst>
              <a:gd name="adj" fmla="val 12222"/>
            </a:avLst>
          </a:prstGeom>
          <a:solidFill>
            <a:srgbClr val="1C3737"/>
          </a:solidFill>
          <a:ln w="15240">
            <a:solidFill>
              <a:srgbClr val="46D9A0"/>
            </a:solidFill>
            <a:prstDash val="solid"/>
          </a:ln>
        </p:spPr>
        <p:txBody>
          <a:bodyPr/>
          <a:lstStyle/>
          <a:p>
            <a:endParaRPr lang="en-US"/>
          </a:p>
        </p:txBody>
      </p:sp>
      <p:sp>
        <p:nvSpPr>
          <p:cNvPr id="13" name="Text 9"/>
          <p:cNvSpPr/>
          <p:nvPr/>
        </p:nvSpPr>
        <p:spPr>
          <a:xfrm>
            <a:off x="7696048" y="2670048"/>
            <a:ext cx="3608680" cy="822960"/>
          </a:xfrm>
          <a:prstGeom prst="rect">
            <a:avLst/>
          </a:prstGeom>
          <a:noFill/>
          <a:ln/>
        </p:spPr>
        <p:txBody>
          <a:bodyPr wrap="square" rtlCol="0" anchor="ctr"/>
          <a:lstStyle/>
          <a:p>
            <a:pPr marL="0" indent="0">
              <a:lnSpc>
                <a:spcPct val="105000"/>
              </a:lnSpc>
              <a:buNone/>
            </a:pPr>
            <a:r>
              <a:rPr lang="en-US" sz="1100" b="1" dirty="0">
                <a:solidFill>
                  <a:srgbClr val="46D9A0"/>
                </a:solidFill>
                <a:latin typeface="Segoe UI Semibold" pitchFamily="34" charset="0"/>
                <a:ea typeface="Segoe UI Semibold" pitchFamily="34" charset="-122"/>
                <a:cs typeface="Segoe UI Semibold" pitchFamily="34" charset="-120"/>
              </a:rPr>
              <a:t>STEP 06
</a:t>
            </a:r>
            <a:r>
              <a:rPr lang="en-US" sz="2000" b="1" dirty="0">
                <a:solidFill>
                  <a:srgbClr val="F3F6FB"/>
                </a:solidFill>
                <a:latin typeface="Segoe UI Semibold" pitchFamily="34" charset="0"/>
                <a:ea typeface="Segoe UI Semibold" pitchFamily="34" charset="-122"/>
                <a:cs typeface="Segoe UI Semibold" pitchFamily="34" charset="-120"/>
              </a:rPr>
              <a:t>Distribute</a:t>
            </a:r>
            <a:endParaRPr lang="en-US" sz="1100" dirty="0"/>
          </a:p>
        </p:txBody>
      </p:sp>
      <p:sp>
        <p:nvSpPr>
          <p:cNvPr id="14" name="Text 10"/>
          <p:cNvSpPr/>
          <p:nvPr/>
        </p:nvSpPr>
        <p:spPr>
          <a:xfrm>
            <a:off x="6644488" y="3703320"/>
            <a:ext cx="4614520" cy="1325880"/>
          </a:xfrm>
          <a:prstGeom prst="rect">
            <a:avLst/>
          </a:prstGeom>
          <a:noFill/>
          <a:ln/>
        </p:spPr>
        <p:txBody>
          <a:bodyPr wrap="square" rtlCol="0" anchor="t"/>
          <a:lstStyle/>
          <a:p>
            <a:pPr marL="0" indent="0">
              <a:lnSpc>
                <a:spcPct val="132000"/>
              </a:lnSpc>
              <a:buNone/>
            </a:pPr>
            <a:r>
              <a:rPr lang="en-US" sz="1550" dirty="0">
                <a:solidFill>
                  <a:srgbClr val="AAB6C7"/>
                </a:solidFill>
                <a:latin typeface="Segoe UI" pitchFamily="34" charset="0"/>
                <a:ea typeface="Segoe UI" pitchFamily="34" charset="-122"/>
                <a:cs typeface="Segoe UI" pitchFamily="34" charset="-120"/>
              </a:rPr>
              <a:t>Send the curated data to any system, SAP or not: push it out, or let systems pull it through ODATA and APIs. Nothing re-typed.</a:t>
            </a:r>
            <a:endParaRPr lang="en-US" sz="1550" dirty="0"/>
          </a:p>
        </p:txBody>
      </p:sp>
      <p:sp>
        <p:nvSpPr>
          <p:cNvPr id="15" name="Text 1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16" name="Text 1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09 / 12</a:t>
            </a:r>
            <a:endParaRPr lang="en-US" sz="900" dirty="0"/>
          </a:p>
        </p:txBody>
      </p:sp>
      <p:sp>
        <p:nvSpPr>
          <p:cNvPr id="17" name="Shape 13"/>
          <p:cNvSpPr/>
          <p:nvPr/>
        </p:nvSpPr>
        <p:spPr>
          <a:xfrm>
            <a:off x="566928" y="6327648"/>
            <a:ext cx="11057839" cy="0"/>
          </a:xfrm>
          <a:prstGeom prst="line">
            <a:avLst/>
          </a:prstGeom>
          <a:noFill/>
          <a:ln w="9525">
            <a:solidFill>
              <a:srgbClr val="36414F"/>
            </a:solidFill>
            <a:prstDash val="solid"/>
          </a:ln>
        </p:spPr>
        <p:txBody>
          <a:bodyPr/>
          <a:lstStyle/>
          <a:p>
            <a:endParaRPr lang="en-US"/>
          </a:p>
        </p:txBody>
      </p:sp>
      <p:pic>
        <p:nvPicPr>
          <p:cNvPr id="18" name="Graphic 18" descr="Gover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0300" y="2870200"/>
            <a:ext cx="431800" cy="431800"/>
          </a:xfrm>
          <a:prstGeom prst="rect">
            <a:avLst/>
          </a:prstGeom>
        </p:spPr>
      </p:pic>
      <p:pic>
        <p:nvPicPr>
          <p:cNvPr id="19" name="Graphic 19" descr="Distribut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5300" y="2870200"/>
            <a:ext cx="431800" cy="431800"/>
          </a:xfrm>
          <a:prstGeom prst="rect">
            <a:avLst/>
          </a:prstGeom>
        </p:spPr>
      </p:pic>
    </p:spTree>
    <p:extLst>
      <p:ext uri="{BB962C8B-B14F-4D97-AF65-F5344CB8AC3E}">
        <p14:creationId xmlns:p14="http://schemas.microsoft.com/office/powerpoint/2010/main" val="3356918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st.png"/>
          <p:cNvPicPr>
            <a:picLocks noChangeAspect="1"/>
          </p:cNvPicPr>
          <p:nvPr/>
        </p:nvPicPr>
        <p:blipFill>
          <a:blip r:embed="rId3"/>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Every value and every change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hield.png"/>
          <p:cNvPicPr>
            <a:picLocks noChangeAspect="1"/>
          </p:cNvPicPr>
          <p:nvPr/>
        </p:nvPicPr>
        <p:blipFill>
          <a:blip r:embed="rId4"/>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Segregation of duty</a:t>
            </a:r>
            <a:endParaRPr lang="en-US" sz="1650" dirty="0"/>
          </a:p>
        </p:txBody>
      </p:sp>
      <p:sp>
        <p:nvSpPr>
          <p:cNvPr id="14" name="Text 10"/>
          <p:cNvSpPr/>
          <p:nvPr/>
        </p:nvSpPr>
        <p:spPr>
          <a:xfrm>
            <a:off x="72845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changes that matter need a second person.</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bell.png"/>
          <p:cNvPicPr>
            <a:picLocks noChangeAspect="1"/>
          </p:cNvPicPr>
          <p:nvPr/>
        </p:nvPicPr>
        <p:blipFill>
          <a:blip r:embed="rId6"/>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7" name="Image 4" descr="C:/Users/neuma_p1qrsic/Repo/agentic-ops1/.scratch/icons/blocks.png"/>
          <p:cNvPicPr>
            <a:picLocks noChangeAspect="1"/>
          </p:cNvPicPr>
          <p:nvPr/>
        </p:nvPicPr>
        <p:blipFill>
          <a:blip r:embed="rId7"/>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32" name="Image 5" descr="C:/Users/neuma_p1qrsic/Repo/agentic-ops1/.scratch/icons/lock.png"/>
          <p:cNvPicPr>
            <a:picLocks noChangeAspect="1"/>
          </p:cNvPicPr>
          <p:nvPr/>
        </p:nvPicPr>
        <p:blipFill>
          <a:blip r:embed="rId8"/>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marL="0" indent="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10 / 12</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Under the hood, it’s a single app: </a:t>
            </a:r>
            <a:r>
              <a:rPr lang="en-US" sz="2900" b="1" dirty="0">
                <a:solidFill>
                  <a:srgbClr val="3BE3E0"/>
                </a:solidFill>
                <a:latin typeface="Segoe UI Semibold" pitchFamily="34" charset="0"/>
                <a:ea typeface="Segoe UI Semibold" pitchFamily="34" charset="-122"/>
                <a:cs typeface="Segoe UI Semibold" pitchFamily="34" charset="-120"/>
              </a:rPr>
              <a:t>OnePilot</a:t>
            </a: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1051560"/>
          </a:xfrm>
          <a:prstGeom prst="rect">
            <a:avLst/>
          </a:prstGeom>
          <a:noFill/>
          <a:ln/>
        </p:spPr>
        <p:txBody>
          <a:bodyPr wrap="square" rtlCol="0" anchor="ctr"/>
          <a:lstStyle/>
          <a:p>
            <a:pPr marL="0" indent="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420"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7" name="Image 0" descr="C:/Users/neuma_p1qrsic/Repo/agentic-ops1/.scratch/icons/database.png"/>
          <p:cNvPicPr>
            <a:picLocks noChangeAspect="1"/>
          </p:cNvPicPr>
          <p:nvPr/>
        </p:nvPicPr>
        <p:blipFill>
          <a:blip r:embed="rId3"/>
          <a:stretch>
            <a:fillRect/>
          </a:stretch>
        </p:blipFill>
        <p:spPr>
          <a:xfrm>
            <a:off x="1542256" y="3538728"/>
            <a:ext cx="621792" cy="621792"/>
          </a:xfrm>
          <a:prstGeom prst="rect">
            <a:avLst/>
          </a:prstGeom>
        </p:spPr>
      </p:pic>
      <p:sp>
        <p:nvSpPr>
          <p:cNvPr id="8" name="Text 5"/>
          <p:cNvSpPr/>
          <p:nvPr/>
        </p:nvSpPr>
        <p:spPr>
          <a:xfrm>
            <a:off x="709930"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3394392"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0" name="Image 1" descr="C:/Users/neuma_p1qrsic/Repo/agentic-ops1/.scratch/icons/sheet.png"/>
          <p:cNvPicPr>
            <a:picLocks noChangeAspect="1"/>
          </p:cNvPicPr>
          <p:nvPr/>
        </p:nvPicPr>
        <p:blipFill>
          <a:blip r:embed="rId4"/>
          <a:stretch>
            <a:fillRect/>
          </a:stretch>
        </p:blipFill>
        <p:spPr>
          <a:xfrm>
            <a:off x="4370228" y="3538728"/>
            <a:ext cx="621792" cy="621792"/>
          </a:xfrm>
          <a:prstGeom prst="rect">
            <a:avLst/>
          </a:prstGeom>
        </p:spPr>
      </p:pic>
      <p:sp>
        <p:nvSpPr>
          <p:cNvPr id="11" name="Text 7"/>
          <p:cNvSpPr/>
          <p:nvPr/>
        </p:nvSpPr>
        <p:spPr>
          <a:xfrm>
            <a:off x="3537902"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6222365"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3" name="Image 2" descr="C:/Users/neuma_p1qrsic/Repo/agentic-ops1/.scratch/icons/mail.png"/>
          <p:cNvPicPr>
            <a:picLocks noChangeAspect="1"/>
          </p:cNvPicPr>
          <p:nvPr/>
        </p:nvPicPr>
        <p:blipFill>
          <a:blip r:embed="rId5"/>
          <a:stretch>
            <a:fillRect/>
          </a:stretch>
        </p:blipFill>
        <p:spPr>
          <a:xfrm>
            <a:off x="7198201" y="3538728"/>
            <a:ext cx="621792" cy="621792"/>
          </a:xfrm>
          <a:prstGeom prst="rect">
            <a:avLst/>
          </a:prstGeom>
        </p:spPr>
      </p:pic>
      <p:sp>
        <p:nvSpPr>
          <p:cNvPr id="14" name="Text 9"/>
          <p:cNvSpPr/>
          <p:nvPr/>
        </p:nvSpPr>
        <p:spPr>
          <a:xfrm>
            <a:off x="6365875"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9050337"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6" name="Image 3" descr="C:/Users/neuma_p1qrsic/Repo/agentic-ops1/.scratch/icons/globe.png"/>
          <p:cNvPicPr>
            <a:picLocks noChangeAspect="1"/>
          </p:cNvPicPr>
          <p:nvPr/>
        </p:nvPicPr>
        <p:blipFill>
          <a:blip r:embed="rId6"/>
          <a:stretch>
            <a:fillRect/>
          </a:stretch>
        </p:blipFill>
        <p:spPr>
          <a:xfrm>
            <a:off x="10026173" y="3538728"/>
            <a:ext cx="621792" cy="621792"/>
          </a:xfrm>
          <a:prstGeom prst="rect">
            <a:avLst/>
          </a:prstGeom>
        </p:spPr>
      </p:pic>
      <p:sp>
        <p:nvSpPr>
          <p:cNvPr id="17" name="Text 11"/>
          <p:cNvSpPr/>
          <p:nvPr/>
        </p:nvSpPr>
        <p:spPr>
          <a:xfrm>
            <a:off x="9193847"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21" name="Text 14"/>
          <p:cNvSpPr/>
          <p:nvPr/>
        </p:nvSpPr>
        <p:spPr>
          <a:xfrm>
            <a:off x="566928" y="5166360"/>
            <a:ext cx="11057839" cy="457200"/>
          </a:xfrm>
          <a:prstGeom prst="rect">
            <a:avLst/>
          </a:prstGeom>
          <a:noFill/>
          <a:ln/>
        </p:spPr>
        <p:txBody>
          <a:bodyPr wrap="square" rtlCol="0" anchor="ctr"/>
          <a:lstStyle/>
          <a:p>
            <a:pPr marL="0" indent="0">
              <a:buNone/>
            </a:pPr>
            <a:r>
              <a:rPr lang="en-US" sz="1450" dirty="0">
                <a:solidFill>
                  <a:srgbClr val="3BE3E0"/>
                </a:solidFill>
                <a:latin typeface="Segoe UI" pitchFamily="34" charset="0"/>
                <a:ea typeface="Segoe UI" pitchFamily="34" charset="-122"/>
                <a:cs typeface="Segoe UI" pitchFamily="34" charset="-120"/>
              </a:rPr>
              <a:t>It reads and writes to each of them, so your market data lands where it needs to with nothing re-typed.</a:t>
            </a:r>
            <a:endParaRPr lang="en-US" sz="1450" dirty="0"/>
          </a:p>
        </p:txBody>
      </p:sp>
      <p:sp>
        <p:nvSpPr>
          <p:cNvPr id="22" name="Text 15"/>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11 / 12</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1564520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0E121B"/>
        </a:solidFill>
        <a:effectLst/>
      </p:bgPr>
    </p:bg>
    <p:spTree>
      <p:nvGrpSpPr>
        <p:cNvPr id="1" name="">
          <a:extLst>
            <a:ext uri="{FF2B5EF4-FFF2-40B4-BE49-F238E27FC236}">
              <a16:creationId xmlns:a16="http://schemas.microsoft.com/office/drawing/2014/main" id="{0D6F85E9-82B3-AB71-FFD6-4D98B86886BA}"/>
            </a:ext>
          </a:extLst>
        </p:cNvPr>
        <p:cNvGrpSpPr/>
        <p:nvPr/>
      </p:nvGrpSpPr>
      <p:grpSpPr>
        <a:xfrm>
          <a:off x="0" y="0"/>
          <a:ext cx="0" cy="0"/>
          <a:chOff x="0" y="0"/>
          <a:chExt cx="0" cy="0"/>
        </a:xfrm>
      </p:grpSpPr>
      <p:sp>
        <p:nvSpPr>
          <p:cNvPr id="22" name="Text 15">
            <a:extLst>
              <a:ext uri="{FF2B5EF4-FFF2-40B4-BE49-F238E27FC236}">
                <a16:creationId xmlns:a16="http://schemas.microsoft.com/office/drawing/2014/main" id="{AFCF3E26-9717-25BE-38B4-DBA0AD5BD708}"/>
              </a:ext>
            </a:extLst>
          </p:cNvPr>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Market Data Hub, part of OnePilot</a:t>
            </a:r>
            <a:endParaRPr lang="en-US" sz="900" dirty="0"/>
          </a:p>
        </p:txBody>
      </p:sp>
      <p:sp>
        <p:nvSpPr>
          <p:cNvPr id="23" name="Text 16">
            <a:extLst>
              <a:ext uri="{FF2B5EF4-FFF2-40B4-BE49-F238E27FC236}">
                <a16:creationId xmlns:a16="http://schemas.microsoft.com/office/drawing/2014/main" id="{61D6AD83-85D3-8A7E-A207-1F61BD3FDE01}"/>
              </a:ext>
            </a:extLst>
          </p:cNvPr>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11 / 12</a:t>
            </a:r>
            <a:endParaRPr lang="en-US" sz="900" dirty="0"/>
          </a:p>
        </p:txBody>
      </p:sp>
      <p:sp>
        <p:nvSpPr>
          <p:cNvPr id="24" name="Shape 17">
            <a:extLst>
              <a:ext uri="{FF2B5EF4-FFF2-40B4-BE49-F238E27FC236}">
                <a16:creationId xmlns:a16="http://schemas.microsoft.com/office/drawing/2014/main" id="{905B0A8B-F3E2-667A-352E-B6DD9468ED2D}"/>
              </a:ext>
            </a:extLst>
          </p:cNvPr>
          <p:cNvSpPr/>
          <p:nvPr/>
        </p:nvSpPr>
        <p:spPr>
          <a:xfrm>
            <a:off x="566928" y="6327648"/>
            <a:ext cx="11057839" cy="0"/>
          </a:xfrm>
          <a:prstGeom prst="line">
            <a:avLst/>
          </a:prstGeom>
          <a:noFill/>
          <a:ln w="9525">
            <a:solidFill>
              <a:srgbClr val="36414F"/>
            </a:solidFill>
            <a:prstDash val="solid"/>
          </a:ln>
        </p:spPr>
        <p:txBody>
          <a:bodyPr/>
          <a:lstStyle/>
          <a:p>
            <a:endParaRPr lang="en-US"/>
          </a:p>
        </p:txBody>
      </p:sp>
      <p:sp>
        <p:nvSpPr>
          <p:cNvPr id="18" name="Shape 0">
            <a:extLst>
              <a:ext uri="{FF2B5EF4-FFF2-40B4-BE49-F238E27FC236}">
                <a16:creationId xmlns:a16="http://schemas.microsoft.com/office/drawing/2014/main" id="{5C8A0C6E-E9E7-ED66-2B30-3C2BC4C8CDE5}"/>
              </a:ext>
            </a:extLst>
          </p:cNvPr>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19" name="Text 1">
            <a:extLst>
              <a:ext uri="{FF2B5EF4-FFF2-40B4-BE49-F238E27FC236}">
                <a16:creationId xmlns:a16="http://schemas.microsoft.com/office/drawing/2014/main" id="{A9063237-6C3E-0041-2CD3-8B38B83E3722}"/>
              </a:ext>
            </a:extLst>
          </p:cNvPr>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PARTNERS AND CUSTOMERS</a:t>
            </a:r>
            <a:endParaRPr lang="en-US" sz="1200" dirty="0"/>
          </a:p>
        </p:txBody>
      </p:sp>
      <p:sp>
        <p:nvSpPr>
          <p:cNvPr id="20" name="Text 2">
            <a:extLst>
              <a:ext uri="{FF2B5EF4-FFF2-40B4-BE49-F238E27FC236}">
                <a16:creationId xmlns:a16="http://schemas.microsoft.com/office/drawing/2014/main" id="{B5C3B336-A68D-B8E2-59EA-7A8C803C99C7}"/>
              </a:ext>
            </a:extLst>
          </p:cNvPr>
          <p:cNvSpPr/>
          <p:nvPr/>
        </p:nvSpPr>
        <p:spPr>
          <a:xfrm>
            <a:off x="566928" y="960120"/>
            <a:ext cx="1088136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data, the platform, and the teams behind it.</a:t>
            </a:r>
            <a:endParaRPr lang="en-US" sz="2800" dirty="0"/>
          </a:p>
        </p:txBody>
      </p:sp>
      <p:sp>
        <p:nvSpPr>
          <p:cNvPr id="25" name="Text 3">
            <a:extLst>
              <a:ext uri="{FF2B5EF4-FFF2-40B4-BE49-F238E27FC236}">
                <a16:creationId xmlns:a16="http://schemas.microsoft.com/office/drawing/2014/main" id="{09EB65BF-81B0-AB11-6D1D-87AC821DE0B1}"/>
              </a:ext>
            </a:extLst>
          </p:cNvPr>
          <p:cNvSpPr/>
          <p:nvPr/>
        </p:nvSpPr>
        <p:spPr>
          <a:xfrm>
            <a:off x="585216" y="2103120"/>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TECHNOLOGY PARTNER</a:t>
            </a:r>
            <a:endParaRPr lang="en-US" sz="1050" dirty="0"/>
          </a:p>
        </p:txBody>
      </p:sp>
      <p:sp>
        <p:nvSpPr>
          <p:cNvPr id="26" name="Shape 4">
            <a:extLst>
              <a:ext uri="{FF2B5EF4-FFF2-40B4-BE49-F238E27FC236}">
                <a16:creationId xmlns:a16="http://schemas.microsoft.com/office/drawing/2014/main" id="{9D2B250C-05E6-9E1C-2921-7FE121A879B8}"/>
              </a:ext>
            </a:extLst>
          </p:cNvPr>
          <p:cNvSpPr/>
          <p:nvPr/>
        </p:nvSpPr>
        <p:spPr>
          <a:xfrm>
            <a:off x="585216" y="2377440"/>
            <a:ext cx="1828800" cy="731520"/>
          </a:xfrm>
          <a:prstGeom prst="roundRect">
            <a:avLst>
              <a:gd name="adj" fmla="val 17500"/>
            </a:avLst>
          </a:prstGeom>
          <a:solidFill>
            <a:srgbClr val="FFFFFF"/>
          </a:solidFill>
          <a:ln w="9525">
            <a:solidFill>
              <a:srgbClr val="36414F"/>
            </a:solidFill>
            <a:prstDash val="solid"/>
          </a:ln>
        </p:spPr>
        <p:txBody>
          <a:bodyPr/>
          <a:lstStyle/>
          <a:p>
            <a:endParaRPr lang="en-US"/>
          </a:p>
        </p:txBody>
      </p:sp>
      <p:pic>
        <p:nvPicPr>
          <p:cNvPr id="27" name="Image 0" descr="C:/Users/neuma_p1qrsic/Repo/agentic-ops1/.scratch/deckgen/logos/sap.png">
            <a:extLst>
              <a:ext uri="{FF2B5EF4-FFF2-40B4-BE49-F238E27FC236}">
                <a16:creationId xmlns:a16="http://schemas.microsoft.com/office/drawing/2014/main" id="{5FAE4670-7B63-F2A6-A449-C36717E4950E}"/>
              </a:ext>
            </a:extLst>
          </p:cNvPr>
          <p:cNvPicPr>
            <a:picLocks noChangeAspect="1"/>
          </p:cNvPicPr>
          <p:nvPr/>
        </p:nvPicPr>
        <p:blipFill>
          <a:blip r:embed="rId3"/>
          <a:stretch>
            <a:fillRect/>
          </a:stretch>
        </p:blipFill>
        <p:spPr>
          <a:xfrm>
            <a:off x="1012244" y="2501798"/>
            <a:ext cx="974745" cy="482803"/>
          </a:xfrm>
          <a:prstGeom prst="rect">
            <a:avLst/>
          </a:prstGeom>
        </p:spPr>
      </p:pic>
      <p:sp>
        <p:nvSpPr>
          <p:cNvPr id="28" name="Text 5">
            <a:extLst>
              <a:ext uri="{FF2B5EF4-FFF2-40B4-BE49-F238E27FC236}">
                <a16:creationId xmlns:a16="http://schemas.microsoft.com/office/drawing/2014/main" id="{F44CEEEF-330D-787D-D7C9-4367A17BCC2D}"/>
              </a:ext>
            </a:extLst>
          </p:cNvPr>
          <p:cNvSpPr/>
          <p:nvPr/>
        </p:nvSpPr>
        <p:spPr>
          <a:xfrm>
            <a:off x="585216" y="3401568"/>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TRUSTED BY TEAMS AT</a:t>
            </a:r>
            <a:endParaRPr lang="en-US" sz="1050" dirty="0"/>
          </a:p>
        </p:txBody>
      </p:sp>
      <p:sp>
        <p:nvSpPr>
          <p:cNvPr id="29" name="Shape 6">
            <a:extLst>
              <a:ext uri="{FF2B5EF4-FFF2-40B4-BE49-F238E27FC236}">
                <a16:creationId xmlns:a16="http://schemas.microsoft.com/office/drawing/2014/main" id="{4DA1C303-F9A9-6FDA-BEA1-535F477B6446}"/>
              </a:ext>
            </a:extLst>
          </p:cNvPr>
          <p:cNvSpPr/>
          <p:nvPr/>
        </p:nvSpPr>
        <p:spPr>
          <a:xfrm>
            <a:off x="585216"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30" name="Image 1" descr="C:/Users/neuma_p1qrsic/Repo/agentic-ops1/.scratch/deckgen/logos/nestle.png">
            <a:extLst>
              <a:ext uri="{FF2B5EF4-FFF2-40B4-BE49-F238E27FC236}">
                <a16:creationId xmlns:a16="http://schemas.microsoft.com/office/drawing/2014/main" id="{DFE36863-15FF-711C-C53A-B6B2A8E552B2}"/>
              </a:ext>
            </a:extLst>
          </p:cNvPr>
          <p:cNvPicPr>
            <a:picLocks noChangeAspect="1"/>
          </p:cNvPicPr>
          <p:nvPr/>
        </p:nvPicPr>
        <p:blipFill>
          <a:blip r:embed="rId4"/>
          <a:stretch>
            <a:fillRect/>
          </a:stretch>
        </p:blipFill>
        <p:spPr>
          <a:xfrm>
            <a:off x="765164" y="3807069"/>
            <a:ext cx="1639530" cy="450871"/>
          </a:xfrm>
          <a:prstGeom prst="rect">
            <a:avLst/>
          </a:prstGeom>
        </p:spPr>
      </p:pic>
      <p:sp>
        <p:nvSpPr>
          <p:cNvPr id="31" name="Shape 7">
            <a:extLst>
              <a:ext uri="{FF2B5EF4-FFF2-40B4-BE49-F238E27FC236}">
                <a16:creationId xmlns:a16="http://schemas.microsoft.com/office/drawing/2014/main" id="{C899A758-D4A5-86CE-30A9-D41C0F633A8C}"/>
              </a:ext>
            </a:extLst>
          </p:cNvPr>
          <p:cNvSpPr/>
          <p:nvPr/>
        </p:nvSpPr>
        <p:spPr>
          <a:xfrm>
            <a:off x="2840675"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32" name="Image 2" descr="C:/Users/neuma_p1qrsic/Repo/agentic-ops1/.scratch/deckgen/logos/ford.png">
            <a:extLst>
              <a:ext uri="{FF2B5EF4-FFF2-40B4-BE49-F238E27FC236}">
                <a16:creationId xmlns:a16="http://schemas.microsoft.com/office/drawing/2014/main" id="{B1DA722E-A132-74E6-6CB9-7076E9D6A104}"/>
              </a:ext>
            </a:extLst>
          </p:cNvPr>
          <p:cNvPicPr>
            <a:picLocks noChangeAspect="1"/>
          </p:cNvPicPr>
          <p:nvPr/>
        </p:nvPicPr>
        <p:blipFill>
          <a:blip r:embed="rId5"/>
          <a:stretch>
            <a:fillRect/>
          </a:stretch>
        </p:blipFill>
        <p:spPr>
          <a:xfrm>
            <a:off x="3153363" y="3785067"/>
            <a:ext cx="1374052" cy="494873"/>
          </a:xfrm>
          <a:prstGeom prst="rect">
            <a:avLst/>
          </a:prstGeom>
        </p:spPr>
      </p:pic>
      <p:sp>
        <p:nvSpPr>
          <p:cNvPr id="33" name="Shape 8">
            <a:extLst>
              <a:ext uri="{FF2B5EF4-FFF2-40B4-BE49-F238E27FC236}">
                <a16:creationId xmlns:a16="http://schemas.microsoft.com/office/drawing/2014/main" id="{0D327E15-D929-4152-2770-830D4603AE3E}"/>
              </a:ext>
            </a:extLst>
          </p:cNvPr>
          <p:cNvSpPr/>
          <p:nvPr/>
        </p:nvSpPr>
        <p:spPr>
          <a:xfrm>
            <a:off x="5096134"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34" name="Image 3" descr="C:/Users/neuma_p1qrsic/Repo/agentic-ops1/.scratch/deckgen/logos/siemens.png">
            <a:extLst>
              <a:ext uri="{FF2B5EF4-FFF2-40B4-BE49-F238E27FC236}">
                <a16:creationId xmlns:a16="http://schemas.microsoft.com/office/drawing/2014/main" id="{B6662C67-5CDE-7B33-92F8-1F37F52B69D8}"/>
              </a:ext>
            </a:extLst>
          </p:cNvPr>
          <p:cNvPicPr>
            <a:picLocks noChangeAspect="1"/>
          </p:cNvPicPr>
          <p:nvPr/>
        </p:nvPicPr>
        <p:blipFill>
          <a:blip r:embed="rId6"/>
          <a:stretch>
            <a:fillRect/>
          </a:stretch>
        </p:blipFill>
        <p:spPr>
          <a:xfrm>
            <a:off x="5276083" y="3837169"/>
            <a:ext cx="1639530" cy="390669"/>
          </a:xfrm>
          <a:prstGeom prst="rect">
            <a:avLst/>
          </a:prstGeom>
        </p:spPr>
      </p:pic>
      <p:sp>
        <p:nvSpPr>
          <p:cNvPr id="35" name="Shape 9">
            <a:extLst>
              <a:ext uri="{FF2B5EF4-FFF2-40B4-BE49-F238E27FC236}">
                <a16:creationId xmlns:a16="http://schemas.microsoft.com/office/drawing/2014/main" id="{002CDEE2-0EE8-A0D2-15B9-2F9164EAA74B}"/>
              </a:ext>
            </a:extLst>
          </p:cNvPr>
          <p:cNvSpPr/>
          <p:nvPr/>
        </p:nvSpPr>
        <p:spPr>
          <a:xfrm>
            <a:off x="7351593"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36" name="Image 4" descr="C:/Users/neuma_p1qrsic/Repo/agentic-ops1/.scratch/deckgen/logos/yeti.png">
            <a:extLst>
              <a:ext uri="{FF2B5EF4-FFF2-40B4-BE49-F238E27FC236}">
                <a16:creationId xmlns:a16="http://schemas.microsoft.com/office/drawing/2014/main" id="{A60AC062-3543-3136-0D39-92399ACD6F82}"/>
              </a:ext>
            </a:extLst>
          </p:cNvPr>
          <p:cNvPicPr>
            <a:picLocks noChangeAspect="1"/>
          </p:cNvPicPr>
          <p:nvPr/>
        </p:nvPicPr>
        <p:blipFill>
          <a:blip r:embed="rId7"/>
          <a:stretch>
            <a:fillRect/>
          </a:stretch>
        </p:blipFill>
        <p:spPr>
          <a:xfrm>
            <a:off x="7531542" y="3807709"/>
            <a:ext cx="1639530" cy="449590"/>
          </a:xfrm>
          <a:prstGeom prst="rect">
            <a:avLst/>
          </a:prstGeom>
        </p:spPr>
      </p:pic>
      <p:sp>
        <p:nvSpPr>
          <p:cNvPr id="37" name="Shape 10">
            <a:extLst>
              <a:ext uri="{FF2B5EF4-FFF2-40B4-BE49-F238E27FC236}">
                <a16:creationId xmlns:a16="http://schemas.microsoft.com/office/drawing/2014/main" id="{F5777D6C-D135-C692-59A2-57A79B6FD755}"/>
              </a:ext>
            </a:extLst>
          </p:cNvPr>
          <p:cNvSpPr/>
          <p:nvPr/>
        </p:nvSpPr>
        <p:spPr>
          <a:xfrm>
            <a:off x="9607052" y="3657600"/>
            <a:ext cx="1999427" cy="749808"/>
          </a:xfrm>
          <a:prstGeom prst="roundRect">
            <a:avLst>
              <a:gd name="adj" fmla="val 17073"/>
            </a:avLst>
          </a:prstGeom>
          <a:solidFill>
            <a:srgbClr val="FFFFFF"/>
          </a:solidFill>
          <a:ln w="9525">
            <a:solidFill>
              <a:srgbClr val="36414F"/>
            </a:solidFill>
            <a:prstDash val="solid"/>
          </a:ln>
        </p:spPr>
        <p:txBody>
          <a:bodyPr/>
          <a:lstStyle/>
          <a:p>
            <a:endParaRPr lang="en-US"/>
          </a:p>
        </p:txBody>
      </p:sp>
      <p:pic>
        <p:nvPicPr>
          <p:cNvPr id="38" name="Image 5" descr="C:/Users/neuma_p1qrsic/Repo/agentic-ops1/.scratch/deckgen/logos/bat.png">
            <a:extLst>
              <a:ext uri="{FF2B5EF4-FFF2-40B4-BE49-F238E27FC236}">
                <a16:creationId xmlns:a16="http://schemas.microsoft.com/office/drawing/2014/main" id="{0848D3FA-394F-1DCA-E960-1E8DD8F3DAD2}"/>
              </a:ext>
            </a:extLst>
          </p:cNvPr>
          <p:cNvPicPr>
            <a:picLocks noChangeAspect="1"/>
          </p:cNvPicPr>
          <p:nvPr/>
        </p:nvPicPr>
        <p:blipFill>
          <a:blip r:embed="rId8"/>
          <a:stretch>
            <a:fillRect/>
          </a:stretch>
        </p:blipFill>
        <p:spPr>
          <a:xfrm>
            <a:off x="10025630" y="3785067"/>
            <a:ext cx="1162271" cy="494873"/>
          </a:xfrm>
          <a:prstGeom prst="rect">
            <a:avLst/>
          </a:prstGeom>
        </p:spPr>
      </p:pic>
      <p:sp>
        <p:nvSpPr>
          <p:cNvPr id="39" name="Text 11">
            <a:extLst>
              <a:ext uri="{FF2B5EF4-FFF2-40B4-BE49-F238E27FC236}">
                <a16:creationId xmlns:a16="http://schemas.microsoft.com/office/drawing/2014/main" id="{65C13D71-DF68-E117-C2D1-CB3AD575557D}"/>
              </a:ext>
            </a:extLst>
          </p:cNvPr>
          <p:cNvSpPr/>
          <p:nvPr/>
        </p:nvSpPr>
        <p:spPr>
          <a:xfrm>
            <a:off x="585216" y="4754880"/>
            <a:ext cx="5486400" cy="256032"/>
          </a:xfrm>
          <a:prstGeom prst="rect">
            <a:avLst/>
          </a:prstGeom>
          <a:noFill/>
          <a:ln/>
        </p:spPr>
        <p:txBody>
          <a:bodyPr wrap="square" rtlCol="0" anchor="ctr"/>
          <a:lstStyle/>
          <a:p>
            <a:pPr marL="0" indent="0">
              <a:buNone/>
            </a:pPr>
            <a:r>
              <a:rPr lang="en-US" sz="1050" b="1" kern="0" spc="200" dirty="0">
                <a:solidFill>
                  <a:srgbClr val="7C8A9B"/>
                </a:solidFill>
                <a:latin typeface="Segoe UI Semibold" pitchFamily="34" charset="0"/>
                <a:ea typeface="Segoe UI Semibold" pitchFamily="34" charset="-122"/>
                <a:cs typeface="Segoe UI Semibold" pitchFamily="34" charset="-120"/>
              </a:rPr>
              <a:t>MARKET DATA PROVIDERS</a:t>
            </a:r>
            <a:endParaRPr lang="en-US" sz="1050" dirty="0"/>
          </a:p>
        </p:txBody>
      </p:sp>
      <p:sp>
        <p:nvSpPr>
          <p:cNvPr id="40" name="Shape 12">
            <a:extLst>
              <a:ext uri="{FF2B5EF4-FFF2-40B4-BE49-F238E27FC236}">
                <a16:creationId xmlns:a16="http://schemas.microsoft.com/office/drawing/2014/main" id="{040F3A7C-2AF4-E525-7374-0CCDFB18E8FF}"/>
              </a:ext>
            </a:extLst>
          </p:cNvPr>
          <p:cNvSpPr/>
          <p:nvPr/>
        </p:nvSpPr>
        <p:spPr>
          <a:xfrm>
            <a:off x="585216"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41" name="Image 6" descr="C:/Users/neuma_p1qrsic/Repo/agentic-ops1/.scratch/deckgen/logos/bloomberg.png">
            <a:extLst>
              <a:ext uri="{FF2B5EF4-FFF2-40B4-BE49-F238E27FC236}">
                <a16:creationId xmlns:a16="http://schemas.microsoft.com/office/drawing/2014/main" id="{540257A1-B029-8D99-16B1-D8274A3CC7E0}"/>
              </a:ext>
            </a:extLst>
          </p:cNvPr>
          <p:cNvPicPr>
            <a:picLocks noChangeAspect="1"/>
          </p:cNvPicPr>
          <p:nvPr/>
        </p:nvPicPr>
        <p:blipFill>
          <a:blip r:embed="rId9"/>
          <a:stretch>
            <a:fillRect/>
          </a:stretch>
        </p:blipFill>
        <p:spPr>
          <a:xfrm>
            <a:off x="815912" y="5155696"/>
            <a:ext cx="2101899" cy="423664"/>
          </a:xfrm>
          <a:prstGeom prst="rect">
            <a:avLst/>
          </a:prstGeom>
        </p:spPr>
      </p:pic>
      <p:sp>
        <p:nvSpPr>
          <p:cNvPr id="42" name="Shape 13">
            <a:extLst>
              <a:ext uri="{FF2B5EF4-FFF2-40B4-BE49-F238E27FC236}">
                <a16:creationId xmlns:a16="http://schemas.microsoft.com/office/drawing/2014/main" id="{C89A3673-CDB8-E4DD-F8A5-FF0EDD544E45}"/>
              </a:ext>
            </a:extLst>
          </p:cNvPr>
          <p:cNvSpPr/>
          <p:nvPr/>
        </p:nvSpPr>
        <p:spPr>
          <a:xfrm>
            <a:off x="3404540"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43" name="Image 7" descr="C:/Users/neuma_p1qrsic/Repo/agentic-ops1/.scratch/deckgen/logos/lseg.png">
            <a:extLst>
              <a:ext uri="{FF2B5EF4-FFF2-40B4-BE49-F238E27FC236}">
                <a16:creationId xmlns:a16="http://schemas.microsoft.com/office/drawing/2014/main" id="{1627B8E0-8240-FA3A-47F5-395CE6857791}"/>
              </a:ext>
            </a:extLst>
          </p:cNvPr>
          <p:cNvPicPr>
            <a:picLocks noChangeAspect="1"/>
          </p:cNvPicPr>
          <p:nvPr/>
        </p:nvPicPr>
        <p:blipFill>
          <a:blip r:embed="rId10"/>
          <a:stretch>
            <a:fillRect/>
          </a:stretch>
        </p:blipFill>
        <p:spPr>
          <a:xfrm>
            <a:off x="3791080" y="5132161"/>
            <a:ext cx="1790212" cy="470733"/>
          </a:xfrm>
          <a:prstGeom prst="rect">
            <a:avLst/>
          </a:prstGeom>
        </p:spPr>
      </p:pic>
      <p:sp>
        <p:nvSpPr>
          <p:cNvPr id="44" name="Shape 14">
            <a:extLst>
              <a:ext uri="{FF2B5EF4-FFF2-40B4-BE49-F238E27FC236}">
                <a16:creationId xmlns:a16="http://schemas.microsoft.com/office/drawing/2014/main" id="{7949407F-62CC-710F-266C-E20AEA0EB123}"/>
              </a:ext>
            </a:extLst>
          </p:cNvPr>
          <p:cNvSpPr/>
          <p:nvPr/>
        </p:nvSpPr>
        <p:spPr>
          <a:xfrm>
            <a:off x="6223864"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45" name="Image 8" descr="C:/Users/neuma_p1qrsic/Repo/agentic-ops1/.scratch/deckgen/logos/ice.png">
            <a:extLst>
              <a:ext uri="{FF2B5EF4-FFF2-40B4-BE49-F238E27FC236}">
                <a16:creationId xmlns:a16="http://schemas.microsoft.com/office/drawing/2014/main" id="{30B1307E-6677-4E51-611B-7EBC6314016B}"/>
              </a:ext>
            </a:extLst>
          </p:cNvPr>
          <p:cNvPicPr>
            <a:picLocks noChangeAspect="1"/>
          </p:cNvPicPr>
          <p:nvPr/>
        </p:nvPicPr>
        <p:blipFill>
          <a:blip r:embed="rId11"/>
          <a:stretch>
            <a:fillRect/>
          </a:stretch>
        </p:blipFill>
        <p:spPr>
          <a:xfrm>
            <a:off x="7270143" y="5132161"/>
            <a:ext cx="470733" cy="470733"/>
          </a:xfrm>
          <a:prstGeom prst="rect">
            <a:avLst/>
          </a:prstGeom>
        </p:spPr>
      </p:pic>
      <p:sp>
        <p:nvSpPr>
          <p:cNvPr id="46" name="Shape 15">
            <a:extLst>
              <a:ext uri="{FF2B5EF4-FFF2-40B4-BE49-F238E27FC236}">
                <a16:creationId xmlns:a16="http://schemas.microsoft.com/office/drawing/2014/main" id="{53742621-C083-D5CE-D536-14C664AC991A}"/>
              </a:ext>
            </a:extLst>
          </p:cNvPr>
          <p:cNvSpPr/>
          <p:nvPr/>
        </p:nvSpPr>
        <p:spPr>
          <a:xfrm>
            <a:off x="9043187" y="5010912"/>
            <a:ext cx="2563292" cy="713232"/>
          </a:xfrm>
          <a:prstGeom prst="roundRect">
            <a:avLst>
              <a:gd name="adj" fmla="val 17949"/>
            </a:avLst>
          </a:prstGeom>
          <a:solidFill>
            <a:srgbClr val="FFFFFF"/>
          </a:solidFill>
          <a:ln w="9525">
            <a:solidFill>
              <a:srgbClr val="36414F"/>
            </a:solidFill>
            <a:prstDash val="solid"/>
          </a:ln>
        </p:spPr>
        <p:txBody>
          <a:bodyPr/>
          <a:lstStyle/>
          <a:p>
            <a:endParaRPr lang="en-US"/>
          </a:p>
        </p:txBody>
      </p:sp>
      <p:pic>
        <p:nvPicPr>
          <p:cNvPr id="47" name="Image 9" descr="C:/Users/neuma_p1qrsic/Repo/agentic-ops1/.scratch/deckgen/logos/cme.png">
            <a:extLst>
              <a:ext uri="{FF2B5EF4-FFF2-40B4-BE49-F238E27FC236}">
                <a16:creationId xmlns:a16="http://schemas.microsoft.com/office/drawing/2014/main" id="{F87D4B5E-3F19-AA89-0197-5BC8ACE3D788}"/>
              </a:ext>
            </a:extLst>
          </p:cNvPr>
          <p:cNvPicPr>
            <a:picLocks noChangeAspect="1"/>
          </p:cNvPicPr>
          <p:nvPr/>
        </p:nvPicPr>
        <p:blipFill>
          <a:blip r:embed="rId12"/>
          <a:stretch>
            <a:fillRect/>
          </a:stretch>
        </p:blipFill>
        <p:spPr>
          <a:xfrm>
            <a:off x="9273884" y="5205780"/>
            <a:ext cx="2101899" cy="323495"/>
          </a:xfrm>
          <a:prstGeom prst="rect">
            <a:avLst/>
          </a:prstGeom>
        </p:spPr>
      </p:pic>
    </p:spTree>
    <p:extLst>
      <p:ext uri="{BB962C8B-B14F-4D97-AF65-F5344CB8AC3E}">
        <p14:creationId xmlns:p14="http://schemas.microsoft.com/office/powerpoint/2010/main" val="1369970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3072384" y="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4443984" y="137160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pic>
        <p:nvPicPr>
          <p:cNvPr id="4" name="Image 0" descr="C:/Users/neuma_p1qrsic/Repo/agentic-ops1/.scratch/brisken-logo-light.png"/>
          <p:cNvPicPr>
            <a:picLocks noChangeAspect="1"/>
          </p:cNvPicPr>
          <p:nvPr/>
        </p:nvPicPr>
        <p:blipFill>
          <a:blip r:embed="rId3"/>
          <a:stretch>
            <a:fillRect/>
          </a:stretch>
        </p:blipFill>
        <p:spPr>
          <a:xfrm>
            <a:off x="5312664" y="1417320"/>
            <a:ext cx="1554480" cy="338328"/>
          </a:xfrm>
          <a:prstGeom prst="rect">
            <a:avLst/>
          </a:prstGeom>
        </p:spPr>
      </p:pic>
      <p:sp>
        <p:nvSpPr>
          <p:cNvPr id="5" name="Text 2"/>
          <p:cNvSpPr/>
          <p:nvPr/>
        </p:nvSpPr>
        <p:spPr>
          <a:xfrm>
            <a:off x="914400" y="2514600"/>
            <a:ext cx="10360152" cy="1005840"/>
          </a:xfrm>
          <a:prstGeom prst="rect">
            <a:avLst/>
          </a:prstGeom>
          <a:noFill/>
          <a:ln/>
        </p:spPr>
        <p:txBody>
          <a:bodyPr wrap="square" rtlCol="0" anchor="ctr"/>
          <a:lstStyle/>
          <a:p>
            <a:pPr marL="0" indent="0" algn="ctr">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828800" y="3611880"/>
            <a:ext cx="8531352" cy="822960"/>
          </a:xfrm>
          <a:prstGeom prst="rect">
            <a:avLst/>
          </a:prstGeom>
          <a:noFill/>
          <a:ln/>
        </p:spPr>
        <p:txBody>
          <a:bodyPr wrap="square" rtlCol="0" anchor="ctr"/>
          <a:lstStyle/>
          <a:p>
            <a:pPr marL="0" indent="0" algn="ctr">
              <a:lnSpc>
                <a:spcPct val="125000"/>
              </a:lnSpc>
              <a:buNone/>
            </a:pPr>
            <a:r>
              <a:rPr lang="en-US" sz="1700" dirty="0">
                <a:solidFill>
                  <a:srgbClr val="C4CEDA"/>
                </a:solidFill>
                <a:latin typeface="Segoe UI" pitchFamily="34" charset="0"/>
                <a:ea typeface="Segoe UI" pitchFamily="34" charset="-122"/>
                <a:cs typeface="Segoe UI" pitchFamily="34" charset="-120"/>
              </a:rPr>
              <a:t>Give us twenty minutes on where your market data comes from, and we will show you one governed source feeding every system.</a:t>
            </a:r>
            <a:endParaRPr lang="en-US" sz="1700" dirty="0"/>
          </a:p>
        </p:txBody>
      </p:sp>
      <p:sp>
        <p:nvSpPr>
          <p:cNvPr id="7" name="Shape 4">
            <a:hlinkClick r:id="rId4"/>
          </p:cNvPr>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3575304" y="4754880"/>
            <a:ext cx="5029200" cy="658368"/>
          </a:xfrm>
          <a:prstGeom prst="rect">
            <a:avLst/>
          </a:prstGeom>
          <a:noFill/>
          <a:ln/>
        </p:spPr>
        <p:txBody>
          <a:bodyPr wrap="square" rtlCol="0" anchor="ctr"/>
          <a:lstStyle/>
          <a:p>
            <a:pPr marL="0" indent="0" algn="ctr">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marL="0" indent="0" algn="ctr">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ADFA678-938A-A241-AC13-CCC135DC9849}">
  <we:reference id="f5f369e5-aa35-49d7-ad7b-638152ddb008" version="1.0.0.1" store="EXCatalog" storeType="EXCatalog"/>
  <we:alternateReferences>
    <we:reference id="WA200010001" version="1.0.0.1" store="en-US" storeType="OMEX"/>
  </we:alternateReferences>
  <we:properties>
    <we:property name="claude.fileId" value="&quot;67d6d74a-050f-40cd-ac67-7e3ad38ee55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f7c12939-211d-4aac-95d7-b8d38b675650">
      <Terms xmlns="http://schemas.microsoft.com/office/infopath/2007/PartnerControls"/>
    </lcf76f155ced4ddcb4097134ff3c332f>
    <_ip_UnifiedCompliancePolicyProperties xmlns="http://schemas.microsoft.com/sharepoint/v3" xsi:nil="true"/>
    <TaxCatchAll xmlns="e9089a15-9498-4149-a6f3-b4bc8e4d21a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36004C6954FC41BFA5A9934AAC0872" ma:contentTypeVersion="24" ma:contentTypeDescription="Create a new document." ma:contentTypeScope="" ma:versionID="1cf73f14b085dc989d6ca704a5f7b696">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d257115e6736aa2126af141fdcd75720"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2F736D-DC26-40F4-9F5A-C48CF08FE95D}">
  <ds:schemaRefs>
    <ds:schemaRef ds:uri="http://schemas.microsoft.com/sharepoint/v3"/>
    <ds:schemaRef ds:uri="http://www.w3.org/XML/1998/namespace"/>
    <ds:schemaRef ds:uri="http://schemas.microsoft.com/office/2006/metadata/properties"/>
    <ds:schemaRef ds:uri="http://purl.org/dc/terms/"/>
    <ds:schemaRef ds:uri="http://schemas.microsoft.com/office/infopath/2007/PartnerControls"/>
    <ds:schemaRef ds:uri="e9089a15-9498-4149-a6f3-b4bc8e4d21ac"/>
    <ds:schemaRef ds:uri="http://purl.org/dc/elements/1.1/"/>
    <ds:schemaRef ds:uri="http://schemas.microsoft.com/office/2006/documentManagement/types"/>
    <ds:schemaRef ds:uri="http://schemas.openxmlformats.org/package/2006/metadata/core-properties"/>
    <ds:schemaRef ds:uri="f7c12939-211d-4aac-95d7-b8d38b675650"/>
    <ds:schemaRef ds:uri="http://purl.org/dc/dcmitype/"/>
  </ds:schemaRefs>
</ds:datastoreItem>
</file>

<file path=customXml/itemProps2.xml><?xml version="1.0" encoding="utf-8"?>
<ds:datastoreItem xmlns:ds="http://schemas.openxmlformats.org/officeDocument/2006/customXml" ds:itemID="{8F561F51-E5D5-4B2B-AD66-9C8E468EC1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c12939-211d-4aac-95d7-b8d38b675650"/>
    <ds:schemaRef ds:uri="e9089a15-9498-4149-a6f3-b4bc8e4d2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F6C671-B130-4763-AD83-B0443DD21A33}">
  <ds:schemaRefs>
    <ds:schemaRef ds:uri="http://schemas.microsoft.com/sharepoint/v3/contenttype/forms"/>
  </ds:schemaRefs>
</ds:datastoreItem>
</file>

<file path=docMetadata/LabelInfo.xml><?xml version="1.0" encoding="utf-8"?>
<clbl:labelList xmlns:clbl="http://schemas.microsoft.com/office/2020/mipLabelMetadata">
  <clbl:label id="{c5f3e595-28df-4b6d-866e-5db0c24f0139}" enabled="1" method="Standard" siteId="{aa3bd2bf-9c6e-4f49-9c4f-44f878ae9e74}" removed="0"/>
</clbl:labelList>
</file>

<file path=docProps/app.xml><?xml version="1.0" encoding="utf-8"?>
<Properties xmlns="http://schemas.openxmlformats.org/officeDocument/2006/extended-properties" xmlns:vt="http://schemas.openxmlformats.org/officeDocument/2006/docPropsVTypes">
  <TotalTime>695</TotalTime>
  <Words>1155</Words>
  <Application>Microsoft Macintosh PowerPoint</Application>
  <PresentationFormat>Widescreen</PresentationFormat>
  <Paragraphs>157</Paragraphs>
  <Slides>13</Slides>
  <Notes>13</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Dirk Neumann</cp:lastModifiedBy>
  <cp:revision>2</cp:revision>
  <dcterms:created xsi:type="dcterms:W3CDTF">2026-07-07T18:10:09Z</dcterms:created>
  <dcterms:modified xsi:type="dcterms:W3CDTF">2026-07-09T11:47:01Z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0x0101002E36004C6954FC41BFA5A9934AAC0872</vt:lpwstr>
  </property>
  <property fmtid="{D5CDD505-2E9C-101B-9397-08002B2CF9AE}" pid="3" name="MediaServiceImageTags">
    <vt:lpwstr/>
  </property>
</Properties>
</file>