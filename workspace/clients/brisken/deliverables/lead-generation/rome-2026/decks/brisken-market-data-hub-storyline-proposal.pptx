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sldIdLst>
    <p:sldId id="256" r:id="rId5"/>
    <p:sldId id="293" r:id="rId24"/>
    <p:sldId id="270" r:id="rId6"/>
    <p:sldId id="271" r:id="rId7"/>
    <p:sldId id="295" r:id="rId26"/>
    <p:sldId id="296" r:id="rId27"/>
    <p:sldId id="294" r:id="rId25"/>
    <p:sldId id="297" r:id="rId28"/>
    <p:sldId id="298" r:id="rId29"/>
    <p:sldId id="299" r:id="rId30"/>
    <p:sldId id="265" r:id="rId14"/>
    <p:sldId id="272" r:id="rId8"/>
    <p:sldId id="292" r:id="rId16"/>
    <p:sldId id="267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635D36-BAB7-8C4E-8C39-B17451E32DD3}" v="3" dt="2026-07-09T23:10:47.5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6301"/>
  </p:normalViewPr>
  <p:slideViewPr>
    <p:cSldViewPr snapToGrid="0" snapToObjects="1">
      <p:cViewPr varScale="1">
        <p:scale>
          <a:sx n="96" d="100"/>
          <a:sy n="96" d="100"/>
        </p:scale>
        <p:origin x="200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4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23" Type="http://schemas.microsoft.com/office/2015/10/relationships/revisionInfo" Target="revisionInfo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4596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CE29E-A60D-236A-E36C-425460085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74C709-FE04-12A2-607C-94212C4D0F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1F727C-5C47-AD2E-D79F-ABDB059B52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3D685-7DF6-37A0-2460-40AA23B2D9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8619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?>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6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/Relationships>
</file>

<file path=ppt/slides/_rels/slide12.xml.rels><?xml version="1.0" encoding="UTF-8"?>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dirk.neumann@brisken.com?subject=Meeting%20request%3A%20Market%20Data%20Hub&amp;body=Hi%20Dirk%2C%0D%0A%0D%0AI%27d%20like%20to%20schedule%2020%20minutes%20to%20discuss%20how%20Market%20Data%20Hub%20could%20work%20for%20our%20market%20data%20setup.%0D%0A%0D%0ABest%20regards%2C" TargetMode="Externa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5.png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6.png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7.png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8.png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097280"/>
            <a:ext cx="6035040" cy="6035040"/>
          </a:xfrm>
          <a:prstGeom prst="ellipse">
            <a:avLst/>
          </a:prstGeom>
          <a:solidFill>
            <a:srgbClr val="3BE3E0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321040" y="274320"/>
            <a:ext cx="3291840" cy="3291840"/>
          </a:xfrm>
          <a:prstGeom prst="ellipse">
            <a:avLst/>
          </a:prstGeom>
          <a:solidFill>
            <a:srgbClr val="3BE3E0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737360" y="3017520"/>
            <a:ext cx="6035040" cy="6035040"/>
          </a:xfrm>
          <a:prstGeom prst="ellipse">
            <a:avLst/>
          </a:prstGeom>
          <a:solidFill>
            <a:srgbClr val="5A6BFF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-365760" y="4389120"/>
            <a:ext cx="3291840" cy="3291840"/>
          </a:xfrm>
          <a:prstGeom prst="ellipse">
            <a:avLst/>
          </a:prstGeom>
          <a:solidFill>
            <a:srgbClr val="5A6BFF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C:/Users/neuma_p1qrsic/Repo/agentic-ops1/.scratch/brisken-logo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48640"/>
            <a:ext cx="1417320" cy="3108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2624328"/>
            <a:ext cx="45720" cy="219456"/>
          </a:xfrm>
          <a:prstGeom prst="rect">
            <a:avLst/>
          </a:prstGeom>
          <a:solidFill>
            <a:srgbClr val="3BE3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13232" y="2551176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ONEPILOT · MARKET DATA HUB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39496" y="288036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Market Data Hub</a:t>
            </a:r>
            <a:endParaRPr lang="en-US" sz="7000" dirty="0"/>
          </a:p>
        </p:txBody>
      </p:sp>
      <p:sp>
        <p:nvSpPr>
          <p:cNvPr id="10" name="Text 7"/>
          <p:cNvSpPr/>
          <p:nvPr/>
        </p:nvSpPr>
        <p:spPr>
          <a:xfrm>
            <a:off x="566928" y="420624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Every rate and reference you rely on, from any source to every system. </a:t>
            </a:r>
            <a:r>
              <a:rPr lang="en-US" sz="2000" dirty="0">
                <a:solidFill>
                  <a:srgbClr val="3BE3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Curated once, governed end to end.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66928" y="553212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1B2330"/>
          </a:solidFill>
          <a:ln w="15240">
            <a:solidFill>
              <a:srgbClr val="3B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C:/Users/neuma_p1qrsic/Repo/agentic-ops1/.scratch/icons/ven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991" y="5668183"/>
            <a:ext cx="294803" cy="294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52728" y="553212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3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data sources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813048" y="5815584"/>
            <a:ext cx="640080" cy="0"/>
          </a:xfrm>
          <a:prstGeom prst="line">
            <a:avLst/>
          </a:prstGeom>
          <a:noFill/>
          <a:ln w="25400">
            <a:solidFill>
              <a:srgbClr val="3BE3E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4544568" y="553212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BE3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Data Hub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510528" y="5815584"/>
            <a:ext cx="640080" cy="0"/>
          </a:xfrm>
          <a:prstGeom prst="line">
            <a:avLst/>
          </a:prstGeom>
          <a:noFill/>
          <a:ln w="25400">
            <a:solidFill>
              <a:srgbClr val="3BE3E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287768" y="553212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1B2330"/>
          </a:solidFill>
          <a:ln w="15240">
            <a:solidFill>
              <a:srgbClr val="3B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C:/Users/neuma_p1qrsic/Repo/agentic-ops1/.scratch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3831" y="5668183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973568" y="553212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3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system, SAP and beyond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85216"/>
            <a:ext cx="45720" cy="219456"/>
          </a:xfrm>
          <a:prstGeom prst="rect">
            <a:avLst/>
          </a:prstGeom>
          <a:solidFill>
            <a:srgbClr val="3BE3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51206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WAY IT WORKS TODAY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96012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Every feed into SAP is a Datafeed RFC or a script.
</a:t>
            </a:r>
            <a:r>
              <a:rPr lang="en-US" sz="3300" b="1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Built in ABAP, and it breaks when a field changes.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66928" y="3246120"/>
            <a:ext cx="3246120" cy="1874520"/>
          </a:xfrm>
          <a:prstGeom prst="roundRect">
            <a:avLst>
              <a:gd name="adj" fmla="val 4390"/>
            </a:avLst>
          </a:prstGeom>
          <a:solidFill>
            <a:srgbClr val="141A25"/>
          </a:solidFill>
          <a:ln w="13970">
            <a:solidFill>
              <a:srgbClr val="36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41248" y="3566160"/>
            <a:ext cx="603504" cy="603504"/>
          </a:xfrm>
          <a:prstGeom prst="roundRect">
            <a:avLst>
              <a:gd name="adj" fmla="val 16667"/>
            </a:avLst>
          </a:prstGeom>
          <a:solidFill>
            <a:srgbClr val="1B2330"/>
          </a:solidFill>
          <a:ln w="15240">
            <a:solidFill>
              <a:srgbClr val="3B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C:/Users/neuma_p1qrsic/Repo/agentic-ops1/.scratch/icons/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089" y="3711001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43434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Your sources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41248" y="46634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Bloomberg, LSEG, 360T, OANDA, central banks, websites, anywhere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70248" y="3246120"/>
            <a:ext cx="3657600" cy="1874520"/>
          </a:xfrm>
          <a:prstGeom prst="roundRect">
            <a:avLst>
              <a:gd name="adj" fmla="val 4390"/>
            </a:avLst>
          </a:prstGeom>
          <a:solidFill>
            <a:srgbClr val="24190E"/>
          </a:solidFill>
          <a:ln w="17780">
            <a:solidFill>
              <a:srgbClr val="FFC96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C:/Users/neuma_p1qrsic/Repo/agentic-ops1/.scratch/icons/g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7296" y="3538728"/>
            <a:ext cx="603504" cy="6035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70248" y="42702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C96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manual middle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374573" y="4617720"/>
            <a:ext cx="344978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F3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re-keying rates, fixing formats, chasing bad values, reconciling by hand, fearing month-end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385048" y="3246120"/>
            <a:ext cx="3239719" cy="1874520"/>
          </a:xfrm>
          <a:prstGeom prst="roundRect">
            <a:avLst>
              <a:gd name="adj" fmla="val 4390"/>
            </a:avLst>
          </a:prstGeom>
          <a:solidFill>
            <a:srgbClr val="141A25"/>
          </a:solidFill>
          <a:ln w="13970">
            <a:solidFill>
              <a:srgbClr val="36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659368" y="3566160"/>
            <a:ext cx="603504" cy="603504"/>
          </a:xfrm>
          <a:prstGeom prst="roundRect">
            <a:avLst>
              <a:gd name="adj" fmla="val 16667"/>
            </a:avLst>
          </a:prstGeom>
          <a:solidFill>
            <a:srgbClr val="1B2330"/>
          </a:solidFill>
          <a:ln w="15240">
            <a:solidFill>
              <a:srgbClr val="3B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C:/Users/neuma_p1qrsic/Repo/agentic-ops1/.scratch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4209" y="3711001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59368" y="4343400"/>
            <a:ext cx="269107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Your systems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659368" y="4663440"/>
            <a:ext cx="269107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SAP, analytics, non-SAP apps, everywhere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3813048" y="4183380"/>
            <a:ext cx="457200" cy="0"/>
          </a:xfrm>
          <a:prstGeom prst="line">
            <a:avLst/>
          </a:prstGeom>
          <a:noFill/>
          <a:ln w="25400">
            <a:solidFill>
              <a:srgbClr val="FFC96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7927848" y="4183380"/>
            <a:ext cx="457200" cy="0"/>
          </a:xfrm>
          <a:prstGeom prst="line">
            <a:avLst/>
          </a:prstGeom>
          <a:noFill/>
          <a:ln w="25400">
            <a:solidFill>
              <a:srgbClr val="FFC96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566928" y="55321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71% of US SAP-treasury roles describe building or hand-running integrations into SAP, or manual data work (29 of 41). </a:t>
            </a:r>
            <a:r>
              <a:rPr lang="en-US" sz="950" dirty="0">
                <a:solidFill>
                  <a:srgbClr val="7C8A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Brisken Shadow Integration Report, N=41 US SAP-treasury job ads. Market research, not a Market Data Hub performance metric.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Brisken</a:t>
            </a:r>
            <a:r>
              <a:rPr lang="en-US" sz="900" dirty="0">
                <a:solidFill>
                  <a:srgbClr val="7C8A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  Market Data Hub, part of OnePilot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0527487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12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36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551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hat It Is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566928" y="585216"/>
            <a:ext cx="45720" cy="219456"/>
          </a:xfrm>
          <a:prstGeom prst="rect">
            <a:avLst/>
          </a:prstGeom>
          <a:solidFill>
            <a:srgbClr val="3BE3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Eyebrow"/>
          <p:cNvSpPr/>
          <p:nvPr/>
        </p:nvSpPr>
        <p:spPr>
          <a:xfrm>
            <a:off x="713232" y="51206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 xml:space="preserve">WHAT IT IS</a:t>
            </a:r>
          </a:p>
        </p:txBody>
      </p:sp>
      <p:sp>
        <p:nvSpPr>
          <p:cNvPr id="4" name="Headline"/>
          <p:cNvSpPr/>
          <p:nvPr/>
        </p:nvSpPr>
        <p:spPr>
          <a:xfrm>
            <a:off x="566928" y="895000"/>
            <a:ext cx="10881360" cy="6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kern="0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 xml:space="preserve">One managed pipeline, provider to SAP.</a:t>
            </a:r>
          </a:p>
        </p:txBody>
      </p:sp>
      <p:sp>
        <p:nvSpPr>
          <p:cNvPr id="5" name="Sub"/>
          <p:cNvSpPr/>
          <p:nvPr/>
        </p:nvSpPr>
        <p:spPr>
          <a:xfrm>
            <a:off x="566928" y="1580000"/>
            <a:ext cx="10881360" cy="7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kern="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Connect a provider once, and every rate is normalized, validated, governed and delivered into SAP the same way.</a:t>
            </a:r>
          </a:p>
        </p:txBody>
      </p:sp>
      <p:sp>
        <p:nvSpPr>
          <p:cNvPr id="50" name="InLabel"/>
          <p:cNvSpPr/>
          <p:nvPr/>
        </p:nvSpPr>
        <p:spPr>
          <a:xfrm>
            <a:off x="566928" y="2760000"/>
            <a:ext cx="1088136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 xml:space="preserve">EVERY PROVIDER IN</a:t>
            </a:r>
          </a:p>
        </p:txBody>
      </p:sp>
      <p:sp>
        <p:nvSpPr>
          <p:cNvPr id="51" name="InList"/>
          <p:cNvSpPr/>
          <p:nvPr/>
        </p:nvSpPr>
        <p:spPr>
          <a:xfrm>
            <a:off x="566928" y="3060000"/>
            <a:ext cx="10881360" cy="3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kern="0" dirty="0">
                <a:solidFill>
                  <a:srgbClr val="F3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Bloomberg · LSEG · ICE · CME · 360T · central banks</a:t>
            </a:r>
          </a:p>
        </p:txBody>
      </p:sp>
      <p:sp>
        <p:nvSpPr>
          <p:cNvPr id="100" name="Node Ingest"/>
          <p:cNvSpPr/>
          <p:nvPr/>
        </p:nvSpPr>
        <p:spPr>
          <a:xfrm>
            <a:off x="566928" y="3620000"/>
            <a:ext cx="1971568" cy="720000"/>
          </a:xfrm>
          <a:prstGeom prst="roundRect">
            <a:avLst>
              <a:gd name="adj" fmla="val 12000"/>
            </a:avLst>
          </a:prstGeom>
          <a:solidFill>
            <a:srgbClr val="141A25"/>
          </a:solidFill>
          <a:ln w="15240">
            <a:solidFill>
              <a:srgbClr val="3BE3E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Ingest</a:t>
            </a:r>
          </a:p>
        </p:txBody>
      </p:sp>
      <p:sp>
        <p:nvSpPr>
          <p:cNvPr id="101" name="Chevron 0"/>
          <p:cNvSpPr/>
          <p:nvPr/>
        </p:nvSpPr>
        <p:spPr>
          <a:xfrm>
            <a:off x="2498496" y="3620000"/>
            <a:ext cx="380000" cy="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 xml:space="preserve">›</a:t>
            </a:r>
          </a:p>
        </p:txBody>
      </p:sp>
      <p:sp>
        <p:nvSpPr>
          <p:cNvPr id="102" name="Node Validate"/>
          <p:cNvSpPr/>
          <p:nvPr/>
        </p:nvSpPr>
        <p:spPr>
          <a:xfrm>
            <a:off x="2838496" y="3620000"/>
            <a:ext cx="1971568" cy="720000"/>
          </a:xfrm>
          <a:prstGeom prst="roundRect">
            <a:avLst>
              <a:gd name="adj" fmla="val 12000"/>
            </a:avLst>
          </a:prstGeom>
          <a:solidFill>
            <a:srgbClr val="141A25"/>
          </a:solidFill>
          <a:ln w="15240">
            <a:solidFill>
              <a:srgbClr val="3BE3E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Validate</a:t>
            </a:r>
          </a:p>
        </p:txBody>
      </p:sp>
      <p:sp>
        <p:nvSpPr>
          <p:cNvPr id="103" name="Chevron 1"/>
          <p:cNvSpPr/>
          <p:nvPr/>
        </p:nvSpPr>
        <p:spPr>
          <a:xfrm>
            <a:off x="4770064" y="3620000"/>
            <a:ext cx="380000" cy="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 xml:space="preserve">›</a:t>
            </a:r>
          </a:p>
        </p:txBody>
      </p:sp>
      <p:sp>
        <p:nvSpPr>
          <p:cNvPr id="104" name="Node Govern"/>
          <p:cNvSpPr/>
          <p:nvPr/>
        </p:nvSpPr>
        <p:spPr>
          <a:xfrm>
            <a:off x="5110064" y="3620000"/>
            <a:ext cx="1971568" cy="720000"/>
          </a:xfrm>
          <a:prstGeom prst="roundRect">
            <a:avLst>
              <a:gd name="adj" fmla="val 12000"/>
            </a:avLst>
          </a:prstGeom>
          <a:solidFill>
            <a:srgbClr val="141A25"/>
          </a:solidFill>
          <a:ln w="15240">
            <a:solidFill>
              <a:srgbClr val="3BE3E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Govern</a:t>
            </a:r>
          </a:p>
        </p:txBody>
      </p:sp>
      <p:sp>
        <p:nvSpPr>
          <p:cNvPr id="105" name="Chevron 2"/>
          <p:cNvSpPr/>
          <p:nvPr/>
        </p:nvSpPr>
        <p:spPr>
          <a:xfrm>
            <a:off x="7041632" y="3620000"/>
            <a:ext cx="380000" cy="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 xml:space="preserve">›</a:t>
            </a:r>
          </a:p>
        </p:txBody>
      </p:sp>
      <p:sp>
        <p:nvSpPr>
          <p:cNvPr id="106" name="Node Distribute"/>
          <p:cNvSpPr/>
          <p:nvPr/>
        </p:nvSpPr>
        <p:spPr>
          <a:xfrm>
            <a:off x="7381632" y="3620000"/>
            <a:ext cx="1971568" cy="720000"/>
          </a:xfrm>
          <a:prstGeom prst="roundRect">
            <a:avLst>
              <a:gd name="adj" fmla="val 12000"/>
            </a:avLst>
          </a:prstGeom>
          <a:solidFill>
            <a:srgbClr val="141A25"/>
          </a:solidFill>
          <a:ln w="15240">
            <a:solidFill>
              <a:srgbClr val="3BE3E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Distribute</a:t>
            </a:r>
          </a:p>
        </p:txBody>
      </p:sp>
      <p:sp>
        <p:nvSpPr>
          <p:cNvPr id="107" name="Chevron 3"/>
          <p:cNvSpPr/>
          <p:nvPr/>
        </p:nvSpPr>
        <p:spPr>
          <a:xfrm>
            <a:off x="9313200" y="3620000"/>
            <a:ext cx="380000" cy="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 xml:space="preserve">›</a:t>
            </a:r>
          </a:p>
        </p:txBody>
      </p:sp>
      <p:sp>
        <p:nvSpPr>
          <p:cNvPr id="108" name="Node Audit"/>
          <p:cNvSpPr/>
          <p:nvPr/>
        </p:nvSpPr>
        <p:spPr>
          <a:xfrm>
            <a:off x="9653200" y="3620000"/>
            <a:ext cx="1971568" cy="720000"/>
          </a:xfrm>
          <a:prstGeom prst="roundRect">
            <a:avLst>
              <a:gd name="adj" fmla="val 12000"/>
            </a:avLst>
          </a:prstGeom>
          <a:solidFill>
            <a:srgbClr val="141A25"/>
          </a:solidFill>
          <a:ln w="15240">
            <a:solidFill>
              <a:srgbClr val="3BE3E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Audit</a:t>
            </a:r>
          </a:p>
        </p:txBody>
      </p:sp>
      <p:sp>
        <p:nvSpPr>
          <p:cNvPr id="60" name="OutLabel"/>
          <p:cNvSpPr/>
          <p:nvPr/>
        </p:nvSpPr>
        <p:spPr>
          <a:xfrm>
            <a:off x="566928" y="4560000"/>
            <a:ext cx="1088136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 xml:space="preserve">INTO EVERY SYSTEM</a:t>
            </a:r>
          </a:p>
        </p:txBody>
      </p:sp>
      <p:sp>
        <p:nvSpPr>
          <p:cNvPr id="61" name="OutList"/>
          <p:cNvSpPr/>
          <p:nvPr/>
        </p:nvSpPr>
        <p:spPr>
          <a:xfrm>
            <a:off x="566928" y="4860000"/>
            <a:ext cx="10881360" cy="3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kern="0" dirty="0">
                <a:solidFill>
                  <a:srgbClr val="F3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SAP ECC and S/4HANA · non-SAP apps, databases and analytics</a:t>
            </a:r>
          </a:p>
        </p:txBody>
      </p:sp>
      <p:sp>
        <p:nvSpPr>
          <p:cNvPr id="70" name="Handoff"/>
          <p:cNvSpPr/>
          <p:nvPr/>
        </p:nvSpPr>
        <p:spPr>
          <a:xfrm>
            <a:off x="566928" y="5560000"/>
            <a:ext cx="10881360" cy="4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kern="0" dirty="0">
                <a:solidFill>
                  <a:srgbClr val="3BE3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Each of the next six pages is a real screen of this pipeline, in order.</a:t>
            </a:r>
          </a:p>
        </p:txBody>
      </p:sp>
      <p:sp>
        <p:nvSpPr>
          <p:cNvPr id="80" name="FooterBrand"/>
          <p:cNvSpPr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Brisken</a:t>
            </a:r>
            <a:r>
              <a:rPr lang="en-US" sz="900" dirty="0">
                <a:solidFill>
                  <a:srgbClr val="7C8A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  Market Data Hub, part of OnePilot</a:t>
            </a:r>
          </a:p>
        </p:txBody>
      </p:sp>
      <p:sp>
        <p:nvSpPr>
          <p:cNvPr id="81" name="FooterNum"/>
          <p:cNvSpPr/>
          <p:nvPr/>
        </p:nvSpPr>
        <p:spPr>
          <a:xfrm>
            <a:off x="10527487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12</a:t>
            </a:r>
          </a:p>
        </p:txBody>
      </p:sp>
      <p:sp>
        <p:nvSpPr>
          <p:cNvPr id="82" name="Divider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36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85216"/>
            <a:ext cx="45720" cy="219456"/>
          </a:xfrm>
          <a:prstGeom prst="rect">
            <a:avLst/>
          </a:prstGeom>
          <a:solidFill>
            <a:srgbClr val="3BE3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51206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IT FITS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 xml:space="preserve">What “one governed layer” </a:t>
            </a:r>
            <a:r>
              <a:rPr lang="en-US" sz="2800" b="1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looks like in practice.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2148839"/>
            <a:ext cx="5346040" cy="3291831"/>
          </a:xfrm>
          <a:prstGeom prst="roundRect">
            <a:avLst>
              <a:gd name="adj" fmla="val 2687"/>
            </a:avLst>
          </a:prstGeom>
          <a:solidFill>
            <a:srgbClr val="141A25"/>
          </a:solidFill>
          <a:ln w="13970">
            <a:solidFill>
              <a:srgbClr val="36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32688" y="2560320"/>
            <a:ext cx="777240" cy="777240"/>
          </a:xfrm>
          <a:prstGeom prst="roundRect">
            <a:avLst>
              <a:gd name="adj" fmla="val 12941"/>
            </a:avLst>
          </a:prstGeom>
          <a:solidFill>
            <a:srgbClr val="1B2330"/>
          </a:solidFill>
          <a:ln w="15240">
            <a:solidFill>
              <a:srgbClr val="3B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C:/Users/neuma_p1qrsic/Repo/agentic-ops1/.scratch/icons/l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226" y="2746858"/>
            <a:ext cx="404165" cy="4041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38528" y="2651760"/>
            <a:ext cx="370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Every feed, in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932688" y="3657600"/>
            <a:ext cx="46145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 any provider or feed, with nothing to swap out. Bloomberg, Refinitiv, 360T, OANDA, central banks, exchanges, government agencies, websites, your own internal data. Add or drop a source any time.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278728" y="2148839"/>
            <a:ext cx="5346040" cy="3291825"/>
          </a:xfrm>
          <a:prstGeom prst="roundRect">
            <a:avLst>
              <a:gd name="adj" fmla="val 2687"/>
            </a:avLst>
          </a:prstGeom>
          <a:solidFill>
            <a:srgbClr val="141A25"/>
          </a:solidFill>
          <a:ln w="13970">
            <a:solidFill>
              <a:srgbClr val="36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644488" y="2560320"/>
            <a:ext cx="777240" cy="777240"/>
          </a:xfrm>
          <a:prstGeom prst="roundRect">
            <a:avLst>
              <a:gd name="adj" fmla="val 12941"/>
            </a:avLst>
          </a:prstGeom>
          <a:solidFill>
            <a:srgbClr val="1B2330"/>
          </a:solidFill>
          <a:ln w="15240">
            <a:solidFill>
              <a:srgbClr val="3B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C:/Users/neuma_p1qrsic/Repo/agentic-ops1/.scratch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1025" y="2746858"/>
            <a:ext cx="404165" cy="40416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50328" y="2651760"/>
            <a:ext cx="370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Every system, out</a:t>
            </a:r>
            <a:endParaRPr lang="en-US" sz="2300" dirty="0"/>
          </a:p>
        </p:txBody>
      </p:sp>
      <p:sp>
        <p:nvSpPr>
          <p:cNvPr id="14" name="Text 10"/>
          <p:cNvSpPr/>
          <p:nvPr/>
        </p:nvSpPr>
        <p:spPr>
          <a:xfrm>
            <a:off x="6644488" y="3657600"/>
            <a:ext cx="46145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 the curated data into SAP ECC and S/4HANA, or any non-SAP system, database, website or analytics tool. Any protocol you use: API, ODATA, SFTP, email, Excel add-in. Push it or let them pull it.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Brisken</a:t>
            </a:r>
            <a:r>
              <a:rPr lang="en-US" sz="900" dirty="0">
                <a:solidFill>
                  <a:srgbClr val="7C8A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  Market Data Hub, part of OnePilot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0527487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12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36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946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85216"/>
            <a:ext cx="45720" cy="219456"/>
          </a:xfrm>
          <a:prstGeom prst="rect">
            <a:avLst/>
          </a:prstGeom>
          <a:solidFill>
            <a:srgbClr val="3BE3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51206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IT IS SAFE TO AUTOMATE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96012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controls are built in, not bolted on.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2194560"/>
            <a:ext cx="5346040" cy="1188720"/>
          </a:xfrm>
          <a:prstGeom prst="roundRect">
            <a:avLst>
              <a:gd name="adj" fmla="val 6154"/>
            </a:avLst>
          </a:prstGeom>
          <a:solidFill>
            <a:srgbClr val="141A25"/>
          </a:solidFill>
          <a:ln w="13970">
            <a:solidFill>
              <a:srgbClr val="36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2496312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1B2330"/>
          </a:solidFill>
          <a:ln w="15240">
            <a:solidFill>
              <a:srgbClr val="3B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C:/Users/neuma_p1qrsic/Repo/agentic-ops1/.scratch/icons/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023" y="2632375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72768" y="2414016"/>
            <a:ext cx="411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full audit trail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572768" y="2798064"/>
            <a:ext cx="411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value and every change is recorded, end to end.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78728" y="2194560"/>
            <a:ext cx="5346040" cy="1188720"/>
          </a:xfrm>
          <a:prstGeom prst="roundRect">
            <a:avLst>
              <a:gd name="adj" fmla="val 6154"/>
            </a:avLst>
          </a:prstGeom>
          <a:solidFill>
            <a:srgbClr val="141A25"/>
          </a:solidFill>
          <a:ln w="13970">
            <a:solidFill>
              <a:srgbClr val="36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534760" y="2496312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1B2330"/>
          </a:solidFill>
          <a:ln w="15240">
            <a:solidFill>
              <a:srgbClr val="3B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C:/Users/neuma_p1qrsic/Repo/agentic-ops1/.scratch/icon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0822" y="2632375"/>
            <a:ext cx="294803" cy="294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84568" y="2414016"/>
            <a:ext cx="411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Five anomaly checks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7284568" y="2798064"/>
            <a:ext cx="411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 deviation, variation, missing, stale and custom, before a rate moves.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66928" y="3547872"/>
            <a:ext cx="5346040" cy="1188720"/>
          </a:xfrm>
          <a:prstGeom prst="roundRect">
            <a:avLst>
              <a:gd name="adj" fmla="val 6154"/>
            </a:avLst>
          </a:prstGeom>
          <a:solidFill>
            <a:srgbClr val="141A25"/>
          </a:solidFill>
          <a:ln w="13970">
            <a:solidFill>
              <a:srgbClr val="36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22960" y="3849624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1B2330"/>
          </a:solidFill>
          <a:ln w="15240">
            <a:solidFill>
              <a:srgbClr val="3B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C:/Users/neuma_p1qrsic/Repo/agentic-ops1/.scratch/icons/do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9023" y="3985687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72768" y="3767328"/>
            <a:ext cx="411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Change requests with a reason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1572768" y="4151376"/>
            <a:ext cx="411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rate edit is captured, routed for approval, and logged.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278728" y="3547872"/>
            <a:ext cx="5346040" cy="1188720"/>
          </a:xfrm>
          <a:prstGeom prst="roundRect">
            <a:avLst>
              <a:gd name="adj" fmla="val 6154"/>
            </a:avLst>
          </a:prstGeom>
          <a:solidFill>
            <a:srgbClr val="141A25"/>
          </a:solidFill>
          <a:ln w="13970">
            <a:solidFill>
              <a:srgbClr val="36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534760" y="3849624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1B2330"/>
          </a:solidFill>
          <a:ln w="15240">
            <a:solidFill>
              <a:srgbClr val="3B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C:/Users/neuma_p1qrsic/Repo/agentic-ops1/.scratch/icons/targe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70822" y="3985687"/>
            <a:ext cx="294803" cy="29480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84568" y="3767328"/>
            <a:ext cx="411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Audited to the target</a:t>
            </a:r>
            <a:endParaRPr lang="en-US" sz="1650" dirty="0"/>
          </a:p>
        </p:txBody>
      </p:sp>
      <p:sp>
        <p:nvSpPr>
          <p:cNvPr id="24" name="Text 18"/>
          <p:cNvSpPr/>
          <p:nvPr/>
        </p:nvSpPr>
        <p:spPr>
          <a:xfrm>
            <a:off x="7284568" y="4151376"/>
            <a:ext cx="411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 saw on the last page: every rate sent, logged with both values.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566928" y="4901184"/>
            <a:ext cx="5346040" cy="1188720"/>
          </a:xfrm>
          <a:prstGeom prst="roundRect">
            <a:avLst>
              <a:gd name="adj" fmla="val 6154"/>
            </a:avLst>
          </a:prstGeom>
          <a:solidFill>
            <a:srgbClr val="141A25"/>
          </a:solidFill>
          <a:ln w="13970">
            <a:solidFill>
              <a:srgbClr val="36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822960" y="5202936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1B2330"/>
          </a:solidFill>
          <a:ln w="15240">
            <a:solidFill>
              <a:srgbClr val="3B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4" descr="C:/Users/neuma_p1qrsic/Repo/agentic-ops1/.scratch/icons/block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9023" y="5338999"/>
            <a:ext cx="294803" cy="29480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72768" y="5120640"/>
            <a:ext cx="411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 code to change it</a:t>
            </a:r>
            <a:endParaRPr lang="en-US" sz="1650" dirty="0"/>
          </a:p>
        </p:txBody>
      </p:sp>
      <p:sp>
        <p:nvSpPr>
          <p:cNvPr id="29" name="Text 22"/>
          <p:cNvSpPr/>
          <p:nvPr/>
        </p:nvSpPr>
        <p:spPr>
          <a:xfrm>
            <a:off x="1572768" y="5504688"/>
            <a:ext cx="411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rules, changed by your team, no IT project.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6278728" y="4901184"/>
            <a:ext cx="5346040" cy="1188720"/>
          </a:xfrm>
          <a:prstGeom prst="roundRect">
            <a:avLst>
              <a:gd name="adj" fmla="val 6154"/>
            </a:avLst>
          </a:prstGeom>
          <a:solidFill>
            <a:srgbClr val="141A25"/>
          </a:solidFill>
          <a:ln w="13970">
            <a:solidFill>
              <a:srgbClr val="36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6534760" y="5202936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1B2330"/>
          </a:solidFill>
          <a:ln w="15240">
            <a:solidFill>
              <a:srgbClr val="3B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5" descr="C:/Users/neuma_p1qrsic/Repo/agentic-ops1/.scratch/icons/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0822" y="5338999"/>
            <a:ext cx="294803" cy="294803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284568" y="5120640"/>
            <a:ext cx="411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ISO 27001 and SOC 1</a:t>
            </a:r>
            <a:endParaRPr lang="en-US" sz="1650" dirty="0"/>
          </a:p>
        </p:txBody>
      </p:sp>
      <p:sp>
        <p:nvSpPr>
          <p:cNvPr id="34" name="Text 26"/>
          <p:cNvSpPr/>
          <p:nvPr/>
        </p:nvSpPr>
        <p:spPr>
          <a:xfrm>
            <a:off x="7284568" y="5504688"/>
            <a:ext cx="411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security controls your auditors already expect.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Brisken</a:t>
            </a:r>
            <a:r>
              <a:rPr lang="en-US" sz="900" dirty="0">
                <a:solidFill>
                  <a:srgbClr val="7C8A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  Market Data Hub, part of OnePilot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0527487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12</a:t>
            </a:r>
            <a:endParaRPr lang="en-US" sz="900" dirty="0"/>
          </a:p>
        </p:txBody>
      </p:sp>
      <p:sp>
        <p:nvSpPr>
          <p:cNvPr id="37" name="Shape 29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36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E121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6F85E9-82B3-AB71-FFD6-4D98B8688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15">
            <a:extLst>
              <a:ext uri="{FF2B5EF4-FFF2-40B4-BE49-F238E27FC236}">
                <a16:creationId xmlns:a16="http://schemas.microsoft.com/office/drawing/2014/main" id="{AFCF3E26-9717-25BE-38B4-DBA0AD5BD708}"/>
              </a:ext>
            </a:extLst>
          </p:cNvPr>
          <p:cNvSpPr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Brisken</a:t>
            </a:r>
            <a:r>
              <a:rPr lang="en-US" sz="900" dirty="0">
                <a:solidFill>
                  <a:srgbClr val="7C8A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  Market Data Hub, part of OnePilot</a:t>
            </a:r>
            <a:endParaRPr lang="en-US" sz="900" dirty="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61D6AD83-85D3-8A7E-A207-1F61BD3FDE01}"/>
              </a:ext>
            </a:extLst>
          </p:cNvPr>
          <p:cNvSpPr/>
          <p:nvPr/>
        </p:nvSpPr>
        <p:spPr>
          <a:xfrm>
            <a:off x="10527487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12</a:t>
            </a:r>
            <a:endParaRPr lang="en-US" sz="900" dirty="0"/>
          </a:p>
        </p:txBody>
      </p:sp>
      <p:sp>
        <p:nvSpPr>
          <p:cNvPr id="24" name="Shape 17">
            <a:extLst>
              <a:ext uri="{FF2B5EF4-FFF2-40B4-BE49-F238E27FC236}">
                <a16:creationId xmlns:a16="http://schemas.microsoft.com/office/drawing/2014/main" id="{905B0A8B-F3E2-667A-352E-B6DD9468ED2D}"/>
              </a:ext>
            </a:extLst>
          </p:cNvPr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36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0">
            <a:extLst>
              <a:ext uri="{FF2B5EF4-FFF2-40B4-BE49-F238E27FC236}">
                <a16:creationId xmlns:a16="http://schemas.microsoft.com/office/drawing/2014/main" id="{5C8A0C6E-E9E7-ED66-2B30-3C2BC4C8CDE5}"/>
              </a:ext>
            </a:extLst>
          </p:cNvPr>
          <p:cNvSpPr/>
          <p:nvPr/>
        </p:nvSpPr>
        <p:spPr>
          <a:xfrm>
            <a:off x="566928" y="585216"/>
            <a:ext cx="45720" cy="219456"/>
          </a:xfrm>
          <a:prstGeom prst="rect">
            <a:avLst/>
          </a:prstGeom>
          <a:solidFill>
            <a:srgbClr val="3BE3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A9063237-6C3E-0041-2CD3-8B38B83E3722}"/>
              </a:ext>
            </a:extLst>
          </p:cNvPr>
          <p:cNvSpPr/>
          <p:nvPr/>
        </p:nvSpPr>
        <p:spPr>
          <a:xfrm>
            <a:off x="713232" y="51206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PARTNERS AND CUSTOMERS</a:t>
            </a:r>
            <a:endParaRPr lang="en-US" sz="1200" dirty="0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B5C3B336-A68D-B8E2-59EA-7A8C803C99C7}"/>
              </a:ext>
            </a:extLst>
          </p:cNvPr>
          <p:cNvSpPr/>
          <p:nvPr/>
        </p:nvSpPr>
        <p:spPr>
          <a:xfrm>
            <a:off x="566928" y="9601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data, the platform, and the teams behind it.</a:t>
            </a:r>
            <a:endParaRPr lang="en-US" sz="2800" dirty="0"/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09EB65BF-81B0-AB11-6D1D-87AC821DE0B1}"/>
              </a:ext>
            </a:extLst>
          </p:cNvPr>
          <p:cNvSpPr/>
          <p:nvPr/>
        </p:nvSpPr>
        <p:spPr>
          <a:xfrm>
            <a:off x="585216" y="21031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7C8A9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TECHNOLOGY PARTNER</a:t>
            </a:r>
            <a:endParaRPr lang="en-US" sz="1050" dirty="0"/>
          </a:p>
        </p:txBody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9D2B250C-05E6-9E1C-2921-7FE121A879B8}"/>
              </a:ext>
            </a:extLst>
          </p:cNvPr>
          <p:cNvSpPr/>
          <p:nvPr/>
        </p:nvSpPr>
        <p:spPr>
          <a:xfrm>
            <a:off x="585216" y="2377440"/>
            <a:ext cx="182880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36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0" descr="C:/Users/neuma_p1qrsic/Repo/agentic-ops1/.scratch/deckgen/logos/sap.png">
            <a:extLst>
              <a:ext uri="{FF2B5EF4-FFF2-40B4-BE49-F238E27FC236}">
                <a16:creationId xmlns:a16="http://schemas.microsoft.com/office/drawing/2014/main" id="{5FAE4670-7B63-F2A6-A449-C36717E49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44" y="2501798"/>
            <a:ext cx="974745" cy="482803"/>
          </a:xfrm>
          <a:prstGeom prst="rect">
            <a:avLst/>
          </a:prstGeom>
        </p:spPr>
      </p:pic>
      <p:sp>
        <p:nvSpPr>
          <p:cNvPr id="28" name="Text 5">
            <a:extLst>
              <a:ext uri="{FF2B5EF4-FFF2-40B4-BE49-F238E27FC236}">
                <a16:creationId xmlns:a16="http://schemas.microsoft.com/office/drawing/2014/main" id="{F44CEEEF-330D-787D-D7C9-4367A17BCC2D}"/>
              </a:ext>
            </a:extLst>
          </p:cNvPr>
          <p:cNvSpPr/>
          <p:nvPr/>
        </p:nvSpPr>
        <p:spPr>
          <a:xfrm>
            <a:off x="585216" y="34015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7C8A9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TRUSTED BY TEAMS AT</a:t>
            </a:r>
            <a:endParaRPr lang="en-US" sz="1050" dirty="0"/>
          </a:p>
        </p:txBody>
      </p:sp>
      <p:sp>
        <p:nvSpPr>
          <p:cNvPr id="29" name="Shape 6">
            <a:extLst>
              <a:ext uri="{FF2B5EF4-FFF2-40B4-BE49-F238E27FC236}">
                <a16:creationId xmlns:a16="http://schemas.microsoft.com/office/drawing/2014/main" id="{4DA1C303-F9A9-6FDA-BEA1-535F477B6446}"/>
              </a:ext>
            </a:extLst>
          </p:cNvPr>
          <p:cNvSpPr/>
          <p:nvPr/>
        </p:nvSpPr>
        <p:spPr>
          <a:xfrm>
            <a:off x="585216" y="3657600"/>
            <a:ext cx="1999427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36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1" descr="C:/Users/neuma_p1qrsic/Repo/agentic-ops1/.scratch/deckgen/logos/nestle.png">
            <a:extLst>
              <a:ext uri="{FF2B5EF4-FFF2-40B4-BE49-F238E27FC236}">
                <a16:creationId xmlns:a16="http://schemas.microsoft.com/office/drawing/2014/main" id="{DFE36863-15FF-711C-C53A-B6B2A8E552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164" y="3807069"/>
            <a:ext cx="1639530" cy="450871"/>
          </a:xfrm>
          <a:prstGeom prst="rect">
            <a:avLst/>
          </a:prstGeom>
        </p:spPr>
      </p:pic>
      <p:sp>
        <p:nvSpPr>
          <p:cNvPr id="31" name="Shape 7">
            <a:extLst>
              <a:ext uri="{FF2B5EF4-FFF2-40B4-BE49-F238E27FC236}">
                <a16:creationId xmlns:a16="http://schemas.microsoft.com/office/drawing/2014/main" id="{C899A758-D4A5-86CE-30A9-D41C0F633A8C}"/>
              </a:ext>
            </a:extLst>
          </p:cNvPr>
          <p:cNvSpPr/>
          <p:nvPr/>
        </p:nvSpPr>
        <p:spPr>
          <a:xfrm>
            <a:off x="2840675" y="3657600"/>
            <a:ext cx="1999427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36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2" descr="C:/Users/neuma_p1qrsic/Repo/agentic-ops1/.scratch/deckgen/logos/ford.png">
            <a:extLst>
              <a:ext uri="{FF2B5EF4-FFF2-40B4-BE49-F238E27FC236}">
                <a16:creationId xmlns:a16="http://schemas.microsoft.com/office/drawing/2014/main" id="{B1DA722E-A132-74E6-6CB9-7076E9D6A1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3363" y="3785067"/>
            <a:ext cx="1374052" cy="494873"/>
          </a:xfrm>
          <a:prstGeom prst="rect">
            <a:avLst/>
          </a:prstGeom>
        </p:spPr>
      </p:pic>
      <p:sp>
        <p:nvSpPr>
          <p:cNvPr id="33" name="Shape 8">
            <a:extLst>
              <a:ext uri="{FF2B5EF4-FFF2-40B4-BE49-F238E27FC236}">
                <a16:creationId xmlns:a16="http://schemas.microsoft.com/office/drawing/2014/main" id="{0D327E15-D929-4152-2770-830D4603AE3E}"/>
              </a:ext>
            </a:extLst>
          </p:cNvPr>
          <p:cNvSpPr/>
          <p:nvPr/>
        </p:nvSpPr>
        <p:spPr>
          <a:xfrm>
            <a:off x="5096134" y="3657600"/>
            <a:ext cx="1999427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36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3" descr="C:/Users/neuma_p1qrsic/Repo/agentic-ops1/.scratch/deckgen/logos/siemens.png">
            <a:extLst>
              <a:ext uri="{FF2B5EF4-FFF2-40B4-BE49-F238E27FC236}">
                <a16:creationId xmlns:a16="http://schemas.microsoft.com/office/drawing/2014/main" id="{B6662C67-5CDE-7B33-92F8-1F37F52B69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6083" y="3837169"/>
            <a:ext cx="1639530" cy="390669"/>
          </a:xfrm>
          <a:prstGeom prst="rect">
            <a:avLst/>
          </a:prstGeom>
        </p:spPr>
      </p:pic>
      <p:sp>
        <p:nvSpPr>
          <p:cNvPr id="35" name="Shape 9">
            <a:extLst>
              <a:ext uri="{FF2B5EF4-FFF2-40B4-BE49-F238E27FC236}">
                <a16:creationId xmlns:a16="http://schemas.microsoft.com/office/drawing/2014/main" id="{002CDEE2-0EE8-A0D2-15B9-2F9164EAA74B}"/>
              </a:ext>
            </a:extLst>
          </p:cNvPr>
          <p:cNvSpPr/>
          <p:nvPr/>
        </p:nvSpPr>
        <p:spPr>
          <a:xfrm>
            <a:off x="7351593" y="3657600"/>
            <a:ext cx="1999427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36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4" descr="C:/Users/neuma_p1qrsic/Repo/agentic-ops1/.scratch/deckgen/logos/yeti.png">
            <a:extLst>
              <a:ext uri="{FF2B5EF4-FFF2-40B4-BE49-F238E27FC236}">
                <a16:creationId xmlns:a16="http://schemas.microsoft.com/office/drawing/2014/main" id="{A60AC062-3543-3136-0D39-92399ACD6F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1542" y="3807709"/>
            <a:ext cx="1639530" cy="449590"/>
          </a:xfrm>
          <a:prstGeom prst="rect">
            <a:avLst/>
          </a:prstGeom>
        </p:spPr>
      </p:pic>
      <p:sp>
        <p:nvSpPr>
          <p:cNvPr id="37" name="Shape 10">
            <a:extLst>
              <a:ext uri="{FF2B5EF4-FFF2-40B4-BE49-F238E27FC236}">
                <a16:creationId xmlns:a16="http://schemas.microsoft.com/office/drawing/2014/main" id="{F5777D6C-D135-C692-59A2-57A79B6FD755}"/>
              </a:ext>
            </a:extLst>
          </p:cNvPr>
          <p:cNvSpPr/>
          <p:nvPr/>
        </p:nvSpPr>
        <p:spPr>
          <a:xfrm>
            <a:off x="9607052" y="3657600"/>
            <a:ext cx="1999427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36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5" descr="C:/Users/neuma_p1qrsic/Repo/agentic-ops1/.scratch/deckgen/logos/bat.png">
            <a:extLst>
              <a:ext uri="{FF2B5EF4-FFF2-40B4-BE49-F238E27FC236}">
                <a16:creationId xmlns:a16="http://schemas.microsoft.com/office/drawing/2014/main" id="{0848D3FA-394F-1DCA-E960-1E8DD8F3DA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25630" y="3785067"/>
            <a:ext cx="1162271" cy="494873"/>
          </a:xfrm>
          <a:prstGeom prst="rect">
            <a:avLst/>
          </a:prstGeom>
        </p:spPr>
      </p:pic>
      <p:sp>
        <p:nvSpPr>
          <p:cNvPr id="39" name="Text 11">
            <a:extLst>
              <a:ext uri="{FF2B5EF4-FFF2-40B4-BE49-F238E27FC236}">
                <a16:creationId xmlns:a16="http://schemas.microsoft.com/office/drawing/2014/main" id="{65C13D71-DF68-E117-C2D1-CB3AD575557D}"/>
              </a:ext>
            </a:extLst>
          </p:cNvPr>
          <p:cNvSpPr/>
          <p:nvPr/>
        </p:nvSpPr>
        <p:spPr>
          <a:xfrm>
            <a:off x="585216" y="47548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7C8A9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MARKET DATA PROVIDERS</a:t>
            </a:r>
            <a:endParaRPr lang="en-US" sz="1050" dirty="0"/>
          </a:p>
        </p:txBody>
      </p:sp>
      <p:sp>
        <p:nvSpPr>
          <p:cNvPr id="40" name="Shape 12">
            <a:extLst>
              <a:ext uri="{FF2B5EF4-FFF2-40B4-BE49-F238E27FC236}">
                <a16:creationId xmlns:a16="http://schemas.microsoft.com/office/drawing/2014/main" id="{040F3A7C-2AF4-E525-7374-0CCDFB18E8FF}"/>
              </a:ext>
            </a:extLst>
          </p:cNvPr>
          <p:cNvSpPr/>
          <p:nvPr/>
        </p:nvSpPr>
        <p:spPr>
          <a:xfrm>
            <a:off x="585216" y="5010912"/>
            <a:ext cx="2563292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9525">
            <a:solidFill>
              <a:srgbClr val="36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6" descr="C:/Users/neuma_p1qrsic/Repo/agentic-ops1/.scratch/deckgen/logos/bloomberg.png">
            <a:extLst>
              <a:ext uri="{FF2B5EF4-FFF2-40B4-BE49-F238E27FC236}">
                <a16:creationId xmlns:a16="http://schemas.microsoft.com/office/drawing/2014/main" id="{540257A1-B029-8D99-16B1-D8274A3CC7E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5912" y="5155696"/>
            <a:ext cx="2101899" cy="423664"/>
          </a:xfrm>
          <a:prstGeom prst="rect">
            <a:avLst/>
          </a:prstGeom>
        </p:spPr>
      </p:pic>
      <p:sp>
        <p:nvSpPr>
          <p:cNvPr id="42" name="Shape 13">
            <a:extLst>
              <a:ext uri="{FF2B5EF4-FFF2-40B4-BE49-F238E27FC236}">
                <a16:creationId xmlns:a16="http://schemas.microsoft.com/office/drawing/2014/main" id="{C89A3673-CDB8-E4DD-F8A5-FF0EDD544E45}"/>
              </a:ext>
            </a:extLst>
          </p:cNvPr>
          <p:cNvSpPr/>
          <p:nvPr/>
        </p:nvSpPr>
        <p:spPr>
          <a:xfrm>
            <a:off x="3404540" y="5010912"/>
            <a:ext cx="2563292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9525">
            <a:solidFill>
              <a:srgbClr val="36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Image 7" descr="C:/Users/neuma_p1qrsic/Repo/agentic-ops1/.scratch/deckgen/logos/lseg.png">
            <a:extLst>
              <a:ext uri="{FF2B5EF4-FFF2-40B4-BE49-F238E27FC236}">
                <a16:creationId xmlns:a16="http://schemas.microsoft.com/office/drawing/2014/main" id="{1627B8E0-8240-FA3A-47F5-395CE685779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91080" y="5132161"/>
            <a:ext cx="1790212" cy="470733"/>
          </a:xfrm>
          <a:prstGeom prst="rect">
            <a:avLst/>
          </a:prstGeom>
        </p:spPr>
      </p:pic>
      <p:sp>
        <p:nvSpPr>
          <p:cNvPr id="44" name="Shape 14">
            <a:extLst>
              <a:ext uri="{FF2B5EF4-FFF2-40B4-BE49-F238E27FC236}">
                <a16:creationId xmlns:a16="http://schemas.microsoft.com/office/drawing/2014/main" id="{7949407F-62CC-710F-266C-E20AEA0EB123}"/>
              </a:ext>
            </a:extLst>
          </p:cNvPr>
          <p:cNvSpPr/>
          <p:nvPr/>
        </p:nvSpPr>
        <p:spPr>
          <a:xfrm>
            <a:off x="6223864" y="5010912"/>
            <a:ext cx="2563292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9525">
            <a:solidFill>
              <a:srgbClr val="36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Image 8" descr="C:/Users/neuma_p1qrsic/Repo/agentic-ops1/.scratch/deckgen/logos/ice.png">
            <a:extLst>
              <a:ext uri="{FF2B5EF4-FFF2-40B4-BE49-F238E27FC236}">
                <a16:creationId xmlns:a16="http://schemas.microsoft.com/office/drawing/2014/main" id="{30B1307E-6677-4E51-611B-7EBC6314016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70143" y="5132161"/>
            <a:ext cx="470733" cy="470733"/>
          </a:xfrm>
          <a:prstGeom prst="rect">
            <a:avLst/>
          </a:prstGeom>
        </p:spPr>
      </p:pic>
      <p:sp>
        <p:nvSpPr>
          <p:cNvPr id="46" name="Shape 15">
            <a:extLst>
              <a:ext uri="{FF2B5EF4-FFF2-40B4-BE49-F238E27FC236}">
                <a16:creationId xmlns:a16="http://schemas.microsoft.com/office/drawing/2014/main" id="{53742621-C083-D5CE-D536-14C664AC991A}"/>
              </a:ext>
            </a:extLst>
          </p:cNvPr>
          <p:cNvSpPr/>
          <p:nvPr/>
        </p:nvSpPr>
        <p:spPr>
          <a:xfrm>
            <a:off x="9043187" y="5010912"/>
            <a:ext cx="2563292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9525">
            <a:solidFill>
              <a:srgbClr val="36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Image 9" descr="C:/Users/neuma_p1qrsic/Repo/agentic-ops1/.scratch/deckgen/logos/cme.png">
            <a:extLst>
              <a:ext uri="{FF2B5EF4-FFF2-40B4-BE49-F238E27FC236}">
                <a16:creationId xmlns:a16="http://schemas.microsoft.com/office/drawing/2014/main" id="{F87D4B5E-3F19-AA89-0197-5BC8ACE3D78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73884" y="5205780"/>
            <a:ext cx="2101899" cy="323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970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72384" y="0"/>
            <a:ext cx="6035040" cy="6035040"/>
          </a:xfrm>
          <a:prstGeom prst="ellipse">
            <a:avLst/>
          </a:prstGeom>
          <a:solidFill>
            <a:srgbClr val="3BE3E0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443984" y="1371600"/>
            <a:ext cx="3291840" cy="3291840"/>
          </a:xfrm>
          <a:prstGeom prst="ellipse">
            <a:avLst/>
          </a:prstGeom>
          <a:solidFill>
            <a:srgbClr val="3BE3E0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C:/Users/neuma_p1qrsic/Repo/agentic-ops1/.scratch/brisken-logo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6443" y="1417320"/>
            <a:ext cx="1546921" cy="3383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51460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governed feed.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1828800" y="3611880"/>
            <a:ext cx="8531352" cy="11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700" dirty="0">
                <a:solidFill>
                  <a:srgbClr val="C4CE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Give us twenty minutes on where your market data comes from, and we will show you one governed source feeding every system.</a:t>
            </a:r>
            <a:endParaRPr lang="en-US" sz="1700" dirty="0"/>
          </a:p>
          <a:p>
            <a:pPr marL="0" indent="0" algn="ctr">
              <a:spcBef>
                <a:spcPts val="1000"/>
              </a:spcBef>
              <a:buNone/>
            </a:pPr>
            <a:r>
              <a:rPr lang="en-US" sz="13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 start with the Quick Assessment.</a:t>
            </a:r>
            <a:endParaRPr lang="en-US" sz="1300" dirty="0"/>
          </a:p>
        </p:txBody>
      </p:sp>
      <p:sp>
        <p:nvSpPr>
          <p:cNvPr id="7" name="Shape 4">
            <a:hlinkClick r:id="rId4"/>
          </p:cNvPr>
          <p:cNvSpPr/>
          <p:nvPr/>
        </p:nvSpPr>
        <p:spPr>
          <a:xfrm>
            <a:off x="3575304" y="4754880"/>
            <a:ext cx="5029200" cy="658368"/>
          </a:xfrm>
          <a:prstGeom prst="roundRect">
            <a:avLst>
              <a:gd name="adj" fmla="val 50000"/>
            </a:avLst>
          </a:prstGeom>
          <a:solidFill>
            <a:srgbClr val="3BE3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575304" y="475488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22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Dirk Neumann   ·   dirk.neumann@brisken.com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562356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brisken.com   ·   Houston, TX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hort Version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66928" y="585216"/>
            <a:ext cx="45720" cy="219456"/>
          </a:xfrm>
          <a:prstGeom prst="rect">
            <a:avLst/>
          </a:prstGeom>
          <a:solidFill>
            <a:srgbClr val="3BE3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3"/>
          <p:cNvSpPr/>
          <p:nvPr/>
        </p:nvSpPr>
        <p:spPr>
          <a:xfrm>
            <a:off x="713232" y="51206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SHORT VERSION</a:t>
            </a:r>
          </a:p>
        </p:txBody>
      </p:sp>
      <p:sp>
        <p:nvSpPr>
          <p:cNvPr id="4" name="Text 4"/>
          <p:cNvSpPr/>
          <p:nvPr/>
        </p:nvSpPr>
        <p:spPr>
          <a:xfrm>
            <a:off x="566928" y="96012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Every rate, through one governed feed.
</a:t>
            </a:r>
            <a:r>
              <a:rPr lang="en-US" sz="3300" b="1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Here is what that looks like.</a:t>
            </a:r>
          </a:p>
        </p:txBody>
      </p:sp>
      <p:sp>
        <p:nvSpPr>
          <p:cNvPr id="10" name="Shape 10"/>
          <p:cNvSpPr/>
          <p:nvPr/>
        </p:nvSpPr>
        <p:spPr>
          <a:xfrm>
            <a:off x="566928" y="2590800"/>
            <a:ext cx="11057839" cy="700000"/>
          </a:xfrm>
          <a:prstGeom prst="roundRect">
            <a:avLst>
              <a:gd name="adj" fmla="val 8000"/>
            </a:avLst>
          </a:prstGeom>
          <a:solidFill>
            <a:srgbClr val="141A25"/>
          </a:solidFill>
          <a:ln w="13970">
            <a:solidFill>
              <a:srgbClr val="36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11"/>
          <p:cNvSpPr/>
          <p:nvPr/>
        </p:nvSpPr>
        <p:spPr>
          <a:xfrm>
            <a:off x="886928" y="2712200"/>
            <a:ext cx="70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</a:p>
        </p:txBody>
      </p:sp>
      <p:sp>
        <p:nvSpPr>
          <p:cNvPr id="12" name="Text 12"/>
          <p:cNvSpPr/>
          <p:nvPr/>
        </p:nvSpPr>
        <p:spPr>
          <a:xfrm>
            <a:off x="1686928" y="2636000"/>
            <a:ext cx="26000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this is</a:t>
            </a:r>
          </a:p>
        </p:txBody>
      </p:sp>
      <p:sp>
        <p:nvSpPr>
          <p:cNvPr id="13" name="Text 13"/>
          <p:cNvSpPr/>
          <p:nvPr/>
        </p:nvSpPr>
        <p:spPr>
          <a:xfrm>
            <a:off x="4486928" y="2636000"/>
            <a:ext cx="6817839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managed feed on OnePilot: every provider ingested once, one governed rate delivered into SAP and beyond.</a:t>
            </a:r>
          </a:p>
        </p:txBody>
      </p:sp>
      <p:sp>
        <p:nvSpPr>
          <p:cNvPr id="20" name="Shape 20"/>
          <p:cNvSpPr/>
          <p:nvPr/>
        </p:nvSpPr>
        <p:spPr>
          <a:xfrm>
            <a:off x="566928" y="3410800"/>
            <a:ext cx="11057839" cy="700000"/>
          </a:xfrm>
          <a:prstGeom prst="roundRect">
            <a:avLst>
              <a:gd name="adj" fmla="val 8000"/>
            </a:avLst>
          </a:prstGeom>
          <a:solidFill>
            <a:srgbClr val="141A25"/>
          </a:solidFill>
          <a:ln w="13970">
            <a:solidFill>
              <a:srgbClr val="36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21"/>
          <p:cNvSpPr/>
          <p:nvPr/>
        </p:nvSpPr>
        <p:spPr>
          <a:xfrm>
            <a:off x="886928" y="3532200"/>
            <a:ext cx="70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</a:p>
        </p:txBody>
      </p:sp>
      <p:sp>
        <p:nvSpPr>
          <p:cNvPr id="22" name="Text 22"/>
          <p:cNvSpPr/>
          <p:nvPr/>
        </p:nvSpPr>
        <p:spPr>
          <a:xfrm>
            <a:off x="1686928" y="3456000"/>
            <a:ext cx="26000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it replaces</a:t>
            </a:r>
          </a:p>
        </p:txBody>
      </p:sp>
      <p:sp>
        <p:nvSpPr>
          <p:cNvPr id="23" name="Text 23"/>
          <p:cNvSpPr/>
          <p:nvPr/>
        </p:nvSpPr>
        <p:spPr>
          <a:xfrm>
            <a:off x="4486928" y="3456000"/>
            <a:ext cx="6817839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Datafeed RFC and per-vendor scripts, in ABAP, that break when a provider changes a field.</a:t>
            </a:r>
          </a:p>
        </p:txBody>
      </p:sp>
      <p:sp>
        <p:nvSpPr>
          <p:cNvPr id="30" name="Shape 30"/>
          <p:cNvSpPr/>
          <p:nvPr/>
        </p:nvSpPr>
        <p:spPr>
          <a:xfrm>
            <a:off x="566928" y="4230800"/>
            <a:ext cx="11057839" cy="700000"/>
          </a:xfrm>
          <a:prstGeom prst="roundRect">
            <a:avLst>
              <a:gd name="adj" fmla="val 8000"/>
            </a:avLst>
          </a:prstGeom>
          <a:solidFill>
            <a:srgbClr val="141A25"/>
          </a:solidFill>
          <a:ln w="13970">
            <a:solidFill>
              <a:srgbClr val="36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31"/>
          <p:cNvSpPr/>
          <p:nvPr/>
        </p:nvSpPr>
        <p:spPr>
          <a:xfrm>
            <a:off x="886928" y="4352200"/>
            <a:ext cx="70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</a:p>
        </p:txBody>
      </p:sp>
      <p:sp>
        <p:nvSpPr>
          <p:cNvPr id="32" name="Text 32"/>
          <p:cNvSpPr/>
          <p:nvPr/>
        </p:nvSpPr>
        <p:spPr>
          <a:xfrm>
            <a:off x="1686928" y="4276000"/>
            <a:ext cx="26000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you get</a:t>
            </a:r>
          </a:p>
        </p:txBody>
      </p:sp>
      <p:sp>
        <p:nvSpPr>
          <p:cNvPr id="33" name="Text 33"/>
          <p:cNvSpPr/>
          <p:nvPr/>
        </p:nvSpPr>
        <p:spPr>
          <a:xfrm>
            <a:off x="4486928" y="4276000"/>
            <a:ext cx="6817839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governed number in every system, checked for anomalies, audited on every change, no code to run it.</a:t>
            </a:r>
          </a:p>
        </p:txBody>
      </p:sp>
      <p:sp>
        <p:nvSpPr>
          <p:cNvPr id="34" name="Shape 30"/>
          <p:cNvSpPr/>
          <p:nvPr/>
        </p:nvSpPr>
        <p:spPr>
          <a:xfrm>
            <a:off x="566928" y="5050800"/>
            <a:ext cx="11057839" cy="700000"/>
          </a:xfrm>
          <a:prstGeom prst="roundRect">
            <a:avLst>
              <a:gd name="adj" fmla="val 8000"/>
            </a:avLst>
          </a:prstGeom>
          <a:solidFill>
            <a:srgbClr val="141A25"/>
          </a:solidFill>
          <a:ln w="13970">
            <a:solidFill>
              <a:srgbClr val="36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886928" y="5172200"/>
            <a:ext cx="70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</a:p>
        </p:txBody>
      </p:sp>
      <p:sp>
        <p:nvSpPr>
          <p:cNvPr id="36" name="Text 32"/>
          <p:cNvSpPr/>
          <p:nvPr/>
        </p:nvSpPr>
        <p:spPr>
          <a:xfrm>
            <a:off x="1686928" y="5096000"/>
            <a:ext cx="26000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 it is for</a:t>
            </a:r>
          </a:p>
        </p:txBody>
      </p:sp>
      <p:sp>
        <p:nvSpPr>
          <p:cNvPr id="37" name="Text 33"/>
          <p:cNvSpPr/>
          <p:nvPr/>
        </p:nvSpPr>
        <p:spPr>
          <a:xfrm>
            <a:off x="4486928" y="5096000"/>
            <a:ext cx="6817839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Treasury and IT teams feeding rates into SAP ECC or S/4HANA, and the systems beyond it.</a:t>
            </a:r>
          </a:p>
        </p:txBody>
      </p:sp>
      <p:sp>
        <p:nvSpPr>
          <p:cNvPr id="40" name="Text 40"/>
          <p:cNvSpPr/>
          <p:nvPr/>
        </p:nvSpPr>
        <p:spPr>
          <a:xfrm>
            <a:off x="566928" y="5871480"/>
            <a:ext cx="11057839" cy="350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BE3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next page is where you are today. Then the machine itself: one pipeline, six real screens.</a:t>
            </a:r>
          </a:p>
        </p:txBody>
      </p:sp>
      <p:sp>
        <p:nvSpPr>
          <p:cNvPr id="41" name="Text 41"/>
          <p:cNvSpPr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Brisken</a:t>
            </a:r>
            <a:r>
              <a:rPr lang="en-US" sz="900" dirty="0">
                <a:solidFill>
                  <a:srgbClr val="7C8A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  Market Data Hub, part of OnePilot</a:t>
            </a:r>
          </a:p>
        </p:txBody>
      </p:sp>
      <p:sp>
        <p:nvSpPr>
          <p:cNvPr id="42" name="Text 42"/>
          <p:cNvSpPr/>
          <p:nvPr/>
        </p:nvSpPr>
        <p:spPr>
          <a:xfrm>
            <a:off x="10527487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12</a:t>
            </a:r>
          </a:p>
        </p:txBody>
      </p:sp>
      <p:sp>
        <p:nvSpPr>
          <p:cNvPr id="43" name="Shape 43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36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achine At Work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85216"/>
            <a:ext cx="45720" cy="219456"/>
          </a:xfrm>
          <a:prstGeom prst="rect">
            <a:avLst/>
          </a:prstGeom>
          <a:solidFill>
            <a:srgbClr val="3BE3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51206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SHOW THE MACHINE · 3 / 6 · VALIDATE</a:t>
            </a:r>
          </a:p>
        </p:txBody>
      </p:sp>
      <p:sp>
        <p:nvSpPr>
          <p:cNvPr id="4" name="Text 2"/>
          <p:cNvSpPr/>
          <p:nvPr/>
        </p:nvSpPr>
        <p:spPr>
          <a:xfrm>
            <a:off x="566928" y="895000"/>
            <a:ext cx="10881360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bad rate, caught before it reaches SAP.</a:t>
            </a:r>
          </a:p>
        </p:txBody>
      </p:sp>
      <p:sp>
        <p:nvSpPr>
          <p:cNvPr id="5" name="Text 3"/>
          <p:cNvSpPr/>
          <p:nvPr/>
        </p:nvSpPr>
        <p:spPr>
          <a:xfrm>
            <a:off x="566928" y="1455000"/>
            <a:ext cx="1088136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live anomaly notification from the product. The user is system, not a person.</a:t>
            </a:r>
          </a:p>
        </p:txBody>
      </p:sp>
      <p:sp>
        <p:nvSpPr>
          <p:cNvPr id="6" name="Frame"/>
          <p:cNvSpPr/>
          <p:nvPr/>
        </p:nvSpPr>
        <p:spPr>
          <a:xfrm>
            <a:off x="1822000" y="1826000"/>
            <a:ext cx="8548000" cy="3043000"/>
          </a:xfrm>
          <a:prstGeom prst="roundRect">
            <a:avLst>
              <a:gd name="adj" fmla="val 2500"/>
            </a:avLst>
          </a:prstGeom>
          <a:noFill/>
          <a:ln w="19050">
            <a:solidFill>
              <a:srgbClr val="3B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6000" y="1850000"/>
            <a:ext cx="8500000" cy="2995000"/>
          </a:xfrm>
          <a:prstGeom prst="rect">
            <a:avLst/>
          </a:prstGeom>
        </p:spPr>
      </p:pic>
      <p:sp>
        <p:nvSpPr>
          <p:cNvPr id="10" name="Chip 1"/>
          <p:cNvSpPr/>
          <p:nvPr/>
        </p:nvSpPr>
        <p:spPr>
          <a:xfrm>
            <a:off x="566928" y="5030000"/>
            <a:ext cx="3552613" cy="1090000"/>
          </a:xfrm>
          <a:prstGeom prst="roundRect">
            <a:avLst>
              <a:gd name="adj" fmla="val 6000"/>
            </a:avLst>
          </a:prstGeom>
          <a:solidFill>
            <a:srgbClr val="141A25"/>
          </a:solidFill>
          <a:ln w="15240">
            <a:solidFill>
              <a:srgbClr val="3B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Chip 1 Head"/>
          <p:cNvSpPr/>
          <p:nvPr/>
        </p:nvSpPr>
        <p:spPr>
          <a:xfrm>
            <a:off x="786928" y="5170000"/>
            <a:ext cx="3112613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Flagged automatically</a:t>
            </a:r>
          </a:p>
        </p:txBody>
      </p:sp>
      <p:sp>
        <p:nvSpPr>
          <p:cNvPr id="12" name="Chip 1 Detail"/>
          <p:cNvSpPr/>
          <p:nvPr/>
        </p:nvSpPr>
        <p:spPr>
          <a:xfrm>
            <a:off x="786928" y="5540000"/>
            <a:ext cx="3112613" cy="5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hub marks the outlier rates itself.</a:t>
            </a:r>
          </a:p>
        </p:txBody>
      </p:sp>
      <p:sp>
        <p:nvSpPr>
          <p:cNvPr id="20" name="Chip 2"/>
          <p:cNvSpPr/>
          <p:nvPr/>
        </p:nvSpPr>
        <p:spPr>
          <a:xfrm>
            <a:off x="4319541" y="5030000"/>
            <a:ext cx="3552613" cy="1090000"/>
          </a:xfrm>
          <a:prstGeom prst="roundRect">
            <a:avLst>
              <a:gd name="adj" fmla="val 6000"/>
            </a:avLst>
          </a:prstGeom>
          <a:solidFill>
            <a:srgbClr val="141A25"/>
          </a:solidFill>
          <a:ln w="15240">
            <a:solidFill>
              <a:srgbClr val="3B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Chip 2 Head"/>
          <p:cNvSpPr/>
          <p:nvPr/>
        </p:nvSpPr>
        <p:spPr>
          <a:xfrm>
            <a:off x="4539541" y="5170000"/>
            <a:ext cx="3112613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User: system</a:t>
            </a:r>
          </a:p>
        </p:txBody>
      </p:sp>
      <p:sp>
        <p:nvSpPr>
          <p:cNvPr id="22" name="Chip 2 Detail"/>
          <p:cNvSpPr/>
          <p:nvPr/>
        </p:nvSpPr>
        <p:spPr>
          <a:xfrm>
            <a:off x="4539541" y="5540000"/>
            <a:ext cx="3112613" cy="5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person keyed or approved this.</a:t>
            </a:r>
          </a:p>
        </p:txBody>
      </p:sp>
      <p:sp>
        <p:nvSpPr>
          <p:cNvPr id="30" name="Chip 3"/>
          <p:cNvSpPr/>
          <p:nvPr/>
        </p:nvSpPr>
        <p:spPr>
          <a:xfrm>
            <a:off x="8072154" y="5030000"/>
            <a:ext cx="3552613" cy="1090000"/>
          </a:xfrm>
          <a:prstGeom prst="roundRect">
            <a:avLst>
              <a:gd name="adj" fmla="val 6000"/>
            </a:avLst>
          </a:prstGeom>
          <a:solidFill>
            <a:srgbClr val="141A25"/>
          </a:solidFill>
          <a:ln w="15240">
            <a:solidFill>
              <a:srgbClr val="3B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Chip 3 Head"/>
          <p:cNvSpPr/>
          <p:nvPr/>
        </p:nvSpPr>
        <p:spPr>
          <a:xfrm>
            <a:off x="8292154" y="5170000"/>
            <a:ext cx="3112613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Caught before SAP</a:t>
            </a:r>
          </a:p>
        </p:txBody>
      </p:sp>
      <p:sp>
        <p:nvSpPr>
          <p:cNvPr id="32" name="Chip 3 Detail"/>
          <p:cNvSpPr/>
          <p:nvPr/>
        </p:nvSpPr>
        <p:spPr>
          <a:xfrm>
            <a:off x="8292154" y="5540000"/>
            <a:ext cx="3112613" cy="5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bad value is stopped at the gate.</a:t>
            </a:r>
          </a:p>
        </p:txBody>
      </p:sp>
      <p:sp>
        <p:nvSpPr>
          <p:cNvPr id="40" name="Footer Brand"/>
          <p:cNvSpPr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Brisken</a:t>
            </a:r>
            <a:r>
              <a:rPr lang="en-US" sz="900" dirty="0">
                <a:solidFill>
                  <a:srgbClr val="7C8A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  Market Data Hub, part of OnePilot</a:t>
            </a:r>
          </a:p>
        </p:txBody>
      </p:sp>
      <p:sp>
        <p:nvSpPr>
          <p:cNvPr id="41" name="Footer Num"/>
          <p:cNvSpPr/>
          <p:nvPr/>
        </p:nvSpPr>
        <p:spPr>
          <a:xfrm>
            <a:off x="10527487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/ 12</a:t>
            </a:r>
          </a:p>
        </p:txBody>
      </p:sp>
      <p:sp>
        <p:nvSpPr>
          <p:cNvPr id="42" name="Footer Line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36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creen p11_x89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566928" y="585216"/>
            <a:ext cx="45720" cy="219456"/>
          </a:xfrm>
          <a:prstGeom prst="rect">
            <a:avLst/>
          </a:prstGeom>
          <a:solidFill>
            <a:srgbClr val="3BE3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Eyebrow"/>
          <p:cNvSpPr/>
          <p:nvPr/>
        </p:nvSpPr>
        <p:spPr>
          <a:xfrm>
            <a:off x="713232" y="51206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SHOW THE MACHINE · 1 / 6 · INGEST</a:t>
            </a:r>
          </a:p>
        </p:txBody>
      </p:sp>
      <p:sp>
        <p:nvSpPr>
          <p:cNvPr id="4" name="Headline"/>
          <p:cNvSpPr/>
          <p:nvPr/>
        </p:nvSpPr>
        <p:spPr>
          <a:xfrm>
            <a:off x="566928" y="895000"/>
            <a:ext cx="10881360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Connect a provider once.</a:t>
            </a:r>
          </a:p>
        </p:txBody>
      </p:sp>
      <p:sp>
        <p:nvSpPr>
          <p:cNvPr id="5" name="Sub"/>
          <p:cNvSpPr/>
          <p:nvPr/>
        </p:nvSpPr>
        <p:spPr>
          <a:xfrm>
            <a:off x="566928" y="1455000"/>
            <a:ext cx="1088136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provider configured in the product: LSEG Datascope Select. No per-vendor script.</a:t>
            </a:r>
          </a:p>
        </p:txBody>
      </p:sp>
      <p:sp>
        <p:nvSpPr>
          <p:cNvPr id="6" name="Frame"/>
          <p:cNvSpPr/>
          <p:nvPr/>
        </p:nvSpPr>
        <p:spPr>
          <a:xfrm>
            <a:off x="4500571" y="1891000"/>
            <a:ext cx="3190857" cy="3048000"/>
          </a:xfrm>
          <a:prstGeom prst="roundRect">
            <a:avLst>
              <a:gd name="adj" fmla="val 2500"/>
            </a:avLst>
          </a:prstGeom>
          <a:noFill/>
          <a:ln w="19050">
            <a:solidFill>
              <a:srgbClr val="3B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571" y="1915000"/>
            <a:ext cx="3142857" cy="3000000"/>
          </a:xfrm>
          <a:prstGeom prst="rect">
            <a:avLst/>
          </a:prstGeom>
        </p:spPr>
      </p:pic>
      <p:sp>
        <p:nvSpPr>
          <p:cNvPr id="10" name="Chip 10"/>
          <p:cNvSpPr/>
          <p:nvPr/>
        </p:nvSpPr>
        <p:spPr>
          <a:xfrm>
            <a:off x="566928" y="5030000"/>
            <a:ext cx="3552613" cy="1090000"/>
          </a:xfrm>
          <a:prstGeom prst="roundRect">
            <a:avLst>
              <a:gd name="adj" fmla="val 6000"/>
            </a:avLst>
          </a:prstGeom>
          <a:solidFill>
            <a:srgbClr val="141A25"/>
          </a:solidFill>
          <a:ln w="15240">
            <a:solidFill>
              <a:srgbClr val="3B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ChipHead 10"/>
          <p:cNvSpPr/>
          <p:nvPr/>
        </p:nvSpPr>
        <p:spPr>
          <a:xfrm>
            <a:off x="786928" y="5170000"/>
            <a:ext cx="3112613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Configured once</a:t>
            </a:r>
          </a:p>
        </p:txBody>
      </p:sp>
      <p:sp>
        <p:nvSpPr>
          <p:cNvPr id="12" name="ChipDetail 10"/>
          <p:cNvSpPr/>
          <p:nvPr/>
        </p:nvSpPr>
        <p:spPr>
          <a:xfrm>
            <a:off x="786928" y="5540000"/>
            <a:ext cx="3112613" cy="5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up in the product, not in ABAP.</a:t>
            </a:r>
          </a:p>
        </p:txBody>
      </p:sp>
      <p:sp>
        <p:nvSpPr>
          <p:cNvPr id="20" name="Chip 20"/>
          <p:cNvSpPr/>
          <p:nvPr/>
        </p:nvSpPr>
        <p:spPr>
          <a:xfrm>
            <a:off x="4319541" y="5030000"/>
            <a:ext cx="3552613" cy="1090000"/>
          </a:xfrm>
          <a:prstGeom prst="roundRect">
            <a:avLst>
              <a:gd name="adj" fmla="val 6000"/>
            </a:avLst>
          </a:prstGeom>
          <a:solidFill>
            <a:srgbClr val="141A25"/>
          </a:solidFill>
          <a:ln w="15240">
            <a:solidFill>
              <a:srgbClr val="3B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ChipHead 20"/>
          <p:cNvSpPr/>
          <p:nvPr/>
        </p:nvSpPr>
        <p:spPr>
          <a:xfrm>
            <a:off x="4539541" y="5170000"/>
            <a:ext cx="3112613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Remap, not rewrite</a:t>
            </a:r>
          </a:p>
        </p:txBody>
      </p:sp>
      <p:sp>
        <p:nvSpPr>
          <p:cNvPr id="22" name="ChipDetail 20"/>
          <p:cNvSpPr/>
          <p:nvPr/>
        </p:nvSpPr>
        <p:spPr>
          <a:xfrm>
            <a:off x="4539541" y="5540000"/>
            <a:ext cx="3112613" cy="5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renamed field is a mapping change here.</a:t>
            </a:r>
          </a:p>
        </p:txBody>
      </p:sp>
      <p:sp>
        <p:nvSpPr>
          <p:cNvPr id="30" name="Chip 30"/>
          <p:cNvSpPr/>
          <p:nvPr/>
        </p:nvSpPr>
        <p:spPr>
          <a:xfrm>
            <a:off x="8072154" y="5030000"/>
            <a:ext cx="3552613" cy="1090000"/>
          </a:xfrm>
          <a:prstGeom prst="roundRect">
            <a:avLst>
              <a:gd name="adj" fmla="val 6000"/>
            </a:avLst>
          </a:prstGeom>
          <a:solidFill>
            <a:srgbClr val="141A25"/>
          </a:solidFill>
          <a:ln w="15240">
            <a:solidFill>
              <a:srgbClr val="3B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ChipHead 30"/>
          <p:cNvSpPr/>
          <p:nvPr/>
        </p:nvSpPr>
        <p:spPr>
          <a:xfrm>
            <a:off x="8292154" y="5170000"/>
            <a:ext cx="3112613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screen deep</a:t>
            </a:r>
          </a:p>
        </p:txBody>
      </p:sp>
      <p:sp>
        <p:nvSpPr>
          <p:cNvPr id="32" name="ChipDetail 30"/>
          <p:cNvSpPr/>
          <p:nvPr/>
        </p:nvSpPr>
        <p:spPr>
          <a:xfrm>
            <a:off x="8292154" y="5540000"/>
            <a:ext cx="3112613" cy="5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Sources, targets, anomalies, approval, together.</a:t>
            </a:r>
          </a:p>
        </p:txBody>
      </p:sp>
      <p:sp>
        <p:nvSpPr>
          <p:cNvPr id="40" name="FooterBrand"/>
          <p:cNvSpPr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Brisken</a:t>
            </a:r>
            <a:r>
              <a:rPr lang="en-US" sz="900" dirty="0">
                <a:solidFill>
                  <a:srgbClr val="7C8A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  Market Data Hub, part of OnePilot</a:t>
            </a:r>
          </a:p>
        </p:txBody>
      </p:sp>
      <p:sp>
        <p:nvSpPr>
          <p:cNvPr id="41" name="FooterNum"/>
          <p:cNvSpPr/>
          <p:nvPr/>
        </p:nvSpPr>
        <p:spPr>
          <a:xfrm>
            <a:off x="10527487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 12</a:t>
            </a:r>
          </a:p>
        </p:txBody>
      </p:sp>
      <p:sp>
        <p:nvSpPr>
          <p:cNvPr id="42" name="Divider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36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creen p17_x139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566928" y="585216"/>
            <a:ext cx="45720" cy="219456"/>
          </a:xfrm>
          <a:prstGeom prst="rect">
            <a:avLst/>
          </a:prstGeom>
          <a:solidFill>
            <a:srgbClr val="3BE3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Eyebrow"/>
          <p:cNvSpPr/>
          <p:nvPr/>
        </p:nvSpPr>
        <p:spPr>
          <a:xfrm>
            <a:off x="713232" y="51206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SHOW THE MACHINE · 2 / 6 · INGEST</a:t>
            </a:r>
          </a:p>
        </p:txBody>
      </p:sp>
      <p:sp>
        <p:nvSpPr>
          <p:cNvPr id="4" name="Headline"/>
          <p:cNvSpPr/>
          <p:nvPr/>
        </p:nvSpPr>
        <p:spPr>
          <a:xfrm>
            <a:off x="566928" y="895000"/>
            <a:ext cx="10881360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data lands, SAP-ready.</a:t>
            </a:r>
          </a:p>
        </p:txBody>
      </p:sp>
      <p:sp>
        <p:nvSpPr>
          <p:cNvPr id="5" name="Sub"/>
          <p:cNvSpPr/>
          <p:nvPr/>
        </p:nvSpPr>
        <p:spPr>
          <a:xfrm>
            <a:off x="566928" y="1455000"/>
            <a:ext cx="1088136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provider normalized to one shape, in the fields SAP already reads.</a:t>
            </a:r>
          </a:p>
        </p:txBody>
      </p:sp>
      <p:sp>
        <p:nvSpPr>
          <p:cNvPr id="6" name="Frame"/>
          <p:cNvSpPr/>
          <p:nvPr/>
        </p:nvSpPr>
        <p:spPr>
          <a:xfrm>
            <a:off x="3063620" y="1891000"/>
            <a:ext cx="6064759" cy="3048000"/>
          </a:xfrm>
          <a:prstGeom prst="roundRect">
            <a:avLst>
              <a:gd name="adj" fmla="val 2500"/>
            </a:avLst>
          </a:prstGeom>
          <a:noFill/>
          <a:ln w="19050">
            <a:solidFill>
              <a:srgbClr val="3B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7620" y="1915000"/>
            <a:ext cx="6016759" cy="3000000"/>
          </a:xfrm>
          <a:prstGeom prst="rect">
            <a:avLst/>
          </a:prstGeom>
        </p:spPr>
      </p:pic>
      <p:sp>
        <p:nvSpPr>
          <p:cNvPr id="10" name="Chip 10"/>
          <p:cNvSpPr/>
          <p:nvPr/>
        </p:nvSpPr>
        <p:spPr>
          <a:xfrm>
            <a:off x="566928" y="5030000"/>
            <a:ext cx="3552613" cy="1090000"/>
          </a:xfrm>
          <a:prstGeom prst="roundRect">
            <a:avLst>
              <a:gd name="adj" fmla="val 6000"/>
            </a:avLst>
          </a:prstGeom>
          <a:solidFill>
            <a:srgbClr val="141A25"/>
          </a:solidFill>
          <a:ln w="15240">
            <a:solidFill>
              <a:srgbClr val="3B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ChipHead 10"/>
          <p:cNvSpPr/>
          <p:nvPr/>
        </p:nvSpPr>
        <p:spPr>
          <a:xfrm>
            <a:off x="786928" y="5170000"/>
            <a:ext cx="3112613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shape</a:t>
            </a:r>
          </a:p>
        </p:txBody>
      </p:sp>
      <p:sp>
        <p:nvSpPr>
          <p:cNvPr id="12" name="ChipDetail 10"/>
          <p:cNvSpPr/>
          <p:nvPr/>
        </p:nvSpPr>
        <p:spPr>
          <a:xfrm>
            <a:off x="786928" y="5540000"/>
            <a:ext cx="3112613" cy="5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From, to, rate type, rate, scaling factor.</a:t>
            </a:r>
          </a:p>
        </p:txBody>
      </p:sp>
      <p:sp>
        <p:nvSpPr>
          <p:cNvPr id="20" name="Chip 20"/>
          <p:cNvSpPr/>
          <p:nvPr/>
        </p:nvSpPr>
        <p:spPr>
          <a:xfrm>
            <a:off x="4319541" y="5030000"/>
            <a:ext cx="3552613" cy="1090000"/>
          </a:xfrm>
          <a:prstGeom prst="roundRect">
            <a:avLst>
              <a:gd name="adj" fmla="val 6000"/>
            </a:avLst>
          </a:prstGeom>
          <a:solidFill>
            <a:srgbClr val="141A25"/>
          </a:solidFill>
          <a:ln w="15240">
            <a:solidFill>
              <a:srgbClr val="3B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ChipHead 20"/>
          <p:cNvSpPr/>
          <p:nvPr/>
        </p:nvSpPr>
        <p:spPr>
          <a:xfrm>
            <a:off x="4539541" y="5170000"/>
            <a:ext cx="3112613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SAP fields</a:t>
            </a:r>
          </a:p>
        </p:txBody>
      </p:sp>
      <p:sp>
        <p:nvSpPr>
          <p:cNvPr id="22" name="ChipDetail 20"/>
          <p:cNvSpPr/>
          <p:nvPr/>
        </p:nvSpPr>
        <p:spPr>
          <a:xfrm>
            <a:off x="4539541" y="5540000"/>
            <a:ext cx="3112613" cy="5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Rate type and scaling are what SAP reads.</a:t>
            </a:r>
          </a:p>
        </p:txBody>
      </p:sp>
      <p:sp>
        <p:nvSpPr>
          <p:cNvPr id="30" name="Chip 30"/>
          <p:cNvSpPr/>
          <p:nvPr/>
        </p:nvSpPr>
        <p:spPr>
          <a:xfrm>
            <a:off x="8072154" y="5030000"/>
            <a:ext cx="3552613" cy="1090000"/>
          </a:xfrm>
          <a:prstGeom prst="roundRect">
            <a:avLst>
              <a:gd name="adj" fmla="val 6000"/>
            </a:avLst>
          </a:prstGeom>
          <a:solidFill>
            <a:srgbClr val="141A25"/>
          </a:solidFill>
          <a:ln w="15240">
            <a:solidFill>
              <a:srgbClr val="3B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ChipHead 30"/>
          <p:cNvSpPr/>
          <p:nvPr/>
        </p:nvSpPr>
        <p:spPr>
          <a:xfrm>
            <a:off x="8292154" y="5170000"/>
            <a:ext cx="3112613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 a schedule</a:t>
            </a:r>
          </a:p>
        </p:txBody>
      </p:sp>
      <p:sp>
        <p:nvSpPr>
          <p:cNvPr id="32" name="ChipDetail 30"/>
          <p:cNvSpPr/>
          <p:nvPr/>
        </p:nvSpPr>
        <p:spPr>
          <a:xfrm>
            <a:off x="8292154" y="5540000"/>
            <a:ext cx="3112613" cy="5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Pulled by a routine on a calendar, not by hand.</a:t>
            </a:r>
          </a:p>
        </p:txBody>
      </p:sp>
      <p:sp>
        <p:nvSpPr>
          <p:cNvPr id="40" name="FooterBrand"/>
          <p:cNvSpPr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Brisken</a:t>
            </a:r>
            <a:r>
              <a:rPr lang="en-US" sz="900" dirty="0">
                <a:solidFill>
                  <a:srgbClr val="7C8A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  Market Data Hub, part of OnePilot</a:t>
            </a:r>
          </a:p>
        </p:txBody>
      </p:sp>
      <p:sp>
        <p:nvSpPr>
          <p:cNvPr id="41" name="FooterNum"/>
          <p:cNvSpPr/>
          <p:nvPr/>
        </p:nvSpPr>
        <p:spPr>
          <a:xfrm>
            <a:off x="10527487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/ 12</a:t>
            </a:r>
          </a:p>
        </p:txBody>
      </p:sp>
      <p:sp>
        <p:nvSpPr>
          <p:cNvPr id="42" name="Divider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36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creen p23_x167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566928" y="585216"/>
            <a:ext cx="45720" cy="219456"/>
          </a:xfrm>
          <a:prstGeom prst="rect">
            <a:avLst/>
          </a:prstGeom>
          <a:solidFill>
            <a:srgbClr val="3BE3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Eyebrow"/>
          <p:cNvSpPr/>
          <p:nvPr/>
        </p:nvSpPr>
        <p:spPr>
          <a:xfrm>
            <a:off x="713232" y="51206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SHOW THE MACHINE · 4 / 6 · GOVERN</a:t>
            </a:r>
          </a:p>
        </p:txBody>
      </p:sp>
      <p:sp>
        <p:nvSpPr>
          <p:cNvPr id="4" name="Headline"/>
          <p:cNvSpPr/>
          <p:nvPr/>
        </p:nvSpPr>
        <p:spPr>
          <a:xfrm>
            <a:off x="566928" y="895000"/>
            <a:ext cx="10881360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Nothing changes without a reason.</a:t>
            </a:r>
          </a:p>
        </p:txBody>
      </p:sp>
      <p:sp>
        <p:nvSpPr>
          <p:cNvPr id="5" name="Sub"/>
          <p:cNvSpPr/>
          <p:nvPr/>
        </p:nvSpPr>
        <p:spPr>
          <a:xfrm>
            <a:off x="566928" y="1455000"/>
            <a:ext cx="1088136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Editing a rate opens a change request: explain why, before it saves.</a:t>
            </a:r>
          </a:p>
        </p:txBody>
      </p:sp>
      <p:sp>
        <p:nvSpPr>
          <p:cNvPr id="6" name="Frame"/>
          <p:cNvSpPr/>
          <p:nvPr/>
        </p:nvSpPr>
        <p:spPr>
          <a:xfrm>
            <a:off x="3784542" y="1891000"/>
            <a:ext cx="4622916" cy="3048000"/>
          </a:xfrm>
          <a:prstGeom prst="roundRect">
            <a:avLst>
              <a:gd name="adj" fmla="val 2500"/>
            </a:avLst>
          </a:prstGeom>
          <a:noFill/>
          <a:ln w="19050">
            <a:solidFill>
              <a:srgbClr val="3B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542" y="1915000"/>
            <a:ext cx="4574916" cy="3000000"/>
          </a:xfrm>
          <a:prstGeom prst="rect">
            <a:avLst/>
          </a:prstGeom>
        </p:spPr>
      </p:pic>
      <p:sp>
        <p:nvSpPr>
          <p:cNvPr id="10" name="Chip 10"/>
          <p:cNvSpPr/>
          <p:nvPr/>
        </p:nvSpPr>
        <p:spPr>
          <a:xfrm>
            <a:off x="566928" y="5030000"/>
            <a:ext cx="3552613" cy="1090000"/>
          </a:xfrm>
          <a:prstGeom prst="roundRect">
            <a:avLst>
              <a:gd name="adj" fmla="val 6000"/>
            </a:avLst>
          </a:prstGeom>
          <a:solidFill>
            <a:srgbClr val="141A25"/>
          </a:solidFill>
          <a:ln w="15240">
            <a:solidFill>
              <a:srgbClr val="3B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ChipHead 10"/>
          <p:cNvSpPr/>
          <p:nvPr/>
        </p:nvSpPr>
        <p:spPr>
          <a:xfrm>
            <a:off x="786928" y="5170000"/>
            <a:ext cx="3112613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reason, required</a:t>
            </a:r>
          </a:p>
        </p:txBody>
      </p:sp>
      <p:sp>
        <p:nvSpPr>
          <p:cNvPr id="12" name="ChipDetail 10"/>
          <p:cNvSpPr/>
          <p:nvPr/>
        </p:nvSpPr>
        <p:spPr>
          <a:xfrm>
            <a:off x="786928" y="5540000"/>
            <a:ext cx="3112613" cy="5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saves without one.</a:t>
            </a:r>
          </a:p>
        </p:txBody>
      </p:sp>
      <p:sp>
        <p:nvSpPr>
          <p:cNvPr id="20" name="Chip 20"/>
          <p:cNvSpPr/>
          <p:nvPr/>
        </p:nvSpPr>
        <p:spPr>
          <a:xfrm>
            <a:off x="4319541" y="5030000"/>
            <a:ext cx="3552613" cy="1090000"/>
          </a:xfrm>
          <a:prstGeom prst="roundRect">
            <a:avLst>
              <a:gd name="adj" fmla="val 6000"/>
            </a:avLst>
          </a:prstGeom>
          <a:solidFill>
            <a:srgbClr val="141A25"/>
          </a:solidFill>
          <a:ln w="15240">
            <a:solidFill>
              <a:srgbClr val="3B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ChipHead 20"/>
          <p:cNvSpPr/>
          <p:nvPr/>
        </p:nvSpPr>
        <p:spPr>
          <a:xfrm>
            <a:off x="4539541" y="5170000"/>
            <a:ext cx="3112613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Four-eyes</a:t>
            </a:r>
          </a:p>
        </p:txBody>
      </p:sp>
      <p:sp>
        <p:nvSpPr>
          <p:cNvPr id="22" name="ChipDetail 20"/>
          <p:cNvSpPr/>
          <p:nvPr/>
        </p:nvSpPr>
        <p:spPr>
          <a:xfrm>
            <a:off x="4539541" y="5540000"/>
            <a:ext cx="3112613" cy="5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change is reviewed on the value itself.</a:t>
            </a:r>
          </a:p>
        </p:txBody>
      </p:sp>
      <p:sp>
        <p:nvSpPr>
          <p:cNvPr id="30" name="Chip 30"/>
          <p:cNvSpPr/>
          <p:nvPr/>
        </p:nvSpPr>
        <p:spPr>
          <a:xfrm>
            <a:off x="8072154" y="5030000"/>
            <a:ext cx="3552613" cy="1090000"/>
          </a:xfrm>
          <a:prstGeom prst="roundRect">
            <a:avLst>
              <a:gd name="adj" fmla="val 6000"/>
            </a:avLst>
          </a:prstGeom>
          <a:solidFill>
            <a:srgbClr val="141A25"/>
          </a:solidFill>
          <a:ln w="15240">
            <a:solidFill>
              <a:srgbClr val="3B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ChipHead 30"/>
          <p:cNvSpPr/>
          <p:nvPr/>
        </p:nvSpPr>
        <p:spPr>
          <a:xfrm>
            <a:off x="8292154" y="5170000"/>
            <a:ext cx="3112613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 the record</a:t>
            </a:r>
          </a:p>
        </p:txBody>
      </p:sp>
      <p:sp>
        <p:nvSpPr>
          <p:cNvPr id="32" name="ChipDetail 30"/>
          <p:cNvSpPr/>
          <p:nvPr/>
        </p:nvSpPr>
        <p:spPr>
          <a:xfrm>
            <a:off x="8292154" y="5540000"/>
            <a:ext cx="3112613" cy="5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exact instrument and value are logged.</a:t>
            </a:r>
          </a:p>
        </p:txBody>
      </p:sp>
      <p:sp>
        <p:nvSpPr>
          <p:cNvPr id="40" name="FooterBrand"/>
          <p:cNvSpPr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Brisken</a:t>
            </a:r>
            <a:r>
              <a:rPr lang="en-US" sz="900" dirty="0">
                <a:solidFill>
                  <a:srgbClr val="7C8A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  Market Data Hub, part of OnePilot</a:t>
            </a:r>
          </a:p>
        </p:txBody>
      </p:sp>
      <p:sp>
        <p:nvSpPr>
          <p:cNvPr id="41" name="FooterNum"/>
          <p:cNvSpPr/>
          <p:nvPr/>
        </p:nvSpPr>
        <p:spPr>
          <a:xfrm>
            <a:off x="10527487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/ 12</a:t>
            </a:r>
          </a:p>
        </p:txBody>
      </p:sp>
      <p:sp>
        <p:nvSpPr>
          <p:cNvPr id="42" name="Divider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36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creen p29_x186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566928" y="585216"/>
            <a:ext cx="45720" cy="219456"/>
          </a:xfrm>
          <a:prstGeom prst="rect">
            <a:avLst/>
          </a:prstGeom>
          <a:solidFill>
            <a:srgbClr val="3BE3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Eyebrow"/>
          <p:cNvSpPr/>
          <p:nvPr/>
        </p:nvSpPr>
        <p:spPr>
          <a:xfrm>
            <a:off x="713232" y="51206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SHOW THE MACHINE · 5 / 6 · DISTRIBUTE</a:t>
            </a:r>
          </a:p>
        </p:txBody>
      </p:sp>
      <p:sp>
        <p:nvSpPr>
          <p:cNvPr id="4" name="Headline"/>
          <p:cNvSpPr/>
          <p:nvPr/>
        </p:nvSpPr>
        <p:spPr>
          <a:xfrm>
            <a:off x="566928" y="895000"/>
            <a:ext cx="10881360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Mapped straight to your SAP.</a:t>
            </a:r>
          </a:p>
        </p:txBody>
      </p:sp>
      <p:sp>
        <p:nvSpPr>
          <p:cNvPr id="5" name="Sub"/>
          <p:cNvSpPr/>
          <p:nvPr/>
        </p:nvSpPr>
        <p:spPr>
          <a:xfrm>
            <a:off x="566928" y="1455000"/>
            <a:ext cx="1088136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instrument, its provider source and its SAP ECC target, side by side.</a:t>
            </a:r>
          </a:p>
        </p:txBody>
      </p:sp>
      <p:sp>
        <p:nvSpPr>
          <p:cNvPr id="6" name="Frame"/>
          <p:cNvSpPr/>
          <p:nvPr/>
        </p:nvSpPr>
        <p:spPr>
          <a:xfrm>
            <a:off x="3405856" y="1891000"/>
            <a:ext cx="5380288" cy="3048000"/>
          </a:xfrm>
          <a:prstGeom prst="roundRect">
            <a:avLst>
              <a:gd name="adj" fmla="val 2500"/>
            </a:avLst>
          </a:prstGeom>
          <a:noFill/>
          <a:ln w="19050">
            <a:solidFill>
              <a:srgbClr val="3B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856" y="1915000"/>
            <a:ext cx="5332288" cy="3000000"/>
          </a:xfrm>
          <a:prstGeom prst="rect">
            <a:avLst/>
          </a:prstGeom>
        </p:spPr>
      </p:pic>
      <p:sp>
        <p:nvSpPr>
          <p:cNvPr id="10" name="Chip 10"/>
          <p:cNvSpPr/>
          <p:nvPr/>
        </p:nvSpPr>
        <p:spPr>
          <a:xfrm>
            <a:off x="566928" y="5030000"/>
            <a:ext cx="3552613" cy="1090000"/>
          </a:xfrm>
          <a:prstGeom prst="roundRect">
            <a:avLst>
              <a:gd name="adj" fmla="val 6000"/>
            </a:avLst>
          </a:prstGeom>
          <a:solidFill>
            <a:srgbClr val="141A25"/>
          </a:solidFill>
          <a:ln w="15240">
            <a:solidFill>
              <a:srgbClr val="3B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ChipHead 10"/>
          <p:cNvSpPr/>
          <p:nvPr/>
        </p:nvSpPr>
        <p:spPr>
          <a:xfrm>
            <a:off x="786928" y="5170000"/>
            <a:ext cx="3112613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Source to SAP</a:t>
            </a:r>
          </a:p>
        </p:txBody>
      </p:sp>
      <p:sp>
        <p:nvSpPr>
          <p:cNvPr id="12" name="ChipDetail 10"/>
          <p:cNvSpPr/>
          <p:nvPr/>
        </p:nvSpPr>
        <p:spPr>
          <a:xfrm>
            <a:off x="786928" y="5540000"/>
            <a:ext cx="3112613" cy="5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LSEG source mapped to the SAP ECC target.</a:t>
            </a:r>
          </a:p>
        </p:txBody>
      </p:sp>
      <p:sp>
        <p:nvSpPr>
          <p:cNvPr id="20" name="Chip 20"/>
          <p:cNvSpPr/>
          <p:nvPr/>
        </p:nvSpPr>
        <p:spPr>
          <a:xfrm>
            <a:off x="4319541" y="5030000"/>
            <a:ext cx="3552613" cy="1090000"/>
          </a:xfrm>
          <a:prstGeom prst="roundRect">
            <a:avLst>
              <a:gd name="adj" fmla="val 6000"/>
            </a:avLst>
          </a:prstGeom>
          <a:solidFill>
            <a:srgbClr val="141A25"/>
          </a:solidFill>
          <a:ln w="15240">
            <a:solidFill>
              <a:srgbClr val="3B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ChipHead 20"/>
          <p:cNvSpPr/>
          <p:nvPr/>
        </p:nvSpPr>
        <p:spPr>
          <a:xfrm>
            <a:off x="4539541" y="5170000"/>
            <a:ext cx="3112613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rate your team reads</a:t>
            </a:r>
          </a:p>
        </p:txBody>
      </p:sp>
      <p:sp>
        <p:nvSpPr>
          <p:cNvPr id="22" name="ChipDetail 20"/>
          <p:cNvSpPr/>
          <p:nvPr/>
        </p:nvSpPr>
        <p:spPr>
          <a:xfrm>
            <a:off x="4539541" y="5540000"/>
            <a:ext cx="3112613" cy="5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value, in SAP, no re-keying.</a:t>
            </a:r>
          </a:p>
        </p:txBody>
      </p:sp>
      <p:sp>
        <p:nvSpPr>
          <p:cNvPr id="30" name="Chip 30"/>
          <p:cNvSpPr/>
          <p:nvPr/>
        </p:nvSpPr>
        <p:spPr>
          <a:xfrm>
            <a:off x="8072154" y="5030000"/>
            <a:ext cx="3552613" cy="1090000"/>
          </a:xfrm>
          <a:prstGeom prst="roundRect">
            <a:avLst>
              <a:gd name="adj" fmla="val 6000"/>
            </a:avLst>
          </a:prstGeom>
          <a:solidFill>
            <a:srgbClr val="141A25"/>
          </a:solidFill>
          <a:ln w="15240">
            <a:solidFill>
              <a:srgbClr val="3B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ChipHead 30"/>
          <p:cNvSpPr/>
          <p:nvPr/>
        </p:nvSpPr>
        <p:spPr>
          <a:xfrm>
            <a:off x="8292154" y="5170000"/>
            <a:ext cx="3112613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Changed here</a:t>
            </a:r>
          </a:p>
        </p:txBody>
      </p:sp>
      <p:sp>
        <p:nvSpPr>
          <p:cNvPr id="32" name="ChipDetail 30"/>
          <p:cNvSpPr/>
          <p:nvPr/>
        </p:nvSpPr>
        <p:spPr>
          <a:xfrm>
            <a:off x="8292154" y="5540000"/>
            <a:ext cx="3112613" cy="5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SAP is never touched by hand.</a:t>
            </a:r>
          </a:p>
        </p:txBody>
      </p:sp>
      <p:sp>
        <p:nvSpPr>
          <p:cNvPr id="40" name="FooterBrand"/>
          <p:cNvSpPr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Brisken</a:t>
            </a:r>
            <a:r>
              <a:rPr lang="en-US" sz="900" dirty="0">
                <a:solidFill>
                  <a:srgbClr val="7C8A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  Market Data Hub, part of OnePilot</a:t>
            </a:r>
          </a:p>
        </p:txBody>
      </p:sp>
      <p:sp>
        <p:nvSpPr>
          <p:cNvPr id="41" name="FooterNum"/>
          <p:cNvSpPr/>
          <p:nvPr/>
        </p:nvSpPr>
        <p:spPr>
          <a:xfrm>
            <a:off x="10527487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/ 12</a:t>
            </a:r>
          </a:p>
        </p:txBody>
      </p:sp>
      <p:sp>
        <p:nvSpPr>
          <p:cNvPr id="42" name="Divider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36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creen p42_x240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566928" y="585216"/>
            <a:ext cx="45720" cy="219456"/>
          </a:xfrm>
          <a:prstGeom prst="rect">
            <a:avLst/>
          </a:prstGeom>
          <a:solidFill>
            <a:srgbClr val="3BE3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Eyebrow"/>
          <p:cNvSpPr/>
          <p:nvPr/>
        </p:nvSpPr>
        <p:spPr>
          <a:xfrm>
            <a:off x="713232" y="51206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SHOW THE MACHINE · 6 / 6 · AUDIT</a:t>
            </a:r>
          </a:p>
        </p:txBody>
      </p:sp>
      <p:sp>
        <p:nvSpPr>
          <p:cNvPr id="4" name="Headline"/>
          <p:cNvSpPr/>
          <p:nvPr/>
        </p:nvSpPr>
        <p:spPr>
          <a:xfrm>
            <a:off x="566928" y="895000"/>
            <a:ext cx="10881360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Audited to the target.</a:t>
            </a:r>
          </a:p>
        </p:txBody>
      </p:sp>
      <p:sp>
        <p:nvSpPr>
          <p:cNvPr id="5" name="Sub"/>
          <p:cNvSpPr/>
          <p:nvPr/>
        </p:nvSpPr>
        <p:spPr>
          <a:xfrm>
            <a:off x="566928" y="1455000"/>
            <a:ext cx="1088136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value that reached SAP, with its integration timestamp.</a:t>
            </a:r>
          </a:p>
        </p:txBody>
      </p:sp>
      <p:sp>
        <p:nvSpPr>
          <p:cNvPr id="6" name="Frame"/>
          <p:cNvSpPr/>
          <p:nvPr/>
        </p:nvSpPr>
        <p:spPr>
          <a:xfrm>
            <a:off x="2634500" y="1891000"/>
            <a:ext cx="6923000" cy="3048000"/>
          </a:xfrm>
          <a:prstGeom prst="roundRect">
            <a:avLst>
              <a:gd name="adj" fmla="val 2500"/>
            </a:avLst>
          </a:prstGeom>
          <a:noFill/>
          <a:ln w="19050">
            <a:solidFill>
              <a:srgbClr val="3B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500" y="1915000"/>
            <a:ext cx="6875000" cy="3000000"/>
          </a:xfrm>
          <a:prstGeom prst="rect">
            <a:avLst/>
          </a:prstGeom>
        </p:spPr>
      </p:pic>
      <p:sp>
        <p:nvSpPr>
          <p:cNvPr id="10" name="Chip 10"/>
          <p:cNvSpPr/>
          <p:nvPr/>
        </p:nvSpPr>
        <p:spPr>
          <a:xfrm>
            <a:off x="566928" y="5030000"/>
            <a:ext cx="3552613" cy="1090000"/>
          </a:xfrm>
          <a:prstGeom prst="roundRect">
            <a:avLst>
              <a:gd name="adj" fmla="val 6000"/>
            </a:avLst>
          </a:prstGeom>
          <a:solidFill>
            <a:srgbClr val="141A25"/>
          </a:solidFill>
          <a:ln w="15240">
            <a:solidFill>
              <a:srgbClr val="3B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ChipHead 10"/>
          <p:cNvSpPr/>
          <p:nvPr/>
        </p:nvSpPr>
        <p:spPr>
          <a:xfrm>
            <a:off x="786928" y="5170000"/>
            <a:ext cx="3112613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Both values kept</a:t>
            </a:r>
          </a:p>
        </p:txBody>
      </p:sp>
      <p:sp>
        <p:nvSpPr>
          <p:cNvPr id="12" name="ChipDetail 10"/>
          <p:cNvSpPr/>
          <p:nvPr/>
        </p:nvSpPr>
        <p:spPr>
          <a:xfrm>
            <a:off x="786928" y="5540000"/>
            <a:ext cx="3112613" cy="5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source rate and the SAP value together.</a:t>
            </a:r>
          </a:p>
        </p:txBody>
      </p:sp>
      <p:sp>
        <p:nvSpPr>
          <p:cNvPr id="20" name="Chip 20"/>
          <p:cNvSpPr/>
          <p:nvPr/>
        </p:nvSpPr>
        <p:spPr>
          <a:xfrm>
            <a:off x="4319541" y="5030000"/>
            <a:ext cx="3552613" cy="1090000"/>
          </a:xfrm>
          <a:prstGeom prst="roundRect">
            <a:avLst>
              <a:gd name="adj" fmla="val 6000"/>
            </a:avLst>
          </a:prstGeom>
          <a:solidFill>
            <a:srgbClr val="141A25"/>
          </a:solidFill>
          <a:ln w="15240">
            <a:solidFill>
              <a:srgbClr val="3B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ChipHead 20"/>
          <p:cNvSpPr/>
          <p:nvPr/>
        </p:nvSpPr>
        <p:spPr>
          <a:xfrm>
            <a:off x="4539541" y="5170000"/>
            <a:ext cx="3112613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Per instrument</a:t>
            </a:r>
          </a:p>
        </p:txBody>
      </p:sp>
      <p:sp>
        <p:nvSpPr>
          <p:cNvPr id="22" name="ChipDetail 20"/>
          <p:cNvSpPr/>
          <p:nvPr/>
        </p:nvSpPr>
        <p:spPr>
          <a:xfrm>
            <a:off x="4539541" y="5540000"/>
            <a:ext cx="3112613" cy="5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Reconciled one row at a time.</a:t>
            </a:r>
          </a:p>
        </p:txBody>
      </p:sp>
      <p:sp>
        <p:nvSpPr>
          <p:cNvPr id="30" name="Chip 30"/>
          <p:cNvSpPr/>
          <p:nvPr/>
        </p:nvSpPr>
        <p:spPr>
          <a:xfrm>
            <a:off x="8072154" y="5030000"/>
            <a:ext cx="3552613" cy="1090000"/>
          </a:xfrm>
          <a:prstGeom prst="roundRect">
            <a:avLst>
              <a:gd name="adj" fmla="val 6000"/>
            </a:avLst>
          </a:prstGeom>
          <a:solidFill>
            <a:srgbClr val="141A25"/>
          </a:solidFill>
          <a:ln w="15240">
            <a:solidFill>
              <a:srgbClr val="3B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ChipHead 30"/>
          <p:cNvSpPr/>
          <p:nvPr/>
        </p:nvSpPr>
        <p:spPr>
          <a:xfrm>
            <a:off x="8292154" y="5170000"/>
            <a:ext cx="3112613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click</a:t>
            </a:r>
          </a:p>
        </p:txBody>
      </p:sp>
      <p:sp>
        <p:nvSpPr>
          <p:cNvPr id="32" name="ChipDetail 30"/>
          <p:cNvSpPr/>
          <p:nvPr/>
        </p:nvSpPr>
        <p:spPr>
          <a:xfrm>
            <a:off x="8292154" y="5540000"/>
            <a:ext cx="3112613" cy="5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a rate came from is not a project.</a:t>
            </a:r>
          </a:p>
        </p:txBody>
      </p:sp>
      <p:sp>
        <p:nvSpPr>
          <p:cNvPr id="40" name="FooterBrand"/>
          <p:cNvSpPr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Brisken</a:t>
            </a:r>
            <a:r>
              <a:rPr lang="en-US" sz="900" dirty="0">
                <a:solidFill>
                  <a:srgbClr val="7C8A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  Market Data Hub, part of OnePilot</a:t>
            </a:r>
          </a:p>
        </p:txBody>
      </p:sp>
      <p:sp>
        <p:nvSpPr>
          <p:cNvPr id="41" name="FooterNum"/>
          <p:cNvSpPr/>
          <p:nvPr/>
        </p:nvSpPr>
        <p:spPr>
          <a:xfrm>
            <a:off x="10527487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12</a:t>
            </a:r>
          </a:p>
        </p:txBody>
      </p:sp>
      <p:sp>
        <p:nvSpPr>
          <p:cNvPr id="42" name="Divider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36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?>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ADFA678-938A-A241-AC13-CCC135DC9849}">
  <we:reference id="f5f369e5-aa35-49d7-ad7b-638152ddb008" version="1.0.0.1" store="EXCatalog" storeType="EXCatalog"/>
  <we:alternateReferences>
    <we:reference id="WA200010001" version="1.0.0.1" store="en-US" storeType="OMEX"/>
  </we:alternateReferences>
  <we:properties>
    <we:property name="claude.fileId" value="&quot;67d6d74a-050f-40cd-ac67-7e3ad38ee552&quot;"/>
  </we:properties>
  <we:bindings/>
  <we:snapshot xmlns:r="http://schemas.openxmlformats.org/officeDocument/2006/relationships"/>
</we:webextension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E36004C6954FC41BFA5A9934AAC0872" ma:contentTypeVersion="24" ma:contentTypeDescription="Create a new document." ma:contentTypeScope="" ma:versionID="1cf73f14b085dc989d6ca704a5f7b696">
  <xsd:schema xmlns:xsd="http://www.w3.org/2001/XMLSchema" xmlns:xs="http://www.w3.org/2001/XMLSchema" xmlns:p="http://schemas.microsoft.com/office/2006/metadata/properties" xmlns:ns1="http://schemas.microsoft.com/sharepoint/v3" xmlns:ns2="f7c12939-211d-4aac-95d7-b8d38b675650" xmlns:ns3="e9089a15-9498-4149-a6f3-b4bc8e4d21ac" targetNamespace="http://schemas.microsoft.com/office/2006/metadata/properties" ma:root="true" ma:fieldsID="d257115e6736aa2126af141fdcd75720" ns1:_="" ns2:_="" ns3:_="">
    <xsd:import namespace="http://schemas.microsoft.com/sharepoint/v3"/>
    <xsd:import namespace="f7c12939-211d-4aac-95d7-b8d38b675650"/>
    <xsd:import namespace="e9089a15-9498-4149-a6f3-b4bc8e4d21a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3:TaxCatchAll" minOccurs="0"/>
                <xsd:element ref="ns2:lcf76f155ced4ddcb4097134ff3c332f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c12939-211d-4aac-95d7-b8d38b6756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hidden="true" ma:internalName="MediaServiceKeyPoints" ma:readOnly="true">
      <xsd:simpleType>
        <xsd:restriction base="dms:Note"/>
      </xsd:simpleType>
    </xsd:element>
    <xsd:element name="MediaServiceAutoTags" ma:index="12" nillable="true" ma:displayName="Tags" ma:hidden="true" ma:internalName="MediaServiceAutoTags" ma:readOnly="true">
      <xsd:simpleType>
        <xsd:restriction base="dms:Text"/>
      </xsd:simpleType>
    </xsd:element>
    <xsd:element name="MediaServiceOCR" ma:index="13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hidden="true" ma:internalName="MediaServiceLocation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0fd6ee07-b435-4fc4-a9c7-316946df4b7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089a15-9498-4149-a6f3-b4bc8e4d21ac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hidden="true" ma:internalName="SharedWithDetails" ma:readOnly="true">
      <xsd:simpleType>
        <xsd:restriction base="dms:Note"/>
      </xsd:simpleType>
    </xsd:element>
    <xsd:element name="TaxCatchAll" ma:index="21" nillable="true" ma:displayName="Taxonomy Catch All Column" ma:hidden="true" ma:list="{3ed79911-b83d-417d-9b12-a1fdc4449e3b}" ma:internalName="TaxCatchAll" ma:showField="CatchAllData" ma:web="e9089a15-9498-4149-a6f3-b4bc8e4d21a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f7c12939-211d-4aac-95d7-b8d38b675650">
      <Terms xmlns="http://schemas.microsoft.com/office/infopath/2007/PartnerControls"/>
    </lcf76f155ced4ddcb4097134ff3c332f>
    <_ip_UnifiedCompliancePolicyProperties xmlns="http://schemas.microsoft.com/sharepoint/v3" xsi:nil="true"/>
    <TaxCatchAll xmlns="e9089a15-9498-4149-a6f3-b4bc8e4d21ac" xsi:nil="true"/>
  </documentManagement>
</p:properties>
</file>

<file path=customXml/itemProps1.xml><?xml version="1.0" encoding="utf-8"?>
<ds:datastoreItem xmlns:ds="http://schemas.openxmlformats.org/officeDocument/2006/customXml" ds:itemID="{2FF6C671-B130-4763-AD83-B0443DD21A3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F561F51-E5D5-4B2B-AD66-9C8E468EC1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f7c12939-211d-4aac-95d7-b8d38b675650"/>
    <ds:schemaRef ds:uri="e9089a15-9498-4149-a6f3-b4bc8e4d21a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C2F736D-DC26-40F4-9F5A-C48CF08FE95D}">
  <ds:schemaRefs>
    <ds:schemaRef ds:uri="http://purl.org/dc/terms/"/>
    <ds:schemaRef ds:uri="http://www.w3.org/XML/1998/namespace"/>
    <ds:schemaRef ds:uri="e9089a15-9498-4149-a6f3-b4bc8e4d21ac"/>
    <ds:schemaRef ds:uri="http://schemas.microsoft.com/office/infopath/2007/PartnerControls"/>
    <ds:schemaRef ds:uri="http://schemas.microsoft.com/office/2006/documentManagement/types"/>
    <ds:schemaRef ds:uri="f7c12939-211d-4aac-95d7-b8d38b675650"/>
    <ds:schemaRef ds:uri="http://purl.org/dc/elements/1.1/"/>
    <ds:schemaRef ds:uri="http://schemas.microsoft.com/sharepoint/v3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c5f3e595-28df-4b6d-866e-5db0c24f0139}" enabled="1" method="Standard" siteId="{aa3bd2bf-9c6e-4f49-9c4f-44f878ae9e7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695</TotalTime>
  <Words>1155</Words>
  <Application>Microsoft Macintosh PowerPoint</Application>
  <PresentationFormat>Widescreen</PresentationFormat>
  <Paragraphs>157</Paragraphs>
  <Slides>13</Slides>
  <Notes>13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Brisken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Brisken</dc:creator>
  <cp:lastModifiedBy>Dirk Neumann</cp:lastModifiedBy>
  <cp:revision>2</cp:revision>
  <dcterms:created xsi:type="dcterms:W3CDTF">2026-07-07T18:10:09Z</dcterms:created>
  <dcterms:modified xsi:type="dcterms:W3CDTF">2026-07-09T23:10:49Z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0x0101002E36004C6954FC41BFA5A9934AAC0872</vt:lpwstr>
  </property>
  <property fmtid="{D5CDD505-2E9C-101B-9397-08002B2CF9AE}" pid="3" name="MediaServiceImageTags">
    <vt:lpwstr/>
  </property>
</Properties>
</file>