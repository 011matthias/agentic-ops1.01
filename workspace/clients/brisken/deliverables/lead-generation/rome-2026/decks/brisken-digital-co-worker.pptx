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289" r:id="rId6"/>
    <p:sldId id="257" r:id="rId7"/>
    <p:sldId id="258" r:id="rId8"/>
    <p:sldId id="259" r:id="rId9"/>
    <p:sldId id="260" r:id="rId10"/>
    <p:sldId id="261" r:id="rId11"/>
    <p:sldId id="262" r:id="rId12"/>
    <p:sldId id="291" r:id="rId20"/>
    <p:sldId id="292" r:id="rId21"/>
    <p:sldId id="293" r:id="rId22"/>
    <p:sldId id="266"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96" d="100"/>
          <a:sy n="96" d="100"/>
        </p:scale>
        <p:origin x="200" y="7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1994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1599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3.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37.png"/><Relationship Id="rId5" Type="http://schemas.openxmlformats.org/officeDocument/2006/relationships/image" Target="../media/image4.png"/><Relationship Id="rId6" Type="http://schemas.openxmlformats.org/officeDocument/2006/relationships/image" Target="../media/image38.png"/><Relationship Id="rId7"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2.png"/><Relationship Id="rId6"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6949440" y="-1097280"/>
            <a:ext cx="6035040" cy="6035040"/>
          </a:xfrm>
          <a:prstGeom prst="ellipse">
            <a:avLst/>
          </a:prstGeom>
          <a:solidFill>
            <a:srgbClr val="3BE3E0">
              <a:alpha val="7000"/>
            </a:srgbClr>
          </a:solidFill>
          <a:ln w="12700">
            <a:solidFill>
              <a:srgbClr val="333333"/>
            </a:solidFill>
            <a:prstDash val="solid"/>
          </a:ln>
        </p:spPr>
        <p:txBody>
          <a:bodyPr/>
          <a:lstStyle/>
          <a:p>
            <a:endParaRPr lang="en-US"/>
          </a:p>
        </p:txBody>
      </p:sp>
      <p:sp>
        <p:nvSpPr>
          <p:cNvPr id="3" name="Shape 1"/>
          <p:cNvSpPr/>
          <p:nvPr/>
        </p:nvSpPr>
        <p:spPr>
          <a:xfrm>
            <a:off x="8321040" y="274320"/>
            <a:ext cx="3291840" cy="3291840"/>
          </a:xfrm>
          <a:prstGeom prst="ellipse">
            <a:avLst/>
          </a:prstGeom>
          <a:solidFill>
            <a:srgbClr val="3BE3E0">
              <a:alpha val="12000"/>
            </a:srgbClr>
          </a:solidFill>
          <a:ln w="12700">
            <a:solidFill>
              <a:srgbClr val="333333"/>
            </a:solidFill>
            <a:prstDash val="solid"/>
          </a:ln>
        </p:spPr>
        <p:txBody>
          <a:bodyPr/>
          <a:lstStyle/>
          <a:p>
            <a:endParaRPr lang="en-US"/>
          </a:p>
        </p:txBody>
      </p:sp>
      <p:sp>
        <p:nvSpPr>
          <p:cNvPr id="4" name="Shape 2"/>
          <p:cNvSpPr/>
          <p:nvPr/>
        </p:nvSpPr>
        <p:spPr>
          <a:xfrm>
            <a:off x="-1737360" y="3017520"/>
            <a:ext cx="6035040" cy="6035040"/>
          </a:xfrm>
          <a:prstGeom prst="ellipse">
            <a:avLst/>
          </a:prstGeom>
          <a:solidFill>
            <a:srgbClr val="5A6BFF">
              <a:alpha val="7000"/>
            </a:srgbClr>
          </a:solidFill>
          <a:ln w="12700">
            <a:solidFill>
              <a:srgbClr val="333333"/>
            </a:solidFill>
            <a:prstDash val="solid"/>
          </a:ln>
        </p:spPr>
        <p:txBody>
          <a:bodyPr/>
          <a:lstStyle/>
          <a:p>
            <a:endParaRPr lang="en-US"/>
          </a:p>
        </p:txBody>
      </p:sp>
      <p:sp>
        <p:nvSpPr>
          <p:cNvPr id="5" name="Shape 3"/>
          <p:cNvSpPr/>
          <p:nvPr/>
        </p:nvSpPr>
        <p:spPr>
          <a:xfrm>
            <a:off x="-365760" y="4389120"/>
            <a:ext cx="3291840" cy="3291840"/>
          </a:xfrm>
          <a:prstGeom prst="ellipse">
            <a:avLst/>
          </a:prstGeom>
          <a:solidFill>
            <a:srgbClr val="5A6BFF">
              <a:alpha val="12000"/>
            </a:srgbClr>
          </a:solidFill>
          <a:ln w="12700">
            <a:solidFill>
              <a:srgbClr val="333333"/>
            </a:solidFill>
            <a:prstDash val="solid"/>
          </a:ln>
        </p:spPr>
        <p:txBody>
          <a:bodyPr/>
          <a:lstStyle/>
          <a:p>
            <a:endParaRPr lang="en-US"/>
          </a:p>
        </p:txBody>
      </p:sp>
      <p:sp>
        <p:nvSpPr>
          <p:cNvPr id="7" name="Shape 4"/>
          <p:cNvSpPr/>
          <p:nvPr/>
        </p:nvSpPr>
        <p:spPr>
          <a:xfrm>
            <a:off x="566928" y="2624328"/>
            <a:ext cx="45720" cy="219456"/>
          </a:xfrm>
          <a:prstGeom prst="rect">
            <a:avLst/>
          </a:prstGeom>
          <a:solidFill>
            <a:srgbClr val="3BE3E0"/>
          </a:solidFill>
          <a:ln w="12700">
            <a:solidFill>
              <a:srgbClr val="333333"/>
            </a:solidFill>
            <a:prstDash val="solid"/>
          </a:ln>
        </p:spPr>
        <p:txBody>
          <a:bodyPr/>
          <a:lstStyle/>
          <a:p>
            <a:endParaRPr lang="en-US"/>
          </a:p>
        </p:txBody>
      </p:sp>
      <p:sp>
        <p:nvSpPr>
          <p:cNvPr id="8" name="Text 5"/>
          <p:cNvSpPr/>
          <p:nvPr/>
        </p:nvSpPr>
        <p:spPr>
          <a:xfrm>
            <a:off x="713232" y="2551176"/>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ONEPILOT · DIGITAL CO-WORKER</a:t>
            </a:r>
            <a:endParaRPr lang="en-US" sz="1200" dirty="0"/>
          </a:p>
        </p:txBody>
      </p:sp>
      <p:sp>
        <p:nvSpPr>
          <p:cNvPr id="9" name="Text 6"/>
          <p:cNvSpPr/>
          <p:nvPr/>
        </p:nvSpPr>
        <p:spPr>
          <a:xfrm>
            <a:off x="539496" y="2880360"/>
            <a:ext cx="11155680" cy="1371600"/>
          </a:xfrm>
          <a:prstGeom prst="rect">
            <a:avLst/>
          </a:prstGeom>
          <a:noFill/>
          <a:ln/>
        </p:spPr>
        <p:txBody>
          <a:bodyPr wrap="square" rtlCol="0" anchor="ctr"/>
          <a:lstStyle/>
          <a:p>
            <a:pPr marL="0" indent="0">
              <a:buNone/>
            </a:pPr>
            <a:r>
              <a:rPr lang="en-US" sz="6800" b="1" dirty="0">
                <a:solidFill>
                  <a:srgbClr val="F3F6FB"/>
                </a:solidFill>
                <a:latin typeface="Segoe UI Semibold" pitchFamily="34" charset="0"/>
                <a:ea typeface="Segoe UI Semibold" pitchFamily="34" charset="-122"/>
                <a:cs typeface="Segoe UI Semibold" pitchFamily="34" charset="-120"/>
              </a:rPr>
              <a:t>Digital Co-Worker</a:t>
            </a:r>
            <a:endParaRPr lang="en-US" sz="6800" dirty="0"/>
          </a:p>
        </p:txBody>
      </p:sp>
      <p:sp>
        <p:nvSpPr>
          <p:cNvPr id="10" name="Text 7"/>
          <p:cNvSpPr/>
          <p:nvPr/>
        </p:nvSpPr>
        <p:spPr>
          <a:xfrm>
            <a:off x="566928" y="4206240"/>
            <a:ext cx="10332720" cy="822960"/>
          </a:xfrm>
          <a:prstGeom prst="rect">
            <a:avLst/>
          </a:prstGeom>
          <a:noFill/>
          <a:ln/>
        </p:spPr>
        <p:txBody>
          <a:bodyPr wrap="square" rtlCol="0" anchor="t"/>
          <a:lstStyle/>
          <a:p>
            <a:pPr marL="0" indent="0">
              <a:lnSpc>
                <a:spcPct val="115000"/>
              </a:lnSpc>
              <a:buNone/>
            </a:pPr>
            <a:r>
              <a:rPr lang="en-US" sz="2000" dirty="0">
                <a:solidFill>
                  <a:srgbClr val="AAB6C7"/>
                </a:solidFill>
                <a:latin typeface="Segoe UI" pitchFamily="34" charset="0"/>
                <a:ea typeface="Segoe UI" pitchFamily="34" charset="-122"/>
                <a:cs typeface="Segoe UI" pitchFamily="34" charset="-120"/>
              </a:rPr>
              <a:t>An AI co-worker for every person on your team. </a:t>
            </a:r>
            <a:r>
              <a:rPr lang="en-US" sz="2000" dirty="0">
                <a:solidFill>
                  <a:srgbClr val="3BE3E0"/>
                </a:solidFill>
                <a:latin typeface="Segoe UI" pitchFamily="34" charset="0"/>
                <a:ea typeface="Segoe UI" pitchFamily="34" charset="-122"/>
                <a:cs typeface="Segoe UI" pitchFamily="34" charset="-120"/>
              </a:rPr>
              <a:t>It does the busywork across your systems, in plain chat or in the background.</a:t>
            </a:r>
            <a:endParaRPr lang="en-US" sz="2000" dirty="0"/>
          </a:p>
        </p:txBody>
      </p:sp>
      <p:sp>
        <p:nvSpPr>
          <p:cNvPr id="11" name="Shape 8"/>
          <p:cNvSpPr/>
          <p:nvPr/>
        </p:nvSpPr>
        <p:spPr>
          <a:xfrm>
            <a:off x="566928" y="5532120"/>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sp>
        <p:nvSpPr>
          <p:cNvPr id="13" name="Text 9"/>
          <p:cNvSpPr/>
          <p:nvPr/>
        </p:nvSpPr>
        <p:spPr>
          <a:xfrm>
            <a:off x="1252728" y="5532120"/>
            <a:ext cx="2743200" cy="566928"/>
          </a:xfrm>
          <a:prstGeom prst="rect">
            <a:avLst/>
          </a:prstGeom>
          <a:noFill/>
          <a:ln/>
        </p:spPr>
        <p:txBody>
          <a:bodyPr wrap="square" rtlCol="0" anchor="ctr"/>
          <a:lstStyle/>
          <a:p>
            <a:pPr marL="0" indent="0">
              <a:buNone/>
            </a:pPr>
            <a:r>
              <a:rPr lang="en-US" sz="1300" dirty="0">
                <a:solidFill>
                  <a:srgbClr val="F3F6FB"/>
                </a:solidFill>
                <a:latin typeface="Segoe UI" pitchFamily="34" charset="0"/>
                <a:ea typeface="Segoe UI" pitchFamily="34" charset="-122"/>
                <a:cs typeface="Segoe UI" pitchFamily="34" charset="-120"/>
              </a:rPr>
              <a:t>Ask in plain language</a:t>
            </a:r>
            <a:endParaRPr lang="en-US" sz="1300" dirty="0"/>
          </a:p>
        </p:txBody>
      </p:sp>
      <p:sp>
        <p:nvSpPr>
          <p:cNvPr id="14" name="Shape 10"/>
          <p:cNvSpPr/>
          <p:nvPr/>
        </p:nvSpPr>
        <p:spPr>
          <a:xfrm>
            <a:off x="3995928" y="5815584"/>
            <a:ext cx="640080" cy="0"/>
          </a:xfrm>
          <a:prstGeom prst="line">
            <a:avLst/>
          </a:prstGeom>
          <a:noFill/>
          <a:ln w="25400">
            <a:solidFill>
              <a:srgbClr val="3BE3E0"/>
            </a:solidFill>
            <a:prstDash val="solid"/>
            <a:tailEnd type="triangle"/>
          </a:ln>
        </p:spPr>
        <p:txBody>
          <a:bodyPr/>
          <a:lstStyle/>
          <a:p>
            <a:endParaRPr lang="en-US"/>
          </a:p>
        </p:txBody>
      </p:sp>
      <p:sp>
        <p:nvSpPr>
          <p:cNvPr id="15" name="Text 11"/>
          <p:cNvSpPr/>
          <p:nvPr/>
        </p:nvSpPr>
        <p:spPr>
          <a:xfrm>
            <a:off x="4727448" y="5532120"/>
            <a:ext cx="2103120" cy="566928"/>
          </a:xfrm>
          <a:prstGeom prst="rect">
            <a:avLst/>
          </a:prstGeom>
          <a:noFill/>
          <a:ln/>
        </p:spPr>
        <p:txBody>
          <a:bodyPr wrap="square" rtlCol="0" anchor="ctr"/>
          <a:lstStyle/>
          <a:p>
            <a:pPr marL="0" indent="0" algn="ctr">
              <a:buNone/>
            </a:pPr>
            <a:r>
              <a:rPr lang="en-US" sz="1200" i="1" dirty="0">
                <a:solidFill>
                  <a:srgbClr val="3BE3E0"/>
                </a:solidFill>
                <a:latin typeface="Segoe UI" pitchFamily="34" charset="0"/>
                <a:ea typeface="Segoe UI" pitchFamily="34" charset="-122"/>
                <a:cs typeface="Segoe UI" pitchFamily="34" charset="-120"/>
              </a:rPr>
              <a:t>Digital Co-Worker</a:t>
            </a:r>
            <a:endParaRPr lang="en-US" sz="1200" dirty="0"/>
          </a:p>
        </p:txBody>
      </p:sp>
      <p:sp>
        <p:nvSpPr>
          <p:cNvPr id="16" name="Shape 12"/>
          <p:cNvSpPr/>
          <p:nvPr/>
        </p:nvSpPr>
        <p:spPr>
          <a:xfrm>
            <a:off x="6876288" y="5815584"/>
            <a:ext cx="640080" cy="0"/>
          </a:xfrm>
          <a:prstGeom prst="line">
            <a:avLst/>
          </a:prstGeom>
          <a:noFill/>
          <a:ln w="25400">
            <a:solidFill>
              <a:srgbClr val="3BE3E0"/>
            </a:solidFill>
            <a:prstDash val="solid"/>
            <a:tailEnd type="triangle"/>
          </a:ln>
        </p:spPr>
        <p:txBody>
          <a:bodyPr/>
          <a:lstStyle/>
          <a:p>
            <a:endParaRPr lang="en-US"/>
          </a:p>
        </p:txBody>
      </p:sp>
      <p:sp>
        <p:nvSpPr>
          <p:cNvPr id="17" name="Shape 13"/>
          <p:cNvSpPr/>
          <p:nvPr/>
        </p:nvSpPr>
        <p:spPr>
          <a:xfrm>
            <a:off x="7653528" y="5532120"/>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sp>
        <p:nvSpPr>
          <p:cNvPr id="19" name="Text 14"/>
          <p:cNvSpPr/>
          <p:nvPr/>
        </p:nvSpPr>
        <p:spPr>
          <a:xfrm>
            <a:off x="8339328" y="5532120"/>
            <a:ext cx="2743200" cy="566928"/>
          </a:xfrm>
          <a:prstGeom prst="rect">
            <a:avLst/>
          </a:prstGeom>
          <a:noFill/>
          <a:ln/>
        </p:spPr>
        <p:txBody>
          <a:bodyPr wrap="square" rtlCol="0" anchor="ctr"/>
          <a:lstStyle/>
          <a:p>
            <a:pPr marL="0" indent="0">
              <a:buNone/>
            </a:pPr>
            <a:r>
              <a:rPr lang="en-US" sz="1300" dirty="0">
                <a:solidFill>
                  <a:srgbClr val="F3F6FB"/>
                </a:solidFill>
                <a:latin typeface="Segoe UI" pitchFamily="34" charset="0"/>
                <a:ea typeface="Segoe UI" pitchFamily="34" charset="-122"/>
                <a:cs typeface="Segoe UI" pitchFamily="34" charset="-120"/>
              </a:rPr>
              <a:t>Done in your systems</a:t>
            </a:r>
            <a:endParaRPr lang="en-US" sz="1300" dirty="0"/>
          </a:p>
        </p:txBody>
      </p:sp>
      <p:pic>
        <p:nvPicPr>
          <p:cNvPr id="20" name="Picture 19" descr="image.png"/>
          <p:cNvPicPr>
            <a:picLocks noChangeAspect="1"/>
          </p:cNvPicPr>
          <p:nvPr/>
        </p:nvPicPr>
        <p:blipFill>
          <a:blip r:embed="rId3"/>
          <a:stretch>
            <a:fillRect/>
          </a:stretch>
        </p:blipFill>
        <p:spPr>
          <a:xfrm>
            <a:off x="566928" y="548640"/>
            <a:ext cx="1417320" cy="310896"/>
          </a:xfrm>
          <a:prstGeom prst="rect">
            <a:avLst/>
          </a:prstGeom>
        </p:spPr>
      </p:pic>
      <p:pic>
        <p:nvPicPr>
          <p:cNvPr id="21" name="Picture 20" descr="image.png"/>
          <p:cNvPicPr>
            <a:picLocks noChangeAspect="1"/>
          </p:cNvPicPr>
          <p:nvPr/>
        </p:nvPicPr>
        <p:blipFill>
          <a:blip r:embed="rId4"/>
          <a:stretch>
            <a:fillRect/>
          </a:stretch>
        </p:blipFill>
        <p:spPr>
          <a:xfrm>
            <a:off x="702991" y="5668183"/>
            <a:ext cx="294803" cy="294803"/>
          </a:xfrm>
          <a:prstGeom prst="rect">
            <a:avLst/>
          </a:prstGeom>
        </p:spPr>
      </p:pic>
      <p:pic>
        <p:nvPicPr>
          <p:cNvPr id="22" name="Picture 21" descr="image.png"/>
          <p:cNvPicPr>
            <a:picLocks noChangeAspect="1"/>
          </p:cNvPicPr>
          <p:nvPr/>
        </p:nvPicPr>
        <p:blipFill>
          <a:blip r:embed="rId5"/>
          <a:stretch>
            <a:fillRect/>
          </a:stretch>
        </p:blipFill>
        <p:spPr>
          <a:xfrm>
            <a:off x="7789591" y="5668183"/>
            <a:ext cx="294803" cy="294803"/>
          </a:xfrm>
          <a:prstGeom prst="rect">
            <a:avLst/>
          </a:prstGeom>
        </p:spPr>
      </p:pic>
    </p:spTree>
    <p:extLst>
      <p:ext uri="{BB962C8B-B14F-4D97-AF65-F5344CB8AC3E}">
        <p14:creationId xmlns:p14="http://schemas.microsoft.com/office/powerpoint/2010/main" val="512368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PROBLEM</a:t>
            </a:r>
            <a:endParaRPr lang="en-US" sz="1200" dirty="0"/>
          </a:p>
        </p:txBody>
      </p:sp>
      <p:sp>
        <p:nvSpPr>
          <p:cNvPr id="4" name="Text 2"/>
          <p:cNvSpPr/>
          <p:nvPr/>
        </p:nvSpPr>
        <p:spPr>
          <a:xfrm>
            <a:off x="566928" y="960120"/>
            <a:ext cx="10881360" cy="1463040"/>
          </a:xfrm>
          <a:prstGeom prst="rect">
            <a:avLst/>
          </a:prstGeom>
          <a:noFill/>
          <a:ln/>
        </p:spPr>
        <p:txBody>
          <a:bodyPr wrap="square" rtlCol="0" anchor="ctr"/>
          <a:lstStyle/>
          <a:p>
            <a:pPr marL="0" indent="0">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Real work is a dozen small steps
</a:t>
            </a:r>
            <a:r>
              <a:rPr lang="en-US" sz="3300" b="1" dirty="0">
                <a:solidFill>
                  <a:srgbClr val="3BE3E0"/>
                </a:solidFill>
                <a:latin typeface="Segoe UI Semibold" pitchFamily="34" charset="0"/>
                <a:ea typeface="Segoe UI Semibold" pitchFamily="34" charset="-122"/>
                <a:cs typeface="Segoe UI Semibold" pitchFamily="34" charset="-120"/>
              </a:rPr>
              <a:t>across a dozen systems.</a:t>
            </a:r>
            <a:endParaRPr lang="en-US" sz="3300" dirty="0"/>
          </a:p>
        </p:txBody>
      </p:sp>
      <p:sp>
        <p:nvSpPr>
          <p:cNvPr id="5" name="Shape 3"/>
          <p:cNvSpPr/>
          <p:nvPr/>
        </p:nvSpPr>
        <p:spPr>
          <a:xfrm>
            <a:off x="566928" y="3246120"/>
            <a:ext cx="3246120" cy="187452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41248" y="3566160"/>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mail.png"/>
          <p:cNvPicPr>
            <a:picLocks noChangeAspect="1"/>
          </p:cNvPicPr>
          <p:nvPr/>
        </p:nvPicPr>
        <p:blipFill>
          <a:blip r:embed="rId3"/>
          <a:stretch>
            <a:fillRect/>
          </a:stretch>
        </p:blipFill>
        <p:spPr>
          <a:xfrm>
            <a:off x="986089" y="3711001"/>
            <a:ext cx="313822" cy="313822"/>
          </a:xfrm>
          <a:prstGeom prst="rect">
            <a:avLst/>
          </a:prstGeom>
        </p:spPr>
      </p:pic>
      <p:sp>
        <p:nvSpPr>
          <p:cNvPr id="8" name="Text 5"/>
          <p:cNvSpPr/>
          <p:nvPr/>
        </p:nvSpPr>
        <p:spPr>
          <a:xfrm>
            <a:off x="841248" y="4343400"/>
            <a:ext cx="2697480" cy="365760"/>
          </a:xfrm>
          <a:prstGeom prst="rect">
            <a:avLst/>
          </a:prstGeom>
          <a:noFill/>
          <a:ln/>
        </p:spPr>
        <p:txBody>
          <a:bodyPr wrap="square" rtlCol="0" anchor="ctr"/>
          <a:lstStyle/>
          <a:p>
            <a:pPr marL="0" indent="0">
              <a:buNone/>
            </a:pPr>
            <a:r>
              <a:rPr lang="en-US" sz="1500" b="1" dirty="0">
                <a:solidFill>
                  <a:srgbClr val="F3F6FB"/>
                </a:solidFill>
                <a:latin typeface="Segoe UI Semibold" pitchFamily="34" charset="0"/>
                <a:ea typeface="Segoe UI Semibold" pitchFamily="34" charset="-122"/>
                <a:cs typeface="Segoe UI Semibold" pitchFamily="34" charset="-120"/>
              </a:rPr>
              <a:t>A request comes in</a:t>
            </a:r>
            <a:endParaRPr lang="en-US" sz="1500" dirty="0"/>
          </a:p>
        </p:txBody>
      </p:sp>
      <p:sp>
        <p:nvSpPr>
          <p:cNvPr id="9" name="Text 6"/>
          <p:cNvSpPr/>
          <p:nvPr/>
        </p:nvSpPr>
        <p:spPr>
          <a:xfrm>
            <a:off x="841248" y="4663440"/>
            <a:ext cx="2697480" cy="457200"/>
          </a:xfrm>
          <a:prstGeom prst="rect">
            <a:avLst/>
          </a:prstGeom>
          <a:noFill/>
          <a:ln/>
        </p:spPr>
        <p:txBody>
          <a:bodyPr wrap="square" rtlCol="0" anchor="ctr"/>
          <a:lstStyle/>
          <a:p>
            <a:pPr marL="0" indent="0">
              <a:buNone/>
            </a:pPr>
            <a:r>
              <a:rPr lang="en-US" sz="1200" dirty="0">
                <a:solidFill>
                  <a:srgbClr val="AAB6C7"/>
                </a:solidFill>
                <a:latin typeface="Segoe UI" pitchFamily="34" charset="0"/>
                <a:ea typeface="Segoe UI" pitchFamily="34" charset="-122"/>
                <a:cs typeface="Segoe UI" pitchFamily="34" charset="-120"/>
              </a:rPr>
              <a:t>an email, a message, a form</a:t>
            </a:r>
            <a:endParaRPr lang="en-US" sz="1200" dirty="0"/>
          </a:p>
        </p:txBody>
      </p:sp>
      <p:sp>
        <p:nvSpPr>
          <p:cNvPr id="10" name="Shape 7"/>
          <p:cNvSpPr/>
          <p:nvPr/>
        </p:nvSpPr>
        <p:spPr>
          <a:xfrm>
            <a:off x="4270248" y="3246120"/>
            <a:ext cx="3657600" cy="1874520"/>
          </a:xfrm>
          <a:prstGeom prst="roundRect">
            <a:avLst>
              <a:gd name="adj" fmla="val 4390"/>
            </a:avLst>
          </a:prstGeom>
          <a:solidFill>
            <a:srgbClr val="24190E"/>
          </a:solidFill>
          <a:ln w="17780">
            <a:solidFill>
              <a:srgbClr val="FFC96B"/>
            </a:solidFill>
            <a:prstDash val="dash"/>
          </a:ln>
        </p:spPr>
        <p:txBody>
          <a:bodyPr/>
          <a:lstStyle/>
          <a:p>
            <a:endParaRPr lang="en-US"/>
          </a:p>
        </p:txBody>
      </p:sp>
      <p:pic>
        <p:nvPicPr>
          <p:cNvPr id="11" name="Image 1" descr="C:/Users/neuma_p1qrsic/Repo/agentic-ops1/.scratch/icons/gap.png"/>
          <p:cNvPicPr>
            <a:picLocks noChangeAspect="1"/>
          </p:cNvPicPr>
          <p:nvPr/>
        </p:nvPicPr>
        <p:blipFill>
          <a:blip r:embed="rId4"/>
          <a:stretch>
            <a:fillRect/>
          </a:stretch>
        </p:blipFill>
        <p:spPr>
          <a:xfrm>
            <a:off x="5797296" y="3538728"/>
            <a:ext cx="603504" cy="603504"/>
          </a:xfrm>
          <a:prstGeom prst="rect">
            <a:avLst/>
          </a:prstGeom>
        </p:spPr>
      </p:pic>
      <p:sp>
        <p:nvSpPr>
          <p:cNvPr id="12" name="Text 8"/>
          <p:cNvSpPr/>
          <p:nvPr/>
        </p:nvSpPr>
        <p:spPr>
          <a:xfrm>
            <a:off x="4270248" y="4270248"/>
            <a:ext cx="3657600" cy="365760"/>
          </a:xfrm>
          <a:prstGeom prst="rect">
            <a:avLst/>
          </a:prstGeom>
          <a:noFill/>
          <a:ln/>
        </p:spPr>
        <p:txBody>
          <a:bodyPr wrap="square" rtlCol="0" anchor="ctr"/>
          <a:lstStyle/>
          <a:p>
            <a:pPr marL="0" indent="0" algn="ctr">
              <a:buNone/>
            </a:pPr>
            <a:r>
              <a:rPr lang="en-US" sz="1500" b="1" dirty="0">
                <a:solidFill>
                  <a:srgbClr val="FFC96B"/>
                </a:solidFill>
                <a:latin typeface="Segoe UI Semibold" pitchFamily="34" charset="0"/>
                <a:ea typeface="Segoe UI Semibold" pitchFamily="34" charset="-122"/>
                <a:cs typeface="Segoe UI Semibold" pitchFamily="34" charset="-120"/>
              </a:rPr>
              <a:t>The manual middle</a:t>
            </a:r>
            <a:endParaRPr lang="en-US" sz="1500" dirty="0"/>
          </a:p>
        </p:txBody>
      </p:sp>
      <p:sp>
        <p:nvSpPr>
          <p:cNvPr id="13" name="Text 9"/>
          <p:cNvSpPr/>
          <p:nvPr/>
        </p:nvSpPr>
        <p:spPr>
          <a:xfrm>
            <a:off x="4590288" y="4617720"/>
            <a:ext cx="3017520" cy="457200"/>
          </a:xfrm>
          <a:prstGeom prst="rect">
            <a:avLst/>
          </a:prstGeom>
          <a:noFill/>
          <a:ln/>
        </p:spPr>
        <p:txBody>
          <a:bodyPr wrap="square" rtlCol="0" anchor="ctr"/>
          <a:lstStyle/>
          <a:p>
            <a:pPr marL="0" indent="0" algn="ctr">
              <a:lnSpc>
                <a:spcPct val="105000"/>
              </a:lnSpc>
              <a:buNone/>
            </a:pPr>
            <a:r>
              <a:rPr lang="en-US" sz="1200" dirty="0">
                <a:solidFill>
                  <a:srgbClr val="F3F6FB"/>
                </a:solidFill>
                <a:latin typeface="Segoe UI" pitchFamily="34" charset="0"/>
                <a:ea typeface="Segoe UI" pitchFamily="34" charset="-122"/>
                <a:cs typeface="Segoe UI" pitchFamily="34" charset="-120"/>
              </a:rPr>
              <a:t>read it, check the balance, open the system, key in the record, write back</a:t>
            </a:r>
            <a:endParaRPr lang="en-US" sz="1200" dirty="0"/>
          </a:p>
        </p:txBody>
      </p:sp>
      <p:sp>
        <p:nvSpPr>
          <p:cNvPr id="14" name="Shape 10"/>
          <p:cNvSpPr/>
          <p:nvPr/>
        </p:nvSpPr>
        <p:spPr>
          <a:xfrm>
            <a:off x="8385048" y="3246120"/>
            <a:ext cx="3239719" cy="187452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15" name="Shape 11"/>
          <p:cNvSpPr/>
          <p:nvPr/>
        </p:nvSpPr>
        <p:spPr>
          <a:xfrm>
            <a:off x="8659368" y="3566160"/>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16" name="Image 2" descr="C:/Users/neuma_p1qrsic/Repo/agentic-ops1/.scratch/icons/database.png"/>
          <p:cNvPicPr>
            <a:picLocks noChangeAspect="1"/>
          </p:cNvPicPr>
          <p:nvPr/>
        </p:nvPicPr>
        <p:blipFill>
          <a:blip r:embed="rId5"/>
          <a:stretch>
            <a:fillRect/>
          </a:stretch>
        </p:blipFill>
        <p:spPr>
          <a:xfrm>
            <a:off x="8804209" y="3711001"/>
            <a:ext cx="313822" cy="313822"/>
          </a:xfrm>
          <a:prstGeom prst="rect">
            <a:avLst/>
          </a:prstGeom>
        </p:spPr>
      </p:pic>
      <p:sp>
        <p:nvSpPr>
          <p:cNvPr id="17" name="Text 12"/>
          <p:cNvSpPr/>
          <p:nvPr/>
        </p:nvSpPr>
        <p:spPr>
          <a:xfrm>
            <a:off x="8659368" y="4343400"/>
            <a:ext cx="2691079" cy="365760"/>
          </a:xfrm>
          <a:prstGeom prst="rect">
            <a:avLst/>
          </a:prstGeom>
          <a:noFill/>
          <a:ln/>
        </p:spPr>
        <p:txBody>
          <a:bodyPr wrap="square" rtlCol="0" anchor="ctr"/>
          <a:lstStyle/>
          <a:p>
            <a:pPr marL="0" indent="0">
              <a:buNone/>
            </a:pPr>
            <a:r>
              <a:rPr lang="en-US" sz="1500" b="1" dirty="0">
                <a:solidFill>
                  <a:srgbClr val="F3F6FB"/>
                </a:solidFill>
                <a:latin typeface="Segoe UI Semibold" pitchFamily="34" charset="0"/>
                <a:ea typeface="Segoe UI Semibold" pitchFamily="34" charset="-122"/>
                <a:cs typeface="Segoe UI Semibold" pitchFamily="34" charset="-120"/>
              </a:rPr>
              <a:t>Your systems</a:t>
            </a:r>
            <a:endParaRPr lang="en-US" sz="1500" dirty="0"/>
          </a:p>
        </p:txBody>
      </p:sp>
      <p:sp>
        <p:nvSpPr>
          <p:cNvPr id="18" name="Text 13"/>
          <p:cNvSpPr/>
          <p:nvPr/>
        </p:nvSpPr>
        <p:spPr>
          <a:xfrm>
            <a:off x="8659368" y="4663440"/>
            <a:ext cx="2691079" cy="457200"/>
          </a:xfrm>
          <a:prstGeom prst="rect">
            <a:avLst/>
          </a:prstGeom>
          <a:noFill/>
          <a:ln/>
        </p:spPr>
        <p:txBody>
          <a:bodyPr wrap="square" rtlCol="0" anchor="ctr"/>
          <a:lstStyle/>
          <a:p>
            <a:pPr marL="0" indent="0">
              <a:buNone/>
            </a:pPr>
            <a:r>
              <a:rPr lang="en-US" sz="1200" dirty="0">
                <a:solidFill>
                  <a:srgbClr val="AAB6C7"/>
                </a:solidFill>
                <a:latin typeface="Segoe UI" pitchFamily="34" charset="0"/>
                <a:ea typeface="Segoe UI" pitchFamily="34" charset="-122"/>
                <a:cs typeface="Segoe UI" pitchFamily="34" charset="-120"/>
              </a:rPr>
              <a:t>SAP, email, files</a:t>
            </a:r>
            <a:endParaRPr lang="en-US" sz="1200" dirty="0"/>
          </a:p>
        </p:txBody>
      </p:sp>
      <p:sp>
        <p:nvSpPr>
          <p:cNvPr id="19" name="Shape 14"/>
          <p:cNvSpPr/>
          <p:nvPr/>
        </p:nvSpPr>
        <p:spPr>
          <a:xfrm>
            <a:off x="3813048" y="4183380"/>
            <a:ext cx="457200" cy="0"/>
          </a:xfrm>
          <a:prstGeom prst="line">
            <a:avLst/>
          </a:prstGeom>
          <a:noFill/>
          <a:ln w="25400">
            <a:solidFill>
              <a:srgbClr val="FFC96B"/>
            </a:solidFill>
            <a:prstDash val="solid"/>
            <a:tailEnd type="triangle"/>
          </a:ln>
        </p:spPr>
        <p:txBody>
          <a:bodyPr/>
          <a:lstStyle/>
          <a:p>
            <a:endParaRPr lang="en-US"/>
          </a:p>
        </p:txBody>
      </p:sp>
      <p:sp>
        <p:nvSpPr>
          <p:cNvPr id="20" name="Shape 15"/>
          <p:cNvSpPr/>
          <p:nvPr/>
        </p:nvSpPr>
        <p:spPr>
          <a:xfrm>
            <a:off x="7927848" y="4183380"/>
            <a:ext cx="457200" cy="0"/>
          </a:xfrm>
          <a:prstGeom prst="line">
            <a:avLst/>
          </a:prstGeom>
          <a:noFill/>
          <a:ln w="25400">
            <a:solidFill>
              <a:srgbClr val="FFC96B"/>
            </a:solidFill>
            <a:prstDash val="solid"/>
            <a:tailEnd type="triangle"/>
          </a:ln>
        </p:spPr>
        <p:txBody>
          <a:bodyPr/>
          <a:lstStyle/>
          <a:p>
            <a:endParaRPr lang="en-US"/>
          </a:p>
        </p:txBody>
      </p:sp>
      <p:sp>
        <p:nvSpPr>
          <p:cNvPr id="21" name="Text 16"/>
          <p:cNvSpPr/>
          <p:nvPr/>
        </p:nvSpPr>
        <p:spPr>
          <a:xfrm>
            <a:off x="566928" y="5532120"/>
            <a:ext cx="11057839" cy="457200"/>
          </a:xfrm>
          <a:prstGeom prst="rect">
            <a:avLst/>
          </a:prstGeom>
          <a:noFill/>
          <a:ln/>
        </p:spPr>
        <p:txBody>
          <a:bodyPr wrap="square" rtlCol="0" anchor="ctr"/>
          <a:lstStyle/>
          <a:p>
            <a:pPr marL="0" indent="0">
              <a:buNone/>
            </a:pPr>
            <a:r>
              <a:rPr lang="en-US" sz="1600" dirty="0">
                <a:solidFill>
                  <a:srgbClr val="3BE3E0"/>
                </a:solidFill>
                <a:latin typeface="Segoe UI" pitchFamily="34" charset="0"/>
                <a:ea typeface="Segoe UI" pitchFamily="34" charset="-122"/>
                <a:cs typeface="Segoe UI" pitchFamily="34" charset="-120"/>
              </a:rPr>
              <a:t>The co-worker does the steps in the middle, so a request turns into a done task on its own.</a:t>
            </a:r>
            <a:endParaRPr lang="en-US" sz="1600" dirty="0"/>
          </a:p>
        </p:txBody>
      </p:sp>
      <p:sp>
        <p:nvSpPr>
          <p:cNvPr id="22" name="Text 1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Digital Co-Worker, part of OnePilot</a:t>
            </a:r>
            <a:endParaRPr lang="en-US" sz="900" dirty="0"/>
          </a:p>
        </p:txBody>
      </p:sp>
      <p:sp>
        <p:nvSpPr>
          <p:cNvPr id="23" name="Text 18"/>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02 / 11</a:t>
            </a:r>
            <a:endParaRPr lang="en-US" sz="900" dirty="0"/>
          </a:p>
        </p:txBody>
      </p:sp>
      <p:sp>
        <p:nvSpPr>
          <p:cNvPr id="24" name="Shape 19"/>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WHO DOES THE WORK</a:t>
            </a:r>
            <a:endParaRPr lang="en-US" sz="1200" dirty="0"/>
          </a:p>
        </p:txBody>
      </p:sp>
      <p:sp>
        <p:nvSpPr>
          <p:cNvPr id="4" name="Text 2"/>
          <p:cNvSpPr/>
          <p:nvPr/>
        </p:nvSpPr>
        <p:spPr>
          <a:xfrm>
            <a:off x="566928" y="960120"/>
            <a:ext cx="1051560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A digital co-worker for every kind of task.</a:t>
            </a:r>
            <a:endParaRPr lang="en-US" sz="2900" dirty="0"/>
          </a:p>
        </p:txBody>
      </p:sp>
      <p:sp>
        <p:nvSpPr>
          <p:cNvPr id="5" name="Shape 3"/>
          <p:cNvSpPr/>
          <p:nvPr/>
        </p:nvSpPr>
        <p:spPr>
          <a:xfrm>
            <a:off x="566928" y="2331720"/>
            <a:ext cx="2558720" cy="3063240"/>
          </a:xfrm>
          <a:prstGeom prst="roundRect">
            <a:avLst>
              <a:gd name="adj" fmla="val 3216"/>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1462240" y="2715768"/>
            <a:ext cx="768096" cy="768096"/>
          </a:xfrm>
          <a:prstGeom prst="roundRect">
            <a:avLst>
              <a:gd name="adj" fmla="val 13095"/>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target.png"/>
          <p:cNvPicPr>
            <a:picLocks noChangeAspect="1"/>
          </p:cNvPicPr>
          <p:nvPr/>
        </p:nvPicPr>
        <p:blipFill>
          <a:blip r:embed="rId3"/>
          <a:stretch>
            <a:fillRect/>
          </a:stretch>
        </p:blipFill>
        <p:spPr>
          <a:xfrm>
            <a:off x="1646583" y="2900111"/>
            <a:ext cx="399410" cy="399410"/>
          </a:xfrm>
          <a:prstGeom prst="rect">
            <a:avLst/>
          </a:prstGeom>
        </p:spPr>
      </p:pic>
      <p:sp>
        <p:nvSpPr>
          <p:cNvPr id="8" name="Text 5"/>
          <p:cNvSpPr/>
          <p:nvPr/>
        </p:nvSpPr>
        <p:spPr>
          <a:xfrm>
            <a:off x="749808" y="3657600"/>
            <a:ext cx="2192960" cy="640080"/>
          </a:xfrm>
          <a:prstGeom prst="rect">
            <a:avLst/>
          </a:prstGeom>
          <a:noFill/>
          <a:ln/>
        </p:spPr>
        <p:txBody>
          <a:bodyPr wrap="square" rtlCol="0" anchor="t"/>
          <a:lstStyle/>
          <a:p>
            <a:pPr marL="0" indent="0" algn="ctr">
              <a:lnSpc>
                <a:spcPct val="100000"/>
              </a:lnSpc>
              <a:buNone/>
            </a:pPr>
            <a:r>
              <a:rPr lang="en-US" sz="1650" b="1" dirty="0">
                <a:solidFill>
                  <a:srgbClr val="F3F6FB"/>
                </a:solidFill>
                <a:latin typeface="Segoe UI Semibold" pitchFamily="34" charset="0"/>
                <a:ea typeface="Segoe UI Semibold" pitchFamily="34" charset="-122"/>
                <a:cs typeface="Segoe UI Semibold" pitchFamily="34" charset="-120"/>
              </a:rPr>
              <a:t>Domain specialists</a:t>
            </a:r>
            <a:endParaRPr lang="en-US" sz="1650" dirty="0"/>
          </a:p>
        </p:txBody>
      </p:sp>
      <p:sp>
        <p:nvSpPr>
          <p:cNvPr id="9" name="Text 6"/>
          <p:cNvSpPr/>
          <p:nvPr/>
        </p:nvSpPr>
        <p:spPr>
          <a:xfrm>
            <a:off x="786384" y="4297680"/>
            <a:ext cx="2119808" cy="960120"/>
          </a:xfrm>
          <a:prstGeom prst="rect">
            <a:avLst/>
          </a:prstGeom>
          <a:noFill/>
          <a:ln/>
        </p:spPr>
        <p:txBody>
          <a:bodyPr wrap="square" rtlCol="0" anchor="t"/>
          <a:lstStyle/>
          <a:p>
            <a:pPr marL="0" indent="0" algn="ctr">
              <a:lnSpc>
                <a:spcPct val="122000"/>
              </a:lnSpc>
              <a:buNone/>
            </a:pPr>
            <a:r>
              <a:rPr lang="en-US" sz="1300" dirty="0">
                <a:solidFill>
                  <a:srgbClr val="AAB6C7"/>
                </a:solidFill>
                <a:latin typeface="Segoe UI" pitchFamily="34" charset="0"/>
                <a:ea typeface="Segoe UI" pitchFamily="34" charset="-122"/>
                <a:cs typeface="Segoe UI" pitchFamily="34" charset="-120"/>
              </a:rPr>
              <a:t>Deep in one area: treasury, payments, market data. They know your rules and your systems.</a:t>
            </a:r>
            <a:endParaRPr lang="en-US" sz="1300" dirty="0"/>
          </a:p>
        </p:txBody>
      </p:sp>
      <p:sp>
        <p:nvSpPr>
          <p:cNvPr id="10" name="Shape 7"/>
          <p:cNvSpPr/>
          <p:nvPr/>
        </p:nvSpPr>
        <p:spPr>
          <a:xfrm>
            <a:off x="3399968" y="2331720"/>
            <a:ext cx="2558720" cy="3063240"/>
          </a:xfrm>
          <a:prstGeom prst="roundRect">
            <a:avLst>
              <a:gd name="adj" fmla="val 3216"/>
            </a:avLst>
          </a:prstGeom>
          <a:solidFill>
            <a:srgbClr val="141A25"/>
          </a:solidFill>
          <a:ln w="13970">
            <a:solidFill>
              <a:srgbClr val="36414F"/>
            </a:solidFill>
            <a:prstDash val="solid"/>
          </a:ln>
        </p:spPr>
        <p:txBody>
          <a:bodyPr/>
          <a:lstStyle/>
          <a:p>
            <a:endParaRPr lang="en-US"/>
          </a:p>
        </p:txBody>
      </p:sp>
      <p:sp>
        <p:nvSpPr>
          <p:cNvPr id="11" name="Shape 8"/>
          <p:cNvSpPr/>
          <p:nvPr/>
        </p:nvSpPr>
        <p:spPr>
          <a:xfrm>
            <a:off x="4295280" y="2715768"/>
            <a:ext cx="768096" cy="768096"/>
          </a:xfrm>
          <a:prstGeom prst="roundRect">
            <a:avLst>
              <a:gd name="adj" fmla="val 13095"/>
            </a:avLst>
          </a:prstGeom>
          <a:solidFill>
            <a:srgbClr val="1B2330"/>
          </a:solidFill>
          <a:ln w="15240">
            <a:solidFill>
              <a:srgbClr val="3BE3E0"/>
            </a:solidFill>
            <a:prstDash val="solid"/>
          </a:ln>
        </p:spPr>
        <p:txBody>
          <a:bodyPr/>
          <a:lstStyle/>
          <a:p>
            <a:endParaRPr lang="en-US"/>
          </a:p>
        </p:txBody>
      </p:sp>
      <p:pic>
        <p:nvPicPr>
          <p:cNvPr id="12" name="Image 1" descr="C:/Users/neuma_p1qrsic/Repo/agentic-ops1/.scratch/icons/spark.png"/>
          <p:cNvPicPr>
            <a:picLocks noChangeAspect="1"/>
          </p:cNvPicPr>
          <p:nvPr/>
        </p:nvPicPr>
        <p:blipFill>
          <a:blip r:embed="rId4"/>
          <a:stretch>
            <a:fillRect/>
          </a:stretch>
        </p:blipFill>
        <p:spPr>
          <a:xfrm>
            <a:off x="4479623" y="2900111"/>
            <a:ext cx="399410" cy="399410"/>
          </a:xfrm>
          <a:prstGeom prst="rect">
            <a:avLst/>
          </a:prstGeom>
        </p:spPr>
      </p:pic>
      <p:sp>
        <p:nvSpPr>
          <p:cNvPr id="13" name="Text 9"/>
          <p:cNvSpPr/>
          <p:nvPr/>
        </p:nvSpPr>
        <p:spPr>
          <a:xfrm>
            <a:off x="3582848" y="3657600"/>
            <a:ext cx="2192960" cy="640080"/>
          </a:xfrm>
          <a:prstGeom prst="rect">
            <a:avLst/>
          </a:prstGeom>
          <a:noFill/>
          <a:ln/>
        </p:spPr>
        <p:txBody>
          <a:bodyPr wrap="square" rtlCol="0" anchor="t"/>
          <a:lstStyle/>
          <a:p>
            <a:pPr marL="0" indent="0" algn="ctr">
              <a:lnSpc>
                <a:spcPct val="100000"/>
              </a:lnSpc>
              <a:buNone/>
            </a:pPr>
            <a:r>
              <a:rPr lang="en-US" sz="1650" b="1" dirty="0">
                <a:solidFill>
                  <a:srgbClr val="F3F6FB"/>
                </a:solidFill>
                <a:latin typeface="Segoe UI Semibold" pitchFamily="34" charset="0"/>
                <a:ea typeface="Segoe UI Semibold" pitchFamily="34" charset="-122"/>
                <a:cs typeface="Segoe UI Semibold" pitchFamily="34" charset="-120"/>
              </a:rPr>
              <a:t>Personal assistants</a:t>
            </a:r>
            <a:endParaRPr lang="en-US" sz="1650" dirty="0"/>
          </a:p>
        </p:txBody>
      </p:sp>
      <p:sp>
        <p:nvSpPr>
          <p:cNvPr id="14" name="Text 10"/>
          <p:cNvSpPr/>
          <p:nvPr/>
        </p:nvSpPr>
        <p:spPr>
          <a:xfrm>
            <a:off x="3619424" y="4297680"/>
            <a:ext cx="2119808" cy="960120"/>
          </a:xfrm>
          <a:prstGeom prst="rect">
            <a:avLst/>
          </a:prstGeom>
          <a:noFill/>
          <a:ln/>
        </p:spPr>
        <p:txBody>
          <a:bodyPr wrap="square" rtlCol="0" anchor="t"/>
          <a:lstStyle/>
          <a:p>
            <a:pPr marL="0" indent="0" algn="ctr">
              <a:lnSpc>
                <a:spcPct val="122000"/>
              </a:lnSpc>
              <a:buNone/>
            </a:pPr>
            <a:r>
              <a:rPr lang="en-US" sz="1300" dirty="0">
                <a:solidFill>
                  <a:srgbClr val="AAB6C7"/>
                </a:solidFill>
                <a:latin typeface="Segoe UI" pitchFamily="34" charset="0"/>
                <a:ea typeface="Segoe UI" pitchFamily="34" charset="-122"/>
                <a:cs typeface="Segoe UI" pitchFamily="34" charset="-120"/>
              </a:rPr>
              <a:t>One per person. They handle the small, constant tasks that fill a day.</a:t>
            </a:r>
            <a:endParaRPr lang="en-US" sz="1300" dirty="0"/>
          </a:p>
        </p:txBody>
      </p:sp>
      <p:sp>
        <p:nvSpPr>
          <p:cNvPr id="15" name="Shape 11"/>
          <p:cNvSpPr/>
          <p:nvPr/>
        </p:nvSpPr>
        <p:spPr>
          <a:xfrm>
            <a:off x="6233008" y="2331720"/>
            <a:ext cx="2558720" cy="3063240"/>
          </a:xfrm>
          <a:prstGeom prst="roundRect">
            <a:avLst>
              <a:gd name="adj" fmla="val 3216"/>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7128319" y="2715768"/>
            <a:ext cx="768096" cy="768096"/>
          </a:xfrm>
          <a:prstGeom prst="roundRect">
            <a:avLst>
              <a:gd name="adj" fmla="val 13095"/>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eye.png"/>
          <p:cNvPicPr>
            <a:picLocks noChangeAspect="1"/>
          </p:cNvPicPr>
          <p:nvPr/>
        </p:nvPicPr>
        <p:blipFill>
          <a:blip r:embed="rId5"/>
          <a:stretch>
            <a:fillRect/>
          </a:stretch>
        </p:blipFill>
        <p:spPr>
          <a:xfrm>
            <a:off x="7312663" y="2900111"/>
            <a:ext cx="399410" cy="399410"/>
          </a:xfrm>
          <a:prstGeom prst="rect">
            <a:avLst/>
          </a:prstGeom>
        </p:spPr>
      </p:pic>
      <p:sp>
        <p:nvSpPr>
          <p:cNvPr id="18" name="Text 13"/>
          <p:cNvSpPr/>
          <p:nvPr/>
        </p:nvSpPr>
        <p:spPr>
          <a:xfrm>
            <a:off x="6415888" y="3657600"/>
            <a:ext cx="2192960" cy="640080"/>
          </a:xfrm>
          <a:prstGeom prst="rect">
            <a:avLst/>
          </a:prstGeom>
          <a:noFill/>
          <a:ln/>
        </p:spPr>
        <p:txBody>
          <a:bodyPr wrap="square" rtlCol="0" anchor="t"/>
          <a:lstStyle/>
          <a:p>
            <a:pPr marL="0" indent="0" algn="ctr">
              <a:lnSpc>
                <a:spcPct val="100000"/>
              </a:lnSpc>
              <a:buNone/>
            </a:pPr>
            <a:r>
              <a:rPr lang="en-US" sz="1650" b="1" dirty="0">
                <a:solidFill>
                  <a:srgbClr val="F3F6FB"/>
                </a:solidFill>
                <a:latin typeface="Segoe UI Semibold" pitchFamily="34" charset="0"/>
                <a:ea typeface="Segoe UI Semibold" pitchFamily="34" charset="-122"/>
                <a:cs typeface="Segoe UI Semibold" pitchFamily="34" charset="-120"/>
              </a:rPr>
              <a:t>Analysts</a:t>
            </a:r>
            <a:endParaRPr lang="en-US" sz="1650" dirty="0"/>
          </a:p>
        </p:txBody>
      </p:sp>
      <p:sp>
        <p:nvSpPr>
          <p:cNvPr id="19" name="Text 14"/>
          <p:cNvSpPr/>
          <p:nvPr/>
        </p:nvSpPr>
        <p:spPr>
          <a:xfrm>
            <a:off x="6452464" y="4297680"/>
            <a:ext cx="2119808" cy="960120"/>
          </a:xfrm>
          <a:prstGeom prst="rect">
            <a:avLst/>
          </a:prstGeom>
          <a:noFill/>
          <a:ln/>
        </p:spPr>
        <p:txBody>
          <a:bodyPr wrap="square" rtlCol="0" anchor="t"/>
          <a:lstStyle/>
          <a:p>
            <a:pPr marL="0" indent="0" algn="ctr">
              <a:lnSpc>
                <a:spcPct val="122000"/>
              </a:lnSpc>
              <a:buNone/>
            </a:pPr>
            <a:r>
              <a:rPr lang="en-US" sz="1300" dirty="0">
                <a:solidFill>
                  <a:srgbClr val="AAB6C7"/>
                </a:solidFill>
                <a:latin typeface="Segoe UI" pitchFamily="34" charset="0"/>
                <a:ea typeface="Segoe UI" pitchFamily="34" charset="-122"/>
                <a:cs typeface="Segoe UI" pitchFamily="34" charset="-120"/>
              </a:rPr>
              <a:t>Pull the numbers together, summarize, and suggest the next move.</a:t>
            </a:r>
            <a:endParaRPr lang="en-US" sz="1300" dirty="0"/>
          </a:p>
        </p:txBody>
      </p:sp>
      <p:sp>
        <p:nvSpPr>
          <p:cNvPr id="20" name="Shape 15"/>
          <p:cNvSpPr/>
          <p:nvPr/>
        </p:nvSpPr>
        <p:spPr>
          <a:xfrm>
            <a:off x="9066047" y="2331720"/>
            <a:ext cx="2558720" cy="3063240"/>
          </a:xfrm>
          <a:prstGeom prst="roundRect">
            <a:avLst>
              <a:gd name="adj" fmla="val 3216"/>
            </a:avLst>
          </a:prstGeom>
          <a:solidFill>
            <a:srgbClr val="141A25"/>
          </a:solidFill>
          <a:ln w="13970">
            <a:solidFill>
              <a:srgbClr val="36414F"/>
            </a:solidFill>
            <a:prstDash val="solid"/>
          </a:ln>
        </p:spPr>
        <p:txBody>
          <a:bodyPr/>
          <a:lstStyle/>
          <a:p>
            <a:endParaRPr lang="en-US"/>
          </a:p>
        </p:txBody>
      </p:sp>
      <p:sp>
        <p:nvSpPr>
          <p:cNvPr id="21" name="Shape 16"/>
          <p:cNvSpPr/>
          <p:nvPr/>
        </p:nvSpPr>
        <p:spPr>
          <a:xfrm>
            <a:off x="9961359" y="2715768"/>
            <a:ext cx="768096" cy="768096"/>
          </a:xfrm>
          <a:prstGeom prst="roundRect">
            <a:avLst>
              <a:gd name="adj" fmla="val 13095"/>
            </a:avLst>
          </a:prstGeom>
          <a:solidFill>
            <a:srgbClr val="1B2330"/>
          </a:solidFill>
          <a:ln w="15240">
            <a:solidFill>
              <a:srgbClr val="3BE3E0"/>
            </a:solidFill>
            <a:prstDash val="solid"/>
          </a:ln>
        </p:spPr>
        <p:txBody>
          <a:bodyPr/>
          <a:lstStyle/>
          <a:p>
            <a:endParaRPr lang="en-US"/>
          </a:p>
        </p:txBody>
      </p:sp>
      <p:pic>
        <p:nvPicPr>
          <p:cNvPr id="22" name="Image 3" descr="C:/Users/neuma_p1qrsic/Repo/agentic-ops1/.scratch/icons/doc.png"/>
          <p:cNvPicPr>
            <a:picLocks noChangeAspect="1"/>
          </p:cNvPicPr>
          <p:nvPr/>
        </p:nvPicPr>
        <p:blipFill>
          <a:blip r:embed="rId6"/>
          <a:stretch>
            <a:fillRect/>
          </a:stretch>
        </p:blipFill>
        <p:spPr>
          <a:xfrm>
            <a:off x="10145702" y="2900111"/>
            <a:ext cx="399410" cy="399410"/>
          </a:xfrm>
          <a:prstGeom prst="rect">
            <a:avLst/>
          </a:prstGeom>
        </p:spPr>
      </p:pic>
      <p:sp>
        <p:nvSpPr>
          <p:cNvPr id="23" name="Text 17"/>
          <p:cNvSpPr/>
          <p:nvPr/>
        </p:nvSpPr>
        <p:spPr>
          <a:xfrm>
            <a:off x="9248927" y="3657600"/>
            <a:ext cx="2192960" cy="640080"/>
          </a:xfrm>
          <a:prstGeom prst="rect">
            <a:avLst/>
          </a:prstGeom>
          <a:noFill/>
          <a:ln/>
        </p:spPr>
        <p:txBody>
          <a:bodyPr wrap="square" rtlCol="0" anchor="t"/>
          <a:lstStyle/>
          <a:p>
            <a:pPr marL="0" indent="0" algn="ctr">
              <a:lnSpc>
                <a:spcPct val="100000"/>
              </a:lnSpc>
              <a:buNone/>
            </a:pPr>
            <a:r>
              <a:rPr lang="en-US" sz="1650" b="1" dirty="0">
                <a:solidFill>
                  <a:srgbClr val="F3F6FB"/>
                </a:solidFill>
                <a:latin typeface="Segoe UI Semibold" pitchFamily="34" charset="0"/>
                <a:ea typeface="Segoe UI Semibold" pitchFamily="34" charset="-122"/>
                <a:cs typeface="Segoe UI Semibold" pitchFamily="34" charset="-120"/>
              </a:rPr>
              <a:t>Clerks</a:t>
            </a:r>
            <a:endParaRPr lang="en-US" sz="1650" dirty="0"/>
          </a:p>
        </p:txBody>
      </p:sp>
      <p:sp>
        <p:nvSpPr>
          <p:cNvPr id="24" name="Text 18"/>
          <p:cNvSpPr/>
          <p:nvPr/>
        </p:nvSpPr>
        <p:spPr>
          <a:xfrm>
            <a:off x="9285503" y="4297680"/>
            <a:ext cx="2119808" cy="960120"/>
          </a:xfrm>
          <a:prstGeom prst="rect">
            <a:avLst/>
          </a:prstGeom>
          <a:noFill/>
          <a:ln/>
        </p:spPr>
        <p:txBody>
          <a:bodyPr wrap="square" rtlCol="0" anchor="t"/>
          <a:lstStyle/>
          <a:p>
            <a:pPr marL="0" indent="0" algn="ctr">
              <a:lnSpc>
                <a:spcPct val="122000"/>
              </a:lnSpc>
              <a:buNone/>
            </a:pPr>
            <a:r>
              <a:rPr lang="en-US" sz="1300" dirty="0">
                <a:solidFill>
                  <a:srgbClr val="AAB6C7"/>
                </a:solidFill>
                <a:latin typeface="Segoe UI" pitchFamily="34" charset="0"/>
                <a:ea typeface="Segoe UI" pitchFamily="34" charset="-122"/>
                <a:cs typeface="Segoe UI" pitchFamily="34" charset="-120"/>
              </a:rPr>
              <a:t>The steady, repetitive work: entries, records, reconciliations, done without tiring.</a:t>
            </a:r>
            <a:endParaRPr lang="en-US" sz="1300" dirty="0"/>
          </a:p>
        </p:txBody>
      </p:sp>
      <p:sp>
        <p:nvSpPr>
          <p:cNvPr id="25" name="Text 19"/>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Digital Co-Worker, part of OnePilot</a:t>
            </a:r>
            <a:endParaRPr lang="en-US" sz="900" dirty="0"/>
          </a:p>
        </p:txBody>
      </p:sp>
      <p:sp>
        <p:nvSpPr>
          <p:cNvPr id="26" name="Text 20"/>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03 / 11</a:t>
            </a:r>
            <a:endParaRPr lang="en-US" sz="900" dirty="0"/>
          </a:p>
        </p:txBody>
      </p:sp>
      <p:sp>
        <p:nvSpPr>
          <p:cNvPr id="27" name="Shape 21"/>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HOW YOU USE IT</a:t>
            </a:r>
            <a:endParaRPr lang="en-US" sz="1200" dirty="0"/>
          </a:p>
        </p:txBody>
      </p:sp>
      <p:sp>
        <p:nvSpPr>
          <p:cNvPr id="4" name="Text 2"/>
          <p:cNvSpPr/>
          <p:nvPr/>
        </p:nvSpPr>
        <p:spPr>
          <a:xfrm>
            <a:off x="566928" y="960120"/>
            <a:ext cx="1051560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You ask in plain language. It does the steps.</a:t>
            </a:r>
            <a:endParaRPr lang="en-US" sz="2900" dirty="0"/>
          </a:p>
        </p:txBody>
      </p:sp>
      <p:sp>
        <p:nvSpPr>
          <p:cNvPr id="5" name="Shape 3"/>
          <p:cNvSpPr/>
          <p:nvPr/>
        </p:nvSpPr>
        <p:spPr>
          <a:xfrm>
            <a:off x="566928" y="2331719"/>
            <a:ext cx="3442106" cy="3127249"/>
          </a:xfrm>
          <a:prstGeom prst="roundRect">
            <a:avLst>
              <a:gd name="adj" fmla="val 2857"/>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932688" y="2697480"/>
            <a:ext cx="777240" cy="777240"/>
          </a:xfrm>
          <a:prstGeom prst="roundRect">
            <a:avLst>
              <a:gd name="adj" fmla="val 12941"/>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mail.png"/>
          <p:cNvPicPr>
            <a:picLocks noChangeAspect="1"/>
          </p:cNvPicPr>
          <p:nvPr/>
        </p:nvPicPr>
        <p:blipFill>
          <a:blip r:embed="rId3"/>
          <a:stretch>
            <a:fillRect/>
          </a:stretch>
        </p:blipFill>
        <p:spPr>
          <a:xfrm>
            <a:off x="1119226" y="2884018"/>
            <a:ext cx="404165" cy="404165"/>
          </a:xfrm>
          <a:prstGeom prst="rect">
            <a:avLst/>
          </a:prstGeom>
        </p:spPr>
      </p:pic>
      <p:sp>
        <p:nvSpPr>
          <p:cNvPr id="8" name="Text 5"/>
          <p:cNvSpPr/>
          <p:nvPr/>
        </p:nvSpPr>
        <p:spPr>
          <a:xfrm>
            <a:off x="932688" y="3611880"/>
            <a:ext cx="2710586" cy="457200"/>
          </a:xfrm>
          <a:prstGeom prst="rect">
            <a:avLst/>
          </a:prstGeom>
          <a:noFill/>
          <a:ln/>
        </p:spPr>
        <p:txBody>
          <a:bodyPr wrap="square" rtlCol="0" anchor="ctr"/>
          <a:lstStyle/>
          <a:p>
            <a:pPr marL="0" indent="0">
              <a:buNone/>
            </a:pPr>
            <a:r>
              <a:rPr lang="en-US" sz="1100" b="1" dirty="0">
                <a:solidFill>
                  <a:srgbClr val="3BE3E0"/>
                </a:solidFill>
                <a:latin typeface="Segoe UI Semibold" pitchFamily="34" charset="0"/>
                <a:ea typeface="Segoe UI Semibold" pitchFamily="34" charset="-122"/>
                <a:cs typeface="Segoe UI Semibold" pitchFamily="34" charset="-120"/>
              </a:rPr>
              <a:t>STEP 01   </a:t>
            </a:r>
            <a:r>
              <a:rPr lang="en-US" sz="1900" b="1" dirty="0">
                <a:solidFill>
                  <a:srgbClr val="F3F6FB"/>
                </a:solidFill>
                <a:latin typeface="Segoe UI Semibold" pitchFamily="34" charset="0"/>
                <a:ea typeface="Segoe UI Semibold" pitchFamily="34" charset="-122"/>
                <a:cs typeface="Segoe UI Semibold" pitchFamily="34" charset="-120"/>
              </a:rPr>
              <a:t>You ask</a:t>
            </a:r>
            <a:endParaRPr lang="en-US" sz="1100" dirty="0"/>
          </a:p>
        </p:txBody>
      </p:sp>
      <p:sp>
        <p:nvSpPr>
          <p:cNvPr id="9" name="Text 6"/>
          <p:cNvSpPr/>
          <p:nvPr/>
        </p:nvSpPr>
        <p:spPr>
          <a:xfrm>
            <a:off x="932688" y="4114800"/>
            <a:ext cx="2710586" cy="960120"/>
          </a:xfrm>
          <a:prstGeom prst="rect">
            <a:avLst/>
          </a:prstGeom>
          <a:noFill/>
          <a:ln/>
        </p:spPr>
        <p:txBody>
          <a:bodyPr wrap="square" rtlCol="0" anchor="t"/>
          <a:lstStyle/>
          <a:p>
            <a:pPr marL="0" indent="0">
              <a:lnSpc>
                <a:spcPct val="128000"/>
              </a:lnSpc>
              <a:buNone/>
            </a:pPr>
            <a:r>
              <a:rPr lang="en-US" sz="1400" dirty="0">
                <a:solidFill>
                  <a:srgbClr val="AAB6C7"/>
                </a:solidFill>
                <a:latin typeface="Segoe UI" pitchFamily="34" charset="0"/>
                <a:ea typeface="Segoe UI" pitchFamily="34" charset="-122"/>
                <a:cs typeface="Segoe UI" pitchFamily="34" charset="-120"/>
              </a:rPr>
              <a:t>A message in chat, or a request that lands by email. Plain language, the way you would ask a colleague.</a:t>
            </a:r>
            <a:endParaRPr lang="en-US" sz="1400" dirty="0"/>
          </a:p>
        </p:txBody>
      </p:sp>
      <p:sp>
        <p:nvSpPr>
          <p:cNvPr id="10" name="Text 7"/>
          <p:cNvSpPr/>
          <p:nvPr/>
        </p:nvSpPr>
        <p:spPr>
          <a:xfrm>
            <a:off x="4027322" y="3479292"/>
            <a:ext cx="329184" cy="585216"/>
          </a:xfrm>
          <a:prstGeom prst="rect">
            <a:avLst/>
          </a:prstGeom>
          <a:noFill/>
          <a:ln/>
        </p:spPr>
        <p:txBody>
          <a:bodyPr wrap="square" rtlCol="0" anchor="ctr"/>
          <a:lstStyle/>
          <a:p>
            <a:pPr marL="0" indent="0" algn="ctr">
              <a:buNone/>
            </a:pPr>
            <a:r>
              <a:rPr lang="en-US" sz="2600" b="1" dirty="0">
                <a:solidFill>
                  <a:srgbClr val="3BE3E0"/>
                </a:solidFill>
                <a:latin typeface="Segoe UI" pitchFamily="34" charset="0"/>
                <a:ea typeface="Segoe UI" pitchFamily="34" charset="-122"/>
                <a:cs typeface="Segoe UI" pitchFamily="34" charset="-120"/>
              </a:rPr>
              <a:t>›</a:t>
            </a:r>
            <a:endParaRPr lang="en-US" sz="2600" dirty="0"/>
          </a:p>
        </p:txBody>
      </p:sp>
      <p:sp>
        <p:nvSpPr>
          <p:cNvPr id="11" name="Shape 8"/>
          <p:cNvSpPr/>
          <p:nvPr/>
        </p:nvSpPr>
        <p:spPr>
          <a:xfrm>
            <a:off x="4374794" y="2331720"/>
            <a:ext cx="3442106" cy="3127248"/>
          </a:xfrm>
          <a:prstGeom prst="roundRect">
            <a:avLst>
              <a:gd name="adj" fmla="val 2857"/>
            </a:avLst>
          </a:prstGeom>
          <a:solidFill>
            <a:srgbClr val="141A25"/>
          </a:solidFill>
          <a:ln w="13970">
            <a:solidFill>
              <a:srgbClr val="36414F"/>
            </a:solidFill>
            <a:prstDash val="solid"/>
          </a:ln>
        </p:spPr>
        <p:txBody>
          <a:bodyPr/>
          <a:lstStyle/>
          <a:p>
            <a:endParaRPr lang="en-US"/>
          </a:p>
        </p:txBody>
      </p:sp>
      <p:sp>
        <p:nvSpPr>
          <p:cNvPr id="12" name="Shape 9"/>
          <p:cNvSpPr/>
          <p:nvPr/>
        </p:nvSpPr>
        <p:spPr>
          <a:xfrm>
            <a:off x="4740554" y="2697480"/>
            <a:ext cx="777240" cy="777240"/>
          </a:xfrm>
          <a:prstGeom prst="roundRect">
            <a:avLst>
              <a:gd name="adj" fmla="val 12941"/>
            </a:avLst>
          </a:prstGeom>
          <a:solidFill>
            <a:srgbClr val="1B2330"/>
          </a:solidFill>
          <a:ln w="15240">
            <a:solidFill>
              <a:srgbClr val="3BE3E0"/>
            </a:solidFill>
            <a:prstDash val="solid"/>
          </a:ln>
        </p:spPr>
        <p:txBody>
          <a:bodyPr/>
          <a:lstStyle/>
          <a:p>
            <a:endParaRPr lang="en-US"/>
          </a:p>
        </p:txBody>
      </p:sp>
      <p:pic>
        <p:nvPicPr>
          <p:cNvPr id="13" name="Image 1" descr="C:/Users/neuma_p1qrsic/Repo/agentic-ops1/.scratch/icons/spark.png"/>
          <p:cNvPicPr>
            <a:picLocks noChangeAspect="1"/>
          </p:cNvPicPr>
          <p:nvPr/>
        </p:nvPicPr>
        <p:blipFill>
          <a:blip r:embed="rId4"/>
          <a:stretch>
            <a:fillRect/>
          </a:stretch>
        </p:blipFill>
        <p:spPr>
          <a:xfrm>
            <a:off x="4927092" y="2884018"/>
            <a:ext cx="404165" cy="404165"/>
          </a:xfrm>
          <a:prstGeom prst="rect">
            <a:avLst/>
          </a:prstGeom>
        </p:spPr>
      </p:pic>
      <p:sp>
        <p:nvSpPr>
          <p:cNvPr id="14" name="Text 10"/>
          <p:cNvSpPr/>
          <p:nvPr/>
        </p:nvSpPr>
        <p:spPr>
          <a:xfrm>
            <a:off x="4740554" y="3611880"/>
            <a:ext cx="2710586" cy="457200"/>
          </a:xfrm>
          <a:prstGeom prst="rect">
            <a:avLst/>
          </a:prstGeom>
          <a:noFill/>
          <a:ln/>
        </p:spPr>
        <p:txBody>
          <a:bodyPr wrap="square" rtlCol="0" anchor="ctr"/>
          <a:lstStyle/>
          <a:p>
            <a:pPr marL="0" indent="0">
              <a:buNone/>
            </a:pPr>
            <a:r>
              <a:rPr lang="en-US" sz="1100" b="1" dirty="0">
                <a:solidFill>
                  <a:srgbClr val="3BE3E0"/>
                </a:solidFill>
                <a:latin typeface="Segoe UI Semibold" pitchFamily="34" charset="0"/>
                <a:ea typeface="Segoe UI Semibold" pitchFamily="34" charset="-122"/>
                <a:cs typeface="Segoe UI Semibold" pitchFamily="34" charset="-120"/>
              </a:rPr>
              <a:t>STEP 02   </a:t>
            </a:r>
            <a:r>
              <a:rPr lang="en-US" sz="1900" b="1" dirty="0">
                <a:solidFill>
                  <a:srgbClr val="F3F6FB"/>
                </a:solidFill>
                <a:latin typeface="Segoe UI Semibold" pitchFamily="34" charset="0"/>
                <a:ea typeface="Segoe UI Semibold" pitchFamily="34" charset="-122"/>
                <a:cs typeface="Segoe UI Semibold" pitchFamily="34" charset="-120"/>
              </a:rPr>
              <a:t>It works</a:t>
            </a:r>
            <a:endParaRPr lang="en-US" sz="1100" dirty="0"/>
          </a:p>
        </p:txBody>
      </p:sp>
      <p:sp>
        <p:nvSpPr>
          <p:cNvPr id="15" name="Text 11"/>
          <p:cNvSpPr/>
          <p:nvPr/>
        </p:nvSpPr>
        <p:spPr>
          <a:xfrm>
            <a:off x="4740554" y="4114800"/>
            <a:ext cx="2710586" cy="960120"/>
          </a:xfrm>
          <a:prstGeom prst="rect">
            <a:avLst/>
          </a:prstGeom>
          <a:noFill/>
          <a:ln/>
        </p:spPr>
        <p:txBody>
          <a:bodyPr wrap="square" rtlCol="0" anchor="t"/>
          <a:lstStyle/>
          <a:p>
            <a:pPr marL="0" indent="0">
              <a:lnSpc>
                <a:spcPct val="128000"/>
              </a:lnSpc>
              <a:buNone/>
            </a:pPr>
            <a:r>
              <a:rPr lang="en-US" sz="1400" dirty="0">
                <a:solidFill>
                  <a:srgbClr val="AAB6C7"/>
                </a:solidFill>
                <a:latin typeface="Segoe UI" pitchFamily="34" charset="0"/>
                <a:ea typeface="Segoe UI" pitchFamily="34" charset="-122"/>
                <a:cs typeface="Segoe UI" pitchFamily="34" charset="-120"/>
              </a:rPr>
              <a:t>It reads the request, pulls what it needs from your systems, and carries out each step.</a:t>
            </a:r>
            <a:endParaRPr lang="en-US" sz="1400" dirty="0"/>
          </a:p>
        </p:txBody>
      </p:sp>
      <p:sp>
        <p:nvSpPr>
          <p:cNvPr id="16" name="Text 12"/>
          <p:cNvSpPr/>
          <p:nvPr/>
        </p:nvSpPr>
        <p:spPr>
          <a:xfrm>
            <a:off x="7835189" y="3479292"/>
            <a:ext cx="329184" cy="585216"/>
          </a:xfrm>
          <a:prstGeom prst="rect">
            <a:avLst/>
          </a:prstGeom>
          <a:noFill/>
          <a:ln/>
        </p:spPr>
        <p:txBody>
          <a:bodyPr wrap="square" rtlCol="0" anchor="ctr"/>
          <a:lstStyle/>
          <a:p>
            <a:pPr marL="0" indent="0" algn="ctr">
              <a:buNone/>
            </a:pPr>
            <a:r>
              <a:rPr lang="en-US" sz="2600" b="1" dirty="0">
                <a:solidFill>
                  <a:srgbClr val="3BE3E0"/>
                </a:solidFill>
                <a:latin typeface="Segoe UI" pitchFamily="34" charset="0"/>
                <a:ea typeface="Segoe UI" pitchFamily="34" charset="-122"/>
                <a:cs typeface="Segoe UI" pitchFamily="34" charset="-120"/>
              </a:rPr>
              <a:t>›</a:t>
            </a:r>
            <a:endParaRPr lang="en-US" sz="2600" dirty="0"/>
          </a:p>
        </p:txBody>
      </p:sp>
      <p:sp>
        <p:nvSpPr>
          <p:cNvPr id="17" name="Shape 13"/>
          <p:cNvSpPr/>
          <p:nvPr/>
        </p:nvSpPr>
        <p:spPr>
          <a:xfrm>
            <a:off x="8182661" y="2331720"/>
            <a:ext cx="3442106" cy="3127248"/>
          </a:xfrm>
          <a:prstGeom prst="roundRect">
            <a:avLst>
              <a:gd name="adj" fmla="val 2857"/>
            </a:avLst>
          </a:prstGeom>
          <a:solidFill>
            <a:srgbClr val="141A25"/>
          </a:solidFill>
          <a:ln w="19050">
            <a:solidFill>
              <a:srgbClr val="46D9A0"/>
            </a:solidFill>
            <a:prstDash val="solid"/>
          </a:ln>
        </p:spPr>
        <p:txBody>
          <a:bodyPr/>
          <a:lstStyle/>
          <a:p>
            <a:endParaRPr lang="en-US"/>
          </a:p>
        </p:txBody>
      </p:sp>
      <p:sp>
        <p:nvSpPr>
          <p:cNvPr id="18" name="Shape 14"/>
          <p:cNvSpPr/>
          <p:nvPr/>
        </p:nvSpPr>
        <p:spPr>
          <a:xfrm>
            <a:off x="8548421" y="2697480"/>
            <a:ext cx="777240" cy="777240"/>
          </a:xfrm>
          <a:prstGeom prst="roundRect">
            <a:avLst>
              <a:gd name="adj" fmla="val 12941"/>
            </a:avLst>
          </a:prstGeom>
          <a:solidFill>
            <a:srgbClr val="1B2330"/>
          </a:solidFill>
          <a:ln w="15240">
            <a:solidFill>
              <a:srgbClr val="46D9A0"/>
            </a:solidFill>
            <a:prstDash val="solid"/>
          </a:ln>
        </p:spPr>
        <p:txBody>
          <a:bodyPr/>
          <a:lstStyle/>
          <a:p>
            <a:endParaRPr lang="en-US"/>
          </a:p>
        </p:txBody>
      </p:sp>
      <p:pic>
        <p:nvPicPr>
          <p:cNvPr id="19" name="Image 2" descr="C:/Users/neuma_p1qrsic/Repo/agentic-ops1/.scratch/icons/check.png"/>
          <p:cNvPicPr>
            <a:picLocks noChangeAspect="1"/>
          </p:cNvPicPr>
          <p:nvPr/>
        </p:nvPicPr>
        <p:blipFill>
          <a:blip r:embed="rId5"/>
          <a:stretch>
            <a:fillRect/>
          </a:stretch>
        </p:blipFill>
        <p:spPr>
          <a:xfrm>
            <a:off x="8734958" y="2884018"/>
            <a:ext cx="404165" cy="404165"/>
          </a:xfrm>
          <a:prstGeom prst="rect">
            <a:avLst/>
          </a:prstGeom>
        </p:spPr>
      </p:pic>
      <p:sp>
        <p:nvSpPr>
          <p:cNvPr id="20" name="Text 15"/>
          <p:cNvSpPr/>
          <p:nvPr/>
        </p:nvSpPr>
        <p:spPr>
          <a:xfrm>
            <a:off x="8548421" y="3611880"/>
            <a:ext cx="2710586" cy="457200"/>
          </a:xfrm>
          <a:prstGeom prst="rect">
            <a:avLst/>
          </a:prstGeom>
          <a:noFill/>
          <a:ln/>
        </p:spPr>
        <p:txBody>
          <a:bodyPr wrap="square" rtlCol="0" anchor="ctr"/>
          <a:lstStyle/>
          <a:p>
            <a:pPr marL="0" indent="0">
              <a:buNone/>
            </a:pPr>
            <a:r>
              <a:rPr lang="en-US" sz="1100" b="1" dirty="0">
                <a:solidFill>
                  <a:srgbClr val="46D9A0"/>
                </a:solidFill>
                <a:latin typeface="Segoe UI Semibold" pitchFamily="34" charset="0"/>
                <a:ea typeface="Segoe UI Semibold" pitchFamily="34" charset="-122"/>
                <a:cs typeface="Segoe UI Semibold" pitchFamily="34" charset="-120"/>
              </a:rPr>
              <a:t>STEP 03   </a:t>
            </a:r>
            <a:r>
              <a:rPr lang="en-US" sz="1900" b="1" dirty="0">
                <a:solidFill>
                  <a:srgbClr val="F3F6FB"/>
                </a:solidFill>
                <a:latin typeface="Segoe UI Semibold" pitchFamily="34" charset="0"/>
                <a:ea typeface="Segoe UI Semibold" pitchFamily="34" charset="-122"/>
                <a:cs typeface="Segoe UI Semibold" pitchFamily="34" charset="-120"/>
              </a:rPr>
              <a:t>It confirms</a:t>
            </a:r>
            <a:endParaRPr lang="en-US" sz="1100" dirty="0"/>
          </a:p>
        </p:txBody>
      </p:sp>
      <p:sp>
        <p:nvSpPr>
          <p:cNvPr id="21" name="Text 16"/>
          <p:cNvSpPr/>
          <p:nvPr/>
        </p:nvSpPr>
        <p:spPr>
          <a:xfrm>
            <a:off x="8548421" y="4114800"/>
            <a:ext cx="2710586" cy="960120"/>
          </a:xfrm>
          <a:prstGeom prst="rect">
            <a:avLst/>
          </a:prstGeom>
          <a:noFill/>
          <a:ln/>
        </p:spPr>
        <p:txBody>
          <a:bodyPr wrap="square" rtlCol="0" anchor="t"/>
          <a:lstStyle/>
          <a:p>
            <a:pPr marL="0" indent="0">
              <a:lnSpc>
                <a:spcPct val="128000"/>
              </a:lnSpc>
              <a:buNone/>
            </a:pPr>
            <a:r>
              <a:rPr lang="en-US" sz="1400" dirty="0">
                <a:solidFill>
                  <a:srgbClr val="AAB6C7"/>
                </a:solidFill>
                <a:latin typeface="Segoe UI" pitchFamily="34" charset="0"/>
                <a:ea typeface="Segoe UI" pitchFamily="34" charset="-122"/>
                <a:cs typeface="Segoe UI" pitchFamily="34" charset="-120"/>
              </a:rPr>
              <a:t>It tells you what it did in chat, shows the result, and suggests the next action.</a:t>
            </a:r>
            <a:endParaRPr lang="en-US" sz="1400" dirty="0"/>
          </a:p>
        </p:txBody>
      </p:sp>
      <p:sp>
        <p:nvSpPr>
          <p:cNvPr id="22" name="Text 17"/>
          <p:cNvSpPr/>
          <p:nvPr/>
        </p:nvSpPr>
        <p:spPr>
          <a:xfrm>
            <a:off x="566928" y="5669280"/>
            <a:ext cx="11057839" cy="457200"/>
          </a:xfrm>
          <a:prstGeom prst="rect">
            <a:avLst/>
          </a:prstGeom>
          <a:noFill/>
          <a:ln/>
        </p:spPr>
        <p:txBody>
          <a:bodyPr wrap="square" rtlCol="0" anchor="ctr"/>
          <a:lstStyle/>
          <a:p>
            <a:pPr marL="0" indent="0">
              <a:buNone/>
            </a:pPr>
            <a:r>
              <a:rPr lang="en-US" sz="1500" dirty="0">
                <a:solidFill>
                  <a:srgbClr val="AAB6C7"/>
                </a:solidFill>
                <a:latin typeface="Segoe UI" pitchFamily="34" charset="0"/>
                <a:ea typeface="Segoe UI" pitchFamily="34" charset="-122"/>
                <a:cs typeface="Segoe UI" pitchFamily="34" charset="-120"/>
              </a:rPr>
              <a:t>Every step is checked and logged, and you can put a person in the loop wherever you want one.</a:t>
            </a:r>
            <a:endParaRPr lang="en-US" sz="1500" dirty="0"/>
          </a:p>
        </p:txBody>
      </p:sp>
      <p:sp>
        <p:nvSpPr>
          <p:cNvPr id="23" name="Text 18"/>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Digital Co-Worker, part of OnePilot</a:t>
            </a:r>
            <a:endParaRPr lang="en-US" sz="900" dirty="0"/>
          </a:p>
        </p:txBody>
      </p:sp>
      <p:sp>
        <p:nvSpPr>
          <p:cNvPr id="24" name="Text 19"/>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04 / 11</a:t>
            </a:r>
            <a:endParaRPr lang="en-US" sz="900" dirty="0"/>
          </a:p>
        </p:txBody>
      </p:sp>
      <p:sp>
        <p:nvSpPr>
          <p:cNvPr id="25" name="Shape 20"/>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A REAL EXAMPLE</a:t>
            </a:r>
            <a:endParaRPr lang="en-US" sz="1200" dirty="0"/>
          </a:p>
        </p:txBody>
      </p:sp>
      <p:sp>
        <p:nvSpPr>
          <p:cNvPr id="4" name="Text 2"/>
          <p:cNvSpPr/>
          <p:nvPr/>
        </p:nvSpPr>
        <p:spPr>
          <a:xfrm>
            <a:off x="566928" y="960120"/>
            <a:ext cx="1051560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A bank transfer, from an email, on its own.</a:t>
            </a:r>
            <a:endParaRPr lang="en-US" sz="2800" dirty="0"/>
          </a:p>
        </p:txBody>
      </p:sp>
      <p:sp>
        <p:nvSpPr>
          <p:cNvPr id="5" name="Shape 3"/>
          <p:cNvSpPr/>
          <p:nvPr/>
        </p:nvSpPr>
        <p:spPr>
          <a:xfrm>
            <a:off x="566928" y="2468880"/>
            <a:ext cx="2021373" cy="2743200"/>
          </a:xfrm>
          <a:prstGeom prst="roundRect">
            <a:avLst>
              <a:gd name="adj" fmla="val 4071"/>
            </a:avLst>
          </a:prstGeom>
          <a:solidFill>
            <a:srgbClr val="141A25"/>
          </a:solidFill>
          <a:ln w="13970">
            <a:solidFill>
              <a:srgbClr val="36414F"/>
            </a:solidFill>
            <a:prstDash val="solid"/>
          </a:ln>
        </p:spPr>
        <p:txBody>
          <a:bodyPr/>
          <a:lstStyle/>
          <a:p>
            <a:endParaRPr lang="en-US"/>
          </a:p>
        </p:txBody>
      </p:sp>
      <p:pic>
        <p:nvPicPr>
          <p:cNvPr id="6" name="Image 0" descr="C:/Users/neuma_p1qrsic/Repo/agentic-ops1/.scratch/icons/mail.png"/>
          <p:cNvPicPr>
            <a:picLocks noChangeAspect="1"/>
          </p:cNvPicPr>
          <p:nvPr/>
        </p:nvPicPr>
        <p:blipFill>
          <a:blip r:embed="rId3"/>
          <a:stretch>
            <a:fillRect/>
          </a:stretch>
        </p:blipFill>
        <p:spPr>
          <a:xfrm>
            <a:off x="1266718" y="2779776"/>
            <a:ext cx="621792" cy="621792"/>
          </a:xfrm>
          <a:prstGeom prst="rect">
            <a:avLst/>
          </a:prstGeom>
        </p:spPr>
      </p:pic>
      <p:sp>
        <p:nvSpPr>
          <p:cNvPr id="7" name="Text 4"/>
          <p:cNvSpPr/>
          <p:nvPr/>
        </p:nvSpPr>
        <p:spPr>
          <a:xfrm>
            <a:off x="566928" y="3547872"/>
            <a:ext cx="2021373" cy="320040"/>
          </a:xfrm>
          <a:prstGeom prst="rect">
            <a:avLst/>
          </a:prstGeom>
          <a:noFill/>
          <a:ln/>
        </p:spPr>
        <p:txBody>
          <a:bodyPr wrap="square" rtlCol="0" anchor="ctr"/>
          <a:lstStyle/>
          <a:p>
            <a:pPr marL="0" indent="0" algn="ctr">
              <a:buNone/>
            </a:pPr>
            <a:r>
              <a:rPr lang="en-US" sz="1150" b="1" dirty="0">
                <a:solidFill>
                  <a:srgbClr val="3BE3E0"/>
                </a:solidFill>
                <a:latin typeface="Segoe UI" pitchFamily="34" charset="0"/>
                <a:ea typeface="Segoe UI" pitchFamily="34" charset="-122"/>
                <a:cs typeface="Segoe UI" pitchFamily="34" charset="-120"/>
              </a:rPr>
              <a:t>01</a:t>
            </a:r>
            <a:endParaRPr lang="en-US" sz="1150" dirty="0"/>
          </a:p>
        </p:txBody>
      </p:sp>
      <p:sp>
        <p:nvSpPr>
          <p:cNvPr id="8" name="Text 5"/>
          <p:cNvSpPr/>
          <p:nvPr/>
        </p:nvSpPr>
        <p:spPr>
          <a:xfrm>
            <a:off x="676656" y="3840480"/>
            <a:ext cx="1801917" cy="640080"/>
          </a:xfrm>
          <a:prstGeom prst="rect">
            <a:avLst/>
          </a:prstGeom>
          <a:noFill/>
          <a:ln/>
        </p:spPr>
        <p:txBody>
          <a:bodyPr wrap="square" rtlCol="0" anchor="t"/>
          <a:lstStyle/>
          <a:p>
            <a:pPr marL="0" indent="0" algn="ctr">
              <a:lnSpc>
                <a:spcPct val="100000"/>
              </a:lnSpc>
              <a:buNone/>
            </a:pPr>
            <a:r>
              <a:rPr lang="en-US" sz="1350" b="1" dirty="0">
                <a:solidFill>
                  <a:srgbClr val="F3F6FB"/>
                </a:solidFill>
                <a:latin typeface="Segoe UI Semibold" pitchFamily="34" charset="0"/>
                <a:ea typeface="Segoe UI Semibold" pitchFamily="34" charset="-122"/>
                <a:cs typeface="Segoe UI Semibold" pitchFamily="34" charset="-120"/>
              </a:rPr>
              <a:t>Email arrives</a:t>
            </a:r>
            <a:endParaRPr lang="en-US" sz="1350" dirty="0"/>
          </a:p>
        </p:txBody>
      </p:sp>
      <p:sp>
        <p:nvSpPr>
          <p:cNvPr id="9" name="Text 6"/>
          <p:cNvSpPr/>
          <p:nvPr/>
        </p:nvSpPr>
        <p:spPr>
          <a:xfrm>
            <a:off x="713232" y="4480560"/>
            <a:ext cx="1728765" cy="640080"/>
          </a:xfrm>
          <a:prstGeom prst="rect">
            <a:avLst/>
          </a:prstGeom>
          <a:noFill/>
          <a:ln/>
        </p:spPr>
        <p:txBody>
          <a:bodyPr wrap="square" rtlCol="0" anchor="t"/>
          <a:lstStyle/>
          <a:p>
            <a:pPr marL="0" indent="0" algn="ctr">
              <a:lnSpc>
                <a:spcPct val="112000"/>
              </a:lnSpc>
              <a:buNone/>
            </a:pPr>
            <a:r>
              <a:rPr lang="en-US" sz="1100" dirty="0">
                <a:solidFill>
                  <a:srgbClr val="AAB6C7"/>
                </a:solidFill>
                <a:latin typeface="Segoe UI" pitchFamily="34" charset="0"/>
                <a:ea typeface="Segoe UI" pitchFamily="34" charset="-122"/>
                <a:cs typeface="Segoe UI" pitchFamily="34" charset="-120"/>
              </a:rPr>
              <a:t>a transfer request lands in the inbox</a:t>
            </a:r>
            <a:endParaRPr lang="en-US" sz="1100" dirty="0"/>
          </a:p>
        </p:txBody>
      </p:sp>
      <p:sp>
        <p:nvSpPr>
          <p:cNvPr id="10" name="Text 7"/>
          <p:cNvSpPr/>
          <p:nvPr/>
        </p:nvSpPr>
        <p:spPr>
          <a:xfrm>
            <a:off x="2560869" y="3566160"/>
            <a:ext cx="292608" cy="548640"/>
          </a:xfrm>
          <a:prstGeom prst="rect">
            <a:avLst/>
          </a:prstGeom>
          <a:noFill/>
          <a:ln/>
        </p:spPr>
        <p:txBody>
          <a:bodyPr wrap="square" rtlCol="0" anchor="ctr"/>
          <a:lstStyle/>
          <a:p>
            <a:pPr marL="0" indent="0" algn="ctr">
              <a:buNone/>
            </a:pPr>
            <a:r>
              <a:rPr lang="en-US" sz="2200" b="1" dirty="0">
                <a:solidFill>
                  <a:srgbClr val="3BE3E0"/>
                </a:solidFill>
                <a:latin typeface="Segoe UI" pitchFamily="34" charset="0"/>
                <a:ea typeface="Segoe UI" pitchFamily="34" charset="-122"/>
                <a:cs typeface="Segoe UI" pitchFamily="34" charset="-120"/>
              </a:rPr>
              <a:t>›</a:t>
            </a:r>
            <a:endParaRPr lang="en-US" sz="2200" dirty="0"/>
          </a:p>
        </p:txBody>
      </p:sp>
      <p:sp>
        <p:nvSpPr>
          <p:cNvPr id="11" name="Shape 8"/>
          <p:cNvSpPr/>
          <p:nvPr/>
        </p:nvSpPr>
        <p:spPr>
          <a:xfrm>
            <a:off x="2826045" y="2468880"/>
            <a:ext cx="2021373" cy="2743200"/>
          </a:xfrm>
          <a:prstGeom prst="roundRect">
            <a:avLst>
              <a:gd name="adj" fmla="val 4071"/>
            </a:avLst>
          </a:prstGeom>
          <a:solidFill>
            <a:srgbClr val="141A25"/>
          </a:solidFill>
          <a:ln w="13970">
            <a:solidFill>
              <a:srgbClr val="36414F"/>
            </a:solidFill>
            <a:prstDash val="solid"/>
          </a:ln>
        </p:spPr>
        <p:txBody>
          <a:bodyPr/>
          <a:lstStyle/>
          <a:p>
            <a:endParaRPr lang="en-US"/>
          </a:p>
        </p:txBody>
      </p:sp>
      <p:pic>
        <p:nvPicPr>
          <p:cNvPr id="12" name="Image 1" descr="C:/Users/neuma_p1qrsic/Repo/agentic-ops1/.scratch/icons/eye.png"/>
          <p:cNvPicPr>
            <a:picLocks noChangeAspect="1"/>
          </p:cNvPicPr>
          <p:nvPr/>
        </p:nvPicPr>
        <p:blipFill>
          <a:blip r:embed="rId4"/>
          <a:stretch>
            <a:fillRect/>
          </a:stretch>
        </p:blipFill>
        <p:spPr>
          <a:xfrm>
            <a:off x="3525835" y="2779776"/>
            <a:ext cx="621792" cy="621792"/>
          </a:xfrm>
          <a:prstGeom prst="rect">
            <a:avLst/>
          </a:prstGeom>
        </p:spPr>
      </p:pic>
      <p:sp>
        <p:nvSpPr>
          <p:cNvPr id="13" name="Text 9"/>
          <p:cNvSpPr/>
          <p:nvPr/>
        </p:nvSpPr>
        <p:spPr>
          <a:xfrm>
            <a:off x="2826045" y="3547872"/>
            <a:ext cx="2021373" cy="320040"/>
          </a:xfrm>
          <a:prstGeom prst="rect">
            <a:avLst/>
          </a:prstGeom>
          <a:noFill/>
          <a:ln/>
        </p:spPr>
        <p:txBody>
          <a:bodyPr wrap="square" rtlCol="0" anchor="ctr"/>
          <a:lstStyle/>
          <a:p>
            <a:pPr marL="0" indent="0" algn="ctr">
              <a:buNone/>
            </a:pPr>
            <a:r>
              <a:rPr lang="en-US" sz="1150" b="1" dirty="0">
                <a:solidFill>
                  <a:srgbClr val="3BE3E0"/>
                </a:solidFill>
                <a:latin typeface="Segoe UI" pitchFamily="34" charset="0"/>
                <a:ea typeface="Segoe UI" pitchFamily="34" charset="-122"/>
                <a:cs typeface="Segoe UI" pitchFamily="34" charset="-120"/>
              </a:rPr>
              <a:t>02</a:t>
            </a:r>
            <a:endParaRPr lang="en-US" sz="1150" dirty="0"/>
          </a:p>
        </p:txBody>
      </p:sp>
      <p:sp>
        <p:nvSpPr>
          <p:cNvPr id="14" name="Text 10"/>
          <p:cNvSpPr/>
          <p:nvPr/>
        </p:nvSpPr>
        <p:spPr>
          <a:xfrm>
            <a:off x="2935773" y="3840480"/>
            <a:ext cx="1801917" cy="640080"/>
          </a:xfrm>
          <a:prstGeom prst="rect">
            <a:avLst/>
          </a:prstGeom>
          <a:noFill/>
          <a:ln/>
        </p:spPr>
        <p:txBody>
          <a:bodyPr wrap="square" rtlCol="0" anchor="t"/>
          <a:lstStyle/>
          <a:p>
            <a:pPr marL="0" indent="0" algn="ctr">
              <a:lnSpc>
                <a:spcPct val="100000"/>
              </a:lnSpc>
              <a:buNone/>
            </a:pPr>
            <a:r>
              <a:rPr lang="en-US" sz="1350" b="1" dirty="0">
                <a:solidFill>
                  <a:srgbClr val="F3F6FB"/>
                </a:solidFill>
                <a:latin typeface="Segoe UI Semibold" pitchFamily="34" charset="0"/>
                <a:ea typeface="Segoe UI Semibold" pitchFamily="34" charset="-122"/>
                <a:cs typeface="Segoe UI Semibold" pitchFamily="34" charset="-120"/>
              </a:rPr>
              <a:t>Reads &amp; summarizes</a:t>
            </a:r>
            <a:endParaRPr lang="en-US" sz="1350" dirty="0"/>
          </a:p>
        </p:txBody>
      </p:sp>
      <p:sp>
        <p:nvSpPr>
          <p:cNvPr id="15" name="Text 11"/>
          <p:cNvSpPr/>
          <p:nvPr/>
        </p:nvSpPr>
        <p:spPr>
          <a:xfrm>
            <a:off x="2972349" y="4480560"/>
            <a:ext cx="1728765" cy="640080"/>
          </a:xfrm>
          <a:prstGeom prst="rect">
            <a:avLst/>
          </a:prstGeom>
          <a:noFill/>
          <a:ln/>
        </p:spPr>
        <p:txBody>
          <a:bodyPr wrap="square" rtlCol="0" anchor="t"/>
          <a:lstStyle/>
          <a:p>
            <a:pPr marL="0" indent="0" algn="ctr">
              <a:lnSpc>
                <a:spcPct val="112000"/>
              </a:lnSpc>
              <a:buNone/>
            </a:pPr>
            <a:r>
              <a:rPr lang="en-US" sz="1100" dirty="0">
                <a:solidFill>
                  <a:srgbClr val="AAB6C7"/>
                </a:solidFill>
                <a:latin typeface="Segoe UI" pitchFamily="34" charset="0"/>
                <a:ea typeface="Segoe UI" pitchFamily="34" charset="-122"/>
                <a:cs typeface="Segoe UI" pitchFamily="34" charset="-120"/>
              </a:rPr>
              <a:t>the co-worker reads it and suggests the action</a:t>
            </a:r>
            <a:endParaRPr lang="en-US" sz="1100" dirty="0"/>
          </a:p>
        </p:txBody>
      </p:sp>
      <p:sp>
        <p:nvSpPr>
          <p:cNvPr id="16" name="Text 12"/>
          <p:cNvSpPr/>
          <p:nvPr/>
        </p:nvSpPr>
        <p:spPr>
          <a:xfrm>
            <a:off x="4819985" y="3566160"/>
            <a:ext cx="292608" cy="548640"/>
          </a:xfrm>
          <a:prstGeom prst="rect">
            <a:avLst/>
          </a:prstGeom>
          <a:noFill/>
          <a:ln/>
        </p:spPr>
        <p:txBody>
          <a:bodyPr wrap="square" rtlCol="0" anchor="ctr"/>
          <a:lstStyle/>
          <a:p>
            <a:pPr marL="0" indent="0" algn="ctr">
              <a:buNone/>
            </a:pPr>
            <a:r>
              <a:rPr lang="en-US" sz="2200" b="1" dirty="0">
                <a:solidFill>
                  <a:srgbClr val="3BE3E0"/>
                </a:solidFill>
                <a:latin typeface="Segoe UI" pitchFamily="34" charset="0"/>
                <a:ea typeface="Segoe UI" pitchFamily="34" charset="-122"/>
                <a:cs typeface="Segoe UI" pitchFamily="34" charset="-120"/>
              </a:rPr>
              <a:t>›</a:t>
            </a:r>
            <a:endParaRPr lang="en-US" sz="2200" dirty="0"/>
          </a:p>
        </p:txBody>
      </p:sp>
      <p:sp>
        <p:nvSpPr>
          <p:cNvPr id="17" name="Shape 13"/>
          <p:cNvSpPr/>
          <p:nvPr/>
        </p:nvSpPr>
        <p:spPr>
          <a:xfrm>
            <a:off x="5085161" y="2468880"/>
            <a:ext cx="2021373" cy="2743200"/>
          </a:xfrm>
          <a:prstGeom prst="roundRect">
            <a:avLst>
              <a:gd name="adj" fmla="val 4071"/>
            </a:avLst>
          </a:prstGeom>
          <a:solidFill>
            <a:srgbClr val="141A25"/>
          </a:solidFill>
          <a:ln w="13970">
            <a:solidFill>
              <a:srgbClr val="36414F"/>
            </a:solidFill>
            <a:prstDash val="solid"/>
          </a:ln>
        </p:spPr>
        <p:txBody>
          <a:bodyPr/>
          <a:lstStyle/>
          <a:p>
            <a:endParaRPr lang="en-US"/>
          </a:p>
        </p:txBody>
      </p:sp>
      <p:pic>
        <p:nvPicPr>
          <p:cNvPr id="18" name="Image 2" descr="C:/Users/neuma_p1qrsic/Repo/agentic-ops1/.scratch/icons/gauge.png"/>
          <p:cNvPicPr>
            <a:picLocks noChangeAspect="1"/>
          </p:cNvPicPr>
          <p:nvPr/>
        </p:nvPicPr>
        <p:blipFill>
          <a:blip r:embed="rId5"/>
          <a:stretch>
            <a:fillRect/>
          </a:stretch>
        </p:blipFill>
        <p:spPr>
          <a:xfrm>
            <a:off x="5784952" y="2779776"/>
            <a:ext cx="621792" cy="621792"/>
          </a:xfrm>
          <a:prstGeom prst="rect">
            <a:avLst/>
          </a:prstGeom>
        </p:spPr>
      </p:pic>
      <p:sp>
        <p:nvSpPr>
          <p:cNvPr id="19" name="Text 14"/>
          <p:cNvSpPr/>
          <p:nvPr/>
        </p:nvSpPr>
        <p:spPr>
          <a:xfrm>
            <a:off x="5085161" y="3547872"/>
            <a:ext cx="2021373" cy="320040"/>
          </a:xfrm>
          <a:prstGeom prst="rect">
            <a:avLst/>
          </a:prstGeom>
          <a:noFill/>
          <a:ln/>
        </p:spPr>
        <p:txBody>
          <a:bodyPr wrap="square" rtlCol="0" anchor="ctr"/>
          <a:lstStyle/>
          <a:p>
            <a:pPr marL="0" indent="0" algn="ctr">
              <a:buNone/>
            </a:pPr>
            <a:r>
              <a:rPr lang="en-US" sz="1150" b="1" dirty="0">
                <a:solidFill>
                  <a:srgbClr val="3BE3E0"/>
                </a:solidFill>
                <a:latin typeface="Segoe UI" pitchFamily="34" charset="0"/>
                <a:ea typeface="Segoe UI" pitchFamily="34" charset="-122"/>
                <a:cs typeface="Segoe UI" pitchFamily="34" charset="-120"/>
              </a:rPr>
              <a:t>03</a:t>
            </a:r>
            <a:endParaRPr lang="en-US" sz="1150" dirty="0"/>
          </a:p>
        </p:txBody>
      </p:sp>
      <p:sp>
        <p:nvSpPr>
          <p:cNvPr id="20" name="Text 15"/>
          <p:cNvSpPr/>
          <p:nvPr/>
        </p:nvSpPr>
        <p:spPr>
          <a:xfrm>
            <a:off x="5194889" y="3840480"/>
            <a:ext cx="1801917" cy="640080"/>
          </a:xfrm>
          <a:prstGeom prst="rect">
            <a:avLst/>
          </a:prstGeom>
          <a:noFill/>
          <a:ln/>
        </p:spPr>
        <p:txBody>
          <a:bodyPr wrap="square" rtlCol="0" anchor="t"/>
          <a:lstStyle/>
          <a:p>
            <a:pPr marL="0" indent="0" algn="ctr">
              <a:lnSpc>
                <a:spcPct val="100000"/>
              </a:lnSpc>
              <a:buNone/>
            </a:pPr>
            <a:r>
              <a:rPr lang="en-US" sz="1350" b="1" dirty="0">
                <a:solidFill>
                  <a:srgbClr val="F3F6FB"/>
                </a:solidFill>
                <a:latin typeface="Segoe UI Semibold" pitchFamily="34" charset="0"/>
                <a:ea typeface="Segoe UI Semibold" pitchFamily="34" charset="-122"/>
                <a:cs typeface="Segoe UI Semibold" pitchFamily="34" charset="-120"/>
              </a:rPr>
              <a:t>Checks cash</a:t>
            </a:r>
            <a:endParaRPr lang="en-US" sz="1350" dirty="0"/>
          </a:p>
        </p:txBody>
      </p:sp>
      <p:sp>
        <p:nvSpPr>
          <p:cNvPr id="21" name="Text 16"/>
          <p:cNvSpPr/>
          <p:nvPr/>
        </p:nvSpPr>
        <p:spPr>
          <a:xfrm>
            <a:off x="5231465" y="4480560"/>
            <a:ext cx="1728765" cy="640080"/>
          </a:xfrm>
          <a:prstGeom prst="rect">
            <a:avLst/>
          </a:prstGeom>
          <a:noFill/>
          <a:ln/>
        </p:spPr>
        <p:txBody>
          <a:bodyPr wrap="square" rtlCol="0" anchor="t"/>
          <a:lstStyle/>
          <a:p>
            <a:pPr marL="0" indent="0" algn="ctr">
              <a:lnSpc>
                <a:spcPct val="112000"/>
              </a:lnSpc>
              <a:buNone/>
            </a:pPr>
            <a:r>
              <a:rPr lang="en-US" sz="1100" dirty="0">
                <a:solidFill>
                  <a:srgbClr val="AAB6C7"/>
                </a:solidFill>
                <a:latin typeface="Segoe UI" pitchFamily="34" charset="0"/>
                <a:ea typeface="Segoe UI" pitchFamily="34" charset="-122"/>
                <a:cs typeface="Segoe UI" pitchFamily="34" charset="-120"/>
              </a:rPr>
              <a:t>pulls the cash position from S/4HANA</a:t>
            </a:r>
            <a:endParaRPr lang="en-US" sz="1100" dirty="0"/>
          </a:p>
        </p:txBody>
      </p:sp>
      <p:sp>
        <p:nvSpPr>
          <p:cNvPr id="22" name="Text 17"/>
          <p:cNvSpPr/>
          <p:nvPr/>
        </p:nvSpPr>
        <p:spPr>
          <a:xfrm>
            <a:off x="7079102" y="3566160"/>
            <a:ext cx="292608" cy="548640"/>
          </a:xfrm>
          <a:prstGeom prst="rect">
            <a:avLst/>
          </a:prstGeom>
          <a:noFill/>
          <a:ln/>
        </p:spPr>
        <p:txBody>
          <a:bodyPr wrap="square" rtlCol="0" anchor="ctr"/>
          <a:lstStyle/>
          <a:p>
            <a:pPr marL="0" indent="0" algn="ctr">
              <a:buNone/>
            </a:pPr>
            <a:r>
              <a:rPr lang="en-US" sz="2200" b="1" dirty="0">
                <a:solidFill>
                  <a:srgbClr val="3BE3E0"/>
                </a:solidFill>
                <a:latin typeface="Segoe UI" pitchFamily="34" charset="0"/>
                <a:ea typeface="Segoe UI" pitchFamily="34" charset="-122"/>
                <a:cs typeface="Segoe UI" pitchFamily="34" charset="-120"/>
              </a:rPr>
              <a:t>›</a:t>
            </a:r>
            <a:endParaRPr lang="en-US" sz="2200" dirty="0"/>
          </a:p>
        </p:txBody>
      </p:sp>
      <p:sp>
        <p:nvSpPr>
          <p:cNvPr id="23" name="Shape 18"/>
          <p:cNvSpPr/>
          <p:nvPr/>
        </p:nvSpPr>
        <p:spPr>
          <a:xfrm>
            <a:off x="7344278" y="2468880"/>
            <a:ext cx="2021373" cy="2743200"/>
          </a:xfrm>
          <a:prstGeom prst="roundRect">
            <a:avLst>
              <a:gd name="adj" fmla="val 4071"/>
            </a:avLst>
          </a:prstGeom>
          <a:solidFill>
            <a:srgbClr val="141A25"/>
          </a:solidFill>
          <a:ln w="13970">
            <a:solidFill>
              <a:srgbClr val="36414F"/>
            </a:solidFill>
            <a:prstDash val="solid"/>
          </a:ln>
        </p:spPr>
        <p:txBody>
          <a:bodyPr/>
          <a:lstStyle/>
          <a:p>
            <a:endParaRPr lang="en-US"/>
          </a:p>
        </p:txBody>
      </p:sp>
      <p:pic>
        <p:nvPicPr>
          <p:cNvPr id="24" name="Image 3" descr="C:/Users/neuma_p1qrsic/Repo/agentic-ops1/.scratch/icons/doc.png"/>
          <p:cNvPicPr>
            <a:picLocks noChangeAspect="1"/>
          </p:cNvPicPr>
          <p:nvPr/>
        </p:nvPicPr>
        <p:blipFill>
          <a:blip r:embed="rId6"/>
          <a:stretch>
            <a:fillRect/>
          </a:stretch>
        </p:blipFill>
        <p:spPr>
          <a:xfrm>
            <a:off x="8044068" y="2779776"/>
            <a:ext cx="621792" cy="621792"/>
          </a:xfrm>
          <a:prstGeom prst="rect">
            <a:avLst/>
          </a:prstGeom>
        </p:spPr>
      </p:pic>
      <p:sp>
        <p:nvSpPr>
          <p:cNvPr id="25" name="Text 19"/>
          <p:cNvSpPr/>
          <p:nvPr/>
        </p:nvSpPr>
        <p:spPr>
          <a:xfrm>
            <a:off x="7344278" y="3547872"/>
            <a:ext cx="2021373" cy="320040"/>
          </a:xfrm>
          <a:prstGeom prst="rect">
            <a:avLst/>
          </a:prstGeom>
          <a:noFill/>
          <a:ln/>
        </p:spPr>
        <p:txBody>
          <a:bodyPr wrap="square" rtlCol="0" anchor="ctr"/>
          <a:lstStyle/>
          <a:p>
            <a:pPr marL="0" indent="0" algn="ctr">
              <a:buNone/>
            </a:pPr>
            <a:r>
              <a:rPr lang="en-US" sz="1150" b="1" dirty="0">
                <a:solidFill>
                  <a:srgbClr val="3BE3E0"/>
                </a:solidFill>
                <a:latin typeface="Segoe UI" pitchFamily="34" charset="0"/>
                <a:ea typeface="Segoe UI" pitchFamily="34" charset="-122"/>
                <a:cs typeface="Segoe UI" pitchFamily="34" charset="-120"/>
              </a:rPr>
              <a:t>04</a:t>
            </a:r>
            <a:endParaRPr lang="en-US" sz="1150" dirty="0"/>
          </a:p>
        </p:txBody>
      </p:sp>
      <p:sp>
        <p:nvSpPr>
          <p:cNvPr id="26" name="Text 20"/>
          <p:cNvSpPr/>
          <p:nvPr/>
        </p:nvSpPr>
        <p:spPr>
          <a:xfrm>
            <a:off x="7454006" y="3840480"/>
            <a:ext cx="1801917" cy="640080"/>
          </a:xfrm>
          <a:prstGeom prst="rect">
            <a:avLst/>
          </a:prstGeom>
          <a:noFill/>
          <a:ln/>
        </p:spPr>
        <p:txBody>
          <a:bodyPr wrap="square" rtlCol="0" anchor="t"/>
          <a:lstStyle/>
          <a:p>
            <a:pPr marL="0" indent="0" algn="ctr">
              <a:lnSpc>
                <a:spcPct val="100000"/>
              </a:lnSpc>
              <a:buNone/>
            </a:pPr>
            <a:r>
              <a:rPr lang="en-US" sz="1350" b="1" dirty="0">
                <a:solidFill>
                  <a:srgbClr val="F3F6FB"/>
                </a:solidFill>
                <a:latin typeface="Segoe UI Semibold" pitchFamily="34" charset="0"/>
                <a:ea typeface="Segoe UI Semibold" pitchFamily="34" charset="-122"/>
                <a:cs typeface="Segoe UI Semibold" pitchFamily="34" charset="-120"/>
              </a:rPr>
              <a:t>Creates the record</a:t>
            </a:r>
            <a:endParaRPr lang="en-US" sz="1350" dirty="0"/>
          </a:p>
        </p:txBody>
      </p:sp>
      <p:sp>
        <p:nvSpPr>
          <p:cNvPr id="27" name="Text 21"/>
          <p:cNvSpPr/>
          <p:nvPr/>
        </p:nvSpPr>
        <p:spPr>
          <a:xfrm>
            <a:off x="7490582" y="4480560"/>
            <a:ext cx="1728765" cy="640080"/>
          </a:xfrm>
          <a:prstGeom prst="rect">
            <a:avLst/>
          </a:prstGeom>
          <a:noFill/>
          <a:ln/>
        </p:spPr>
        <p:txBody>
          <a:bodyPr wrap="square" rtlCol="0" anchor="t"/>
          <a:lstStyle/>
          <a:p>
            <a:pPr marL="0" indent="0" algn="ctr">
              <a:lnSpc>
                <a:spcPct val="112000"/>
              </a:lnSpc>
              <a:buNone/>
            </a:pPr>
            <a:r>
              <a:rPr lang="en-US" sz="1100" dirty="0">
                <a:solidFill>
                  <a:srgbClr val="AAB6C7"/>
                </a:solidFill>
                <a:latin typeface="Segoe UI" pitchFamily="34" charset="0"/>
                <a:ea typeface="Segoe UI" pitchFamily="34" charset="-122"/>
                <a:cs typeface="Segoe UI" pitchFamily="34" charset="-120"/>
              </a:rPr>
              <a:t>books the memo record for the payment</a:t>
            </a:r>
            <a:endParaRPr lang="en-US" sz="1100" dirty="0"/>
          </a:p>
        </p:txBody>
      </p:sp>
      <p:sp>
        <p:nvSpPr>
          <p:cNvPr id="28" name="Text 22"/>
          <p:cNvSpPr/>
          <p:nvPr/>
        </p:nvSpPr>
        <p:spPr>
          <a:xfrm>
            <a:off x="9338219" y="3566160"/>
            <a:ext cx="292608" cy="548640"/>
          </a:xfrm>
          <a:prstGeom prst="rect">
            <a:avLst/>
          </a:prstGeom>
          <a:noFill/>
          <a:ln/>
        </p:spPr>
        <p:txBody>
          <a:bodyPr wrap="square" rtlCol="0" anchor="ctr"/>
          <a:lstStyle/>
          <a:p>
            <a:pPr marL="0" indent="0" algn="ctr">
              <a:buNone/>
            </a:pPr>
            <a:r>
              <a:rPr lang="en-US" sz="2200" b="1" dirty="0">
                <a:solidFill>
                  <a:srgbClr val="3BE3E0"/>
                </a:solidFill>
                <a:latin typeface="Segoe UI" pitchFamily="34" charset="0"/>
                <a:ea typeface="Segoe UI" pitchFamily="34" charset="-122"/>
                <a:cs typeface="Segoe UI" pitchFamily="34" charset="-120"/>
              </a:rPr>
              <a:t>›</a:t>
            </a:r>
            <a:endParaRPr lang="en-US" sz="2200" dirty="0"/>
          </a:p>
        </p:txBody>
      </p:sp>
      <p:sp>
        <p:nvSpPr>
          <p:cNvPr id="29" name="Shape 23"/>
          <p:cNvSpPr/>
          <p:nvPr/>
        </p:nvSpPr>
        <p:spPr>
          <a:xfrm>
            <a:off x="9603395" y="2468880"/>
            <a:ext cx="2021373" cy="2743200"/>
          </a:xfrm>
          <a:prstGeom prst="roundRect">
            <a:avLst>
              <a:gd name="adj" fmla="val 4071"/>
            </a:avLst>
          </a:prstGeom>
          <a:solidFill>
            <a:srgbClr val="141A25"/>
          </a:solidFill>
          <a:ln w="19050">
            <a:solidFill>
              <a:srgbClr val="46D9A0"/>
            </a:solidFill>
            <a:prstDash val="solid"/>
          </a:ln>
        </p:spPr>
        <p:txBody>
          <a:bodyPr/>
          <a:lstStyle/>
          <a:p>
            <a:endParaRPr lang="en-US"/>
          </a:p>
        </p:txBody>
      </p:sp>
      <p:pic>
        <p:nvPicPr>
          <p:cNvPr id="30" name="Image 4" descr="C:/Users/neuma_p1qrsic/Repo/agentic-ops1/.scratch/icons/check.png"/>
          <p:cNvPicPr>
            <a:picLocks noChangeAspect="1"/>
          </p:cNvPicPr>
          <p:nvPr/>
        </p:nvPicPr>
        <p:blipFill>
          <a:blip r:embed="rId7"/>
          <a:stretch>
            <a:fillRect/>
          </a:stretch>
        </p:blipFill>
        <p:spPr>
          <a:xfrm>
            <a:off x="10303185" y="2779776"/>
            <a:ext cx="621792" cy="621792"/>
          </a:xfrm>
          <a:prstGeom prst="rect">
            <a:avLst/>
          </a:prstGeom>
        </p:spPr>
      </p:pic>
      <p:sp>
        <p:nvSpPr>
          <p:cNvPr id="31" name="Text 24"/>
          <p:cNvSpPr/>
          <p:nvPr/>
        </p:nvSpPr>
        <p:spPr>
          <a:xfrm>
            <a:off x="9603395" y="3547872"/>
            <a:ext cx="2021373" cy="320040"/>
          </a:xfrm>
          <a:prstGeom prst="rect">
            <a:avLst/>
          </a:prstGeom>
          <a:noFill/>
          <a:ln/>
        </p:spPr>
        <p:txBody>
          <a:bodyPr wrap="square" rtlCol="0" anchor="ctr"/>
          <a:lstStyle/>
          <a:p>
            <a:pPr marL="0" indent="0" algn="ctr">
              <a:buNone/>
            </a:pPr>
            <a:r>
              <a:rPr lang="en-US" sz="1150" b="1" dirty="0">
                <a:solidFill>
                  <a:srgbClr val="46D9A0"/>
                </a:solidFill>
                <a:latin typeface="Segoe UI" pitchFamily="34" charset="0"/>
                <a:ea typeface="Segoe UI" pitchFamily="34" charset="-122"/>
                <a:cs typeface="Segoe UI" pitchFamily="34" charset="-120"/>
              </a:rPr>
              <a:t>05</a:t>
            </a:r>
            <a:endParaRPr lang="en-US" sz="1150" dirty="0"/>
          </a:p>
        </p:txBody>
      </p:sp>
      <p:sp>
        <p:nvSpPr>
          <p:cNvPr id="32" name="Text 25"/>
          <p:cNvSpPr/>
          <p:nvPr/>
        </p:nvSpPr>
        <p:spPr>
          <a:xfrm>
            <a:off x="9713123" y="3840480"/>
            <a:ext cx="1801917" cy="640080"/>
          </a:xfrm>
          <a:prstGeom prst="rect">
            <a:avLst/>
          </a:prstGeom>
          <a:noFill/>
          <a:ln/>
        </p:spPr>
        <p:txBody>
          <a:bodyPr wrap="square" rtlCol="0" anchor="t"/>
          <a:lstStyle/>
          <a:p>
            <a:pPr marL="0" indent="0" algn="ctr">
              <a:lnSpc>
                <a:spcPct val="100000"/>
              </a:lnSpc>
              <a:buNone/>
            </a:pPr>
            <a:r>
              <a:rPr lang="en-US" sz="1350" b="1" dirty="0">
                <a:solidFill>
                  <a:srgbClr val="F3F6FB"/>
                </a:solidFill>
                <a:latin typeface="Segoe UI Semibold" pitchFamily="34" charset="0"/>
                <a:ea typeface="Segoe UI Semibold" pitchFamily="34" charset="-122"/>
                <a:cs typeface="Segoe UI Semibold" pitchFamily="34" charset="-120"/>
              </a:rPr>
              <a:t>Confirms in chat</a:t>
            </a:r>
            <a:endParaRPr lang="en-US" sz="1350" dirty="0"/>
          </a:p>
        </p:txBody>
      </p:sp>
      <p:sp>
        <p:nvSpPr>
          <p:cNvPr id="33" name="Text 26"/>
          <p:cNvSpPr/>
          <p:nvPr/>
        </p:nvSpPr>
        <p:spPr>
          <a:xfrm>
            <a:off x="9749699" y="4480560"/>
            <a:ext cx="1728765" cy="640080"/>
          </a:xfrm>
          <a:prstGeom prst="rect">
            <a:avLst/>
          </a:prstGeom>
          <a:noFill/>
          <a:ln/>
        </p:spPr>
        <p:txBody>
          <a:bodyPr wrap="square" rtlCol="0" anchor="t"/>
          <a:lstStyle/>
          <a:p>
            <a:pPr marL="0" indent="0" algn="ctr">
              <a:lnSpc>
                <a:spcPct val="112000"/>
              </a:lnSpc>
              <a:buNone/>
            </a:pPr>
            <a:r>
              <a:rPr lang="en-US" sz="1100" dirty="0">
                <a:solidFill>
                  <a:srgbClr val="AAB6C7"/>
                </a:solidFill>
                <a:latin typeface="Segoe UI" pitchFamily="34" charset="0"/>
                <a:ea typeface="Segoe UI" pitchFamily="34" charset="-122"/>
                <a:cs typeface="Segoe UI" pitchFamily="34" charset="-120"/>
              </a:rPr>
              <a:t>reports success, suggests what is next</a:t>
            </a:r>
            <a:endParaRPr lang="en-US" sz="1100" dirty="0"/>
          </a:p>
        </p:txBody>
      </p:sp>
      <p:sp>
        <p:nvSpPr>
          <p:cNvPr id="34" name="Text 27"/>
          <p:cNvSpPr/>
          <p:nvPr/>
        </p:nvSpPr>
        <p:spPr>
          <a:xfrm>
            <a:off x="566928" y="5532120"/>
            <a:ext cx="11057839" cy="457200"/>
          </a:xfrm>
          <a:prstGeom prst="rect">
            <a:avLst/>
          </a:prstGeom>
          <a:noFill/>
          <a:ln/>
        </p:spPr>
        <p:txBody>
          <a:bodyPr wrap="square" rtlCol="0" anchor="ctr"/>
          <a:lstStyle/>
          <a:p>
            <a:pPr marL="0" indent="0">
              <a:buNone/>
            </a:pPr>
            <a:r>
              <a:rPr lang="en-US" sz="1500" dirty="0">
                <a:solidFill>
                  <a:srgbClr val="3BE3E0"/>
                </a:solidFill>
                <a:latin typeface="Segoe UI" pitchFamily="34" charset="0"/>
                <a:ea typeface="Segoe UI" pitchFamily="34" charset="-122"/>
                <a:cs typeface="Segoe UI" pitchFamily="34" charset="-120"/>
              </a:rPr>
              <a:t>You stayed in the chat the whole time. The co-worker did the five steps across email and SAP.</a:t>
            </a:r>
            <a:endParaRPr lang="en-US" sz="1500" dirty="0"/>
          </a:p>
        </p:txBody>
      </p:sp>
      <p:sp>
        <p:nvSpPr>
          <p:cNvPr id="35" name="Text 28"/>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Digital Co-Worker, part of OnePilot</a:t>
            </a:r>
            <a:endParaRPr lang="en-US" sz="900" dirty="0"/>
          </a:p>
        </p:txBody>
      </p:sp>
      <p:sp>
        <p:nvSpPr>
          <p:cNvPr id="36" name="Text 29"/>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05 / 11</a:t>
            </a:r>
            <a:endParaRPr lang="en-US" sz="900" dirty="0"/>
          </a:p>
        </p:txBody>
      </p:sp>
      <p:sp>
        <p:nvSpPr>
          <p:cNvPr id="37" name="Shape 30"/>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WHAT YOUR TEAM GETS BACK</a:t>
            </a:r>
            <a:endParaRPr lang="en-US" sz="1200" dirty="0"/>
          </a:p>
        </p:txBody>
      </p:sp>
      <p:sp>
        <p:nvSpPr>
          <p:cNvPr id="4" name="Text 2"/>
          <p:cNvSpPr/>
          <p:nvPr/>
        </p:nvSpPr>
        <p:spPr>
          <a:xfrm>
            <a:off x="566928" y="960120"/>
            <a:ext cx="1088136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Less busywork. More judgment.</a:t>
            </a:r>
            <a:endParaRPr lang="en-US" sz="2900" dirty="0"/>
          </a:p>
        </p:txBody>
      </p:sp>
      <p:pic>
        <p:nvPicPr>
          <p:cNvPr id="5" name="Image 0" descr="C:/Users/neuma_p1qrsic/Repo/agentic-ops1/.scratch/deckgen/assets/coworker.png"/>
          <p:cNvPicPr>
            <a:picLocks noChangeAspect="1"/>
          </p:cNvPicPr>
          <p:nvPr/>
        </p:nvPicPr>
        <p:blipFill>
          <a:blip r:embed="rId3"/>
          <a:srcRect/>
          <a:stretch/>
        </p:blipFill>
        <p:spPr>
          <a:xfrm>
            <a:off x="521208" y="2148840"/>
            <a:ext cx="5943600" cy="3474720"/>
          </a:xfrm>
          <a:prstGeom prst="rect">
            <a:avLst/>
          </a:prstGeom>
        </p:spPr>
      </p:pic>
      <p:sp>
        <p:nvSpPr>
          <p:cNvPr id="6" name="Shape 3"/>
          <p:cNvSpPr/>
          <p:nvPr/>
        </p:nvSpPr>
        <p:spPr>
          <a:xfrm>
            <a:off x="6766560" y="2286000"/>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7" name="Image 1" descr="C:/Users/neuma_p1qrsic/Repo/agentic-ops1/.scratch/icons/spark.png"/>
          <p:cNvPicPr>
            <a:picLocks noChangeAspect="1"/>
          </p:cNvPicPr>
          <p:nvPr/>
        </p:nvPicPr>
        <p:blipFill>
          <a:blip r:embed="rId4"/>
          <a:stretch>
            <a:fillRect/>
          </a:stretch>
        </p:blipFill>
        <p:spPr>
          <a:xfrm>
            <a:off x="6902623" y="2422063"/>
            <a:ext cx="294803" cy="294803"/>
          </a:xfrm>
          <a:prstGeom prst="rect">
            <a:avLst/>
          </a:prstGeom>
        </p:spPr>
      </p:pic>
      <p:sp>
        <p:nvSpPr>
          <p:cNvPr id="8" name="Text 4"/>
          <p:cNvSpPr/>
          <p:nvPr/>
        </p:nvSpPr>
        <p:spPr>
          <a:xfrm>
            <a:off x="7516368" y="2258568"/>
            <a:ext cx="4108399" cy="457200"/>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The co-worker takes the busywork</a:t>
            </a:r>
            <a:endParaRPr lang="en-US" sz="1600" dirty="0"/>
          </a:p>
        </p:txBody>
      </p:sp>
      <p:sp>
        <p:nvSpPr>
          <p:cNvPr id="9" name="Text 5"/>
          <p:cNvSpPr/>
          <p:nvPr/>
        </p:nvSpPr>
        <p:spPr>
          <a:xfrm>
            <a:off x="7516368" y="2715768"/>
            <a:ext cx="4108399" cy="749808"/>
          </a:xfrm>
          <a:prstGeom prst="rect">
            <a:avLst/>
          </a:prstGeom>
          <a:noFill/>
          <a:ln/>
        </p:spPr>
        <p:txBody>
          <a:bodyPr wrap="square" rtlCol="0" anchor="t"/>
          <a:lstStyle/>
          <a:p>
            <a:pPr marL="0" indent="0">
              <a:lnSpc>
                <a:spcPct val="120000"/>
              </a:lnSpc>
              <a:buNone/>
            </a:pPr>
            <a:r>
              <a:rPr lang="en-US" sz="1250" dirty="0">
                <a:solidFill>
                  <a:srgbClr val="AAB6C7"/>
                </a:solidFill>
                <a:latin typeface="Segoe UI" pitchFamily="34" charset="0"/>
                <a:ea typeface="Segoe UI" pitchFamily="34" charset="-122"/>
                <a:cs typeface="Segoe UI" pitchFamily="34" charset="-120"/>
              </a:rPr>
              <a:t>The repetitive steps, the entries, the chasing, all done in the background.</a:t>
            </a:r>
            <a:endParaRPr lang="en-US" sz="1250" dirty="0"/>
          </a:p>
        </p:txBody>
      </p:sp>
      <p:sp>
        <p:nvSpPr>
          <p:cNvPr id="10" name="Shape 6"/>
          <p:cNvSpPr/>
          <p:nvPr/>
        </p:nvSpPr>
        <p:spPr>
          <a:xfrm>
            <a:off x="6766560" y="368503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1" name="Image 2" descr="C:/Users/neuma_p1qrsic/Repo/agentic-ops1/.scratch/icons/target.png"/>
          <p:cNvPicPr>
            <a:picLocks noChangeAspect="1"/>
          </p:cNvPicPr>
          <p:nvPr/>
        </p:nvPicPr>
        <p:blipFill>
          <a:blip r:embed="rId5"/>
          <a:stretch>
            <a:fillRect/>
          </a:stretch>
        </p:blipFill>
        <p:spPr>
          <a:xfrm>
            <a:off x="6902623" y="3821095"/>
            <a:ext cx="294803" cy="294803"/>
          </a:xfrm>
          <a:prstGeom prst="rect">
            <a:avLst/>
          </a:prstGeom>
        </p:spPr>
      </p:pic>
      <p:sp>
        <p:nvSpPr>
          <p:cNvPr id="12" name="Text 7"/>
          <p:cNvSpPr/>
          <p:nvPr/>
        </p:nvSpPr>
        <p:spPr>
          <a:xfrm>
            <a:off x="7516368" y="3657600"/>
            <a:ext cx="4108399" cy="457200"/>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Your people move up</a:t>
            </a:r>
            <a:endParaRPr lang="en-US" sz="1600" dirty="0"/>
          </a:p>
        </p:txBody>
      </p:sp>
      <p:sp>
        <p:nvSpPr>
          <p:cNvPr id="13" name="Text 8"/>
          <p:cNvSpPr/>
          <p:nvPr/>
        </p:nvSpPr>
        <p:spPr>
          <a:xfrm>
            <a:off x="7516368" y="4114800"/>
            <a:ext cx="4108399" cy="749808"/>
          </a:xfrm>
          <a:prstGeom prst="rect">
            <a:avLst/>
          </a:prstGeom>
          <a:noFill/>
          <a:ln/>
        </p:spPr>
        <p:txBody>
          <a:bodyPr wrap="square" rtlCol="0" anchor="t"/>
          <a:lstStyle/>
          <a:p>
            <a:pPr marL="0" indent="0">
              <a:lnSpc>
                <a:spcPct val="120000"/>
              </a:lnSpc>
              <a:buNone/>
            </a:pPr>
            <a:r>
              <a:rPr lang="en-US" sz="1250" dirty="0">
                <a:solidFill>
                  <a:srgbClr val="AAB6C7"/>
                </a:solidFill>
                <a:latin typeface="Segoe UI" pitchFamily="34" charset="0"/>
                <a:ea typeface="Segoe UI" pitchFamily="34" charset="-122"/>
                <a:cs typeface="Segoe UI" pitchFamily="34" charset="-120"/>
              </a:rPr>
              <a:t>They spend the day on the work that needs judgment, not on re-keying.</a:t>
            </a:r>
            <a:endParaRPr lang="en-US" sz="1250" dirty="0"/>
          </a:p>
        </p:txBody>
      </p:sp>
      <p:sp>
        <p:nvSpPr>
          <p:cNvPr id="14" name="Text 9"/>
          <p:cNvSpPr/>
          <p:nvPr/>
        </p:nvSpPr>
        <p:spPr>
          <a:xfrm>
            <a:off x="7641205" y="5074920"/>
            <a:ext cx="4858207" cy="237744"/>
          </a:xfrm>
          <a:prstGeom prst="rect">
            <a:avLst/>
          </a:prstGeom>
          <a:noFill/>
          <a:ln/>
        </p:spPr>
        <p:txBody>
          <a:bodyPr wrap="square" rtlCol="0" anchor="ctr"/>
          <a:lstStyle/>
          <a:p>
            <a:pPr marL="0" indent="0">
              <a:buNone/>
            </a:pPr>
            <a:r>
              <a:rPr lang="en-US" sz="1000" b="1" kern="0" spc="200" dirty="0">
                <a:solidFill>
                  <a:srgbClr val="7C8A9B"/>
                </a:solidFill>
                <a:latin typeface="Segoe UI Semibold" pitchFamily="34" charset="0"/>
                <a:ea typeface="Segoe UI Semibold" pitchFamily="34" charset="-122"/>
                <a:cs typeface="Segoe UI Semibold" pitchFamily="34" charset="-120"/>
              </a:rPr>
              <a:t>BUILT ON SAP</a:t>
            </a:r>
            <a:endParaRPr lang="en-US" sz="1000" dirty="0"/>
          </a:p>
        </p:txBody>
      </p:sp>
      <p:sp>
        <p:nvSpPr>
          <p:cNvPr id="15" name="Shape 10"/>
          <p:cNvSpPr/>
          <p:nvPr/>
        </p:nvSpPr>
        <p:spPr>
          <a:xfrm>
            <a:off x="7641205" y="5349240"/>
            <a:ext cx="1188720" cy="475488"/>
          </a:xfrm>
          <a:prstGeom prst="roundRect">
            <a:avLst>
              <a:gd name="adj" fmla="val 26923"/>
            </a:avLst>
          </a:prstGeom>
          <a:solidFill>
            <a:srgbClr val="FFFFFF"/>
          </a:solidFill>
          <a:ln w="9525">
            <a:solidFill>
              <a:srgbClr val="36414F"/>
            </a:solidFill>
            <a:prstDash val="solid"/>
          </a:ln>
        </p:spPr>
        <p:txBody>
          <a:bodyPr/>
          <a:lstStyle/>
          <a:p>
            <a:endParaRPr lang="en-US"/>
          </a:p>
        </p:txBody>
      </p:sp>
      <p:pic>
        <p:nvPicPr>
          <p:cNvPr id="16" name="Image 3" descr="C:/Users/neuma_p1qrsic/Repo/agentic-ops1/.scratch/deckgen/logos/sap.png"/>
          <p:cNvPicPr>
            <a:picLocks noChangeAspect="1"/>
          </p:cNvPicPr>
          <p:nvPr/>
        </p:nvPicPr>
        <p:blipFill>
          <a:blip r:embed="rId6"/>
          <a:stretch>
            <a:fillRect/>
          </a:stretch>
        </p:blipFill>
        <p:spPr>
          <a:xfrm>
            <a:off x="7918773" y="5430073"/>
            <a:ext cx="633584" cy="313822"/>
          </a:xfrm>
          <a:prstGeom prst="rect">
            <a:avLst/>
          </a:prstGeom>
        </p:spPr>
      </p:pic>
      <p:sp>
        <p:nvSpPr>
          <p:cNvPr id="20" name="Text 13"/>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Digital Co-Worker, part of OnePilot</a:t>
            </a:r>
            <a:endParaRPr lang="en-US" sz="900" dirty="0"/>
          </a:p>
        </p:txBody>
      </p:sp>
      <p:sp>
        <p:nvSpPr>
          <p:cNvPr id="21" name="Text 14"/>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06 / 11</a:t>
            </a:r>
            <a:endParaRPr lang="en-US" sz="900" dirty="0"/>
          </a:p>
        </p:txBody>
      </p:sp>
      <p:sp>
        <p:nvSpPr>
          <p:cNvPr id="22" name="Shape 15"/>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HOW IT FITS TOGETHER</a:t>
            </a:r>
            <a:endParaRPr lang="en-US" sz="1200" dirty="0"/>
          </a:p>
        </p:txBody>
      </p:sp>
      <p:sp>
        <p:nvSpPr>
          <p:cNvPr id="4" name="Text 2"/>
          <p:cNvSpPr/>
          <p:nvPr/>
        </p:nvSpPr>
        <p:spPr>
          <a:xfrm>
            <a:off x="566928" y="960120"/>
            <a:ext cx="10972800" cy="731520"/>
          </a:xfrm>
          <a:prstGeom prst="rect">
            <a:avLst/>
          </a:prstGeom>
          <a:noFill/>
          <a:ln/>
        </p:spPr>
        <p:txBody>
          <a:bodyPr wrap="square" rtlCol="0" anchor="ctr"/>
          <a:lstStyle/>
          <a:p>
            <a:pPr marL="0" indent="0">
              <a:buNone/>
            </a:pPr>
            <a:r>
              <a:rPr lang="en-US" sz="2700" b="1" dirty="0">
                <a:solidFill>
                  <a:srgbClr val="F3F6FB"/>
                </a:solidFill>
                <a:latin typeface="Segoe UI Semibold" pitchFamily="34" charset="0"/>
                <a:ea typeface="Segoe UI Semibold" pitchFamily="34" charset="-122"/>
                <a:cs typeface="Segoe UI Semibold" pitchFamily="34" charset="-120"/>
              </a:rPr>
              <a:t>One AI layer between your people and your systems.</a:t>
            </a:r>
            <a:endParaRPr lang="en-US" sz="2700" dirty="0"/>
          </a:p>
        </p:txBody>
      </p:sp>
      <p:sp>
        <p:nvSpPr>
          <p:cNvPr id="5" name="Shape 3"/>
          <p:cNvSpPr/>
          <p:nvPr/>
        </p:nvSpPr>
        <p:spPr>
          <a:xfrm>
            <a:off x="566928" y="2148840"/>
            <a:ext cx="3063240" cy="2514600"/>
          </a:xfrm>
          <a:prstGeom prst="roundRect">
            <a:avLst>
              <a:gd name="adj" fmla="val 3273"/>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41248" y="2423160"/>
            <a:ext cx="548640" cy="548640"/>
          </a:xfrm>
          <a:prstGeom prst="roundRect">
            <a:avLst>
              <a:gd name="adj" fmla="val 18333"/>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spark.png"/>
          <p:cNvPicPr>
            <a:picLocks noChangeAspect="1"/>
          </p:cNvPicPr>
          <p:nvPr/>
        </p:nvPicPr>
        <p:blipFill>
          <a:blip r:embed="rId3"/>
          <a:stretch>
            <a:fillRect/>
          </a:stretch>
        </p:blipFill>
        <p:spPr>
          <a:xfrm>
            <a:off x="972922" y="2554834"/>
            <a:ext cx="285293" cy="285293"/>
          </a:xfrm>
          <a:prstGeom prst="rect">
            <a:avLst/>
          </a:prstGeom>
        </p:spPr>
      </p:pic>
      <p:sp>
        <p:nvSpPr>
          <p:cNvPr id="8" name="Text 5"/>
          <p:cNvSpPr/>
          <p:nvPr/>
        </p:nvSpPr>
        <p:spPr>
          <a:xfrm>
            <a:off x="1527048" y="2423160"/>
            <a:ext cx="1920240" cy="548640"/>
          </a:xfrm>
          <a:prstGeom prst="rect">
            <a:avLst/>
          </a:prstGeom>
          <a:noFill/>
          <a:ln/>
        </p:spPr>
        <p:txBody>
          <a:bodyPr wrap="square" rtlCol="0" anchor="ctr"/>
          <a:lstStyle/>
          <a:p>
            <a:pPr marL="0" indent="0">
              <a:buNone/>
            </a:pPr>
            <a:r>
              <a:rPr lang="en-US" sz="1350" b="1" dirty="0">
                <a:solidFill>
                  <a:srgbClr val="F3F6FB"/>
                </a:solidFill>
                <a:latin typeface="Segoe UI Semibold" pitchFamily="34" charset="0"/>
                <a:ea typeface="Segoe UI Semibold" pitchFamily="34" charset="-122"/>
                <a:cs typeface="Segoe UI Semibold" pitchFamily="34" charset="-120"/>
              </a:rPr>
              <a:t>Your team, in chat</a:t>
            </a:r>
            <a:endParaRPr lang="en-US" sz="1350" dirty="0"/>
          </a:p>
        </p:txBody>
      </p:sp>
      <p:sp>
        <p:nvSpPr>
          <p:cNvPr id="9" name="Text 6"/>
          <p:cNvSpPr/>
          <p:nvPr/>
        </p:nvSpPr>
        <p:spPr>
          <a:xfrm>
            <a:off x="841248" y="3200400"/>
            <a:ext cx="2606040" cy="1371600"/>
          </a:xfrm>
          <a:prstGeom prst="rect">
            <a:avLst/>
          </a:prstGeom>
          <a:noFill/>
          <a:ln/>
        </p:spPr>
        <p:txBody>
          <a:bodyPr wrap="square" rtlCol="0" anchor="ctr"/>
          <a:lstStyle/>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Requests in plain</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language, by chat</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or by email</a:t>
            </a:r>
            <a:endParaRPr lang="en-US" sz="1300" dirty="0"/>
          </a:p>
        </p:txBody>
      </p:sp>
      <p:sp>
        <p:nvSpPr>
          <p:cNvPr id="10" name="Shape 7"/>
          <p:cNvSpPr/>
          <p:nvPr/>
        </p:nvSpPr>
        <p:spPr>
          <a:xfrm>
            <a:off x="4087368" y="2148840"/>
            <a:ext cx="3566160" cy="2514600"/>
          </a:xfrm>
          <a:prstGeom prst="roundRect">
            <a:avLst>
              <a:gd name="adj" fmla="val 3273"/>
            </a:avLst>
          </a:prstGeom>
          <a:solidFill>
            <a:srgbClr val="10222A"/>
          </a:solidFill>
          <a:ln w="19050">
            <a:solidFill>
              <a:srgbClr val="3BE3E0"/>
            </a:solidFill>
            <a:prstDash val="solid"/>
          </a:ln>
        </p:spPr>
        <p:txBody>
          <a:bodyPr/>
          <a:lstStyle/>
          <a:p>
            <a:endParaRPr lang="en-US"/>
          </a:p>
        </p:txBody>
      </p:sp>
      <p:pic>
        <p:nvPicPr>
          <p:cNvPr id="11" name="Image 1" descr="C:/Users/neuma_p1qrsic/Repo/agentic-ops1/.scratch/logo/favicon.png"/>
          <p:cNvPicPr>
            <a:picLocks noChangeAspect="1"/>
          </p:cNvPicPr>
          <p:nvPr/>
        </p:nvPicPr>
        <p:blipFill>
          <a:blip r:embed="rId4"/>
          <a:stretch>
            <a:fillRect/>
          </a:stretch>
        </p:blipFill>
        <p:spPr>
          <a:xfrm>
            <a:off x="5650992" y="2514600"/>
            <a:ext cx="438912" cy="438912"/>
          </a:xfrm>
          <a:prstGeom prst="rect">
            <a:avLst/>
          </a:prstGeom>
        </p:spPr>
      </p:pic>
      <p:sp>
        <p:nvSpPr>
          <p:cNvPr id="12" name="Text 8"/>
          <p:cNvSpPr/>
          <p:nvPr/>
        </p:nvSpPr>
        <p:spPr>
          <a:xfrm>
            <a:off x="4087368" y="3063240"/>
            <a:ext cx="3566160" cy="411480"/>
          </a:xfrm>
          <a:prstGeom prst="rect">
            <a:avLst/>
          </a:prstGeom>
          <a:noFill/>
          <a:ln/>
        </p:spPr>
        <p:txBody>
          <a:bodyPr wrap="square" rtlCol="0" anchor="ctr"/>
          <a:lstStyle/>
          <a:p>
            <a:pPr marL="0" indent="0" algn="ctr">
              <a:buNone/>
            </a:pPr>
            <a:r>
              <a:rPr lang="en-US" sz="2000" b="1" dirty="0">
                <a:solidFill>
                  <a:srgbClr val="F3F6FB"/>
                </a:solidFill>
                <a:latin typeface="Segoe UI Semibold" pitchFamily="34" charset="0"/>
                <a:ea typeface="Segoe UI Semibold" pitchFamily="34" charset="-122"/>
                <a:cs typeface="Segoe UI Semibold" pitchFamily="34" charset="-120"/>
              </a:rPr>
              <a:t>Digital Co-Worker</a:t>
            </a:r>
            <a:endParaRPr lang="en-US" sz="2000" dirty="0"/>
          </a:p>
        </p:txBody>
      </p:sp>
      <p:sp>
        <p:nvSpPr>
          <p:cNvPr id="13" name="Text 9"/>
          <p:cNvSpPr/>
          <p:nvPr/>
        </p:nvSpPr>
        <p:spPr>
          <a:xfrm>
            <a:off x="4087368" y="3447288"/>
            <a:ext cx="3566160" cy="320040"/>
          </a:xfrm>
          <a:prstGeom prst="rect">
            <a:avLst/>
          </a:prstGeom>
          <a:noFill/>
          <a:ln/>
        </p:spPr>
        <p:txBody>
          <a:bodyPr wrap="square" rtlCol="0" anchor="ctr"/>
          <a:lstStyle/>
          <a:p>
            <a:pPr marL="0" indent="0" algn="ctr">
              <a:buNone/>
            </a:pPr>
            <a:r>
              <a:rPr lang="en-US" sz="1350" dirty="0">
                <a:solidFill>
                  <a:srgbClr val="3BE3E0"/>
                </a:solidFill>
                <a:latin typeface="Segoe UI" pitchFamily="34" charset="0"/>
                <a:ea typeface="Segoe UI" pitchFamily="34" charset="-122"/>
                <a:cs typeface="Segoe UI" pitchFamily="34" charset="-120"/>
              </a:rPr>
              <a:t>one app on OnePilot</a:t>
            </a:r>
            <a:endParaRPr lang="en-US" sz="1350" dirty="0"/>
          </a:p>
        </p:txBody>
      </p:sp>
      <p:sp>
        <p:nvSpPr>
          <p:cNvPr id="14" name="Text 10"/>
          <p:cNvSpPr/>
          <p:nvPr/>
        </p:nvSpPr>
        <p:spPr>
          <a:xfrm>
            <a:off x="4087368" y="3813048"/>
            <a:ext cx="3566160" cy="685800"/>
          </a:xfrm>
          <a:prstGeom prst="rect">
            <a:avLst/>
          </a:prstGeom>
          <a:noFill/>
          <a:ln/>
        </p:spPr>
        <p:txBody>
          <a:bodyPr wrap="square" rtlCol="0" anchor="ctr"/>
          <a:lstStyle/>
          <a:p>
            <a:pPr marL="0" indent="0" algn="ctr">
              <a:lnSpc>
                <a:spcPct val="110000"/>
              </a:lnSpc>
              <a:buNone/>
            </a:pPr>
            <a:r>
              <a:rPr lang="en-US" sz="1200" dirty="0">
                <a:solidFill>
                  <a:srgbClr val="AAB6C7"/>
                </a:solidFill>
                <a:latin typeface="Segoe UI" pitchFamily="34" charset="0"/>
                <a:ea typeface="Segoe UI" pitchFamily="34" charset="-122"/>
                <a:cs typeface="Segoe UI" pitchFamily="34" charset="-120"/>
              </a:rPr>
              <a:t>runs inside your SAP landscape,</a:t>
            </a:r>
            <a:endParaRPr lang="en-US" sz="1200" dirty="0"/>
          </a:p>
          <a:p>
            <a:pPr marL="0" indent="0" algn="ctr">
              <a:lnSpc>
                <a:spcPct val="110000"/>
              </a:lnSpc>
              <a:buNone/>
            </a:pPr>
            <a:r>
              <a:rPr lang="en-US" sz="1200" dirty="0">
                <a:solidFill>
                  <a:srgbClr val="AAB6C7"/>
                </a:solidFill>
                <a:latin typeface="Segoe UI" pitchFamily="34" charset="0"/>
                <a:ea typeface="Segoe UI" pitchFamily="34" charset="-122"/>
                <a:cs typeface="Segoe UI" pitchFamily="34" charset="-120"/>
              </a:rPr>
              <a:t>checks and logs every step</a:t>
            </a:r>
            <a:endParaRPr lang="en-US" sz="1200" dirty="0"/>
          </a:p>
        </p:txBody>
      </p:sp>
      <p:sp>
        <p:nvSpPr>
          <p:cNvPr id="15" name="Shape 11"/>
          <p:cNvSpPr/>
          <p:nvPr/>
        </p:nvSpPr>
        <p:spPr>
          <a:xfrm>
            <a:off x="8110728" y="2148840"/>
            <a:ext cx="3514039" cy="2514600"/>
          </a:xfrm>
          <a:prstGeom prst="roundRect">
            <a:avLst>
              <a:gd name="adj" fmla="val 3273"/>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8385048" y="2423160"/>
            <a:ext cx="548640" cy="548640"/>
          </a:xfrm>
          <a:prstGeom prst="roundRect">
            <a:avLst>
              <a:gd name="adj" fmla="val 18333"/>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database.png"/>
          <p:cNvPicPr>
            <a:picLocks noChangeAspect="1"/>
          </p:cNvPicPr>
          <p:nvPr/>
        </p:nvPicPr>
        <p:blipFill>
          <a:blip r:embed="rId5"/>
          <a:stretch>
            <a:fillRect/>
          </a:stretch>
        </p:blipFill>
        <p:spPr>
          <a:xfrm>
            <a:off x="8516722" y="2554834"/>
            <a:ext cx="285293" cy="285293"/>
          </a:xfrm>
          <a:prstGeom prst="rect">
            <a:avLst/>
          </a:prstGeom>
        </p:spPr>
      </p:pic>
      <p:sp>
        <p:nvSpPr>
          <p:cNvPr id="18" name="Text 13"/>
          <p:cNvSpPr/>
          <p:nvPr/>
        </p:nvSpPr>
        <p:spPr>
          <a:xfrm>
            <a:off x="9070848" y="2423160"/>
            <a:ext cx="2325319" cy="548640"/>
          </a:xfrm>
          <a:prstGeom prst="rect">
            <a:avLst/>
          </a:prstGeom>
          <a:noFill/>
          <a:ln/>
        </p:spPr>
        <p:txBody>
          <a:bodyPr wrap="square" rtlCol="0" anchor="ctr"/>
          <a:lstStyle/>
          <a:p>
            <a:pPr marL="0" indent="0">
              <a:buNone/>
            </a:pPr>
            <a:r>
              <a:rPr lang="en-US" sz="1350" b="1" dirty="0">
                <a:solidFill>
                  <a:srgbClr val="F3F6FB"/>
                </a:solidFill>
                <a:latin typeface="Segoe UI Semibold" pitchFamily="34" charset="0"/>
                <a:ea typeface="Segoe UI Semibold" pitchFamily="34" charset="-122"/>
                <a:cs typeface="Segoe UI Semibold" pitchFamily="34" charset="-120"/>
              </a:rPr>
              <a:t>Your systems</a:t>
            </a:r>
            <a:endParaRPr lang="en-US" sz="1350" dirty="0"/>
          </a:p>
        </p:txBody>
      </p:sp>
      <p:sp>
        <p:nvSpPr>
          <p:cNvPr id="19" name="Text 14"/>
          <p:cNvSpPr/>
          <p:nvPr/>
        </p:nvSpPr>
        <p:spPr>
          <a:xfrm>
            <a:off x="8385048" y="3200400"/>
            <a:ext cx="3011119" cy="1371600"/>
          </a:xfrm>
          <a:prstGeom prst="rect">
            <a:avLst/>
          </a:prstGeom>
          <a:noFill/>
          <a:ln/>
        </p:spPr>
        <p:txBody>
          <a:bodyPr wrap="square" rtlCol="0" anchor="ctr"/>
          <a:lstStyle/>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SAP S/4HANA, treasury,</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email, files,</a:t>
            </a:r>
            <a:endParaRPr lang="en-US" sz="1300" dirty="0"/>
          </a:p>
          <a:p>
            <a:pPr marL="0" indent="0">
              <a:lnSpc>
                <a:spcPct val="125000"/>
              </a:lnSpc>
              <a:buNone/>
            </a:pPr>
            <a:r>
              <a:rPr lang="en-US" sz="1300" dirty="0">
                <a:solidFill>
                  <a:srgbClr val="AAB6C7"/>
                </a:solidFill>
                <a:latin typeface="Segoe UI" pitchFamily="34" charset="0"/>
                <a:ea typeface="Segoe UI" pitchFamily="34" charset="-122"/>
                <a:cs typeface="Segoe UI" pitchFamily="34" charset="-120"/>
              </a:rPr>
              <a:t>non-SAP apps</a:t>
            </a:r>
            <a:endParaRPr lang="en-US" sz="1300" dirty="0"/>
          </a:p>
        </p:txBody>
      </p:sp>
      <p:sp>
        <p:nvSpPr>
          <p:cNvPr id="20" name="Shape 15"/>
          <p:cNvSpPr/>
          <p:nvPr/>
        </p:nvSpPr>
        <p:spPr>
          <a:xfrm>
            <a:off x="3630168" y="3406140"/>
            <a:ext cx="457200" cy="0"/>
          </a:xfrm>
          <a:prstGeom prst="line">
            <a:avLst/>
          </a:prstGeom>
          <a:noFill/>
          <a:ln w="19050">
            <a:solidFill>
              <a:srgbClr val="3BE3E0"/>
            </a:solidFill>
            <a:prstDash val="solid"/>
            <a:headEnd type="triangle"/>
            <a:tailEnd type="triangle"/>
          </a:ln>
        </p:spPr>
        <p:txBody>
          <a:bodyPr/>
          <a:lstStyle/>
          <a:p>
            <a:endParaRPr lang="en-US"/>
          </a:p>
        </p:txBody>
      </p:sp>
      <p:sp>
        <p:nvSpPr>
          <p:cNvPr id="21" name="Shape 16"/>
          <p:cNvSpPr/>
          <p:nvPr/>
        </p:nvSpPr>
        <p:spPr>
          <a:xfrm>
            <a:off x="7653528" y="3406140"/>
            <a:ext cx="457200" cy="0"/>
          </a:xfrm>
          <a:prstGeom prst="line">
            <a:avLst/>
          </a:prstGeom>
          <a:noFill/>
          <a:ln w="19050">
            <a:solidFill>
              <a:srgbClr val="3BE3E0"/>
            </a:solidFill>
            <a:prstDash val="solid"/>
            <a:headEnd type="triangle"/>
            <a:tailEnd type="triangle"/>
          </a:ln>
        </p:spPr>
        <p:txBody>
          <a:bodyPr/>
          <a:lstStyle/>
          <a:p>
            <a:endParaRPr lang="en-US"/>
          </a:p>
        </p:txBody>
      </p:sp>
      <p:sp>
        <p:nvSpPr>
          <p:cNvPr id="22" name="Shape 17"/>
          <p:cNvSpPr/>
          <p:nvPr/>
        </p:nvSpPr>
        <p:spPr>
          <a:xfrm>
            <a:off x="566928" y="4956048"/>
            <a:ext cx="11057839" cy="914400"/>
          </a:xfrm>
          <a:prstGeom prst="roundRect">
            <a:avLst>
              <a:gd name="adj" fmla="val 8000"/>
            </a:avLst>
          </a:prstGeom>
          <a:solidFill>
            <a:srgbClr val="141A25"/>
          </a:solidFill>
          <a:ln w="13970">
            <a:solidFill>
              <a:srgbClr val="36414F"/>
            </a:solidFill>
            <a:prstDash val="solid"/>
          </a:ln>
        </p:spPr>
        <p:txBody>
          <a:bodyPr/>
          <a:lstStyle/>
          <a:p>
            <a:endParaRPr lang="en-US"/>
          </a:p>
        </p:txBody>
      </p:sp>
      <p:pic>
        <p:nvPicPr>
          <p:cNvPr id="23" name="Image 3" descr="C:/Users/neuma_p1qrsic/Repo/agentic-ops1/.scratch/icons/shield.png"/>
          <p:cNvPicPr>
            <a:picLocks noChangeAspect="1"/>
          </p:cNvPicPr>
          <p:nvPr/>
        </p:nvPicPr>
        <p:blipFill>
          <a:blip r:embed="rId6"/>
          <a:stretch>
            <a:fillRect/>
          </a:stretch>
        </p:blipFill>
        <p:spPr>
          <a:xfrm>
            <a:off x="841248" y="5212080"/>
            <a:ext cx="402336" cy="402336"/>
          </a:xfrm>
          <a:prstGeom prst="rect">
            <a:avLst/>
          </a:prstGeom>
        </p:spPr>
      </p:pic>
      <p:sp>
        <p:nvSpPr>
          <p:cNvPr id="24" name="Text 18"/>
          <p:cNvSpPr/>
          <p:nvPr/>
        </p:nvSpPr>
        <p:spPr>
          <a:xfrm>
            <a:off x="1435608" y="4956048"/>
            <a:ext cx="9914839" cy="914400"/>
          </a:xfrm>
          <a:prstGeom prst="rect">
            <a:avLst/>
          </a:prstGeom>
          <a:noFill/>
          <a:ln/>
        </p:spPr>
        <p:txBody>
          <a:bodyPr wrap="square" rtlCol="0" anchor="ctr"/>
          <a:lstStyle/>
          <a:p>
            <a:pPr marL="0" indent="0">
              <a:lnSpc>
                <a:spcPct val="110000"/>
              </a:lnSpc>
              <a:buNone/>
            </a:pPr>
            <a:r>
              <a:rPr lang="en-US" sz="1350" dirty="0">
                <a:solidFill>
                  <a:srgbClr val="F3F6FB"/>
                </a:solidFill>
                <a:latin typeface="Segoe UI" pitchFamily="34" charset="0"/>
                <a:ea typeface="Segoe UI" pitchFamily="34" charset="-122"/>
                <a:cs typeface="Segoe UI" pitchFamily="34" charset="-120"/>
              </a:rPr>
              <a:t>Every action is checked, approved where you want it, and logged: a full audit trail, segregation of duty, ISO 27001 and SOC 1.</a:t>
            </a:r>
            <a:endParaRPr lang="en-US" sz="1350" dirty="0"/>
          </a:p>
        </p:txBody>
      </p:sp>
      <p:sp>
        <p:nvSpPr>
          <p:cNvPr id="25" name="Text 19"/>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Digital Co-Worker, part of OnePilot</a:t>
            </a:r>
            <a:endParaRPr lang="en-US" sz="900" dirty="0"/>
          </a:p>
        </p:txBody>
      </p:sp>
      <p:sp>
        <p:nvSpPr>
          <p:cNvPr id="26" name="Text 20"/>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07 / 11</a:t>
            </a:r>
            <a:endParaRPr lang="en-US" sz="900" dirty="0"/>
          </a:p>
        </p:txBody>
      </p:sp>
      <p:sp>
        <p:nvSpPr>
          <p:cNvPr id="27" name="Shape 21"/>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WHY IT IS SAFE TO LET IT RUN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The controls are built in, not bolted on.</a:t>
            </a:r>
            <a:endParaRPr lang="en-US" sz="2800" dirty="0"/>
          </a:p>
        </p:txBody>
      </p:sp>
      <p:sp>
        <p:nvSpPr>
          <p:cNvPr id="5" name="Shape 3"/>
          <p:cNvSpPr/>
          <p:nvPr/>
        </p:nvSpPr>
        <p:spPr>
          <a:xfrm>
            <a:off x="566928" y="2194560"/>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22960" y="249631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list.png"/>
          <p:cNvPicPr>
            <a:picLocks noChangeAspect="1"/>
          </p:cNvPicPr>
          <p:nvPr/>
        </p:nvPicPr>
        <p:blipFill>
          <a:blip r:embed="rId3"/>
          <a:stretch>
            <a:fillRect/>
          </a:stretch>
        </p:blipFill>
        <p:spPr>
          <a:xfrm>
            <a:off x="959023" y="2632375"/>
            <a:ext cx="294803" cy="294803"/>
          </a:xfrm>
          <a:prstGeom prst="rect">
            <a:avLst/>
          </a:prstGeom>
        </p:spPr>
      </p:pic>
      <p:sp>
        <p:nvSpPr>
          <p:cNvPr id="8" name="Text 5"/>
          <p:cNvSpPr/>
          <p:nvPr/>
        </p:nvSpPr>
        <p:spPr>
          <a:xfrm>
            <a:off x="1572768" y="2414016"/>
            <a:ext cx="4111600" cy="384048"/>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A full audit trail</a:t>
            </a:r>
            <a:endParaRPr lang="en-US" sz="1600" dirty="0"/>
          </a:p>
        </p:txBody>
      </p:sp>
      <p:sp>
        <p:nvSpPr>
          <p:cNvPr id="9" name="Text 6"/>
          <p:cNvSpPr/>
          <p:nvPr/>
        </p:nvSpPr>
        <p:spPr>
          <a:xfrm>
            <a:off x="1572768" y="2798064"/>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Every action the co-worker takes is recorded, end to end.</a:t>
            </a:r>
            <a:endParaRPr lang="en-US" sz="1250" dirty="0"/>
          </a:p>
        </p:txBody>
      </p:sp>
      <p:sp>
        <p:nvSpPr>
          <p:cNvPr id="10" name="Shape 7"/>
          <p:cNvSpPr/>
          <p:nvPr/>
        </p:nvSpPr>
        <p:spPr>
          <a:xfrm>
            <a:off x="6278728" y="2194560"/>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11" name="Shape 8"/>
          <p:cNvSpPr/>
          <p:nvPr/>
        </p:nvSpPr>
        <p:spPr>
          <a:xfrm>
            <a:off x="6534760" y="249631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2" name="Image 1" descr="C:/Users/neuma_p1qrsic/Repo/agentic-ops1/.scratch/icons/shield.png"/>
          <p:cNvPicPr>
            <a:picLocks noChangeAspect="1"/>
          </p:cNvPicPr>
          <p:nvPr/>
        </p:nvPicPr>
        <p:blipFill>
          <a:blip r:embed="rId4"/>
          <a:stretch>
            <a:fillRect/>
          </a:stretch>
        </p:blipFill>
        <p:spPr>
          <a:xfrm>
            <a:off x="6670822" y="2632375"/>
            <a:ext cx="294803" cy="294803"/>
          </a:xfrm>
          <a:prstGeom prst="rect">
            <a:avLst/>
          </a:prstGeom>
        </p:spPr>
      </p:pic>
      <p:sp>
        <p:nvSpPr>
          <p:cNvPr id="13" name="Text 9"/>
          <p:cNvSpPr/>
          <p:nvPr/>
        </p:nvSpPr>
        <p:spPr>
          <a:xfrm>
            <a:off x="7284568" y="2414016"/>
            <a:ext cx="4111600" cy="384048"/>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Approvals where you want them</a:t>
            </a:r>
            <a:endParaRPr lang="en-US" sz="1600" dirty="0"/>
          </a:p>
        </p:txBody>
      </p:sp>
      <p:sp>
        <p:nvSpPr>
          <p:cNvPr id="14" name="Text 10"/>
          <p:cNvSpPr/>
          <p:nvPr/>
        </p:nvSpPr>
        <p:spPr>
          <a:xfrm>
            <a:off x="7284568" y="2798064"/>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The moves that matter wait for a person to sign off.</a:t>
            </a:r>
            <a:endParaRPr lang="en-US" sz="1250" dirty="0"/>
          </a:p>
        </p:txBody>
      </p:sp>
      <p:sp>
        <p:nvSpPr>
          <p:cNvPr id="15" name="Shape 11"/>
          <p:cNvSpPr/>
          <p:nvPr/>
        </p:nvSpPr>
        <p:spPr>
          <a:xfrm>
            <a:off x="566928" y="3547872"/>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822960" y="384962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eye.png"/>
          <p:cNvPicPr>
            <a:picLocks noChangeAspect="1"/>
          </p:cNvPicPr>
          <p:nvPr/>
        </p:nvPicPr>
        <p:blipFill>
          <a:blip r:embed="rId5"/>
          <a:stretch>
            <a:fillRect/>
          </a:stretch>
        </p:blipFill>
        <p:spPr>
          <a:xfrm>
            <a:off x="959023" y="3985687"/>
            <a:ext cx="294803" cy="294803"/>
          </a:xfrm>
          <a:prstGeom prst="rect">
            <a:avLst/>
          </a:prstGeom>
        </p:spPr>
      </p:pic>
      <p:sp>
        <p:nvSpPr>
          <p:cNvPr id="18" name="Text 13"/>
          <p:cNvSpPr/>
          <p:nvPr/>
        </p:nvSpPr>
        <p:spPr>
          <a:xfrm>
            <a:off x="1572768" y="3767328"/>
            <a:ext cx="4111600" cy="384048"/>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Automatic checks</a:t>
            </a:r>
            <a:endParaRPr lang="en-US" sz="1600" dirty="0"/>
          </a:p>
        </p:txBody>
      </p:sp>
      <p:sp>
        <p:nvSpPr>
          <p:cNvPr id="19" name="Text 14"/>
          <p:cNvSpPr/>
          <p:nvPr/>
        </p:nvSpPr>
        <p:spPr>
          <a:xfrm>
            <a:off x="1572768" y="4151376"/>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Odd or bad data is caught before it reaches a system.</a:t>
            </a:r>
            <a:endParaRPr lang="en-US" sz="1250" dirty="0"/>
          </a:p>
        </p:txBody>
      </p:sp>
      <p:sp>
        <p:nvSpPr>
          <p:cNvPr id="20" name="Shape 15"/>
          <p:cNvSpPr/>
          <p:nvPr/>
        </p:nvSpPr>
        <p:spPr>
          <a:xfrm>
            <a:off x="6278728" y="3547872"/>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21" name="Shape 16"/>
          <p:cNvSpPr/>
          <p:nvPr/>
        </p:nvSpPr>
        <p:spPr>
          <a:xfrm>
            <a:off x="6534760" y="384962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2" name="Image 3" descr="C:/Users/neuma_p1qrsic/Repo/agentic-ops1/.scratch/icons/bell.png"/>
          <p:cNvPicPr>
            <a:picLocks noChangeAspect="1"/>
          </p:cNvPicPr>
          <p:nvPr/>
        </p:nvPicPr>
        <p:blipFill>
          <a:blip r:embed="rId6"/>
          <a:stretch>
            <a:fillRect/>
          </a:stretch>
        </p:blipFill>
        <p:spPr>
          <a:xfrm>
            <a:off x="6670822" y="3985687"/>
            <a:ext cx="294803" cy="294803"/>
          </a:xfrm>
          <a:prstGeom prst="rect">
            <a:avLst/>
          </a:prstGeom>
        </p:spPr>
      </p:pic>
      <p:sp>
        <p:nvSpPr>
          <p:cNvPr id="23" name="Text 17"/>
          <p:cNvSpPr/>
          <p:nvPr/>
        </p:nvSpPr>
        <p:spPr>
          <a:xfrm>
            <a:off x="7284568" y="3767328"/>
            <a:ext cx="4111600" cy="384048"/>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Alerts on exceptions</a:t>
            </a:r>
            <a:endParaRPr lang="en-US" sz="1600" dirty="0"/>
          </a:p>
        </p:txBody>
      </p:sp>
      <p:sp>
        <p:nvSpPr>
          <p:cNvPr id="24" name="Text 18"/>
          <p:cNvSpPr/>
          <p:nvPr/>
        </p:nvSpPr>
        <p:spPr>
          <a:xfrm>
            <a:off x="7284568" y="4151376"/>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You hear about the odd one out; the rest just runs.</a:t>
            </a:r>
            <a:endParaRPr lang="en-US" sz="1250" dirty="0"/>
          </a:p>
        </p:txBody>
      </p:sp>
      <p:sp>
        <p:nvSpPr>
          <p:cNvPr id="25" name="Shape 19"/>
          <p:cNvSpPr/>
          <p:nvPr/>
        </p:nvSpPr>
        <p:spPr>
          <a:xfrm>
            <a:off x="566928" y="4901184"/>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26" name="Shape 20"/>
          <p:cNvSpPr/>
          <p:nvPr/>
        </p:nvSpPr>
        <p:spPr>
          <a:xfrm>
            <a:off x="822960" y="5202936"/>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7" name="Image 4" descr="C:/Users/neuma_p1qrsic/Repo/agentic-ops1/.scratch/icons/blocks.png"/>
          <p:cNvPicPr>
            <a:picLocks noChangeAspect="1"/>
          </p:cNvPicPr>
          <p:nvPr/>
        </p:nvPicPr>
        <p:blipFill>
          <a:blip r:embed="rId7"/>
          <a:stretch>
            <a:fillRect/>
          </a:stretch>
        </p:blipFill>
        <p:spPr>
          <a:xfrm>
            <a:off x="959023" y="5338999"/>
            <a:ext cx="294803" cy="294803"/>
          </a:xfrm>
          <a:prstGeom prst="rect">
            <a:avLst/>
          </a:prstGeom>
        </p:spPr>
      </p:pic>
      <p:sp>
        <p:nvSpPr>
          <p:cNvPr id="28" name="Text 21"/>
          <p:cNvSpPr/>
          <p:nvPr/>
        </p:nvSpPr>
        <p:spPr>
          <a:xfrm>
            <a:off x="1572768" y="5120640"/>
            <a:ext cx="4111600" cy="384048"/>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No code to change it</a:t>
            </a:r>
            <a:endParaRPr lang="en-US" sz="1600" dirty="0"/>
          </a:p>
        </p:txBody>
      </p:sp>
      <p:sp>
        <p:nvSpPr>
          <p:cNvPr id="29" name="Text 22"/>
          <p:cNvSpPr/>
          <p:nvPr/>
        </p:nvSpPr>
        <p:spPr>
          <a:xfrm>
            <a:off x="1572768" y="5504688"/>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Your rules, changed by your team, no IT project.</a:t>
            </a:r>
            <a:endParaRPr lang="en-US" sz="1250" dirty="0"/>
          </a:p>
        </p:txBody>
      </p:sp>
      <p:sp>
        <p:nvSpPr>
          <p:cNvPr id="30" name="Shape 23"/>
          <p:cNvSpPr/>
          <p:nvPr/>
        </p:nvSpPr>
        <p:spPr>
          <a:xfrm>
            <a:off x="6278728" y="4901184"/>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31" name="Shape 24"/>
          <p:cNvSpPr/>
          <p:nvPr/>
        </p:nvSpPr>
        <p:spPr>
          <a:xfrm>
            <a:off x="6534760" y="5202936"/>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32" name="Image 5" descr="C:/Users/neuma_p1qrsic/Repo/agentic-ops1/.scratch/icons/lock.png"/>
          <p:cNvPicPr>
            <a:picLocks noChangeAspect="1"/>
          </p:cNvPicPr>
          <p:nvPr/>
        </p:nvPicPr>
        <p:blipFill>
          <a:blip r:embed="rId8"/>
          <a:stretch>
            <a:fillRect/>
          </a:stretch>
        </p:blipFill>
        <p:spPr>
          <a:xfrm>
            <a:off x="6670822" y="5338999"/>
            <a:ext cx="294803" cy="294803"/>
          </a:xfrm>
          <a:prstGeom prst="rect">
            <a:avLst/>
          </a:prstGeom>
        </p:spPr>
      </p:pic>
      <p:sp>
        <p:nvSpPr>
          <p:cNvPr id="33" name="Text 25"/>
          <p:cNvSpPr/>
          <p:nvPr/>
        </p:nvSpPr>
        <p:spPr>
          <a:xfrm>
            <a:off x="7284568" y="5120640"/>
            <a:ext cx="4111600" cy="384048"/>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ISO 27001 and SOC 1</a:t>
            </a:r>
            <a:endParaRPr lang="en-US" sz="1600" dirty="0"/>
          </a:p>
        </p:txBody>
      </p:sp>
      <p:sp>
        <p:nvSpPr>
          <p:cNvPr id="34" name="Text 26"/>
          <p:cNvSpPr/>
          <p:nvPr/>
        </p:nvSpPr>
        <p:spPr>
          <a:xfrm>
            <a:off x="7284568" y="5504688"/>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The security controls your auditors already expect.</a:t>
            </a:r>
            <a:endParaRPr lang="en-US" sz="1250" dirty="0"/>
          </a:p>
        </p:txBody>
      </p:sp>
      <p:sp>
        <p:nvSpPr>
          <p:cNvPr id="35" name="Text 2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OnePilot</a:t>
            </a:r>
            <a:endParaRPr lang="en-US" sz="900" dirty="0"/>
          </a:p>
        </p:txBody>
      </p:sp>
      <p:sp>
        <p:nvSpPr>
          <p:cNvPr id="36" name="Text 28"/>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08 / 11</a:t>
            </a:r>
            <a:endParaRPr lang="en-US" sz="900" dirty="0"/>
          </a:p>
        </p:txBody>
      </p:sp>
      <p:sp>
        <p:nvSpPr>
          <p:cNvPr id="37" name="Shape 29"/>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2005252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WHAT IT RUNS ON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Digital Co-Worker is one app on </a:t>
            </a:r>
            <a:r>
              <a:rPr lang="en-US" sz="2900" b="1" dirty="0">
                <a:solidFill>
                  <a:srgbClr val="3BE3E0"/>
                </a:solidFill>
                <a:latin typeface="Segoe UI Semibold" pitchFamily="34" charset="0"/>
                <a:ea typeface="Segoe UI Semibold" pitchFamily="34" charset="-122"/>
                <a:cs typeface="Segoe UI Semibold" pitchFamily="34" charset="-120"/>
              </a:rPr>
              <a:t>OnePilot</a:t>
            </a:r>
            <a:r>
              <a:rPr lang="en-US" sz="2900" b="1" dirty="0">
                <a:solidFill>
                  <a:srgbClr val="F3F6FB"/>
                </a:solidFill>
                <a:latin typeface="Segoe UI Semibold" pitchFamily="34" charset="0"/>
                <a:ea typeface="Segoe UI Semibold" pitchFamily="34" charset="-122"/>
                <a:cs typeface="Segoe UI Semibold" pitchFamily="34" charset="-120"/>
              </a:rPr>
              <a:t>.</a:t>
            </a:r>
            <a:endParaRPr lang="en-US" sz="2900" dirty="0"/>
          </a:p>
        </p:txBody>
      </p:sp>
      <p:sp>
        <p:nvSpPr>
          <p:cNvPr id="5" name="Text 3"/>
          <p:cNvSpPr/>
          <p:nvPr/>
        </p:nvSpPr>
        <p:spPr>
          <a:xfrm>
            <a:off x="566928" y="1828800"/>
            <a:ext cx="10607040" cy="1051560"/>
          </a:xfrm>
          <a:prstGeom prst="rect">
            <a:avLst/>
          </a:prstGeom>
          <a:noFill/>
          <a:ln/>
        </p:spPr>
        <p:txBody>
          <a:bodyPr wrap="square" rtlCol="0" anchor="ctr"/>
          <a:lstStyle/>
          <a:p>
            <a:pPr marL="0" indent="0">
              <a:lnSpc>
                <a:spcPct val="130000"/>
              </a:lnSpc>
              <a:buNone/>
            </a:pPr>
            <a:r>
              <a:rPr lang="en-US" sz="1600" dirty="0">
                <a:solidFill>
                  <a:srgbClr val="AAB6C7"/>
                </a:solidFill>
                <a:latin typeface="Segoe UI" pitchFamily="34" charset="0"/>
                <a:ea typeface="Segoe UI" pitchFamily="34" charset="-122"/>
                <a:cs typeface="Segoe UI" pitchFamily="34" charset="-120"/>
              </a:rPr>
              <a:t>OnePilot is the layer underneath. It moves your data cleanly between systems, both ways, across SAP and everything else, with the checks and the AI built in. One way to connect to all of it:</a:t>
            </a:r>
            <a:endParaRPr lang="en-US" sz="1600" dirty="0"/>
          </a:p>
        </p:txBody>
      </p:sp>
      <p:sp>
        <p:nvSpPr>
          <p:cNvPr id="6" name="Shape 4"/>
          <p:cNvSpPr/>
          <p:nvPr/>
        </p:nvSpPr>
        <p:spPr>
          <a:xfrm>
            <a:off x="566928" y="3246120"/>
            <a:ext cx="199211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7" name="Image 0" descr="C:/Users/neuma_p1qrsic/Repo/agentic-ops1/.scratch/icons/database.png"/>
          <p:cNvPicPr>
            <a:picLocks noChangeAspect="1"/>
          </p:cNvPicPr>
          <p:nvPr/>
        </p:nvPicPr>
        <p:blipFill>
          <a:blip r:embed="rId3"/>
          <a:stretch>
            <a:fillRect/>
          </a:stretch>
        </p:blipFill>
        <p:spPr>
          <a:xfrm>
            <a:off x="1252088" y="3538728"/>
            <a:ext cx="621792" cy="621792"/>
          </a:xfrm>
          <a:prstGeom prst="rect">
            <a:avLst/>
          </a:prstGeom>
        </p:spPr>
      </p:pic>
      <p:sp>
        <p:nvSpPr>
          <p:cNvPr id="8" name="Text 5"/>
          <p:cNvSpPr/>
          <p:nvPr/>
        </p:nvSpPr>
        <p:spPr>
          <a:xfrm>
            <a:off x="640080" y="4233672"/>
            <a:ext cx="1845808"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SAP systems</a:t>
            </a:r>
            <a:endParaRPr lang="en-US" sz="1300" dirty="0"/>
          </a:p>
        </p:txBody>
      </p:sp>
      <p:sp>
        <p:nvSpPr>
          <p:cNvPr id="9" name="Shape 6"/>
          <p:cNvSpPr/>
          <p:nvPr/>
        </p:nvSpPr>
        <p:spPr>
          <a:xfrm>
            <a:off x="2833360" y="3246120"/>
            <a:ext cx="199211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0" name="Image 1" descr="C:/Users/neuma_p1qrsic/Repo/agentic-ops1/.scratch/icons/sheet.png"/>
          <p:cNvPicPr>
            <a:picLocks noChangeAspect="1"/>
          </p:cNvPicPr>
          <p:nvPr/>
        </p:nvPicPr>
        <p:blipFill>
          <a:blip r:embed="rId4"/>
          <a:stretch>
            <a:fillRect/>
          </a:stretch>
        </p:blipFill>
        <p:spPr>
          <a:xfrm>
            <a:off x="3518520" y="3538728"/>
            <a:ext cx="621792" cy="621792"/>
          </a:xfrm>
          <a:prstGeom prst="rect">
            <a:avLst/>
          </a:prstGeom>
        </p:spPr>
      </p:pic>
      <p:sp>
        <p:nvSpPr>
          <p:cNvPr id="11" name="Text 7"/>
          <p:cNvSpPr/>
          <p:nvPr/>
        </p:nvSpPr>
        <p:spPr>
          <a:xfrm>
            <a:off x="2906512" y="4233672"/>
            <a:ext cx="1845808"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Spreadsheets &amp; files</a:t>
            </a:r>
            <a:endParaRPr lang="en-US" sz="1300" dirty="0"/>
          </a:p>
        </p:txBody>
      </p:sp>
      <p:sp>
        <p:nvSpPr>
          <p:cNvPr id="12" name="Shape 8"/>
          <p:cNvSpPr/>
          <p:nvPr/>
        </p:nvSpPr>
        <p:spPr>
          <a:xfrm>
            <a:off x="5099792" y="3246120"/>
            <a:ext cx="199211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3" name="Image 2" descr="C:/Users/neuma_p1qrsic/Repo/agentic-ops1/.scratch/icons/mail.png"/>
          <p:cNvPicPr>
            <a:picLocks noChangeAspect="1"/>
          </p:cNvPicPr>
          <p:nvPr/>
        </p:nvPicPr>
        <p:blipFill>
          <a:blip r:embed="rId5"/>
          <a:stretch>
            <a:fillRect/>
          </a:stretch>
        </p:blipFill>
        <p:spPr>
          <a:xfrm>
            <a:off x="5784952" y="3538728"/>
            <a:ext cx="621792" cy="621792"/>
          </a:xfrm>
          <a:prstGeom prst="rect">
            <a:avLst/>
          </a:prstGeom>
        </p:spPr>
      </p:pic>
      <p:sp>
        <p:nvSpPr>
          <p:cNvPr id="14" name="Text 9"/>
          <p:cNvSpPr/>
          <p:nvPr/>
        </p:nvSpPr>
        <p:spPr>
          <a:xfrm>
            <a:off x="5172944" y="4233672"/>
            <a:ext cx="1845808"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Email</a:t>
            </a:r>
            <a:endParaRPr lang="en-US" sz="1300" dirty="0"/>
          </a:p>
        </p:txBody>
      </p:sp>
      <p:sp>
        <p:nvSpPr>
          <p:cNvPr id="15" name="Shape 10"/>
          <p:cNvSpPr/>
          <p:nvPr/>
        </p:nvSpPr>
        <p:spPr>
          <a:xfrm>
            <a:off x="7366224" y="3246120"/>
            <a:ext cx="199211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6" name="Image 3" descr="C:/Users/neuma_p1qrsic/Repo/agentic-ops1/.scratch/icons/globe.png"/>
          <p:cNvPicPr>
            <a:picLocks noChangeAspect="1"/>
          </p:cNvPicPr>
          <p:nvPr/>
        </p:nvPicPr>
        <p:blipFill>
          <a:blip r:embed="rId6"/>
          <a:stretch>
            <a:fillRect/>
          </a:stretch>
        </p:blipFill>
        <p:spPr>
          <a:xfrm>
            <a:off x="8051383" y="3538728"/>
            <a:ext cx="621792" cy="621792"/>
          </a:xfrm>
          <a:prstGeom prst="rect">
            <a:avLst/>
          </a:prstGeom>
        </p:spPr>
      </p:pic>
      <p:sp>
        <p:nvSpPr>
          <p:cNvPr id="17" name="Text 11"/>
          <p:cNvSpPr/>
          <p:nvPr/>
        </p:nvSpPr>
        <p:spPr>
          <a:xfrm>
            <a:off x="7439376" y="4233672"/>
            <a:ext cx="1845808"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Web &amp; APIs</a:t>
            </a:r>
            <a:endParaRPr lang="en-US" sz="1300" dirty="0"/>
          </a:p>
        </p:txBody>
      </p:sp>
      <p:sp>
        <p:nvSpPr>
          <p:cNvPr id="18" name="Shape 12"/>
          <p:cNvSpPr/>
          <p:nvPr/>
        </p:nvSpPr>
        <p:spPr>
          <a:xfrm>
            <a:off x="9632655" y="3246120"/>
            <a:ext cx="199211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9" name="Image 4" descr="C:/Users/neuma_p1qrsic/Repo/agentic-ops1/.scratch/icons/spark.png"/>
          <p:cNvPicPr>
            <a:picLocks noChangeAspect="1"/>
          </p:cNvPicPr>
          <p:nvPr/>
        </p:nvPicPr>
        <p:blipFill>
          <a:blip r:embed="rId7"/>
          <a:stretch>
            <a:fillRect/>
          </a:stretch>
        </p:blipFill>
        <p:spPr>
          <a:xfrm>
            <a:off x="10317815" y="3538728"/>
            <a:ext cx="621792" cy="621792"/>
          </a:xfrm>
          <a:prstGeom prst="rect">
            <a:avLst/>
          </a:prstGeom>
        </p:spPr>
      </p:pic>
      <p:sp>
        <p:nvSpPr>
          <p:cNvPr id="20" name="Text 13"/>
          <p:cNvSpPr/>
          <p:nvPr/>
        </p:nvSpPr>
        <p:spPr>
          <a:xfrm>
            <a:off x="9705807" y="4233672"/>
            <a:ext cx="1845808"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AI</a:t>
            </a:r>
            <a:endParaRPr lang="en-US" sz="1300" dirty="0"/>
          </a:p>
        </p:txBody>
      </p:sp>
      <p:sp>
        <p:nvSpPr>
          <p:cNvPr id="21" name="Text 14"/>
          <p:cNvSpPr/>
          <p:nvPr/>
        </p:nvSpPr>
        <p:spPr>
          <a:xfrm>
            <a:off x="566928" y="5166360"/>
            <a:ext cx="11057839" cy="457200"/>
          </a:xfrm>
          <a:prstGeom prst="rect">
            <a:avLst/>
          </a:prstGeom>
          <a:noFill/>
          <a:ln/>
        </p:spPr>
        <p:txBody>
          <a:bodyPr wrap="square" rtlCol="0" anchor="ctr"/>
          <a:lstStyle/>
          <a:p>
            <a:pPr marL="0" indent="0">
              <a:buNone/>
            </a:pPr>
            <a:r>
              <a:rPr lang="en-US" sz="1450" dirty="0">
                <a:solidFill>
                  <a:srgbClr val="3BE3E0"/>
                </a:solidFill>
                <a:latin typeface="Segoe UI" pitchFamily="34" charset="0"/>
                <a:ea typeface="Segoe UI" pitchFamily="34" charset="-122"/>
                <a:cs typeface="Segoe UI" pitchFamily="34" charset="-120"/>
              </a:rPr>
              <a:t>It reads and writes to each of them, so the work lands where it needs to with nothing re-typed.</a:t>
            </a:r>
            <a:endParaRPr lang="en-US" sz="1450" dirty="0"/>
          </a:p>
        </p:txBody>
      </p:sp>
      <p:sp>
        <p:nvSpPr>
          <p:cNvPr id="22" name="Text 15"/>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OnePilot</a:t>
            </a:r>
            <a:endParaRPr lang="en-US" sz="900" dirty="0"/>
          </a:p>
        </p:txBody>
      </p:sp>
      <p:sp>
        <p:nvSpPr>
          <p:cNvPr id="23" name="Text 16"/>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09 / 11</a:t>
            </a:r>
            <a:endParaRPr lang="en-US" sz="900" dirty="0"/>
          </a:p>
        </p:txBody>
      </p:sp>
      <p:sp>
        <p:nvSpPr>
          <p:cNvPr id="24" name="Shape 17"/>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616649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a:effectLst/>
      </p:bgPr>
    </p:bg>
    <p:spTree>
      <p:nvGrpSpPr>
        <p:cNvPr id="1" name=""/>
        <p:cNvGrpSpPr/>
        <p:nvPr/>
      </p:nvGrpSpPr>
      <p:grpSpPr>
        <a:xfrm>
          <a:off x="0" y="0"/>
          <a:ext cx="0" cy="0"/>
          <a:chOff x="0" y="0"/>
          <a:chExt cx="0" cy="0"/>
        </a:xfrm>
      </p:grpSpPr>
      <p:pic>
        <p:nvPicPr>
          <p:cNvPr id="2" name="Image 0" descr="C:/Users/neuma_p1qrsic/Repo/agentic-ops1/.scratch/logo/favicon.png"/>
          <p:cNvPicPr>
            <a:picLocks noChangeAspect="1"/>
          </p:cNvPicPr>
          <p:nvPr/>
        </p:nvPicPr>
        <p:blipFill>
          <a:blip r:embed="rId3"/>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4"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WHO WE ARE</a:t>
            </a:r>
            <a:endParaRPr lang="en-US" sz="1200" dirty="0"/>
          </a:p>
        </p:txBody>
      </p:sp>
      <p:sp>
        <p:nvSpPr>
          <p:cNvPr id="5" name="Text 2"/>
          <p:cNvSpPr/>
          <p:nvPr/>
        </p:nvSpPr>
        <p:spPr>
          <a:xfrm>
            <a:off x="566928" y="960120"/>
            <a:ext cx="10881360" cy="822960"/>
          </a:xfrm>
          <a:prstGeom prst="rect">
            <a:avLst/>
          </a:prstGeom>
          <a:noFill/>
          <a:ln/>
        </p:spPr>
        <p:txBody>
          <a:bodyPr wrap="square" rtlCol="0" anchor="ctr"/>
          <a:lstStyle/>
          <a:p>
            <a:pPr marL="0" indent="0">
              <a:buNone/>
            </a:pPr>
            <a:r>
              <a:rPr lang="en-US" sz="3000" b="1" dirty="0">
                <a:solidFill>
                  <a:srgbClr val="F3F6FB"/>
                </a:solidFill>
                <a:latin typeface="Segoe UI Semibold" pitchFamily="34" charset="0"/>
                <a:ea typeface="Segoe UI Semibold" pitchFamily="34" charset="-122"/>
                <a:cs typeface="Segoe UI Semibold" pitchFamily="34" charset="-120"/>
              </a:rPr>
              <a:t>We run the data and AI layer for SAP treasury.</a:t>
            </a:r>
            <a:endParaRPr lang="en-US" sz="3000" dirty="0"/>
          </a:p>
        </p:txBody>
      </p:sp>
      <p:sp>
        <p:nvSpPr>
          <p:cNvPr id="6" name="Shape 3"/>
          <p:cNvSpPr/>
          <p:nvPr/>
        </p:nvSpPr>
        <p:spPr>
          <a:xfrm>
            <a:off x="566928"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7" name="Shape 4"/>
          <p:cNvSpPr/>
          <p:nvPr/>
        </p:nvSpPr>
        <p:spPr>
          <a:xfrm>
            <a:off x="841248"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8" name="Image 1" descr="C:/Users/neuma_p1qrsic/Repo/agentic-ops1/.scratch/icons/shield.png"/>
          <p:cNvPicPr>
            <a:picLocks noChangeAspect="1"/>
          </p:cNvPicPr>
          <p:nvPr/>
        </p:nvPicPr>
        <p:blipFill>
          <a:blip r:embed="rId4"/>
          <a:stretch>
            <a:fillRect/>
          </a:stretch>
        </p:blipFill>
        <p:spPr>
          <a:xfrm>
            <a:off x="990478" y="2590678"/>
            <a:ext cx="323332" cy="323332"/>
          </a:xfrm>
          <a:prstGeom prst="rect">
            <a:avLst/>
          </a:prstGeom>
        </p:spPr>
      </p:pic>
      <p:sp>
        <p:nvSpPr>
          <p:cNvPr id="9" name="Text 5"/>
          <p:cNvSpPr/>
          <p:nvPr/>
        </p:nvSpPr>
        <p:spPr>
          <a:xfrm>
            <a:off x="841248"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Built into SAP</a:t>
            </a:r>
            <a:endParaRPr lang="en-US" sz="1850" dirty="0"/>
          </a:p>
        </p:txBody>
      </p:sp>
      <p:sp>
        <p:nvSpPr>
          <p:cNvPr id="10" name="Text 6"/>
          <p:cNvSpPr/>
          <p:nvPr/>
        </p:nvSpPr>
        <p:spPr>
          <a:xfrm>
            <a:off x="841248"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An SAP co-innovation partner. The co-worker runs on SAP's own cloud, so it sits inside your landscape, not beside it.</a:t>
            </a:r>
            <a:endParaRPr lang="en-US" sz="1300" dirty="0"/>
          </a:p>
        </p:txBody>
      </p:sp>
      <p:sp>
        <p:nvSpPr>
          <p:cNvPr id="11" name="Shape 7"/>
          <p:cNvSpPr/>
          <p:nvPr/>
        </p:nvSpPr>
        <p:spPr>
          <a:xfrm>
            <a:off x="4359554"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12" name="Shape 8"/>
          <p:cNvSpPr/>
          <p:nvPr/>
        </p:nvSpPr>
        <p:spPr>
          <a:xfrm>
            <a:off x="4633874"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13" name="Image 2" descr="C:/Users/neuma_p1qrsic/Repo/agentic-ops1/.scratch/icons/spark.png"/>
          <p:cNvPicPr>
            <a:picLocks noChangeAspect="1"/>
          </p:cNvPicPr>
          <p:nvPr/>
        </p:nvPicPr>
        <p:blipFill>
          <a:blip r:embed="rId5"/>
          <a:stretch>
            <a:fillRect/>
          </a:stretch>
        </p:blipFill>
        <p:spPr>
          <a:xfrm>
            <a:off x="4783104" y="2590678"/>
            <a:ext cx="323332" cy="323332"/>
          </a:xfrm>
          <a:prstGeom prst="rect">
            <a:avLst/>
          </a:prstGeom>
        </p:spPr>
      </p:pic>
      <p:sp>
        <p:nvSpPr>
          <p:cNvPr id="14" name="Text 9"/>
          <p:cNvSpPr/>
          <p:nvPr/>
        </p:nvSpPr>
        <p:spPr>
          <a:xfrm>
            <a:off x="4633874"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AI you can talk to</a:t>
            </a:r>
            <a:endParaRPr lang="en-US" sz="1850" dirty="0"/>
          </a:p>
        </p:txBody>
      </p:sp>
      <p:sp>
        <p:nvSpPr>
          <p:cNvPr id="15" name="Text 10"/>
          <p:cNvSpPr/>
          <p:nvPr/>
        </p:nvSpPr>
        <p:spPr>
          <a:xfrm>
            <a:off x="4633874"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Large language models do the reading, drafting and judgment. You work with it the way you already message a colleague.</a:t>
            </a:r>
            <a:endParaRPr lang="en-US" sz="1300" dirty="0"/>
          </a:p>
        </p:txBody>
      </p:sp>
      <p:sp>
        <p:nvSpPr>
          <p:cNvPr id="16" name="Shape 11"/>
          <p:cNvSpPr/>
          <p:nvPr/>
        </p:nvSpPr>
        <p:spPr>
          <a:xfrm>
            <a:off x="8152181"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17" name="Shape 12"/>
          <p:cNvSpPr/>
          <p:nvPr/>
        </p:nvSpPr>
        <p:spPr>
          <a:xfrm>
            <a:off x="8426501"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18" name="Image 3" descr="C:/Users/neuma_p1qrsic/Repo/agentic-ops1/.scratch/icons/blocks.png"/>
          <p:cNvPicPr>
            <a:picLocks noChangeAspect="1"/>
          </p:cNvPicPr>
          <p:nvPr/>
        </p:nvPicPr>
        <p:blipFill>
          <a:blip r:embed="rId6"/>
          <a:stretch>
            <a:fillRect/>
          </a:stretch>
        </p:blipFill>
        <p:spPr>
          <a:xfrm>
            <a:off x="8575731" y="2590678"/>
            <a:ext cx="323332" cy="323332"/>
          </a:xfrm>
          <a:prstGeom prst="rect">
            <a:avLst/>
          </a:prstGeom>
        </p:spPr>
      </p:pic>
      <p:sp>
        <p:nvSpPr>
          <p:cNvPr id="19" name="Text 13"/>
          <p:cNvSpPr/>
          <p:nvPr/>
        </p:nvSpPr>
        <p:spPr>
          <a:xfrm>
            <a:off x="8426501"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Yours to shape</a:t>
            </a:r>
            <a:endParaRPr lang="en-US" sz="1850" dirty="0"/>
          </a:p>
        </p:txBody>
      </p:sp>
      <p:sp>
        <p:nvSpPr>
          <p:cNvPr id="20" name="Text 14"/>
          <p:cNvSpPr/>
          <p:nvPr/>
        </p:nvSpPr>
        <p:spPr>
          <a:xfrm>
            <a:off x="8426501"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No code. Role-based co-workers your team sets up. Customer teams already build on the platform.</a:t>
            </a:r>
            <a:endParaRPr lang="en-US" sz="1300" dirty="0"/>
          </a:p>
        </p:txBody>
      </p:sp>
      <p:sp>
        <p:nvSpPr>
          <p:cNvPr id="21" name="Text 15"/>
          <p:cNvSpPr/>
          <p:nvPr/>
        </p:nvSpPr>
        <p:spPr>
          <a:xfrm>
            <a:off x="566928" y="5349240"/>
            <a:ext cx="1371600" cy="777240"/>
          </a:xfrm>
          <a:prstGeom prst="rect">
            <a:avLst/>
          </a:prstGeom>
          <a:noFill/>
          <a:ln/>
        </p:spPr>
        <p:txBody>
          <a:bodyPr wrap="square" rtlCol="0" anchor="ctr"/>
          <a:lstStyle/>
          <a:p>
            <a:pPr marL="0" indent="0">
              <a:buNone/>
            </a:pPr>
            <a:r>
              <a:rPr lang="en-US" sz="3800" b="1" dirty="0">
                <a:solidFill>
                  <a:srgbClr val="3BE3E0"/>
                </a:solidFill>
                <a:latin typeface="Segoe UI Semibold" pitchFamily="34" charset="0"/>
                <a:ea typeface="Segoe UI Semibold" pitchFamily="34" charset="-122"/>
                <a:cs typeface="Segoe UI Semibold" pitchFamily="34" charset="-120"/>
              </a:rPr>
              <a:t>1</a:t>
            </a:r>
            <a:endParaRPr lang="en-US" sz="3800" dirty="0"/>
          </a:p>
        </p:txBody>
      </p:sp>
      <p:sp>
        <p:nvSpPr>
          <p:cNvPr id="22" name="Text 16"/>
          <p:cNvSpPr/>
          <p:nvPr/>
        </p:nvSpPr>
        <p:spPr>
          <a:xfrm>
            <a:off x="1892808" y="5349240"/>
            <a:ext cx="214670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co-worker per person</a:t>
            </a:r>
            <a:endParaRPr lang="en-US" sz="1250" dirty="0"/>
          </a:p>
        </p:txBody>
      </p:sp>
      <p:sp>
        <p:nvSpPr>
          <p:cNvPr id="23" name="Text 17"/>
          <p:cNvSpPr/>
          <p:nvPr/>
        </p:nvSpPr>
        <p:spPr>
          <a:xfrm>
            <a:off x="4359554" y="5349240"/>
            <a:ext cx="1371600" cy="777240"/>
          </a:xfrm>
          <a:prstGeom prst="rect">
            <a:avLst/>
          </a:prstGeom>
          <a:noFill/>
          <a:ln/>
        </p:spPr>
        <p:txBody>
          <a:bodyPr wrap="square" rtlCol="0" anchor="ctr"/>
          <a:lstStyle/>
          <a:p>
            <a:pPr marL="0" indent="0">
              <a:buNone/>
            </a:pPr>
            <a:r>
              <a:rPr lang="en-US" sz="3800" b="1" dirty="0">
                <a:solidFill>
                  <a:srgbClr val="3BE3E0"/>
                </a:solidFill>
                <a:latin typeface="Segoe UI Semibold" pitchFamily="34" charset="0"/>
                <a:ea typeface="Segoe UI Semibold" pitchFamily="34" charset="-122"/>
                <a:cs typeface="Segoe UI Semibold" pitchFamily="34" charset="-120"/>
              </a:rPr>
              <a:t>0</a:t>
            </a:r>
            <a:endParaRPr lang="en-US" sz="3800" dirty="0"/>
          </a:p>
        </p:txBody>
      </p:sp>
      <p:sp>
        <p:nvSpPr>
          <p:cNvPr id="24" name="Text 18"/>
          <p:cNvSpPr/>
          <p:nvPr/>
        </p:nvSpPr>
        <p:spPr>
          <a:xfrm>
            <a:off x="5685434" y="5349240"/>
            <a:ext cx="214670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code to set it up</a:t>
            </a:r>
            <a:endParaRPr lang="en-US" sz="1250" dirty="0"/>
          </a:p>
        </p:txBody>
      </p:sp>
      <p:sp>
        <p:nvSpPr>
          <p:cNvPr id="25" name="Text 19"/>
          <p:cNvSpPr/>
          <p:nvPr/>
        </p:nvSpPr>
        <p:spPr>
          <a:xfrm>
            <a:off x="8152181" y="5349240"/>
            <a:ext cx="1371600" cy="777240"/>
          </a:xfrm>
          <a:prstGeom prst="rect">
            <a:avLst/>
          </a:prstGeom>
          <a:noFill/>
          <a:ln/>
        </p:spPr>
        <p:txBody>
          <a:bodyPr wrap="square" rtlCol="0" anchor="ctr"/>
          <a:lstStyle/>
          <a:p>
            <a:pPr marL="0" indent="0">
              <a:buNone/>
            </a:pPr>
            <a:r>
              <a:rPr lang="en-US" sz="3800" b="1">
                <a:solidFill>
                  <a:srgbClr val="3BE3E0"/>
                </a:solidFill>
                <a:latin typeface="Segoe UI Semibold" pitchFamily="34" charset="0"/>
                <a:ea typeface="Segoe UI Semibold" pitchFamily="34" charset="-122"/>
                <a:cs typeface="Segoe UI Semibold" pitchFamily="34" charset="-120"/>
              </a:rPr>
              <a:t>24/7</a:t>
            </a:r>
            <a:endParaRPr lang="en-US" sz="3800" dirty="0"/>
          </a:p>
        </p:txBody>
      </p:sp>
      <p:sp>
        <p:nvSpPr>
          <p:cNvPr id="26" name="Text 20"/>
          <p:cNvSpPr/>
          <p:nvPr/>
        </p:nvSpPr>
        <p:spPr>
          <a:xfrm>
            <a:off x="9478061" y="5349240"/>
            <a:ext cx="214670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tireless, never off</a:t>
            </a:r>
            <a:endParaRPr lang="en-US" sz="1250" dirty="0"/>
          </a:p>
        </p:txBody>
      </p:sp>
      <p:sp>
        <p:nvSpPr>
          <p:cNvPr id="27" name="Text 2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OnePilot</a:t>
            </a:r>
            <a:endParaRPr lang="en-US" sz="900" dirty="0"/>
          </a:p>
        </p:txBody>
      </p:sp>
      <p:sp>
        <p:nvSpPr>
          <p:cNvPr id="28" name="Text 22"/>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10 / 11</a:t>
            </a:r>
            <a:endParaRPr lang="en-US" sz="900" dirty="0"/>
          </a:p>
        </p:txBody>
      </p:sp>
      <p:sp>
        <p:nvSpPr>
          <p:cNvPr id="29" name="Shape 23"/>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2519876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3072384" y="0"/>
            <a:ext cx="6035040" cy="6035040"/>
          </a:xfrm>
          <a:prstGeom prst="ellipse">
            <a:avLst/>
          </a:prstGeom>
          <a:solidFill>
            <a:srgbClr val="3BE3E0">
              <a:alpha val="7000"/>
            </a:srgbClr>
          </a:solidFill>
          <a:ln w="12700">
            <a:solidFill>
              <a:srgbClr val="333333"/>
            </a:solidFill>
            <a:prstDash val="solid"/>
          </a:ln>
        </p:spPr>
        <p:txBody>
          <a:bodyPr/>
          <a:lstStyle/>
          <a:p>
            <a:endParaRPr lang="en-US"/>
          </a:p>
        </p:txBody>
      </p:sp>
      <p:sp>
        <p:nvSpPr>
          <p:cNvPr id="3" name="Shape 1"/>
          <p:cNvSpPr/>
          <p:nvPr/>
        </p:nvSpPr>
        <p:spPr>
          <a:xfrm>
            <a:off x="4443984" y="1371600"/>
            <a:ext cx="3291840" cy="3291840"/>
          </a:xfrm>
          <a:prstGeom prst="ellipse">
            <a:avLst/>
          </a:prstGeom>
          <a:solidFill>
            <a:srgbClr val="3BE3E0">
              <a:alpha val="12000"/>
            </a:srgbClr>
          </a:solidFill>
          <a:ln w="12700">
            <a:solidFill>
              <a:srgbClr val="333333"/>
            </a:solidFill>
            <a:prstDash val="solid"/>
          </a:ln>
        </p:spPr>
        <p:txBody>
          <a:bodyPr/>
          <a:lstStyle/>
          <a:p>
            <a:endParaRPr lang="en-US"/>
          </a:p>
        </p:txBody>
      </p:sp>
      <p:pic>
        <p:nvPicPr>
          <p:cNvPr id="4" name="Image 0" descr="C:/Users/neuma_p1qrsic/Repo/agentic-ops1/.scratch/brisken-logo-light.png"/>
          <p:cNvPicPr>
            <a:picLocks noChangeAspect="1"/>
          </p:cNvPicPr>
          <p:nvPr/>
        </p:nvPicPr>
        <p:blipFill>
          <a:blip r:embed="rId3"/>
          <a:stretch>
            <a:fillRect/>
          </a:stretch>
        </p:blipFill>
        <p:spPr>
          <a:xfrm>
            <a:off x="5312664" y="1417320"/>
            <a:ext cx="1554480" cy="338328"/>
          </a:xfrm>
          <a:prstGeom prst="rect">
            <a:avLst/>
          </a:prstGeom>
        </p:spPr>
      </p:pic>
      <p:sp>
        <p:nvSpPr>
          <p:cNvPr id="5" name="Text 2"/>
          <p:cNvSpPr/>
          <p:nvPr/>
        </p:nvSpPr>
        <p:spPr>
          <a:xfrm>
            <a:off x="914400" y="2514600"/>
            <a:ext cx="10360152" cy="1005840"/>
          </a:xfrm>
          <a:prstGeom prst="rect">
            <a:avLst/>
          </a:prstGeom>
          <a:noFill/>
          <a:ln/>
        </p:spPr>
        <p:txBody>
          <a:bodyPr wrap="square" rtlCol="0" anchor="ctr"/>
          <a:lstStyle/>
          <a:p>
            <a:pPr marL="0" indent="0" algn="ctr">
              <a:buNone/>
            </a:pPr>
            <a:r>
              <a:rPr lang="en-US" sz="5200" b="1" dirty="0">
                <a:solidFill>
                  <a:srgbClr val="F3F6FB"/>
                </a:solidFill>
                <a:latin typeface="Segoe UI Semibold" pitchFamily="34" charset="0"/>
                <a:ea typeface="Segoe UI Semibold" pitchFamily="34" charset="-122"/>
                <a:cs typeface="Segoe UI Semibold" pitchFamily="34" charset="-120"/>
              </a:rPr>
              <a:t>Built to stay done.</a:t>
            </a:r>
            <a:endParaRPr lang="en-US" sz="5200" dirty="0"/>
          </a:p>
        </p:txBody>
      </p:sp>
      <p:sp>
        <p:nvSpPr>
          <p:cNvPr id="6" name="Text 3"/>
          <p:cNvSpPr/>
          <p:nvPr/>
        </p:nvSpPr>
        <p:spPr>
          <a:xfrm>
            <a:off x="1828800" y="3611880"/>
            <a:ext cx="8531352" cy="822960"/>
          </a:xfrm>
          <a:prstGeom prst="rect">
            <a:avLst/>
          </a:prstGeom>
          <a:noFill/>
          <a:ln/>
        </p:spPr>
        <p:txBody>
          <a:bodyPr wrap="square" rtlCol="0" anchor="ctr"/>
          <a:lstStyle/>
          <a:p>
            <a:pPr marL="0" indent="0" algn="ctr">
              <a:lnSpc>
                <a:spcPct val="125000"/>
              </a:lnSpc>
              <a:buNone/>
            </a:pPr>
            <a:r>
              <a:rPr lang="en-US" sz="1700" dirty="0">
                <a:solidFill>
                  <a:srgbClr val="C4CEDA"/>
                </a:solidFill>
                <a:latin typeface="Segoe UI" pitchFamily="34" charset="0"/>
                <a:ea typeface="Segoe UI" pitchFamily="34" charset="-122"/>
                <a:cs typeface="Segoe UI" pitchFamily="34" charset="-120"/>
              </a:rPr>
              <a:t>Give us twenty minutes on the busywork your team repeats every day, and we will show you a co-worker doing it.</a:t>
            </a:r>
            <a:endParaRPr lang="en-US" sz="1700" dirty="0"/>
          </a:p>
        </p:txBody>
      </p:sp>
      <p:sp>
        <p:nvSpPr>
          <p:cNvPr id="7" name="Shape 4"/>
          <p:cNvSpPr/>
          <p:nvPr/>
        </p:nvSpPr>
        <p:spPr>
          <a:xfrm>
            <a:off x="3575304" y="4754880"/>
            <a:ext cx="5029200" cy="658368"/>
          </a:xfrm>
          <a:prstGeom prst="roundRect">
            <a:avLst>
              <a:gd name="adj" fmla="val 50000"/>
            </a:avLst>
          </a:prstGeom>
          <a:solidFill>
            <a:srgbClr val="3BE3E0"/>
          </a:solidFill>
          <a:ln w="12700">
            <a:solidFill>
              <a:srgbClr val="333333"/>
            </a:solidFill>
            <a:prstDash val="solid"/>
          </a:ln>
        </p:spPr>
        <p:txBody>
          <a:bodyPr/>
          <a:lstStyle/>
          <a:p>
            <a:endParaRPr lang="en-US"/>
          </a:p>
        </p:txBody>
      </p:sp>
      <p:sp>
        <p:nvSpPr>
          <p:cNvPr id="8" name="Text 5"/>
          <p:cNvSpPr/>
          <p:nvPr/>
        </p:nvSpPr>
        <p:spPr>
          <a:xfrm>
            <a:off x="3575304" y="4754880"/>
            <a:ext cx="5029200" cy="658368"/>
          </a:xfrm>
          <a:prstGeom prst="rect">
            <a:avLst/>
          </a:prstGeom>
          <a:noFill/>
          <a:ln/>
        </p:spPr>
        <p:txBody>
          <a:bodyPr wrap="square" rtlCol="0" anchor="ctr"/>
          <a:lstStyle/>
          <a:p>
            <a:pPr marL="0" indent="0" algn="ctr">
              <a:buNone/>
            </a:pPr>
            <a:r>
              <a:rPr lang="en-US" sz="1500" b="1" dirty="0">
                <a:solidFill>
                  <a:srgbClr val="07222A"/>
                </a:solidFill>
                <a:latin typeface="Segoe UI" pitchFamily="34" charset="0"/>
                <a:ea typeface="Segoe UI" pitchFamily="34" charset="-122"/>
                <a:cs typeface="Segoe UI" pitchFamily="34" charset="-120"/>
              </a:rPr>
              <a:t>Dirk Neumann   ·   dirk.neumann@brisken.com</a:t>
            </a:r>
            <a:endParaRPr lang="en-US" sz="1500" dirty="0"/>
          </a:p>
        </p:txBody>
      </p:sp>
      <p:sp>
        <p:nvSpPr>
          <p:cNvPr id="9" name="Text 6"/>
          <p:cNvSpPr/>
          <p:nvPr/>
        </p:nvSpPr>
        <p:spPr>
          <a:xfrm>
            <a:off x="914400" y="5623560"/>
            <a:ext cx="10360152" cy="365760"/>
          </a:xfrm>
          <a:prstGeom prst="rect">
            <a:avLst/>
          </a:prstGeom>
          <a:noFill/>
          <a:ln/>
        </p:spPr>
        <p:txBody>
          <a:bodyPr wrap="square" rtlCol="0" anchor="ctr"/>
          <a:lstStyle/>
          <a:p>
            <a:pPr marL="0" indent="0" algn="ctr">
              <a:buNone/>
            </a:pPr>
            <a:r>
              <a:rPr lang="en-US" sz="1150" dirty="0">
                <a:solidFill>
                  <a:srgbClr val="AAB6C7"/>
                </a:solidFill>
                <a:latin typeface="Segoe UI" pitchFamily="34" charset="0"/>
                <a:ea typeface="Segoe UI" pitchFamily="34" charset="-122"/>
                <a:cs typeface="Segoe UI" pitchFamily="34" charset="-120"/>
              </a:rPr>
              <a:t>brisken.com   ·   Houston, TX</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254DD16-C901-114F-9761-C3F010AA2548}">
  <we:reference id="f5f369e5-aa35-49d7-ad7b-638152ddb008" version="1.0.0.1" store="EXCatalog" storeType="EXCatalog"/>
  <we:alternateReferences>
    <we:reference id="WA200010001" version="1.0.0.1" store="en-US" storeType="OMEX"/>
  </we:alternateReferences>
  <we:properties>
    <we:property name="claude.fileId" value="&quot;23f5b092-05e9-4537-be8e-b438e276d0a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36004C6954FC41BFA5A9934AAC0872" ma:contentTypeVersion="24" ma:contentTypeDescription="Create a new document." ma:contentTypeScope="" ma:versionID="1cf73f14b085dc989d6ca704a5f7b696">
  <xsd:schema xmlns:xsd="http://www.w3.org/2001/XMLSchema" xmlns:xs="http://www.w3.org/2001/XMLSchema" xmlns:p="http://schemas.microsoft.com/office/2006/metadata/properties" xmlns:ns1="http://schemas.microsoft.com/sharepoint/v3" xmlns:ns2="f7c12939-211d-4aac-95d7-b8d38b675650" xmlns:ns3="e9089a15-9498-4149-a6f3-b4bc8e4d21ac" targetNamespace="http://schemas.microsoft.com/office/2006/metadata/properties" ma:root="true" ma:fieldsID="d257115e6736aa2126af141fdcd75720" ns1:_="" ns2:_="" ns3:_="">
    <xsd:import namespace="http://schemas.microsoft.com/sharepoint/v3"/>
    <xsd:import namespace="f7c12939-211d-4aac-95d7-b8d38b675650"/>
    <xsd:import namespace="e9089a15-9498-4149-a6f3-b4bc8e4d21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Location" minOccurs="0"/>
                <xsd:element ref="ns3:TaxCatchAll" minOccurs="0"/>
                <xsd:element ref="ns2:lcf76f155ced4ddcb4097134ff3c332f" minOccurs="0"/>
                <xsd:element ref="ns1:_ip_UnifiedCompliancePolicyProperties" minOccurs="0"/>
                <xsd:element ref="ns1:_ip_UnifiedCompliancePolicyUIAc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7c12939-211d-4aac-95d7-b8d38b6756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AutoTags" ma:index="12" nillable="true" ma:displayName="Tags" ma:hidden="true" ma:internalName="MediaServiceAutoTags"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hidden="true" ma:internalName="MediaLengthInSeconds" ma:readOnly="true">
      <xsd:simpleType>
        <xsd:restriction base="dms:Unknown"/>
      </xsd:simpleType>
    </xsd:element>
    <xsd:element name="MediaServiceLocation" ma:index="20" nillable="true" ma:displayName="Location" ma:hidden="true"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0fd6ee07-b435-4fc4-a9c7-316946df4b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9089a15-9498-4149-a6f3-b4bc8e4d21ac"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element name="TaxCatchAll" ma:index="21" nillable="true" ma:displayName="Taxonomy Catch All Column" ma:hidden="true" ma:list="{3ed79911-b83d-417d-9b12-a1fdc4449e3b}" ma:internalName="TaxCatchAll" ma:showField="CatchAllData" ma:web="e9089a15-9498-4149-a6f3-b4bc8e4d21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f7c12939-211d-4aac-95d7-b8d38b675650">
      <Terms xmlns="http://schemas.microsoft.com/office/infopath/2007/PartnerControls"/>
    </lcf76f155ced4ddcb4097134ff3c332f>
    <TaxCatchAll xmlns="e9089a15-9498-4149-a6f3-b4bc8e4d21ac" xsi:nil="true"/>
  </documentManagement>
</p:properties>
</file>

<file path=customXml/itemProps1.xml><?xml version="1.0" encoding="utf-8"?>
<ds:datastoreItem xmlns:ds="http://schemas.openxmlformats.org/officeDocument/2006/customXml" ds:itemID="{B3D00CFA-3D53-483F-AB50-906B0931AF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7c12939-211d-4aac-95d7-b8d38b675650"/>
    <ds:schemaRef ds:uri="e9089a15-9498-4149-a6f3-b4bc8e4d21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583481A-46EB-43A4-9D49-78D191929914}">
  <ds:schemaRefs>
    <ds:schemaRef ds:uri="http://schemas.microsoft.com/sharepoint/v3/contenttype/forms"/>
  </ds:schemaRefs>
</ds:datastoreItem>
</file>

<file path=customXml/itemProps3.xml><?xml version="1.0" encoding="utf-8"?>
<ds:datastoreItem xmlns:ds="http://schemas.openxmlformats.org/officeDocument/2006/customXml" ds:itemID="{F9EFA5C6-0C09-4163-A7B2-14E5D9BDE4B3}">
  <ds:schemaRefs>
    <ds:schemaRef ds:uri="http://www.w3.org/XML/1998/namespace"/>
    <ds:schemaRef ds:uri="http://purl.org/dc/elements/1.1/"/>
    <ds:schemaRef ds:uri="http://schemas.microsoft.com/office/2006/metadata/properties"/>
    <ds:schemaRef ds:uri="http://purl.org/dc/dcmitype/"/>
    <ds:schemaRef ds:uri="http://schemas.microsoft.com/office/2006/documentManagement/types"/>
    <ds:schemaRef ds:uri="http://schemas.microsoft.com/sharepoint/v3"/>
    <ds:schemaRef ds:uri="f7c12939-211d-4aac-95d7-b8d38b675650"/>
    <ds:schemaRef ds:uri="http://schemas.openxmlformats.org/package/2006/metadata/core-properties"/>
    <ds:schemaRef ds:uri="http://purl.org/dc/terms/"/>
    <ds:schemaRef ds:uri="http://schemas.microsoft.com/office/infopath/2007/PartnerControls"/>
    <ds:schemaRef ds:uri="e9089a15-9498-4149-a6f3-b4bc8e4d21ac"/>
  </ds:schemaRefs>
</ds:datastoreItem>
</file>

<file path=docMetadata/LabelInfo.xml><?xml version="1.0" encoding="utf-8"?>
<clbl:labelList xmlns:clbl="http://schemas.microsoft.com/office/2020/mipLabelMetadata">
  <clbl:label id="{c5f3e595-28df-4b6d-866e-5db0c24f0139}" enabled="1" method="Standard" siteId="{aa3bd2bf-9c6e-4f49-9c4f-44f878ae9e74}" removed="0"/>
</clbl:labelList>
</file>

<file path=docProps/app.xml><?xml version="1.0" encoding="utf-8"?>
<Properties xmlns="http://schemas.openxmlformats.org/officeDocument/2006/extended-properties" xmlns:vt="http://schemas.openxmlformats.org/officeDocument/2006/docPropsVTypes">
  <TotalTime>28</TotalTime>
  <Words>1672</Words>
  <Application>Microsoft Macintosh PowerPoint</Application>
  <PresentationFormat>Widescreen</PresentationFormat>
  <Paragraphs>262</Paragraphs>
  <Slides>19</Slides>
  <Notes>19</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Brisken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Brisken</dc:creator>
  <cp:lastModifiedBy>Dirk Neumann</cp:lastModifiedBy>
  <cp:revision>2</cp:revision>
  <dcterms:created xsi:type="dcterms:W3CDTF">2026-07-09T00:26:58Z</dcterms:created>
  <dcterms:modified xsi:type="dcterms:W3CDTF">2026-07-09T23:31:37Z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0x0101002E36004C6954FC41BFA5A9934AAC0872</vt:lpwstr>
  </property>
</Properties>
</file>