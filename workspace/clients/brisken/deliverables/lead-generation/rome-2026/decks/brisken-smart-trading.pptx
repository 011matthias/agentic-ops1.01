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
  </p:notesMasterIdLst>
  <p:sldIdLst>
    <p:sldId id="256" r:id="rId5"/>
    <p:sldId id="276" r:id="rId6"/>
    <p:sldId id="280" r:id="rId7"/>
    <p:sldId id="259" r:id="rId8"/>
    <p:sldId id="275" r:id="rId9"/>
    <p:sldId id="279" r:id="rId10"/>
    <p:sldId id="262" r:id="rId11"/>
    <p:sldId id="267" r:id="rId12"/>
    <p:sldId id="264" r:id="rId13"/>
    <p:sldId id="282" r:id="rId14"/>
    <p:sldId id="265"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2B239C-E8F4-9E4F-AEAD-3A53845C7CD8}" v="5" dt="2026-07-09T11:40:56.0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301"/>
  </p:normalViewPr>
  <p:slideViewPr>
    <p:cSldViewPr snapToGrid="0" snapToObjects="1">
      <p:cViewPr varScale="1">
        <p:scale>
          <a:sx n="123" d="100"/>
          <a:sy n="123" d="100"/>
        </p:scale>
        <p:origin x="6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rk Neumann" userId="3f083bcb-a186-44d0-81a0-918c73b145d9" providerId="ADAL" clId="{C1336F6D-DB6E-5C4A-B60A-95CF733899A6}"/>
    <pc:docChg chg="modSld">
      <pc:chgData name="Dirk Neumann" userId="3f083bcb-a186-44d0-81a0-918c73b145d9" providerId="ADAL" clId="{C1336F6D-DB6E-5C4A-B60A-95CF733899A6}" dt="2026-07-09T11:55:50.012" v="3" actId="20577"/>
      <pc:docMkLst>
        <pc:docMk/>
      </pc:docMkLst>
      <pc:sldChg chg="modSp mod">
        <pc:chgData name="Dirk Neumann" userId="3f083bcb-a186-44d0-81a0-918c73b145d9" providerId="ADAL" clId="{C1336F6D-DB6E-5C4A-B60A-95CF733899A6}" dt="2026-07-09T11:55:50.012" v="3" actId="20577"/>
        <pc:sldMkLst>
          <pc:docMk/>
          <pc:sldMk cId="302320163" sldId="282"/>
        </pc:sldMkLst>
        <pc:spChg chg="mod">
          <ac:chgData name="Dirk Neumann" userId="3f083bcb-a186-44d0-81a0-918c73b145d9" providerId="ADAL" clId="{C1336F6D-DB6E-5C4A-B60A-95CF733899A6}" dt="2026-07-09T11:55:50.012" v="3" actId="20577"/>
          <ac:spMkLst>
            <pc:docMk/>
            <pc:sldMk cId="302320163" sldId="282"/>
            <ac:spMk id="57" creationId="{92CDD0B3-4F77-79A5-2293-94A835E4B12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565591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Sources — figures on this slide:</a:t>
            </a:r>
          </a:p>
          <a:p>
            <a:r>
              <a:rPr lang="en-US" dirty="0"/>
              <a:t>Manual FX trade execution: 10–15 min per trade (midpoint ~12 min) — The Association of Corporate Treasurers</a:t>
            </a:r>
          </a:p>
          <a:p>
            <a:r>
              <a:rPr lang="en-US" dirty="0"/>
              <a:t>https://www.treasurers.org/hub/treasurer-magazine/what-effect-will-automation-have-fx-trading</a:t>
            </a:r>
          </a:p>
          <a:p>
            <a:r>
              <a:rPr lang="en-US" dirty="0"/>
              <a:t>Spot FX automation now ~90% (forwards 50–60%) — LSEG</a:t>
            </a:r>
          </a:p>
          <a:p>
            <a:r>
              <a:rPr lang="en-US" dirty="0"/>
              <a:t>https://www.lseg.com/en/insights/workflow-automation-streamlining-the-entire-fx-trade-lifecycle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FCE2C-7D38-F9DB-0D17-51AD5D5A9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17935-805A-0837-73E5-724A677A05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260C70-BCEB-BE93-C4D0-0E9AFDE26C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E5A407-3427-2BCE-67C0-3AD6D1B77A7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2970849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svg"/><Relationship Id="rId4" Type="http://schemas.openxmlformats.org/officeDocument/2006/relationships/image" Target="../media/image10.svg"/><Relationship Id="rId5" Type="http://schemas.openxmlformats.org/officeDocument/2006/relationships/image" Target="../media/image11.svg"/><Relationship Id="rId6" Type="http://schemas.openxmlformats.org/officeDocument/2006/relationships/image" Target="../media/image12.svg"/><Relationship Id="rId7" Type="http://schemas.openxmlformats.org/officeDocument/2006/relationships/image" Target="../media/image13.svg"/><Relationship Id="rId8" Type="http://schemas.openxmlformats.org/officeDocument/2006/relationships/image" Target="../media/image14.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 Id="rId11" Type="http://schemas.openxmlformats.org/officeDocument/2006/relationships/image" Target="../media/image32.png"/><Relationship Id="rId12"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hyperlink" Target="mailto:dirk.neumann@brisken.com?subject=Meeting%20request%3A%20Smart%20Trading&amp;body=Hi%20Dirk%2C%0D%0A%0D%0AI%27d%20like%20to%20book%2020%20minutes%20to%20see%20how%20Smart%20Trading%20gets%20our%20trades%20into%20SAP%20automatically.%0D%0A%0D%0ABest%20regards%2C"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6949440" y="-1097280"/>
            <a:ext cx="6035040" cy="6035040"/>
          </a:xfrm>
          <a:prstGeom prst="ellipse">
            <a:avLst/>
          </a:prstGeom>
          <a:solidFill>
            <a:srgbClr val="3BE3E0">
              <a:alpha val="7000"/>
            </a:srgbClr>
          </a:solidFill>
          <a:ln w="12700">
            <a:solidFill>
              <a:srgbClr val="333333"/>
            </a:solidFill>
            <a:prstDash val="solid"/>
          </a:ln>
        </p:spPr>
        <p:txBody>
          <a:bodyPr/>
          <a:lstStyle/>
          <a:p>
            <a:endParaRPr lang="en-US"/>
          </a:p>
        </p:txBody>
      </p:sp>
      <p:sp>
        <p:nvSpPr>
          <p:cNvPr id="3" name="Shape 1"/>
          <p:cNvSpPr/>
          <p:nvPr/>
        </p:nvSpPr>
        <p:spPr>
          <a:xfrm>
            <a:off x="8321040" y="274320"/>
            <a:ext cx="3291840" cy="3291840"/>
          </a:xfrm>
          <a:prstGeom prst="ellipse">
            <a:avLst/>
          </a:prstGeom>
          <a:solidFill>
            <a:srgbClr val="3BE3E0">
              <a:alpha val="12000"/>
            </a:srgbClr>
          </a:solidFill>
          <a:ln w="12700">
            <a:solidFill>
              <a:srgbClr val="333333"/>
            </a:solidFill>
            <a:prstDash val="solid"/>
          </a:ln>
        </p:spPr>
        <p:txBody>
          <a:bodyPr/>
          <a:lstStyle/>
          <a:p>
            <a:endParaRPr lang="en-US"/>
          </a:p>
        </p:txBody>
      </p:sp>
      <p:sp>
        <p:nvSpPr>
          <p:cNvPr id="4" name="Shape 2"/>
          <p:cNvSpPr/>
          <p:nvPr/>
        </p:nvSpPr>
        <p:spPr>
          <a:xfrm>
            <a:off x="-1737360" y="3017520"/>
            <a:ext cx="6035040" cy="6035040"/>
          </a:xfrm>
          <a:prstGeom prst="ellipse">
            <a:avLst/>
          </a:prstGeom>
          <a:solidFill>
            <a:srgbClr val="5A6BFF">
              <a:alpha val="7000"/>
            </a:srgbClr>
          </a:solidFill>
          <a:ln w="12700">
            <a:solidFill>
              <a:srgbClr val="333333"/>
            </a:solidFill>
            <a:prstDash val="solid"/>
          </a:ln>
        </p:spPr>
        <p:txBody>
          <a:bodyPr/>
          <a:lstStyle/>
          <a:p>
            <a:endParaRPr lang="en-US"/>
          </a:p>
        </p:txBody>
      </p:sp>
      <p:sp>
        <p:nvSpPr>
          <p:cNvPr id="5" name="Shape 3"/>
          <p:cNvSpPr/>
          <p:nvPr/>
        </p:nvSpPr>
        <p:spPr>
          <a:xfrm>
            <a:off x="-365760" y="4389120"/>
            <a:ext cx="3291840" cy="3291840"/>
          </a:xfrm>
          <a:prstGeom prst="ellipse">
            <a:avLst/>
          </a:prstGeom>
          <a:solidFill>
            <a:srgbClr val="5A6BFF">
              <a:alpha val="12000"/>
            </a:srgbClr>
          </a:solidFill>
          <a:ln w="12700">
            <a:solidFill>
              <a:srgbClr val="333333"/>
            </a:solidFill>
            <a:prstDash val="solid"/>
          </a:ln>
        </p:spPr>
        <p:txBody>
          <a:bodyPr/>
          <a:lstStyle/>
          <a:p>
            <a:endParaRPr lang="en-US"/>
          </a:p>
        </p:txBody>
      </p:sp>
      <p:pic>
        <p:nvPicPr>
          <p:cNvPr id="6" name="Image 0" descr="C:/Users/neuma_p1qrsic/Repo/agentic-ops1/.scratch/brisken-logo-light.png"/>
          <p:cNvPicPr>
            <a:picLocks noChangeAspect="1"/>
          </p:cNvPicPr>
          <p:nvPr/>
        </p:nvPicPr>
        <p:blipFill>
          <a:blip r:embed="rId3"/>
          <a:stretch>
            <a:fillRect/>
          </a:stretch>
        </p:blipFill>
        <p:spPr>
          <a:xfrm>
            <a:off x="566928" y="548640"/>
            <a:ext cx="1417320" cy="310896"/>
          </a:xfrm>
          <a:prstGeom prst="rect">
            <a:avLst/>
          </a:prstGeom>
        </p:spPr>
      </p:pic>
      <p:sp>
        <p:nvSpPr>
          <p:cNvPr id="7" name="Shape 4"/>
          <p:cNvSpPr/>
          <p:nvPr/>
        </p:nvSpPr>
        <p:spPr>
          <a:xfrm>
            <a:off x="566928" y="2624328"/>
            <a:ext cx="45720" cy="219456"/>
          </a:xfrm>
          <a:prstGeom prst="rect">
            <a:avLst/>
          </a:prstGeom>
          <a:solidFill>
            <a:srgbClr val="3BE3E0"/>
          </a:solidFill>
          <a:ln w="12700">
            <a:solidFill>
              <a:srgbClr val="333333"/>
            </a:solidFill>
            <a:prstDash val="solid"/>
          </a:ln>
        </p:spPr>
        <p:txBody>
          <a:bodyPr/>
          <a:lstStyle/>
          <a:p>
            <a:endParaRPr lang="en-US"/>
          </a:p>
        </p:txBody>
      </p:sp>
      <p:sp>
        <p:nvSpPr>
          <p:cNvPr id="8" name="Text 5"/>
          <p:cNvSpPr/>
          <p:nvPr/>
        </p:nvSpPr>
        <p:spPr>
          <a:xfrm>
            <a:off x="713232" y="2551176"/>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ONEPILOT · SMART TRADING</a:t>
            </a:r>
            <a:endParaRPr lang="en-US" sz="1200" dirty="0"/>
          </a:p>
        </p:txBody>
      </p:sp>
      <p:sp>
        <p:nvSpPr>
          <p:cNvPr id="9" name="Text 6"/>
          <p:cNvSpPr/>
          <p:nvPr/>
        </p:nvSpPr>
        <p:spPr>
          <a:xfrm>
            <a:off x="539496" y="2880360"/>
            <a:ext cx="10515600" cy="1371600"/>
          </a:xfrm>
          <a:prstGeom prst="rect">
            <a:avLst/>
          </a:prstGeom>
          <a:noFill/>
          <a:ln/>
        </p:spPr>
        <p:txBody>
          <a:bodyPr wrap="square" rtlCol="0" anchor="ctr"/>
          <a:lstStyle/>
          <a:p>
            <a:pPr marL="0" indent="0">
              <a:buNone/>
            </a:pPr>
            <a:r>
              <a:rPr lang="en-US" sz="7600" b="1" dirty="0">
                <a:solidFill>
                  <a:srgbClr val="F3F6FB"/>
                </a:solidFill>
                <a:latin typeface="Segoe UI Semibold" pitchFamily="34" charset="0"/>
                <a:ea typeface="Segoe UI Semibold" pitchFamily="34" charset="-122"/>
                <a:cs typeface="Segoe UI Semibold" pitchFamily="34" charset="-120"/>
              </a:rPr>
              <a:t>Smart Trading</a:t>
            </a:r>
            <a:endParaRPr lang="en-US" sz="7600" dirty="0"/>
          </a:p>
        </p:txBody>
      </p:sp>
      <p:sp>
        <p:nvSpPr>
          <p:cNvPr id="10" name="Text 7"/>
          <p:cNvSpPr/>
          <p:nvPr/>
        </p:nvSpPr>
        <p:spPr>
          <a:xfrm>
            <a:off x="566928" y="4206240"/>
            <a:ext cx="9966960" cy="822960"/>
          </a:xfrm>
          <a:prstGeom prst="rect">
            <a:avLst/>
          </a:prstGeom>
          <a:noFill/>
          <a:ln/>
        </p:spPr>
        <p:txBody>
          <a:bodyPr wrap="square" rtlCol="0" anchor="t"/>
          <a:lstStyle/>
          <a:p>
            <a:pPr marL="0" indent="0">
              <a:lnSpc>
                <a:spcPct val="115000"/>
              </a:lnSpc>
              <a:buNone/>
            </a:pPr>
            <a:r>
              <a:rPr lang="en-US" sz="2000" dirty="0">
                <a:solidFill>
                  <a:srgbClr val="AAB6C7"/>
                </a:solidFill>
                <a:latin typeface="Segoe UI" pitchFamily="34" charset="0"/>
                <a:ea typeface="Segoe UI" pitchFamily="34" charset="-122"/>
                <a:cs typeface="Segoe UI" pitchFamily="34" charset="-120"/>
              </a:rPr>
              <a:t>Every trade, from the decision to the booked deal in SAP. </a:t>
            </a:r>
            <a:r>
              <a:rPr lang="en-US" sz="2000" dirty="0">
                <a:solidFill>
                  <a:srgbClr val="3BE3E0"/>
                </a:solidFill>
                <a:latin typeface="Segoe UI" pitchFamily="34" charset="0"/>
                <a:ea typeface="Segoe UI" pitchFamily="34" charset="-122"/>
                <a:cs typeface="Segoe UI" pitchFamily="34" charset="-120"/>
              </a:rPr>
              <a:t>Automated, on your own system, nothing to rebuild.</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THE PROBLEM</a:t>
            </a:r>
            <a:endParaRPr lang="en-US" sz="1200" dirty="0"/>
          </a:p>
        </p:txBody>
      </p:sp>
      <p:sp>
        <p:nvSpPr>
          <p:cNvPr id="4" name="Text 2"/>
          <p:cNvSpPr/>
          <p:nvPr/>
        </p:nvSpPr>
        <p:spPr>
          <a:xfrm>
            <a:off x="566928" y="960120"/>
            <a:ext cx="10881360" cy="1463040"/>
          </a:xfrm>
          <a:prstGeom prst="rect">
            <a:avLst/>
          </a:prstGeom>
          <a:noFill/>
          <a:ln/>
        </p:spPr>
        <p:txBody>
          <a:bodyPr wrap="square" rtlCol="0" anchor="ctr"/>
          <a:lstStyle/>
          <a:p>
            <a:pPr marL="0" indent="0">
              <a:lnSpc>
                <a:spcPct val="105000"/>
              </a:lnSpc>
              <a:buNone/>
            </a:pPr>
            <a:r>
              <a:rPr lang="en-US" sz="3300" b="1" dirty="0">
                <a:solidFill>
                  <a:srgbClr val="F3F6FB"/>
                </a:solidFill>
                <a:latin typeface="Segoe UI Semibold" pitchFamily="34" charset="0"/>
                <a:ea typeface="Segoe UI Semibold" pitchFamily="34" charset="-122"/>
                <a:cs typeface="Segoe UI Semibold" pitchFamily="34" charset="-120"/>
              </a:rPr>
              <a:t>You trade. You book in SAP.
</a:t>
            </a:r>
            <a:r>
              <a:rPr lang="en-US" sz="3300" b="1" dirty="0">
                <a:solidFill>
                  <a:srgbClr val="3BE3E0"/>
                </a:solidFill>
                <a:latin typeface="Segoe UI Semibold" pitchFamily="34" charset="0"/>
                <a:ea typeface="Segoe UI Semibold" pitchFamily="34" charset="-122"/>
                <a:cs typeface="Segoe UI Semibold" pitchFamily="34" charset="-120"/>
              </a:rPr>
              <a:t>Today a person joins the two by hand.</a:t>
            </a:r>
            <a:endParaRPr lang="en-US" sz="3300" dirty="0"/>
          </a:p>
        </p:txBody>
      </p:sp>
      <p:sp>
        <p:nvSpPr>
          <p:cNvPr id="5" name="Shape 3"/>
          <p:cNvSpPr/>
          <p:nvPr/>
        </p:nvSpPr>
        <p:spPr>
          <a:xfrm>
            <a:off x="566928" y="3246120"/>
            <a:ext cx="3246120" cy="1874520"/>
          </a:xfrm>
          <a:prstGeom prst="roundRect">
            <a:avLst>
              <a:gd name="adj" fmla="val 4390"/>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41248" y="3566160"/>
            <a:ext cx="603504" cy="603504"/>
          </a:xfrm>
          <a:prstGeom prst="roundRect">
            <a:avLst>
              <a:gd name="adj" fmla="val 16667"/>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venue.png"/>
          <p:cNvPicPr>
            <a:picLocks noChangeAspect="1"/>
          </p:cNvPicPr>
          <p:nvPr/>
        </p:nvPicPr>
        <p:blipFill>
          <a:blip r:embed="rId3"/>
          <a:stretch>
            <a:fillRect/>
          </a:stretch>
        </p:blipFill>
        <p:spPr>
          <a:xfrm>
            <a:off x="986089" y="3711001"/>
            <a:ext cx="313822" cy="313822"/>
          </a:xfrm>
          <a:prstGeom prst="rect">
            <a:avLst/>
          </a:prstGeom>
        </p:spPr>
      </p:pic>
      <p:sp>
        <p:nvSpPr>
          <p:cNvPr id="8" name="Text 5"/>
          <p:cNvSpPr/>
          <p:nvPr/>
        </p:nvSpPr>
        <p:spPr>
          <a:xfrm>
            <a:off x="841248" y="4343400"/>
            <a:ext cx="2697480" cy="365760"/>
          </a:xfrm>
          <a:prstGeom prst="rect">
            <a:avLst/>
          </a:prstGeom>
          <a:noFill/>
          <a:ln/>
        </p:spPr>
        <p:txBody>
          <a:bodyPr wrap="square" rtlCol="0" anchor="ctr"/>
          <a:lstStyle/>
          <a:p>
            <a:pPr marL="0" indent="0">
              <a:buNone/>
            </a:pPr>
            <a:r>
              <a:rPr lang="en-US" sz="1500" b="1" dirty="0">
                <a:solidFill>
                  <a:srgbClr val="F3F6FB"/>
                </a:solidFill>
                <a:latin typeface="Segoe UI Semibold" pitchFamily="34" charset="0"/>
                <a:ea typeface="Segoe UI Semibold" pitchFamily="34" charset="-122"/>
                <a:cs typeface="Segoe UI Semibold" pitchFamily="34" charset="-120"/>
              </a:rPr>
              <a:t>Your trading venues</a:t>
            </a:r>
            <a:endParaRPr lang="en-US" sz="1500" dirty="0"/>
          </a:p>
        </p:txBody>
      </p:sp>
      <p:sp>
        <p:nvSpPr>
          <p:cNvPr id="9" name="Text 6"/>
          <p:cNvSpPr/>
          <p:nvPr/>
        </p:nvSpPr>
        <p:spPr>
          <a:xfrm>
            <a:off x="841248" y="4663440"/>
            <a:ext cx="2697480" cy="457200"/>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360T, FXall, Bloomberg, Citi Pulse, BidFX</a:t>
            </a:r>
            <a:endParaRPr lang="en-US" sz="1200" dirty="0"/>
          </a:p>
        </p:txBody>
      </p:sp>
      <p:sp>
        <p:nvSpPr>
          <p:cNvPr id="10" name="Shape 7"/>
          <p:cNvSpPr/>
          <p:nvPr/>
        </p:nvSpPr>
        <p:spPr>
          <a:xfrm>
            <a:off x="4270248" y="3246120"/>
            <a:ext cx="3657600" cy="1874520"/>
          </a:xfrm>
          <a:prstGeom prst="roundRect">
            <a:avLst>
              <a:gd name="adj" fmla="val 4390"/>
            </a:avLst>
          </a:prstGeom>
          <a:solidFill>
            <a:srgbClr val="24190E"/>
          </a:solidFill>
          <a:ln w="17780">
            <a:solidFill>
              <a:srgbClr val="FFC96B"/>
            </a:solidFill>
            <a:prstDash val="dash"/>
          </a:ln>
        </p:spPr>
        <p:txBody>
          <a:bodyPr/>
          <a:lstStyle/>
          <a:p>
            <a:endParaRPr lang="en-US"/>
          </a:p>
        </p:txBody>
      </p:sp>
      <p:pic>
        <p:nvPicPr>
          <p:cNvPr id="11" name="Image 1" descr="C:/Users/neuma_p1qrsic/Repo/agentic-ops1/.scratch/icons/gap.png"/>
          <p:cNvPicPr>
            <a:picLocks noChangeAspect="1"/>
          </p:cNvPicPr>
          <p:nvPr/>
        </p:nvPicPr>
        <p:blipFill>
          <a:blip r:embed="rId4"/>
          <a:stretch>
            <a:fillRect/>
          </a:stretch>
        </p:blipFill>
        <p:spPr>
          <a:xfrm>
            <a:off x="5797296" y="3538728"/>
            <a:ext cx="603504" cy="603504"/>
          </a:xfrm>
          <a:prstGeom prst="rect">
            <a:avLst/>
          </a:prstGeom>
        </p:spPr>
      </p:pic>
      <p:sp>
        <p:nvSpPr>
          <p:cNvPr id="12" name="Text 8"/>
          <p:cNvSpPr/>
          <p:nvPr/>
        </p:nvSpPr>
        <p:spPr>
          <a:xfrm>
            <a:off x="4270248" y="4270248"/>
            <a:ext cx="3657600" cy="365760"/>
          </a:xfrm>
          <a:prstGeom prst="rect">
            <a:avLst/>
          </a:prstGeom>
          <a:noFill/>
          <a:ln/>
        </p:spPr>
        <p:txBody>
          <a:bodyPr wrap="square" rtlCol="0" anchor="ctr"/>
          <a:lstStyle/>
          <a:p>
            <a:pPr marL="0" indent="0" algn="ctr">
              <a:buNone/>
            </a:pPr>
            <a:r>
              <a:rPr lang="en-US" sz="1500" b="1" dirty="0">
                <a:solidFill>
                  <a:srgbClr val="FFC96B"/>
                </a:solidFill>
                <a:latin typeface="Segoe UI Semibold" pitchFamily="34" charset="0"/>
                <a:ea typeface="Segoe UI Semibold" pitchFamily="34" charset="-122"/>
                <a:cs typeface="Segoe UI Semibold" pitchFamily="34" charset="-120"/>
              </a:rPr>
              <a:t>The manual middle</a:t>
            </a:r>
            <a:endParaRPr lang="en-US" sz="1500" dirty="0"/>
          </a:p>
        </p:txBody>
      </p:sp>
      <p:sp>
        <p:nvSpPr>
          <p:cNvPr id="13" name="Text 9"/>
          <p:cNvSpPr/>
          <p:nvPr/>
        </p:nvSpPr>
        <p:spPr>
          <a:xfrm>
            <a:off x="4590288" y="4617720"/>
            <a:ext cx="3017520" cy="457200"/>
          </a:xfrm>
          <a:prstGeom prst="rect">
            <a:avLst/>
          </a:prstGeom>
          <a:noFill/>
          <a:ln/>
        </p:spPr>
        <p:txBody>
          <a:bodyPr wrap="square" rtlCol="0" anchor="ctr"/>
          <a:lstStyle/>
          <a:p>
            <a:pPr marL="0" indent="0" algn="ctr">
              <a:lnSpc>
                <a:spcPct val="105000"/>
              </a:lnSpc>
              <a:buNone/>
            </a:pPr>
            <a:r>
              <a:rPr lang="en-US" sz="1200" dirty="0">
                <a:solidFill>
                  <a:srgbClr val="F3F6FB"/>
                </a:solidFill>
                <a:latin typeface="Segoe UI" pitchFamily="34" charset="0"/>
                <a:ea typeface="Segoe UI" pitchFamily="34" charset="-122"/>
                <a:cs typeface="Segoe UI" pitchFamily="34" charset="-120"/>
              </a:rPr>
              <a:t>re-keying tickets, chasing approvals, building deal entries by hand</a:t>
            </a:r>
            <a:endParaRPr lang="en-US" sz="1200" dirty="0"/>
          </a:p>
        </p:txBody>
      </p:sp>
      <p:sp>
        <p:nvSpPr>
          <p:cNvPr id="14" name="Shape 10"/>
          <p:cNvSpPr/>
          <p:nvPr/>
        </p:nvSpPr>
        <p:spPr>
          <a:xfrm>
            <a:off x="8385048" y="3246120"/>
            <a:ext cx="3239719" cy="1874520"/>
          </a:xfrm>
          <a:prstGeom prst="roundRect">
            <a:avLst>
              <a:gd name="adj" fmla="val 4390"/>
            </a:avLst>
          </a:prstGeom>
          <a:solidFill>
            <a:srgbClr val="141A25"/>
          </a:solidFill>
          <a:ln w="13970">
            <a:solidFill>
              <a:srgbClr val="36414F"/>
            </a:solidFill>
            <a:prstDash val="solid"/>
          </a:ln>
        </p:spPr>
        <p:txBody>
          <a:bodyPr/>
          <a:lstStyle/>
          <a:p>
            <a:endParaRPr lang="en-US"/>
          </a:p>
        </p:txBody>
      </p:sp>
      <p:sp>
        <p:nvSpPr>
          <p:cNvPr id="15" name="Shape 11"/>
          <p:cNvSpPr/>
          <p:nvPr/>
        </p:nvSpPr>
        <p:spPr>
          <a:xfrm>
            <a:off x="8659368" y="3566160"/>
            <a:ext cx="603504" cy="603504"/>
          </a:xfrm>
          <a:prstGeom prst="roundRect">
            <a:avLst>
              <a:gd name="adj" fmla="val 16667"/>
            </a:avLst>
          </a:prstGeom>
          <a:solidFill>
            <a:srgbClr val="1B2330"/>
          </a:solidFill>
          <a:ln w="15240">
            <a:solidFill>
              <a:srgbClr val="3BE3E0"/>
            </a:solidFill>
            <a:prstDash val="solid"/>
          </a:ln>
        </p:spPr>
        <p:txBody>
          <a:bodyPr/>
          <a:lstStyle/>
          <a:p>
            <a:endParaRPr lang="en-US"/>
          </a:p>
        </p:txBody>
      </p:sp>
      <p:pic>
        <p:nvPicPr>
          <p:cNvPr id="16" name="Image 2" descr="C:/Users/neuma_p1qrsic/Repo/agentic-ops1/.scratch/icons/database.png"/>
          <p:cNvPicPr>
            <a:picLocks noChangeAspect="1"/>
          </p:cNvPicPr>
          <p:nvPr/>
        </p:nvPicPr>
        <p:blipFill>
          <a:blip r:embed="rId5"/>
          <a:stretch>
            <a:fillRect/>
          </a:stretch>
        </p:blipFill>
        <p:spPr>
          <a:xfrm>
            <a:off x="8804209" y="3711001"/>
            <a:ext cx="313822" cy="313822"/>
          </a:xfrm>
          <a:prstGeom prst="rect">
            <a:avLst/>
          </a:prstGeom>
        </p:spPr>
      </p:pic>
      <p:sp>
        <p:nvSpPr>
          <p:cNvPr id="17" name="Text 12"/>
          <p:cNvSpPr/>
          <p:nvPr/>
        </p:nvSpPr>
        <p:spPr>
          <a:xfrm>
            <a:off x="8659368" y="4343400"/>
            <a:ext cx="2691079" cy="365760"/>
          </a:xfrm>
          <a:prstGeom prst="rect">
            <a:avLst/>
          </a:prstGeom>
          <a:noFill/>
          <a:ln/>
        </p:spPr>
        <p:txBody>
          <a:bodyPr wrap="square" rtlCol="0" anchor="ctr"/>
          <a:lstStyle/>
          <a:p>
            <a:pPr marL="0" indent="0">
              <a:buNone/>
            </a:pPr>
            <a:r>
              <a:rPr lang="en-US" sz="1500" b="1" dirty="0">
                <a:solidFill>
                  <a:srgbClr val="F3F6FB"/>
                </a:solidFill>
                <a:latin typeface="Segoe UI Semibold" pitchFamily="34" charset="0"/>
                <a:ea typeface="Segoe UI Semibold" pitchFamily="34" charset="-122"/>
                <a:cs typeface="Segoe UI Semibold" pitchFamily="34" charset="-120"/>
              </a:rPr>
              <a:t>Booked in SAP</a:t>
            </a:r>
            <a:endParaRPr lang="en-US" sz="1500" dirty="0"/>
          </a:p>
        </p:txBody>
      </p:sp>
      <p:sp>
        <p:nvSpPr>
          <p:cNvPr id="18" name="Text 13"/>
          <p:cNvSpPr/>
          <p:nvPr/>
        </p:nvSpPr>
        <p:spPr>
          <a:xfrm>
            <a:off x="8659368" y="4663440"/>
            <a:ext cx="2691079" cy="457200"/>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Treasury, accounting, analytics</a:t>
            </a:r>
            <a:endParaRPr lang="en-US" sz="1200" dirty="0"/>
          </a:p>
        </p:txBody>
      </p:sp>
      <p:sp>
        <p:nvSpPr>
          <p:cNvPr id="19" name="Shape 14"/>
          <p:cNvSpPr/>
          <p:nvPr/>
        </p:nvSpPr>
        <p:spPr>
          <a:xfrm>
            <a:off x="3813048" y="4183380"/>
            <a:ext cx="457200" cy="0"/>
          </a:xfrm>
          <a:prstGeom prst="line">
            <a:avLst/>
          </a:prstGeom>
          <a:noFill/>
          <a:ln w="25400">
            <a:solidFill>
              <a:srgbClr val="FFC96B"/>
            </a:solidFill>
            <a:prstDash val="solid"/>
            <a:tailEnd type="triangle"/>
          </a:ln>
        </p:spPr>
        <p:txBody>
          <a:bodyPr/>
          <a:lstStyle/>
          <a:p>
            <a:endParaRPr lang="en-US"/>
          </a:p>
        </p:txBody>
      </p:sp>
      <p:sp>
        <p:nvSpPr>
          <p:cNvPr id="20" name="Shape 15"/>
          <p:cNvSpPr/>
          <p:nvPr/>
        </p:nvSpPr>
        <p:spPr>
          <a:xfrm>
            <a:off x="7927848" y="4183380"/>
            <a:ext cx="457200" cy="0"/>
          </a:xfrm>
          <a:prstGeom prst="line">
            <a:avLst/>
          </a:prstGeom>
          <a:noFill/>
          <a:ln w="25400">
            <a:solidFill>
              <a:srgbClr val="FFC96B"/>
            </a:solidFill>
            <a:prstDash val="solid"/>
            <a:tailEnd type="triangle"/>
          </a:ln>
        </p:spPr>
        <p:txBody>
          <a:bodyPr/>
          <a:lstStyle/>
          <a:p>
            <a:endParaRPr lang="en-US"/>
          </a:p>
        </p:txBody>
      </p:sp>
      <p:sp>
        <p:nvSpPr>
          <p:cNvPr id="21" name="Text 16"/>
          <p:cNvSpPr/>
          <p:nvPr/>
        </p:nvSpPr>
        <p:spPr>
          <a:xfrm>
            <a:off x="566928" y="5532120"/>
            <a:ext cx="11057839" cy="457200"/>
          </a:xfrm>
          <a:prstGeom prst="rect">
            <a:avLst/>
          </a:prstGeom>
          <a:noFill/>
          <a:ln/>
        </p:spPr>
        <p:txBody>
          <a:bodyPr wrap="square" rtlCol="0" anchor="ctr"/>
          <a:lstStyle/>
          <a:p>
            <a:pPr marL="0" indent="0">
              <a:buNone/>
            </a:pPr>
            <a:r>
              <a:rPr lang="en-US" sz="1600" b="1" dirty="0">
                <a:solidFill>
                  <a:srgbClr val="FFC96B"/>
                </a:solidFill>
                <a:latin typeface="Segoe UI Semibold" pitchFamily="34" charset="0"/>
                <a:ea typeface="Segoe UI Semibold" pitchFamily="34" charset="-122"/>
                <a:cs typeface="Segoe UI Semibold" pitchFamily="34" charset="-120"/>
              </a:rPr>
              <a:t>Sound familiar? Tickets re-keyed by hand, approvals chased through inboxes, and a trade that isn’t done until someone books it.</a:t>
            </a:r>
            <a:endParaRPr lang="en-US" sz="1600" dirty="0"/>
          </a:p>
        </p:txBody>
      </p:sp>
      <p:sp>
        <p:nvSpPr>
          <p:cNvPr id="22" name="Text 1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23" name="Text 1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02 / 10</a:t>
            </a:r>
            <a:endParaRPr lang="en-US" sz="900" dirty="0"/>
          </a:p>
        </p:txBody>
      </p:sp>
      <p:sp>
        <p:nvSpPr>
          <p:cNvPr id="24" name="Shape 19"/>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1354789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WHY IT FITS</a:t>
            </a:r>
            <a:endParaRPr lang="en-US" sz="1200" dirty="0"/>
          </a:p>
        </p:txBody>
      </p:sp>
      <p:sp>
        <p:nvSpPr>
          <p:cNvPr id="4" name="Text 2"/>
          <p:cNvSpPr/>
          <p:nvPr/>
        </p:nvSpPr>
        <p:spPr>
          <a:xfrm>
            <a:off x="566928" y="960120"/>
            <a:ext cx="1051560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It works with whatever you already run.</a:t>
            </a:r>
            <a:endParaRPr lang="en-US" sz="2900" dirty="0"/>
          </a:p>
        </p:txBody>
      </p:sp>
      <p:sp>
        <p:nvSpPr>
          <p:cNvPr id="5" name="Shape 3"/>
          <p:cNvSpPr/>
          <p:nvPr/>
        </p:nvSpPr>
        <p:spPr>
          <a:xfrm>
            <a:off x="566928" y="2103120"/>
            <a:ext cx="5346040" cy="3154680"/>
          </a:xfrm>
          <a:prstGeom prst="roundRect">
            <a:avLst>
              <a:gd name="adj" fmla="val 2609"/>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932688" y="2468880"/>
            <a:ext cx="749808" cy="749808"/>
          </a:xfrm>
          <a:prstGeom prst="roundRect">
            <a:avLst>
              <a:gd name="adj" fmla="val 13415"/>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link.png"/>
          <p:cNvPicPr>
            <a:picLocks noChangeAspect="1"/>
          </p:cNvPicPr>
          <p:nvPr/>
        </p:nvPicPr>
        <p:blipFill>
          <a:blip r:embed="rId3"/>
          <a:stretch>
            <a:fillRect/>
          </a:stretch>
        </p:blipFill>
        <p:spPr>
          <a:xfrm>
            <a:off x="1112642" y="2648834"/>
            <a:ext cx="389900" cy="389900"/>
          </a:xfrm>
          <a:prstGeom prst="rect">
            <a:avLst/>
          </a:prstGeom>
        </p:spPr>
      </p:pic>
      <p:sp>
        <p:nvSpPr>
          <p:cNvPr id="8" name="Text 5"/>
          <p:cNvSpPr/>
          <p:nvPr/>
        </p:nvSpPr>
        <p:spPr>
          <a:xfrm>
            <a:off x="1892808" y="2560320"/>
            <a:ext cx="3745840" cy="594360"/>
          </a:xfrm>
          <a:prstGeom prst="rect">
            <a:avLst/>
          </a:prstGeom>
          <a:noFill/>
          <a:ln/>
        </p:spPr>
        <p:txBody>
          <a:bodyPr wrap="square" rtlCol="0" anchor="ctr"/>
          <a:lstStyle/>
          <a:p>
            <a:pPr marL="0" indent="0">
              <a:buNone/>
            </a:pPr>
            <a:r>
              <a:rPr lang="en-US" sz="2200" b="1" dirty="0">
                <a:solidFill>
                  <a:srgbClr val="F3F6FB"/>
                </a:solidFill>
                <a:latin typeface="Segoe UI Semibold" pitchFamily="34" charset="0"/>
                <a:ea typeface="Segoe UI Semibold" pitchFamily="34" charset="-122"/>
                <a:cs typeface="Segoe UI Semibold" pitchFamily="34" charset="-120"/>
              </a:rPr>
              <a:t>Any venue, in</a:t>
            </a:r>
            <a:endParaRPr lang="en-US" sz="2200" dirty="0"/>
          </a:p>
        </p:txBody>
      </p:sp>
      <p:sp>
        <p:nvSpPr>
          <p:cNvPr id="9" name="Text 6"/>
          <p:cNvSpPr/>
          <p:nvPr/>
        </p:nvSpPr>
        <p:spPr>
          <a:xfrm>
            <a:off x="932688" y="3474720"/>
            <a:ext cx="4614520" cy="822960"/>
          </a:xfrm>
          <a:prstGeom prst="rect">
            <a:avLst/>
          </a:prstGeom>
          <a:noFill/>
          <a:ln/>
        </p:spPr>
        <p:txBody>
          <a:bodyPr wrap="square" rtlCol="0" anchor="t"/>
          <a:lstStyle/>
          <a:p>
            <a:pPr marL="0" indent="0">
              <a:lnSpc>
                <a:spcPct val="124000"/>
              </a:lnSpc>
              <a:buNone/>
            </a:pPr>
            <a:r>
              <a:rPr lang="en-US" sz="1350" dirty="0">
                <a:solidFill>
                  <a:srgbClr val="AAB6C7"/>
                </a:solidFill>
                <a:latin typeface="Segoe UI" pitchFamily="34" charset="0"/>
                <a:ea typeface="Segoe UI" pitchFamily="34" charset="-122"/>
                <a:cs typeface="Segoe UI" pitchFamily="34" charset="-120"/>
              </a:rPr>
              <a:t>Connect any trading platform or exchange, with nothing to swap out. FX, derivatives, investments, securities and OTC commodity swaps.</a:t>
            </a:r>
            <a:endParaRPr lang="en-US" sz="1350" dirty="0"/>
          </a:p>
        </p:txBody>
      </p:sp>
      <p:sp>
        <p:nvSpPr>
          <p:cNvPr id="10" name="Text 7"/>
          <p:cNvSpPr/>
          <p:nvPr/>
        </p:nvSpPr>
        <p:spPr>
          <a:xfrm>
            <a:off x="922680" y="4471416"/>
            <a:ext cx="4614520" cy="237744"/>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CONNECTS TO VENUES LIKE</a:t>
            </a:r>
            <a:endParaRPr lang="en-US" sz="1050" dirty="0"/>
          </a:p>
        </p:txBody>
      </p:sp>
      <p:sp>
        <p:nvSpPr>
          <p:cNvPr id="15" name="Text 10"/>
          <p:cNvSpPr/>
          <p:nvPr/>
        </p:nvSpPr>
        <p:spPr>
          <a:xfrm>
            <a:off x="927100" y="4724400"/>
            <a:ext cx="4610100" cy="508000"/>
          </a:xfrm>
          <a:prstGeom prst="rect">
            <a:avLst/>
          </a:prstGeom>
          <a:noFill/>
          <a:ln/>
        </p:spPr>
        <p:txBody>
          <a:bodyPr wrap="square" rtlCol="0" anchor="ctr"/>
          <a:lstStyle/>
          <a:p>
            <a:pPr marL="0" indent="0">
              <a:buNone/>
            </a:pPr>
            <a:r>
              <a:rPr lang="en-US" sz="1150" dirty="0">
                <a:solidFill>
                  <a:srgbClr val="AAB6C7"/>
                </a:solidFill>
                <a:latin typeface="Segoe UI" pitchFamily="34" charset="0"/>
                <a:ea typeface="Segoe UI" pitchFamily="34" charset="-122"/>
                <a:cs typeface="Segoe UI" pitchFamily="34" charset="-120"/>
              </a:rPr>
              <a:t>360T · FXall · Bloomberg FX GO · Citi Pulse · BidFX — and more.</a:t>
            </a:r>
            <a:endParaRPr lang="en-US" sz="1150" dirty="0"/>
          </a:p>
        </p:txBody>
      </p:sp>
      <p:sp>
        <p:nvSpPr>
          <p:cNvPr id="16" name="Shape 11"/>
          <p:cNvSpPr/>
          <p:nvPr/>
        </p:nvSpPr>
        <p:spPr>
          <a:xfrm>
            <a:off x="6278728" y="2103120"/>
            <a:ext cx="5346040" cy="3154680"/>
          </a:xfrm>
          <a:prstGeom prst="roundRect">
            <a:avLst>
              <a:gd name="adj" fmla="val 2609"/>
            </a:avLst>
          </a:prstGeom>
          <a:solidFill>
            <a:srgbClr val="141A25"/>
          </a:solidFill>
          <a:ln w="13970">
            <a:solidFill>
              <a:srgbClr val="36414F"/>
            </a:solidFill>
            <a:prstDash val="solid"/>
          </a:ln>
        </p:spPr>
        <p:txBody>
          <a:bodyPr/>
          <a:lstStyle/>
          <a:p>
            <a:endParaRPr lang="en-US"/>
          </a:p>
        </p:txBody>
      </p:sp>
      <p:sp>
        <p:nvSpPr>
          <p:cNvPr id="17" name="Shape 12"/>
          <p:cNvSpPr/>
          <p:nvPr/>
        </p:nvSpPr>
        <p:spPr>
          <a:xfrm>
            <a:off x="6644488" y="2468880"/>
            <a:ext cx="749808" cy="749808"/>
          </a:xfrm>
          <a:prstGeom prst="roundRect">
            <a:avLst>
              <a:gd name="adj" fmla="val 13415"/>
            </a:avLst>
          </a:prstGeom>
          <a:solidFill>
            <a:srgbClr val="1B2330"/>
          </a:solidFill>
          <a:ln w="15240">
            <a:solidFill>
              <a:srgbClr val="3BE3E0"/>
            </a:solidFill>
            <a:prstDash val="solid"/>
          </a:ln>
        </p:spPr>
        <p:txBody>
          <a:bodyPr/>
          <a:lstStyle/>
          <a:p>
            <a:endParaRPr lang="en-US"/>
          </a:p>
        </p:txBody>
      </p:sp>
      <p:pic>
        <p:nvPicPr>
          <p:cNvPr id="18" name="Image 3" descr="C:/Users/neuma_p1qrsic/Repo/agentic-ops1/.scratch/icons/database.png"/>
          <p:cNvPicPr>
            <a:picLocks noChangeAspect="1"/>
          </p:cNvPicPr>
          <p:nvPr/>
        </p:nvPicPr>
        <p:blipFill>
          <a:blip r:embed="rId4"/>
          <a:stretch>
            <a:fillRect/>
          </a:stretch>
        </p:blipFill>
        <p:spPr>
          <a:xfrm>
            <a:off x="6824442" y="2648834"/>
            <a:ext cx="389900" cy="389900"/>
          </a:xfrm>
          <a:prstGeom prst="rect">
            <a:avLst/>
          </a:prstGeom>
        </p:spPr>
      </p:pic>
      <p:sp>
        <p:nvSpPr>
          <p:cNvPr id="19" name="Text 13"/>
          <p:cNvSpPr/>
          <p:nvPr/>
        </p:nvSpPr>
        <p:spPr>
          <a:xfrm>
            <a:off x="7604608" y="2560320"/>
            <a:ext cx="3745840" cy="594360"/>
          </a:xfrm>
          <a:prstGeom prst="rect">
            <a:avLst/>
          </a:prstGeom>
          <a:noFill/>
          <a:ln/>
        </p:spPr>
        <p:txBody>
          <a:bodyPr wrap="square" rtlCol="0" anchor="ctr"/>
          <a:lstStyle/>
          <a:p>
            <a:pPr marL="0" indent="0">
              <a:buNone/>
            </a:pPr>
            <a:r>
              <a:rPr lang="en-US" sz="2200" b="1" dirty="0">
                <a:solidFill>
                  <a:srgbClr val="F3F6FB"/>
                </a:solidFill>
                <a:latin typeface="Segoe UI Semibold" pitchFamily="34" charset="0"/>
                <a:ea typeface="Segoe UI Semibold" pitchFamily="34" charset="-122"/>
                <a:cs typeface="Segoe UI Semibold" pitchFamily="34" charset="-120"/>
              </a:rPr>
              <a:t>Any system, out</a:t>
            </a:r>
            <a:endParaRPr lang="en-US" sz="2200" dirty="0"/>
          </a:p>
        </p:txBody>
      </p:sp>
      <p:sp>
        <p:nvSpPr>
          <p:cNvPr id="20" name="Text 14"/>
          <p:cNvSpPr/>
          <p:nvPr/>
        </p:nvSpPr>
        <p:spPr>
          <a:xfrm>
            <a:off x="6644488" y="3474720"/>
            <a:ext cx="4614520" cy="822960"/>
          </a:xfrm>
          <a:prstGeom prst="rect">
            <a:avLst/>
          </a:prstGeom>
          <a:noFill/>
          <a:ln/>
        </p:spPr>
        <p:txBody>
          <a:bodyPr wrap="square" rtlCol="0" anchor="t"/>
          <a:lstStyle/>
          <a:p>
            <a:pPr marL="0" indent="0">
              <a:lnSpc>
                <a:spcPct val="124000"/>
              </a:lnSpc>
              <a:buNone/>
            </a:pPr>
            <a:r>
              <a:rPr lang="en-US" sz="1350" dirty="0">
                <a:solidFill>
                  <a:srgbClr val="AAB6C7"/>
                </a:solidFill>
                <a:latin typeface="Segoe UI" pitchFamily="34" charset="0"/>
                <a:ea typeface="Segoe UI" pitchFamily="34" charset="-122"/>
                <a:cs typeface="Segoe UI" pitchFamily="34" charset="-120"/>
              </a:rPr>
              <a:t>Send the finished trade into SAP Treasury, or into the treasury system you already use. No lock-in on either end.</a:t>
            </a:r>
            <a:endParaRPr lang="en-US" sz="1350" dirty="0"/>
          </a:p>
        </p:txBody>
      </p:sp>
      <p:sp>
        <p:nvSpPr>
          <p:cNvPr id="21" name="Text 15"/>
          <p:cNvSpPr/>
          <p:nvPr/>
        </p:nvSpPr>
        <p:spPr>
          <a:xfrm>
            <a:off x="6635572" y="4471416"/>
            <a:ext cx="4614520" cy="237744"/>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BOOKS STRAIGHT INTO</a:t>
            </a:r>
            <a:endParaRPr lang="en-US" sz="1050" dirty="0"/>
          </a:p>
        </p:txBody>
      </p:sp>
      <p:grpSp>
        <p:nvGrpSpPr>
          <p:cNvPr id="11" name="Group 10">
            <a:extLst>
              <a:ext uri="{FF2B5EF4-FFF2-40B4-BE49-F238E27FC236}">
                <a16:creationId xmlns:a16="http://schemas.microsoft.com/office/drawing/2014/main" id="{B3C6280C-7B66-6DA3-593A-B7ADDCE12D11}"/>
              </a:ext>
            </a:extLst>
          </p:cNvPr>
          <p:cNvGrpSpPr/>
          <p:nvPr/>
        </p:nvGrpSpPr>
        <p:grpSpPr>
          <a:xfrm>
            <a:off x="6644488" y="4709160"/>
            <a:ext cx="1254830" cy="438912"/>
            <a:chOff x="6644488" y="4663440"/>
            <a:chExt cx="1417320" cy="530352"/>
          </a:xfrm>
        </p:grpSpPr>
        <p:sp>
          <p:nvSpPr>
            <p:cNvPr id="22" name="Shape 16"/>
            <p:cNvSpPr/>
            <p:nvPr/>
          </p:nvSpPr>
          <p:spPr>
            <a:xfrm>
              <a:off x="6644488" y="4663440"/>
              <a:ext cx="1417320" cy="530352"/>
            </a:xfrm>
            <a:prstGeom prst="roundRect">
              <a:avLst>
                <a:gd name="adj" fmla="val 24138"/>
              </a:avLst>
            </a:prstGeom>
            <a:solidFill>
              <a:srgbClr val="FFFFFF"/>
            </a:solidFill>
            <a:ln w="9525">
              <a:solidFill>
                <a:srgbClr val="36414F"/>
              </a:solidFill>
              <a:prstDash val="solid"/>
            </a:ln>
          </p:spPr>
          <p:txBody>
            <a:bodyPr/>
            <a:lstStyle/>
            <a:p>
              <a:endParaRPr lang="en-US"/>
            </a:p>
          </p:txBody>
        </p:sp>
        <p:pic>
          <p:nvPicPr>
            <p:cNvPr id="23" name="Image 4" descr="C:/Users/neuma_p1qrsic/Repo/agentic-ops1/.scratch/deckgen/logos/sap.png"/>
            <p:cNvPicPr>
              <a:picLocks noChangeAspect="1"/>
            </p:cNvPicPr>
            <p:nvPr/>
          </p:nvPicPr>
          <p:blipFill>
            <a:blip r:embed="rId5"/>
            <a:stretch>
              <a:fillRect/>
            </a:stretch>
          </p:blipFill>
          <p:spPr>
            <a:xfrm>
              <a:off x="6999803" y="4753600"/>
              <a:ext cx="706690" cy="350032"/>
            </a:xfrm>
            <a:prstGeom prst="rect">
              <a:avLst/>
            </a:prstGeom>
          </p:spPr>
        </p:pic>
      </p:grpSp>
      <p:sp>
        <p:nvSpPr>
          <p:cNvPr id="24" name="Text 17"/>
          <p:cNvSpPr/>
          <p:nvPr/>
        </p:nvSpPr>
        <p:spPr>
          <a:xfrm>
            <a:off x="8198968" y="4663440"/>
            <a:ext cx="3060040" cy="530352"/>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and any other treasury system you use.</a:t>
            </a:r>
            <a:endParaRPr lang="en-US" sz="1200" dirty="0"/>
          </a:p>
        </p:txBody>
      </p:sp>
      <p:sp>
        <p:nvSpPr>
          <p:cNvPr id="25" name="Text 18"/>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26" name="Text 19"/>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03 / 10</a:t>
            </a:r>
            <a:endParaRPr lang="en-US" sz="900" dirty="0"/>
          </a:p>
        </p:txBody>
      </p:sp>
      <p:sp>
        <p:nvSpPr>
          <p:cNvPr id="27" name="Shape 20"/>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2441269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IT FITS TOGETHER</a:t>
            </a:r>
            <a:endParaRPr lang="en-US" sz="1200" dirty="0"/>
          </a:p>
        </p:txBody>
      </p:sp>
      <p:sp>
        <p:nvSpPr>
          <p:cNvPr id="4" name="Text 2"/>
          <p:cNvSpPr/>
          <p:nvPr/>
        </p:nvSpPr>
        <p:spPr>
          <a:xfrm>
            <a:off x="566928" y="960120"/>
            <a:ext cx="1060704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One layer between your venues and SAP.</a:t>
            </a:r>
            <a:endParaRPr lang="en-US" sz="2800" dirty="0"/>
          </a:p>
        </p:txBody>
      </p:sp>
      <p:sp>
        <p:nvSpPr>
          <p:cNvPr id="5" name="Shape 3"/>
          <p:cNvSpPr/>
          <p:nvPr/>
        </p:nvSpPr>
        <p:spPr>
          <a:xfrm>
            <a:off x="566928" y="2148840"/>
            <a:ext cx="3063240" cy="2514600"/>
          </a:xfrm>
          <a:prstGeom prst="roundRect">
            <a:avLst>
              <a:gd name="adj" fmla="val 3273"/>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41248" y="2423160"/>
            <a:ext cx="548640" cy="548640"/>
          </a:xfrm>
          <a:prstGeom prst="roundRect">
            <a:avLst>
              <a:gd name="adj" fmla="val 18333"/>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venue.png"/>
          <p:cNvPicPr>
            <a:picLocks noChangeAspect="1"/>
          </p:cNvPicPr>
          <p:nvPr/>
        </p:nvPicPr>
        <p:blipFill>
          <a:blip r:embed="rId3"/>
          <a:stretch>
            <a:fillRect/>
          </a:stretch>
        </p:blipFill>
        <p:spPr>
          <a:xfrm>
            <a:off x="972922" y="2554834"/>
            <a:ext cx="285293" cy="285293"/>
          </a:xfrm>
          <a:prstGeom prst="rect">
            <a:avLst/>
          </a:prstGeom>
        </p:spPr>
      </p:pic>
      <p:sp>
        <p:nvSpPr>
          <p:cNvPr id="8" name="Text 5"/>
          <p:cNvSpPr/>
          <p:nvPr/>
        </p:nvSpPr>
        <p:spPr>
          <a:xfrm>
            <a:off x="1527048" y="2423160"/>
            <a:ext cx="1920240" cy="548640"/>
          </a:xfrm>
          <a:prstGeom prst="rect">
            <a:avLst/>
          </a:prstGeom>
          <a:noFill/>
          <a:ln/>
        </p:spPr>
        <p:txBody>
          <a:bodyPr wrap="square" rtlCol="0" anchor="ctr"/>
          <a:lstStyle/>
          <a:p>
            <a:pPr marL="0" indent="0">
              <a:buNone/>
            </a:pPr>
            <a:r>
              <a:rPr lang="en-US" sz="1350" b="1" dirty="0">
                <a:solidFill>
                  <a:srgbClr val="F3F6FB"/>
                </a:solidFill>
                <a:latin typeface="Segoe UI Semibold" pitchFamily="34" charset="0"/>
                <a:ea typeface="Segoe UI Semibold" pitchFamily="34" charset="-122"/>
                <a:cs typeface="Segoe UI Semibold" pitchFamily="34" charset="-120"/>
              </a:rPr>
              <a:t>Trading venues &amp; banks</a:t>
            </a:r>
            <a:endParaRPr lang="en-US" sz="1350" dirty="0"/>
          </a:p>
        </p:txBody>
      </p:sp>
      <p:sp>
        <p:nvSpPr>
          <p:cNvPr id="9" name="Text 6"/>
          <p:cNvSpPr/>
          <p:nvPr/>
        </p:nvSpPr>
        <p:spPr>
          <a:xfrm>
            <a:off x="841248" y="3200400"/>
            <a:ext cx="2606040" cy="1371600"/>
          </a:xfrm>
          <a:prstGeom prst="rect">
            <a:avLst/>
          </a:prstGeom>
          <a:noFill/>
          <a:ln/>
        </p:spPr>
        <p:txBody>
          <a:bodyPr wrap="square" rtlCol="0" anchor="ctr"/>
          <a:lstStyle/>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FXall, Bloomberg FX GO,</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360T, Citi Pulse, BidFX,</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banks and brokers</a:t>
            </a:r>
            <a:endParaRPr lang="en-US" sz="1300" dirty="0"/>
          </a:p>
        </p:txBody>
      </p:sp>
      <p:sp>
        <p:nvSpPr>
          <p:cNvPr id="10" name="Shape 7"/>
          <p:cNvSpPr/>
          <p:nvPr/>
        </p:nvSpPr>
        <p:spPr>
          <a:xfrm>
            <a:off x="4087368" y="2148840"/>
            <a:ext cx="3566160" cy="2514600"/>
          </a:xfrm>
          <a:prstGeom prst="roundRect">
            <a:avLst>
              <a:gd name="adj" fmla="val 3273"/>
            </a:avLst>
          </a:prstGeom>
          <a:solidFill>
            <a:srgbClr val="10222A"/>
          </a:solidFill>
          <a:ln w="19050">
            <a:solidFill>
              <a:srgbClr val="3BE3E0"/>
            </a:solidFill>
            <a:prstDash val="solid"/>
          </a:ln>
        </p:spPr>
        <p:txBody>
          <a:bodyPr/>
          <a:lstStyle/>
          <a:p>
            <a:endParaRPr lang="en-US"/>
          </a:p>
        </p:txBody>
      </p:sp>
      <p:pic>
        <p:nvPicPr>
          <p:cNvPr id="11" name="Image 1" descr="C:/Users/neuma_p1qrsic/Repo/agentic-ops1/.scratch/logo/favicon.png"/>
          <p:cNvPicPr>
            <a:picLocks noChangeAspect="1"/>
          </p:cNvPicPr>
          <p:nvPr/>
        </p:nvPicPr>
        <p:blipFill>
          <a:blip r:embed="rId4"/>
          <a:stretch>
            <a:fillRect/>
          </a:stretch>
        </p:blipFill>
        <p:spPr>
          <a:xfrm>
            <a:off x="5650992" y="2514600"/>
            <a:ext cx="438912" cy="438912"/>
          </a:xfrm>
          <a:prstGeom prst="rect">
            <a:avLst/>
          </a:prstGeom>
        </p:spPr>
      </p:pic>
      <p:sp>
        <p:nvSpPr>
          <p:cNvPr id="12" name="Text 8"/>
          <p:cNvSpPr/>
          <p:nvPr/>
        </p:nvSpPr>
        <p:spPr>
          <a:xfrm>
            <a:off x="4087368" y="3063240"/>
            <a:ext cx="3566160" cy="411480"/>
          </a:xfrm>
          <a:prstGeom prst="rect">
            <a:avLst/>
          </a:prstGeom>
          <a:noFill/>
          <a:ln/>
        </p:spPr>
        <p:txBody>
          <a:bodyPr wrap="square" rtlCol="0" anchor="ctr"/>
          <a:lstStyle/>
          <a:p>
            <a:pPr marL="0" indent="0" algn="ctr">
              <a:buNone/>
            </a:pPr>
            <a:r>
              <a:rPr lang="en-US" sz="2100" b="1" dirty="0">
                <a:solidFill>
                  <a:srgbClr val="F3F6FB"/>
                </a:solidFill>
                <a:latin typeface="Segoe UI Semibold" pitchFamily="34" charset="0"/>
                <a:ea typeface="Segoe UI Semibold" pitchFamily="34" charset="-122"/>
                <a:cs typeface="Segoe UI Semibold" pitchFamily="34" charset="-120"/>
              </a:rPr>
              <a:t>Smart Trading</a:t>
            </a:r>
            <a:endParaRPr lang="en-US" sz="2100" dirty="0"/>
          </a:p>
        </p:txBody>
      </p:sp>
      <p:sp>
        <p:nvSpPr>
          <p:cNvPr id="13" name="Text 9"/>
          <p:cNvSpPr/>
          <p:nvPr/>
        </p:nvSpPr>
        <p:spPr>
          <a:xfrm>
            <a:off x="4087368" y="3447288"/>
            <a:ext cx="3566160" cy="320040"/>
          </a:xfrm>
          <a:prstGeom prst="rect">
            <a:avLst/>
          </a:prstGeom>
          <a:noFill/>
          <a:ln/>
        </p:spPr>
        <p:txBody>
          <a:bodyPr wrap="square" rtlCol="0" anchor="ctr"/>
          <a:lstStyle/>
          <a:p>
            <a:pPr marL="0" indent="0" algn="ctr">
              <a:buNone/>
            </a:pPr>
            <a:r>
              <a:rPr lang="en-US" sz="1350" dirty="0">
                <a:solidFill>
                  <a:srgbClr val="3BE3E0"/>
                </a:solidFill>
                <a:latin typeface="Segoe UI" pitchFamily="34" charset="0"/>
                <a:ea typeface="Segoe UI" pitchFamily="34" charset="-122"/>
                <a:cs typeface="Segoe UI" pitchFamily="34" charset="-120"/>
              </a:rPr>
              <a:t>one app on OnePilot</a:t>
            </a:r>
            <a:endParaRPr lang="en-US" sz="1350" dirty="0"/>
          </a:p>
        </p:txBody>
      </p:sp>
      <p:sp>
        <p:nvSpPr>
          <p:cNvPr id="14" name="Text 10"/>
          <p:cNvSpPr/>
          <p:nvPr/>
        </p:nvSpPr>
        <p:spPr>
          <a:xfrm>
            <a:off x="4087368" y="3813048"/>
            <a:ext cx="3566160" cy="685800"/>
          </a:xfrm>
          <a:prstGeom prst="rect">
            <a:avLst/>
          </a:prstGeom>
          <a:noFill/>
          <a:ln/>
        </p:spPr>
        <p:txBody>
          <a:bodyPr wrap="square" rtlCol="0" anchor="ctr"/>
          <a:lstStyle/>
          <a:p>
            <a:pPr marL="0" indent="0" algn="ctr">
              <a:lnSpc>
                <a:spcPct val="110000"/>
              </a:lnSpc>
              <a:buNone/>
            </a:pPr>
            <a:r>
              <a:rPr lang="en-US" sz="1200" dirty="0">
                <a:solidFill>
                  <a:srgbClr val="AAB6C7"/>
                </a:solidFill>
                <a:latin typeface="Segoe UI" pitchFamily="34" charset="0"/>
                <a:ea typeface="Segoe UI" pitchFamily="34" charset="-122"/>
                <a:cs typeface="Segoe UI" pitchFamily="34" charset="-120"/>
              </a:rPr>
              <a:t>runs on SAP's own cloud,</a:t>
            </a:r>
            <a:endParaRPr lang="en-US" sz="1200" dirty="0"/>
          </a:p>
          <a:p>
            <a:pPr marL="0" indent="0" algn="ctr">
              <a:lnSpc>
                <a:spcPct val="110000"/>
              </a:lnSpc>
              <a:buNone/>
            </a:pPr>
            <a:r>
              <a:rPr lang="en-US" sz="1200" dirty="0">
                <a:solidFill>
                  <a:srgbClr val="AAB6C7"/>
                </a:solidFill>
                <a:latin typeface="Segoe UI" pitchFamily="34" charset="0"/>
                <a:ea typeface="Segoe UI" pitchFamily="34" charset="-122"/>
                <a:cs typeface="Segoe UI" pitchFamily="34" charset="-120"/>
              </a:rPr>
              <a:t>checks and logs every step</a:t>
            </a:r>
            <a:endParaRPr lang="en-US" sz="1200" dirty="0"/>
          </a:p>
        </p:txBody>
      </p:sp>
      <p:sp>
        <p:nvSpPr>
          <p:cNvPr id="15" name="Shape 11"/>
          <p:cNvSpPr/>
          <p:nvPr/>
        </p:nvSpPr>
        <p:spPr>
          <a:xfrm>
            <a:off x="8110728" y="2148840"/>
            <a:ext cx="3514039" cy="2514600"/>
          </a:xfrm>
          <a:prstGeom prst="roundRect">
            <a:avLst>
              <a:gd name="adj" fmla="val 3273"/>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8385048" y="2423160"/>
            <a:ext cx="548640" cy="548640"/>
          </a:xfrm>
          <a:prstGeom prst="roundRect">
            <a:avLst>
              <a:gd name="adj" fmla="val 18333"/>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database.png"/>
          <p:cNvPicPr>
            <a:picLocks noChangeAspect="1"/>
          </p:cNvPicPr>
          <p:nvPr/>
        </p:nvPicPr>
        <p:blipFill>
          <a:blip r:embed="rId5"/>
          <a:stretch>
            <a:fillRect/>
          </a:stretch>
        </p:blipFill>
        <p:spPr>
          <a:xfrm>
            <a:off x="8516722" y="2554834"/>
            <a:ext cx="285293" cy="285293"/>
          </a:xfrm>
          <a:prstGeom prst="rect">
            <a:avLst/>
          </a:prstGeom>
        </p:spPr>
      </p:pic>
      <p:sp>
        <p:nvSpPr>
          <p:cNvPr id="18" name="Text 13"/>
          <p:cNvSpPr/>
          <p:nvPr/>
        </p:nvSpPr>
        <p:spPr>
          <a:xfrm>
            <a:off x="9070848" y="2423160"/>
            <a:ext cx="2325319" cy="548640"/>
          </a:xfrm>
          <a:prstGeom prst="rect">
            <a:avLst/>
          </a:prstGeom>
          <a:noFill/>
          <a:ln/>
        </p:spPr>
        <p:txBody>
          <a:bodyPr wrap="square" rtlCol="0" anchor="ctr"/>
          <a:lstStyle/>
          <a:p>
            <a:pPr marL="0" indent="0">
              <a:buNone/>
            </a:pPr>
            <a:r>
              <a:rPr lang="en-US" sz="1350" b="1" dirty="0">
                <a:solidFill>
                  <a:srgbClr val="F3F6FB"/>
                </a:solidFill>
                <a:latin typeface="Segoe UI Semibold" pitchFamily="34" charset="0"/>
                <a:ea typeface="Segoe UI Semibold" pitchFamily="34" charset="-122"/>
                <a:cs typeface="Segoe UI Semibold" pitchFamily="34" charset="-120"/>
              </a:rPr>
              <a:t>SAP &amp; analytics</a:t>
            </a:r>
            <a:endParaRPr lang="en-US" sz="1350" dirty="0"/>
          </a:p>
        </p:txBody>
      </p:sp>
      <p:sp>
        <p:nvSpPr>
          <p:cNvPr id="19" name="Text 14"/>
          <p:cNvSpPr/>
          <p:nvPr/>
        </p:nvSpPr>
        <p:spPr>
          <a:xfrm>
            <a:off x="8385048" y="3200400"/>
            <a:ext cx="3011119" cy="1371600"/>
          </a:xfrm>
          <a:prstGeom prst="rect">
            <a:avLst/>
          </a:prstGeom>
          <a:noFill/>
          <a:ln/>
        </p:spPr>
        <p:txBody>
          <a:bodyPr wrap="square" rtlCol="0" anchor="ctr"/>
          <a:lstStyle/>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SAP Treasury, accounting,</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S/4HANA, Analytics Cloud,</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your order management</a:t>
            </a:r>
            <a:endParaRPr lang="en-US" sz="1300" dirty="0"/>
          </a:p>
        </p:txBody>
      </p:sp>
      <p:sp>
        <p:nvSpPr>
          <p:cNvPr id="20" name="Shape 15"/>
          <p:cNvSpPr/>
          <p:nvPr/>
        </p:nvSpPr>
        <p:spPr>
          <a:xfrm>
            <a:off x="3630168" y="3406140"/>
            <a:ext cx="457200" cy="0"/>
          </a:xfrm>
          <a:prstGeom prst="line">
            <a:avLst/>
          </a:prstGeom>
          <a:noFill/>
          <a:ln w="19050">
            <a:solidFill>
              <a:srgbClr val="3BE3E0"/>
            </a:solidFill>
            <a:prstDash val="solid"/>
            <a:headEnd type="triangle"/>
            <a:tailEnd type="triangle"/>
          </a:ln>
        </p:spPr>
        <p:txBody>
          <a:bodyPr/>
          <a:lstStyle/>
          <a:p>
            <a:endParaRPr lang="en-US"/>
          </a:p>
        </p:txBody>
      </p:sp>
      <p:sp>
        <p:nvSpPr>
          <p:cNvPr id="21" name="Shape 16"/>
          <p:cNvSpPr/>
          <p:nvPr/>
        </p:nvSpPr>
        <p:spPr>
          <a:xfrm>
            <a:off x="7653528" y="3406140"/>
            <a:ext cx="457200" cy="0"/>
          </a:xfrm>
          <a:prstGeom prst="line">
            <a:avLst/>
          </a:prstGeom>
          <a:noFill/>
          <a:ln w="19050">
            <a:solidFill>
              <a:srgbClr val="3BE3E0"/>
            </a:solidFill>
            <a:prstDash val="solid"/>
            <a:headEnd type="triangle"/>
            <a:tailEnd type="triangle"/>
          </a:ln>
        </p:spPr>
        <p:txBody>
          <a:bodyPr/>
          <a:lstStyle/>
          <a:p>
            <a:endParaRPr lang="en-US"/>
          </a:p>
        </p:txBody>
      </p:sp>
      <p:sp>
        <p:nvSpPr>
          <p:cNvPr id="22" name="Shape 17"/>
          <p:cNvSpPr/>
          <p:nvPr/>
        </p:nvSpPr>
        <p:spPr>
          <a:xfrm>
            <a:off x="566928" y="4956048"/>
            <a:ext cx="11057839" cy="914400"/>
          </a:xfrm>
          <a:prstGeom prst="roundRect">
            <a:avLst>
              <a:gd name="adj" fmla="val 8000"/>
            </a:avLst>
          </a:prstGeom>
          <a:solidFill>
            <a:srgbClr val="141A25"/>
          </a:solidFill>
          <a:ln w="13970">
            <a:solidFill>
              <a:srgbClr val="36414F"/>
            </a:solidFill>
            <a:prstDash val="solid"/>
          </a:ln>
        </p:spPr>
        <p:txBody>
          <a:bodyPr/>
          <a:lstStyle/>
          <a:p>
            <a:endParaRPr lang="en-US"/>
          </a:p>
        </p:txBody>
      </p:sp>
      <p:pic>
        <p:nvPicPr>
          <p:cNvPr id="23" name="Image 3" descr="C:/Users/neuma_p1qrsic/Repo/agentic-ops1/.scratch/icons/shield.png"/>
          <p:cNvPicPr>
            <a:picLocks noChangeAspect="1"/>
          </p:cNvPicPr>
          <p:nvPr/>
        </p:nvPicPr>
        <p:blipFill>
          <a:blip r:embed="rId6"/>
          <a:stretch>
            <a:fillRect/>
          </a:stretch>
        </p:blipFill>
        <p:spPr>
          <a:xfrm>
            <a:off x="841248" y="5212080"/>
            <a:ext cx="402336" cy="402336"/>
          </a:xfrm>
          <a:prstGeom prst="rect">
            <a:avLst/>
          </a:prstGeom>
        </p:spPr>
      </p:pic>
      <p:sp>
        <p:nvSpPr>
          <p:cNvPr id="24" name="Text 18"/>
          <p:cNvSpPr/>
          <p:nvPr/>
        </p:nvSpPr>
        <p:spPr>
          <a:xfrm>
            <a:off x="1435608" y="4956048"/>
            <a:ext cx="9914839" cy="914400"/>
          </a:xfrm>
          <a:prstGeom prst="rect">
            <a:avLst/>
          </a:prstGeom>
          <a:noFill/>
          <a:ln/>
        </p:spPr>
        <p:txBody>
          <a:bodyPr wrap="square" rtlCol="0" anchor="ctr"/>
          <a:lstStyle/>
          <a:p>
            <a:pPr marL="0" indent="0">
              <a:lnSpc>
                <a:spcPct val="110000"/>
              </a:lnSpc>
              <a:buNone/>
            </a:pPr>
            <a:r>
              <a:rPr lang="en-US" sz="1350" dirty="0">
                <a:solidFill>
                  <a:srgbClr val="F3F6FB"/>
                </a:solidFill>
                <a:latin typeface="Segoe UI" pitchFamily="34" charset="0"/>
                <a:ea typeface="Segoe UI" pitchFamily="34" charset="-122"/>
                <a:cs typeface="Segoe UI" pitchFamily="34" charset="-120"/>
              </a:rPr>
              <a:t>Every step is logged, checked and approved: a full audit trail, four-eye sign-off, automatic error checks, ISO 27001 and SOC 1.</a:t>
            </a:r>
            <a:endParaRPr lang="en-US" sz="1350" dirty="0"/>
          </a:p>
        </p:txBody>
      </p:sp>
      <p:sp>
        <p:nvSpPr>
          <p:cNvPr id="25" name="Text 19"/>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26" name="Text 20"/>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04 / 10</a:t>
            </a:r>
            <a:endParaRPr lang="en-US" sz="900" dirty="0"/>
          </a:p>
        </p:txBody>
      </p:sp>
      <p:sp>
        <p:nvSpPr>
          <p:cNvPr id="27" name="Shape 21"/>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IT WORKS</a:t>
            </a:r>
            <a:endParaRPr lang="en-US" sz="1200" dirty="0"/>
          </a:p>
        </p:txBody>
      </p:sp>
      <p:sp>
        <p:nvSpPr>
          <p:cNvPr id="4" name="Text 2"/>
          <p:cNvSpPr/>
          <p:nvPr/>
        </p:nvSpPr>
        <p:spPr>
          <a:xfrm>
            <a:off x="566928" y="960120"/>
            <a:ext cx="1005840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Six steps, from the decision to the booked deal.</a:t>
            </a:r>
            <a:endParaRPr lang="en-US" sz="2900" dirty="0"/>
          </a:p>
        </p:txBody>
      </p:sp>
      <p:sp>
        <p:nvSpPr>
          <p:cNvPr id="5" name="Shape 3"/>
          <p:cNvSpPr/>
          <p:nvPr/>
        </p:nvSpPr>
        <p:spPr>
          <a:xfrm>
            <a:off x="566928" y="2606040"/>
            <a:ext cx="1660093" cy="2880360"/>
          </a:xfrm>
          <a:prstGeom prst="roundRect">
            <a:avLst>
              <a:gd name="adj" fmla="val 4957"/>
            </a:avLst>
          </a:prstGeom>
          <a:solidFill>
            <a:srgbClr val="141A25"/>
          </a:solidFill>
          <a:ln w="19050">
            <a:solidFill>
              <a:srgbClr val="3BE3E0"/>
            </a:solidFill>
            <a:prstDash val="solid"/>
          </a:ln>
        </p:spPr>
        <p:txBody>
          <a:bodyPr/>
          <a:lstStyle/>
          <a:p>
            <a:endParaRPr lang="en-US"/>
          </a:p>
        </p:txBody>
      </p:sp>
      <p:sp>
        <p:nvSpPr>
          <p:cNvPr id="7" name="Text 4"/>
          <p:cNvSpPr/>
          <p:nvPr/>
        </p:nvSpPr>
        <p:spPr>
          <a:xfrm>
            <a:off x="566928" y="3648456"/>
            <a:ext cx="1660093" cy="310896"/>
          </a:xfrm>
          <a:prstGeom prst="rect">
            <a:avLst/>
          </a:prstGeom>
          <a:noFill/>
          <a:ln/>
        </p:spPr>
        <p:txBody>
          <a:bodyPr wrap="square" rtlCol="0" anchor="ctr"/>
          <a:lstStyle/>
          <a:p>
            <a:pPr marL="0" indent="0" algn="ctr">
              <a:buNone/>
            </a:pPr>
            <a:r>
              <a:rPr lang="en-US" sz="1150" b="1" dirty="0">
                <a:solidFill>
                  <a:srgbClr val="3BE3E0"/>
                </a:solidFill>
                <a:latin typeface="Segoe UI" pitchFamily="34" charset="0"/>
                <a:ea typeface="Segoe UI" pitchFamily="34" charset="-122"/>
                <a:cs typeface="Segoe UI" pitchFamily="34" charset="-120"/>
              </a:rPr>
              <a:t>01</a:t>
            </a:r>
            <a:endParaRPr lang="en-US" sz="1150" dirty="0"/>
          </a:p>
        </p:txBody>
      </p:sp>
      <p:sp>
        <p:nvSpPr>
          <p:cNvPr id="8" name="Text 5"/>
          <p:cNvSpPr/>
          <p:nvPr/>
        </p:nvSpPr>
        <p:spPr>
          <a:xfrm>
            <a:off x="566928" y="3959352"/>
            <a:ext cx="1660093" cy="384048"/>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Decision</a:t>
            </a:r>
            <a:endParaRPr lang="en-US" sz="1450" dirty="0"/>
          </a:p>
        </p:txBody>
      </p:sp>
      <p:sp>
        <p:nvSpPr>
          <p:cNvPr id="9" name="Text 6"/>
          <p:cNvSpPr/>
          <p:nvPr/>
        </p:nvSpPr>
        <p:spPr>
          <a:xfrm>
            <a:off x="694944" y="4416552"/>
            <a:ext cx="1404061" cy="822960"/>
          </a:xfrm>
          <a:prstGeom prst="rect">
            <a:avLst/>
          </a:prstGeom>
          <a:noFill/>
          <a:ln/>
        </p:spPr>
        <p:txBody>
          <a:bodyPr wrap="square" rtlCol="0" anchor="t"/>
          <a:lstStyle/>
          <a:p>
            <a:pPr marL="0" indent="0" algn="ctr">
              <a:lnSpc>
                <a:spcPct val="110000"/>
              </a:lnSpc>
              <a:buNone/>
            </a:pPr>
            <a:r>
              <a:rPr lang="en-US" sz="1000" dirty="0">
                <a:solidFill>
                  <a:srgbClr val="AAB6C7"/>
                </a:solidFill>
                <a:latin typeface="Segoe UI" pitchFamily="34" charset="0"/>
                <a:ea typeface="Segoe UI" pitchFamily="34" charset="-122"/>
                <a:cs typeface="Segoe UI" pitchFamily="34" charset="-120"/>
              </a:rPr>
              <a:t>From your SAP positions</a:t>
            </a:r>
            <a:endParaRPr lang="en-US" sz="1000" dirty="0"/>
          </a:p>
        </p:txBody>
      </p:sp>
      <p:sp>
        <p:nvSpPr>
          <p:cNvPr id="10" name="Text 7"/>
          <p:cNvSpPr/>
          <p:nvPr/>
        </p:nvSpPr>
        <p:spPr>
          <a:xfrm>
            <a:off x="2190445" y="3753612"/>
            <a:ext cx="292608" cy="585216"/>
          </a:xfrm>
          <a:prstGeom prst="rect">
            <a:avLst/>
          </a:prstGeom>
          <a:noFill/>
          <a:ln/>
        </p:spPr>
        <p:txBody>
          <a:bodyPr wrap="square" rtlCol="0" anchor="ctr"/>
          <a:lstStyle/>
          <a:p>
            <a:pPr marL="0" indent="0" algn="ctr">
              <a:buNone/>
            </a:pPr>
            <a:r>
              <a:rPr lang="en-US" sz="2400" b="1" dirty="0">
                <a:solidFill>
                  <a:srgbClr val="3BE3E0"/>
                </a:solidFill>
                <a:latin typeface="Segoe UI" pitchFamily="34" charset="0"/>
                <a:ea typeface="Segoe UI" pitchFamily="34" charset="-122"/>
                <a:cs typeface="Segoe UI" pitchFamily="34" charset="-120"/>
              </a:rPr>
              <a:t>›</a:t>
            </a:r>
            <a:endParaRPr lang="en-US" sz="2400" dirty="0"/>
          </a:p>
        </p:txBody>
      </p:sp>
      <p:sp>
        <p:nvSpPr>
          <p:cNvPr id="11" name="Shape 8"/>
          <p:cNvSpPr/>
          <p:nvPr/>
        </p:nvSpPr>
        <p:spPr>
          <a:xfrm>
            <a:off x="2446477" y="2606040"/>
            <a:ext cx="1660093" cy="2880360"/>
          </a:xfrm>
          <a:prstGeom prst="roundRect">
            <a:avLst>
              <a:gd name="adj" fmla="val 4957"/>
            </a:avLst>
          </a:prstGeom>
          <a:solidFill>
            <a:srgbClr val="141A25"/>
          </a:solidFill>
          <a:ln w="19050">
            <a:solidFill>
              <a:srgbClr val="3BE3E0"/>
            </a:solidFill>
            <a:prstDash val="solid"/>
          </a:ln>
        </p:spPr>
        <p:txBody>
          <a:bodyPr/>
          <a:lstStyle/>
          <a:p>
            <a:endParaRPr lang="en-US"/>
          </a:p>
        </p:txBody>
      </p:sp>
      <p:sp>
        <p:nvSpPr>
          <p:cNvPr id="13" name="Text 9"/>
          <p:cNvSpPr/>
          <p:nvPr/>
        </p:nvSpPr>
        <p:spPr>
          <a:xfrm>
            <a:off x="2446477" y="3648456"/>
            <a:ext cx="1660093" cy="310896"/>
          </a:xfrm>
          <a:prstGeom prst="rect">
            <a:avLst/>
          </a:prstGeom>
          <a:noFill/>
          <a:ln/>
        </p:spPr>
        <p:txBody>
          <a:bodyPr wrap="square" rtlCol="0" anchor="ctr"/>
          <a:lstStyle/>
          <a:p>
            <a:pPr marL="0" indent="0" algn="ctr">
              <a:buNone/>
            </a:pPr>
            <a:r>
              <a:rPr lang="en-US" sz="1150" b="1" dirty="0">
                <a:solidFill>
                  <a:srgbClr val="3BE3E0"/>
                </a:solidFill>
                <a:latin typeface="Segoe UI" pitchFamily="34" charset="0"/>
                <a:ea typeface="Segoe UI" pitchFamily="34" charset="-122"/>
                <a:cs typeface="Segoe UI" pitchFamily="34" charset="-120"/>
              </a:rPr>
              <a:t>02</a:t>
            </a:r>
            <a:endParaRPr lang="en-US" sz="1150" dirty="0"/>
          </a:p>
        </p:txBody>
      </p:sp>
      <p:sp>
        <p:nvSpPr>
          <p:cNvPr id="14" name="Text 10"/>
          <p:cNvSpPr/>
          <p:nvPr/>
        </p:nvSpPr>
        <p:spPr>
          <a:xfrm>
            <a:off x="2446477" y="3959352"/>
            <a:ext cx="1660093" cy="384048"/>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Request</a:t>
            </a:r>
            <a:endParaRPr lang="en-US" sz="1450" dirty="0"/>
          </a:p>
        </p:txBody>
      </p:sp>
      <p:sp>
        <p:nvSpPr>
          <p:cNvPr id="15" name="Text 11"/>
          <p:cNvSpPr/>
          <p:nvPr/>
        </p:nvSpPr>
        <p:spPr>
          <a:xfrm>
            <a:off x="2574493" y="4416552"/>
            <a:ext cx="1404061" cy="822960"/>
          </a:xfrm>
          <a:prstGeom prst="rect">
            <a:avLst/>
          </a:prstGeom>
          <a:noFill/>
          <a:ln/>
        </p:spPr>
        <p:txBody>
          <a:bodyPr wrap="square" rtlCol="0" anchor="t"/>
          <a:lstStyle/>
          <a:p>
            <a:pPr marL="0" indent="0" algn="ctr">
              <a:lnSpc>
                <a:spcPct val="110000"/>
              </a:lnSpc>
              <a:buNone/>
            </a:pPr>
            <a:r>
              <a:rPr lang="en-US" sz="1000" dirty="0">
                <a:solidFill>
                  <a:srgbClr val="AAB6C7"/>
                </a:solidFill>
                <a:latin typeface="Segoe UI" pitchFamily="34" charset="0"/>
                <a:ea typeface="Segoe UI" pitchFamily="34" charset="-122"/>
                <a:cs typeface="Segoe UI" pitchFamily="34" charset="-120"/>
              </a:rPr>
              <a:t>Filled in, sent to the venue</a:t>
            </a:r>
            <a:endParaRPr lang="en-US" sz="1000" dirty="0"/>
          </a:p>
        </p:txBody>
      </p:sp>
      <p:sp>
        <p:nvSpPr>
          <p:cNvPr id="16" name="Text 12"/>
          <p:cNvSpPr/>
          <p:nvPr/>
        </p:nvSpPr>
        <p:spPr>
          <a:xfrm>
            <a:off x="4069994" y="3753612"/>
            <a:ext cx="292608" cy="585216"/>
          </a:xfrm>
          <a:prstGeom prst="rect">
            <a:avLst/>
          </a:prstGeom>
          <a:noFill/>
          <a:ln/>
        </p:spPr>
        <p:txBody>
          <a:bodyPr wrap="square" rtlCol="0" anchor="ctr"/>
          <a:lstStyle/>
          <a:p>
            <a:pPr marL="0" indent="0" algn="ctr">
              <a:buNone/>
            </a:pPr>
            <a:r>
              <a:rPr lang="en-US" sz="2400" b="1" dirty="0">
                <a:solidFill>
                  <a:srgbClr val="4EA8DE"/>
                </a:solidFill>
                <a:latin typeface="Segoe UI" pitchFamily="34" charset="0"/>
                <a:ea typeface="Segoe UI" pitchFamily="34" charset="-122"/>
                <a:cs typeface="Segoe UI" pitchFamily="34" charset="-120"/>
              </a:rPr>
              <a:t>›</a:t>
            </a:r>
            <a:endParaRPr lang="en-US" sz="2400" dirty="0"/>
          </a:p>
        </p:txBody>
      </p:sp>
      <p:sp>
        <p:nvSpPr>
          <p:cNvPr id="17" name="Shape 13"/>
          <p:cNvSpPr/>
          <p:nvPr/>
        </p:nvSpPr>
        <p:spPr>
          <a:xfrm>
            <a:off x="4326026" y="2606040"/>
            <a:ext cx="1660093" cy="2880360"/>
          </a:xfrm>
          <a:prstGeom prst="roundRect">
            <a:avLst>
              <a:gd name="adj" fmla="val 4957"/>
            </a:avLst>
          </a:prstGeom>
          <a:solidFill>
            <a:srgbClr val="141A25"/>
          </a:solidFill>
          <a:ln w="19050">
            <a:solidFill>
              <a:srgbClr val="4EA8DE"/>
            </a:solidFill>
            <a:prstDash val="solid"/>
          </a:ln>
        </p:spPr>
        <p:txBody>
          <a:bodyPr/>
          <a:lstStyle/>
          <a:p>
            <a:endParaRPr lang="en-US"/>
          </a:p>
        </p:txBody>
      </p:sp>
      <p:sp>
        <p:nvSpPr>
          <p:cNvPr id="19" name="Text 14"/>
          <p:cNvSpPr/>
          <p:nvPr/>
        </p:nvSpPr>
        <p:spPr>
          <a:xfrm>
            <a:off x="4326026" y="3648456"/>
            <a:ext cx="1660093" cy="310896"/>
          </a:xfrm>
          <a:prstGeom prst="rect">
            <a:avLst/>
          </a:prstGeom>
          <a:noFill/>
          <a:ln/>
        </p:spPr>
        <p:txBody>
          <a:bodyPr wrap="square" rtlCol="0" anchor="ctr"/>
          <a:lstStyle/>
          <a:p>
            <a:pPr marL="0" indent="0" algn="ctr">
              <a:buNone/>
            </a:pPr>
            <a:r>
              <a:rPr lang="en-US" sz="1150" b="1" dirty="0">
                <a:solidFill>
                  <a:srgbClr val="4EA8DE"/>
                </a:solidFill>
                <a:latin typeface="Segoe UI" pitchFamily="34" charset="0"/>
                <a:ea typeface="Segoe UI" pitchFamily="34" charset="-122"/>
                <a:cs typeface="Segoe UI" pitchFamily="34" charset="-120"/>
              </a:rPr>
              <a:t>03</a:t>
            </a:r>
            <a:endParaRPr lang="en-US" sz="1150" dirty="0"/>
          </a:p>
        </p:txBody>
      </p:sp>
      <p:sp>
        <p:nvSpPr>
          <p:cNvPr id="20" name="Text 15"/>
          <p:cNvSpPr/>
          <p:nvPr/>
        </p:nvSpPr>
        <p:spPr>
          <a:xfrm>
            <a:off x="4326026" y="3959352"/>
            <a:ext cx="1660093" cy="384048"/>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Approval</a:t>
            </a:r>
            <a:endParaRPr lang="en-US" sz="1450" dirty="0"/>
          </a:p>
        </p:txBody>
      </p:sp>
      <p:sp>
        <p:nvSpPr>
          <p:cNvPr id="21" name="Text 16"/>
          <p:cNvSpPr/>
          <p:nvPr/>
        </p:nvSpPr>
        <p:spPr>
          <a:xfrm>
            <a:off x="4454042" y="4416552"/>
            <a:ext cx="1404061" cy="822960"/>
          </a:xfrm>
          <a:prstGeom prst="rect">
            <a:avLst/>
          </a:prstGeom>
          <a:noFill/>
          <a:ln/>
        </p:spPr>
        <p:txBody>
          <a:bodyPr wrap="square" rtlCol="0" anchor="t"/>
          <a:lstStyle/>
          <a:p>
            <a:pPr marL="0" indent="0" algn="ctr">
              <a:lnSpc>
                <a:spcPct val="110000"/>
              </a:lnSpc>
              <a:buNone/>
            </a:pPr>
            <a:r>
              <a:rPr lang="en-US" sz="1000" dirty="0">
                <a:solidFill>
                  <a:srgbClr val="AAB6C7"/>
                </a:solidFill>
                <a:latin typeface="Segoe UI" pitchFamily="34" charset="0"/>
                <a:ea typeface="Segoe UI" pitchFamily="34" charset="-122"/>
                <a:cs typeface="Segoe UI" pitchFamily="34" charset="-120"/>
              </a:rPr>
              <a:t>Your rules, your sign-off</a:t>
            </a:r>
            <a:endParaRPr lang="en-US" sz="1000" dirty="0"/>
          </a:p>
        </p:txBody>
      </p:sp>
      <p:sp>
        <p:nvSpPr>
          <p:cNvPr id="22" name="Text 17"/>
          <p:cNvSpPr/>
          <p:nvPr/>
        </p:nvSpPr>
        <p:spPr>
          <a:xfrm>
            <a:off x="5949544" y="3753612"/>
            <a:ext cx="292608" cy="585216"/>
          </a:xfrm>
          <a:prstGeom prst="rect">
            <a:avLst/>
          </a:prstGeom>
          <a:noFill/>
          <a:ln/>
        </p:spPr>
        <p:txBody>
          <a:bodyPr wrap="square" rtlCol="0" anchor="ctr"/>
          <a:lstStyle/>
          <a:p>
            <a:pPr marL="0" indent="0" algn="ctr">
              <a:buNone/>
            </a:pPr>
            <a:r>
              <a:rPr lang="en-US" sz="2400" b="1" dirty="0">
                <a:solidFill>
                  <a:srgbClr val="4EA8DE"/>
                </a:solidFill>
                <a:latin typeface="Segoe UI" pitchFamily="34" charset="0"/>
                <a:ea typeface="Segoe UI" pitchFamily="34" charset="-122"/>
                <a:cs typeface="Segoe UI" pitchFamily="34" charset="-120"/>
              </a:rPr>
              <a:t>›</a:t>
            </a:r>
            <a:endParaRPr lang="en-US" sz="2400" dirty="0"/>
          </a:p>
        </p:txBody>
      </p:sp>
      <p:sp>
        <p:nvSpPr>
          <p:cNvPr id="23" name="Shape 18"/>
          <p:cNvSpPr/>
          <p:nvPr/>
        </p:nvSpPr>
        <p:spPr>
          <a:xfrm>
            <a:off x="6205576" y="2606040"/>
            <a:ext cx="1660093" cy="2880360"/>
          </a:xfrm>
          <a:prstGeom prst="roundRect">
            <a:avLst>
              <a:gd name="adj" fmla="val 4957"/>
            </a:avLst>
          </a:prstGeom>
          <a:solidFill>
            <a:srgbClr val="141A25"/>
          </a:solidFill>
          <a:ln w="19050">
            <a:solidFill>
              <a:srgbClr val="4EA8DE"/>
            </a:solidFill>
            <a:prstDash val="solid"/>
          </a:ln>
        </p:spPr>
        <p:txBody>
          <a:bodyPr/>
          <a:lstStyle/>
          <a:p>
            <a:endParaRPr lang="en-US"/>
          </a:p>
        </p:txBody>
      </p:sp>
      <p:sp>
        <p:nvSpPr>
          <p:cNvPr id="25" name="Text 19"/>
          <p:cNvSpPr/>
          <p:nvPr/>
        </p:nvSpPr>
        <p:spPr>
          <a:xfrm>
            <a:off x="6205576" y="3648456"/>
            <a:ext cx="1660093" cy="310896"/>
          </a:xfrm>
          <a:prstGeom prst="rect">
            <a:avLst/>
          </a:prstGeom>
          <a:noFill/>
          <a:ln/>
        </p:spPr>
        <p:txBody>
          <a:bodyPr wrap="square" rtlCol="0" anchor="ctr"/>
          <a:lstStyle/>
          <a:p>
            <a:pPr marL="0" indent="0" algn="ctr">
              <a:buNone/>
            </a:pPr>
            <a:r>
              <a:rPr lang="en-US" sz="1150" b="1" dirty="0">
                <a:solidFill>
                  <a:srgbClr val="4EA8DE"/>
                </a:solidFill>
                <a:latin typeface="Segoe UI" pitchFamily="34" charset="0"/>
                <a:ea typeface="Segoe UI" pitchFamily="34" charset="-122"/>
                <a:cs typeface="Segoe UI" pitchFamily="34" charset="-120"/>
              </a:rPr>
              <a:t>04</a:t>
            </a:r>
            <a:endParaRPr lang="en-US" sz="1150" dirty="0"/>
          </a:p>
        </p:txBody>
      </p:sp>
      <p:sp>
        <p:nvSpPr>
          <p:cNvPr id="26" name="Text 20"/>
          <p:cNvSpPr/>
          <p:nvPr/>
        </p:nvSpPr>
        <p:spPr>
          <a:xfrm>
            <a:off x="6205576" y="3959352"/>
            <a:ext cx="1660093" cy="384048"/>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Execution</a:t>
            </a:r>
            <a:endParaRPr lang="en-US" sz="1450" dirty="0"/>
          </a:p>
        </p:txBody>
      </p:sp>
      <p:sp>
        <p:nvSpPr>
          <p:cNvPr id="27" name="Text 21"/>
          <p:cNvSpPr/>
          <p:nvPr/>
        </p:nvSpPr>
        <p:spPr>
          <a:xfrm>
            <a:off x="6333592" y="4416552"/>
            <a:ext cx="1404061" cy="822960"/>
          </a:xfrm>
          <a:prstGeom prst="rect">
            <a:avLst/>
          </a:prstGeom>
          <a:noFill/>
          <a:ln/>
        </p:spPr>
        <p:txBody>
          <a:bodyPr wrap="square" rtlCol="0" anchor="t"/>
          <a:lstStyle/>
          <a:p>
            <a:pPr marL="0" indent="0" algn="ctr">
              <a:lnSpc>
                <a:spcPct val="110000"/>
              </a:lnSpc>
              <a:buNone/>
            </a:pPr>
            <a:r>
              <a:rPr lang="en-US" sz="1000" dirty="0">
                <a:solidFill>
                  <a:srgbClr val="AAB6C7"/>
                </a:solidFill>
                <a:latin typeface="Segoe UI" pitchFamily="34" charset="0"/>
                <a:ea typeface="Segoe UI" pitchFamily="34" charset="-122"/>
                <a:cs typeface="Segoe UI" pitchFamily="34" charset="-120"/>
              </a:rPr>
              <a:t>On your own platforms</a:t>
            </a:r>
            <a:endParaRPr lang="en-US" sz="1000" dirty="0"/>
          </a:p>
        </p:txBody>
      </p:sp>
      <p:sp>
        <p:nvSpPr>
          <p:cNvPr id="28" name="Text 22"/>
          <p:cNvSpPr/>
          <p:nvPr/>
        </p:nvSpPr>
        <p:spPr>
          <a:xfrm>
            <a:off x="7829093" y="3753612"/>
            <a:ext cx="292608" cy="585216"/>
          </a:xfrm>
          <a:prstGeom prst="rect">
            <a:avLst/>
          </a:prstGeom>
          <a:noFill/>
          <a:ln/>
        </p:spPr>
        <p:txBody>
          <a:bodyPr wrap="square" rtlCol="0" anchor="ctr"/>
          <a:lstStyle/>
          <a:p>
            <a:pPr marL="0" indent="0" algn="ctr">
              <a:buNone/>
            </a:pPr>
            <a:r>
              <a:rPr lang="en-US" sz="2400" b="1" dirty="0">
                <a:solidFill>
                  <a:srgbClr val="46D9A0"/>
                </a:solidFill>
                <a:latin typeface="Segoe UI" pitchFamily="34" charset="0"/>
                <a:ea typeface="Segoe UI" pitchFamily="34" charset="-122"/>
                <a:cs typeface="Segoe UI" pitchFamily="34" charset="-120"/>
              </a:rPr>
              <a:t>›</a:t>
            </a:r>
            <a:endParaRPr lang="en-US" sz="2400" dirty="0"/>
          </a:p>
        </p:txBody>
      </p:sp>
      <p:sp>
        <p:nvSpPr>
          <p:cNvPr id="29" name="Shape 23"/>
          <p:cNvSpPr/>
          <p:nvPr/>
        </p:nvSpPr>
        <p:spPr>
          <a:xfrm>
            <a:off x="8085125" y="2606040"/>
            <a:ext cx="1660093" cy="2880360"/>
          </a:xfrm>
          <a:prstGeom prst="roundRect">
            <a:avLst>
              <a:gd name="adj" fmla="val 4957"/>
            </a:avLst>
          </a:prstGeom>
          <a:solidFill>
            <a:srgbClr val="141A25"/>
          </a:solidFill>
          <a:ln w="19050">
            <a:solidFill>
              <a:srgbClr val="46D9A0"/>
            </a:solidFill>
            <a:prstDash val="solid"/>
          </a:ln>
        </p:spPr>
        <p:txBody>
          <a:bodyPr/>
          <a:lstStyle/>
          <a:p>
            <a:endParaRPr lang="en-US"/>
          </a:p>
        </p:txBody>
      </p:sp>
      <p:sp>
        <p:nvSpPr>
          <p:cNvPr id="31" name="Text 24"/>
          <p:cNvSpPr/>
          <p:nvPr/>
        </p:nvSpPr>
        <p:spPr>
          <a:xfrm>
            <a:off x="8085125" y="3648456"/>
            <a:ext cx="1660093" cy="310896"/>
          </a:xfrm>
          <a:prstGeom prst="rect">
            <a:avLst/>
          </a:prstGeom>
          <a:noFill/>
          <a:ln/>
        </p:spPr>
        <p:txBody>
          <a:bodyPr wrap="square" rtlCol="0" anchor="ctr"/>
          <a:lstStyle/>
          <a:p>
            <a:pPr marL="0" indent="0" algn="ctr">
              <a:buNone/>
            </a:pPr>
            <a:r>
              <a:rPr lang="en-US" sz="1150" b="1" dirty="0">
                <a:solidFill>
                  <a:srgbClr val="46D9A0"/>
                </a:solidFill>
                <a:latin typeface="Segoe UI" pitchFamily="34" charset="0"/>
                <a:ea typeface="Segoe UI" pitchFamily="34" charset="-122"/>
                <a:cs typeface="Segoe UI" pitchFamily="34" charset="-120"/>
              </a:rPr>
              <a:t>05</a:t>
            </a:r>
            <a:endParaRPr lang="en-US" sz="1150" dirty="0"/>
          </a:p>
        </p:txBody>
      </p:sp>
      <p:sp>
        <p:nvSpPr>
          <p:cNvPr id="32" name="Text 25"/>
          <p:cNvSpPr/>
          <p:nvPr/>
        </p:nvSpPr>
        <p:spPr>
          <a:xfrm>
            <a:off x="8085125" y="3959352"/>
            <a:ext cx="1660093" cy="384048"/>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Integration</a:t>
            </a:r>
            <a:endParaRPr lang="en-US" sz="1450" dirty="0"/>
          </a:p>
        </p:txBody>
      </p:sp>
      <p:sp>
        <p:nvSpPr>
          <p:cNvPr id="33" name="Text 26"/>
          <p:cNvSpPr/>
          <p:nvPr/>
        </p:nvSpPr>
        <p:spPr>
          <a:xfrm>
            <a:off x="8213141" y="4416552"/>
            <a:ext cx="1404061" cy="822960"/>
          </a:xfrm>
          <a:prstGeom prst="rect">
            <a:avLst/>
          </a:prstGeom>
          <a:noFill/>
          <a:ln/>
        </p:spPr>
        <p:txBody>
          <a:bodyPr wrap="square" rtlCol="0" anchor="t"/>
          <a:lstStyle/>
          <a:p>
            <a:pPr marL="0" indent="0" algn="ctr">
              <a:lnSpc>
                <a:spcPct val="110000"/>
              </a:lnSpc>
              <a:buNone/>
            </a:pPr>
            <a:r>
              <a:rPr lang="en-US" sz="1000" dirty="0">
                <a:solidFill>
                  <a:srgbClr val="AAB6C7"/>
                </a:solidFill>
                <a:latin typeface="Segoe UI" pitchFamily="34" charset="0"/>
                <a:ea typeface="Segoe UI" pitchFamily="34" charset="-122"/>
                <a:cs typeface="Segoe UI" pitchFamily="34" charset="-120"/>
              </a:rPr>
              <a:t>Matched and shaped for SAP</a:t>
            </a:r>
            <a:endParaRPr lang="en-US" sz="1000" dirty="0"/>
          </a:p>
        </p:txBody>
      </p:sp>
      <p:sp>
        <p:nvSpPr>
          <p:cNvPr id="34" name="Text 27"/>
          <p:cNvSpPr/>
          <p:nvPr/>
        </p:nvSpPr>
        <p:spPr>
          <a:xfrm>
            <a:off x="9708642" y="3753612"/>
            <a:ext cx="292608" cy="585216"/>
          </a:xfrm>
          <a:prstGeom prst="rect">
            <a:avLst/>
          </a:prstGeom>
          <a:noFill/>
          <a:ln/>
        </p:spPr>
        <p:txBody>
          <a:bodyPr wrap="square" rtlCol="0" anchor="ctr"/>
          <a:lstStyle/>
          <a:p>
            <a:pPr marL="0" indent="0" algn="ctr">
              <a:buNone/>
            </a:pPr>
            <a:r>
              <a:rPr lang="en-US" sz="2400" b="1" dirty="0">
                <a:solidFill>
                  <a:srgbClr val="46D9A0"/>
                </a:solidFill>
                <a:latin typeface="Segoe UI" pitchFamily="34" charset="0"/>
                <a:ea typeface="Segoe UI" pitchFamily="34" charset="-122"/>
                <a:cs typeface="Segoe UI" pitchFamily="34" charset="-120"/>
              </a:rPr>
              <a:t>›</a:t>
            </a:r>
            <a:endParaRPr lang="en-US" sz="2400" dirty="0"/>
          </a:p>
        </p:txBody>
      </p:sp>
      <p:sp>
        <p:nvSpPr>
          <p:cNvPr id="35" name="Shape 28"/>
          <p:cNvSpPr/>
          <p:nvPr/>
        </p:nvSpPr>
        <p:spPr>
          <a:xfrm>
            <a:off x="9964674" y="2606040"/>
            <a:ext cx="1660093" cy="2880360"/>
          </a:xfrm>
          <a:prstGeom prst="roundRect">
            <a:avLst>
              <a:gd name="adj" fmla="val 4957"/>
            </a:avLst>
          </a:prstGeom>
          <a:solidFill>
            <a:srgbClr val="141A25"/>
          </a:solidFill>
          <a:ln w="19050">
            <a:solidFill>
              <a:srgbClr val="46D9A0"/>
            </a:solidFill>
            <a:prstDash val="solid"/>
          </a:ln>
        </p:spPr>
        <p:txBody>
          <a:bodyPr/>
          <a:lstStyle/>
          <a:p>
            <a:endParaRPr lang="en-US"/>
          </a:p>
        </p:txBody>
      </p:sp>
      <p:sp>
        <p:nvSpPr>
          <p:cNvPr id="37" name="Text 29"/>
          <p:cNvSpPr/>
          <p:nvPr/>
        </p:nvSpPr>
        <p:spPr>
          <a:xfrm>
            <a:off x="9964674" y="3648456"/>
            <a:ext cx="1660093" cy="310896"/>
          </a:xfrm>
          <a:prstGeom prst="rect">
            <a:avLst/>
          </a:prstGeom>
          <a:noFill/>
          <a:ln/>
        </p:spPr>
        <p:txBody>
          <a:bodyPr wrap="square" rtlCol="0" anchor="ctr"/>
          <a:lstStyle/>
          <a:p>
            <a:pPr marL="0" indent="0" algn="ctr">
              <a:buNone/>
            </a:pPr>
            <a:r>
              <a:rPr lang="en-US" sz="1150" b="1" dirty="0">
                <a:solidFill>
                  <a:srgbClr val="46D9A0"/>
                </a:solidFill>
                <a:latin typeface="Segoe UI" pitchFamily="34" charset="0"/>
                <a:ea typeface="Segoe UI" pitchFamily="34" charset="-122"/>
                <a:cs typeface="Segoe UI" pitchFamily="34" charset="-120"/>
              </a:rPr>
              <a:t>06</a:t>
            </a:r>
            <a:endParaRPr lang="en-US" sz="1150" dirty="0"/>
          </a:p>
        </p:txBody>
      </p:sp>
      <p:sp>
        <p:nvSpPr>
          <p:cNvPr id="38" name="Text 30"/>
          <p:cNvSpPr/>
          <p:nvPr/>
        </p:nvSpPr>
        <p:spPr>
          <a:xfrm>
            <a:off x="9964674" y="3959352"/>
            <a:ext cx="1660093" cy="384048"/>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Settle</a:t>
            </a:r>
            <a:endParaRPr lang="en-US" sz="1450" dirty="0"/>
          </a:p>
        </p:txBody>
      </p:sp>
      <p:sp>
        <p:nvSpPr>
          <p:cNvPr id="39" name="Text 31"/>
          <p:cNvSpPr/>
          <p:nvPr/>
        </p:nvSpPr>
        <p:spPr>
          <a:xfrm>
            <a:off x="10092690" y="4416552"/>
            <a:ext cx="1404061" cy="822960"/>
          </a:xfrm>
          <a:prstGeom prst="rect">
            <a:avLst/>
          </a:prstGeom>
          <a:noFill/>
          <a:ln/>
        </p:spPr>
        <p:txBody>
          <a:bodyPr wrap="square" rtlCol="0" anchor="t"/>
          <a:lstStyle/>
          <a:p>
            <a:pPr marL="0" indent="0" algn="ctr">
              <a:lnSpc>
                <a:spcPct val="110000"/>
              </a:lnSpc>
              <a:buNone/>
            </a:pPr>
            <a:r>
              <a:rPr lang="en-US" sz="1000" dirty="0">
                <a:solidFill>
                  <a:srgbClr val="AAB6C7"/>
                </a:solidFill>
                <a:latin typeface="Segoe UI" pitchFamily="34" charset="0"/>
                <a:ea typeface="Segoe UI" pitchFamily="34" charset="-122"/>
                <a:cs typeface="Segoe UI" pitchFamily="34" charset="-120"/>
              </a:rPr>
              <a:t>Booked in SAP by itself</a:t>
            </a:r>
            <a:endParaRPr lang="en-US" sz="1000" dirty="0"/>
          </a:p>
        </p:txBody>
      </p:sp>
      <p:sp>
        <p:nvSpPr>
          <p:cNvPr id="40" name="Text 32"/>
          <p:cNvSpPr/>
          <p:nvPr/>
        </p:nvSpPr>
        <p:spPr>
          <a:xfrm>
            <a:off x="566928" y="5532120"/>
            <a:ext cx="11057839" cy="457200"/>
          </a:xfrm>
          <a:prstGeom prst="rect">
            <a:avLst/>
          </a:prstGeom>
          <a:noFill/>
          <a:ln/>
        </p:spPr>
        <p:txBody>
          <a:bodyPr wrap="square" rtlCol="0" anchor="ctr"/>
          <a:lstStyle/>
          <a:p>
            <a:pPr marL="0" indent="0">
              <a:buNone/>
            </a:pPr>
            <a:r>
              <a:rPr lang="en-US" sz="1500" dirty="0">
                <a:solidFill>
                  <a:srgbClr val="AAB6C7"/>
                </a:solidFill>
                <a:latin typeface="Segoe UI" pitchFamily="34" charset="0"/>
                <a:ea typeface="Segoe UI" pitchFamily="34" charset="-122"/>
                <a:cs typeface="Segoe UI" pitchFamily="34" charset="-120"/>
              </a:rPr>
              <a:t>Each step runs on its own or waits for a person. Approvals, splitting and grouping are built in, and everything is logged.</a:t>
            </a:r>
            <a:endParaRPr lang="en-US" sz="1500" dirty="0"/>
          </a:p>
        </p:txBody>
      </p:sp>
      <p:sp>
        <p:nvSpPr>
          <p:cNvPr id="41" name="Text 33"/>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42" name="Text 34"/>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05 / 10</a:t>
            </a:r>
            <a:endParaRPr lang="en-US" sz="900" dirty="0"/>
          </a:p>
        </p:txBody>
      </p:sp>
      <p:sp>
        <p:nvSpPr>
          <p:cNvPr id="43" name="Shape 35"/>
          <p:cNvSpPr/>
          <p:nvPr/>
        </p:nvSpPr>
        <p:spPr>
          <a:xfrm>
            <a:off x="566928" y="6327648"/>
            <a:ext cx="11057839" cy="0"/>
          </a:xfrm>
          <a:prstGeom prst="line">
            <a:avLst/>
          </a:prstGeom>
          <a:noFill/>
          <a:ln w="9525">
            <a:solidFill>
              <a:srgbClr val="36414F"/>
            </a:solidFill>
            <a:prstDash val="solid"/>
          </a:ln>
        </p:spPr>
        <p:txBody>
          <a:bodyPr/>
          <a:lstStyle/>
          <a:p>
            <a:endParaRPr lang="en-US"/>
          </a:p>
        </p:txBody>
      </p:sp>
      <p:sp>
        <p:nvSpPr>
          <p:cNvPr id="101" name="Phase Label ORIGINATE"/>
          <p:cNvSpPr txBox="1"/>
          <p:nvPr/>
        </p:nvSpPr>
        <p:spPr>
          <a:xfrm>
            <a:off x="571500" y="2209800"/>
            <a:ext cx="3543300" cy="254000"/>
          </a:xfrm>
          <a:prstGeom prst="rect">
            <a:avLst/>
          </a:prstGeom>
          <a:noFill/>
          <a:ln>
            <a:noFill/>
          </a:ln>
        </p:spPr>
        <p:txBody>
          <a:bodyPr wrap="square" lIns="0" tIns="0" rIns="0" bIns="0" anchor="ctr">
            <a:noAutofit/>
          </a:bodyPr>
          <a:lstStyle/>
          <a:p>
            <a:pPr algn="ctr">
              <a:buNone/>
            </a:pPr>
            <a:r>
              <a:rPr lang="en-US" sz="1100" b="1" kern="0" spc="200" dirty="0">
                <a:solidFill>
                  <a:srgbClr val="3BE3E0"/>
                </a:solidFill>
                <a:latin typeface="Segoe UI Semibold" pitchFamily="34" charset="0"/>
              </a:rPr>
              <a:t>ORIGINATE</a:t>
            </a:r>
          </a:p>
        </p:txBody>
      </p:sp>
      <p:sp>
        <p:nvSpPr>
          <p:cNvPr id="102" name="Phase Bar ORIGINATE"/>
          <p:cNvSpPr/>
          <p:nvPr/>
        </p:nvSpPr>
        <p:spPr>
          <a:xfrm>
            <a:off x="571500" y="2489200"/>
            <a:ext cx="3543300" cy="38100"/>
          </a:xfrm>
          <a:prstGeom prst="rect">
            <a:avLst/>
          </a:prstGeom>
          <a:solidFill>
            <a:srgbClr val="3BE3E0"/>
          </a:solidFill>
          <a:ln>
            <a:noFill/>
          </a:ln>
        </p:spPr>
        <p:txBody>
          <a:bodyPr/>
          <a:lstStyle/>
          <a:p>
            <a:endParaRPr/>
          </a:p>
        </p:txBody>
      </p:sp>
      <p:sp>
        <p:nvSpPr>
          <p:cNvPr id="103" name="Phase Label EXECUTE"/>
          <p:cNvSpPr txBox="1"/>
          <p:nvPr/>
        </p:nvSpPr>
        <p:spPr>
          <a:xfrm>
            <a:off x="4330700" y="2209800"/>
            <a:ext cx="3543300" cy="254000"/>
          </a:xfrm>
          <a:prstGeom prst="rect">
            <a:avLst/>
          </a:prstGeom>
          <a:noFill/>
          <a:ln>
            <a:noFill/>
          </a:ln>
        </p:spPr>
        <p:txBody>
          <a:bodyPr wrap="square" lIns="0" tIns="0" rIns="0" bIns="0" anchor="ctr">
            <a:noAutofit/>
          </a:bodyPr>
          <a:lstStyle/>
          <a:p>
            <a:pPr algn="ctr">
              <a:buNone/>
            </a:pPr>
            <a:r>
              <a:rPr lang="en-US" sz="1100" b="1" kern="0" spc="200" dirty="0">
                <a:solidFill>
                  <a:srgbClr val="4EA8DE"/>
                </a:solidFill>
                <a:latin typeface="Segoe UI Semibold" pitchFamily="34" charset="0"/>
              </a:rPr>
              <a:t>EXECUTE</a:t>
            </a:r>
          </a:p>
        </p:txBody>
      </p:sp>
      <p:sp>
        <p:nvSpPr>
          <p:cNvPr id="104" name="Phase Bar EXECUTE"/>
          <p:cNvSpPr/>
          <p:nvPr/>
        </p:nvSpPr>
        <p:spPr>
          <a:xfrm>
            <a:off x="4330700" y="2489200"/>
            <a:ext cx="3543300" cy="38100"/>
          </a:xfrm>
          <a:prstGeom prst="rect">
            <a:avLst/>
          </a:prstGeom>
          <a:solidFill>
            <a:srgbClr val="4EA8DE"/>
          </a:solidFill>
          <a:ln>
            <a:noFill/>
          </a:ln>
        </p:spPr>
        <p:txBody>
          <a:bodyPr/>
          <a:lstStyle/>
          <a:p>
            <a:endParaRPr/>
          </a:p>
        </p:txBody>
      </p:sp>
      <p:sp>
        <p:nvSpPr>
          <p:cNvPr id="105" name="Phase Label BOOK"/>
          <p:cNvSpPr txBox="1"/>
          <p:nvPr/>
        </p:nvSpPr>
        <p:spPr>
          <a:xfrm>
            <a:off x="8089900" y="2209800"/>
            <a:ext cx="3543300" cy="254000"/>
          </a:xfrm>
          <a:prstGeom prst="rect">
            <a:avLst/>
          </a:prstGeom>
          <a:noFill/>
          <a:ln>
            <a:noFill/>
          </a:ln>
        </p:spPr>
        <p:txBody>
          <a:bodyPr wrap="square" lIns="0" tIns="0" rIns="0" bIns="0" anchor="ctr">
            <a:noAutofit/>
          </a:bodyPr>
          <a:lstStyle/>
          <a:p>
            <a:pPr algn="ctr">
              <a:buNone/>
            </a:pPr>
            <a:r>
              <a:rPr lang="en-US" sz="1100" b="1" kern="0" spc="200" dirty="0">
                <a:solidFill>
                  <a:srgbClr val="46D9A0"/>
                </a:solidFill>
                <a:latin typeface="Segoe UI Semibold" pitchFamily="34" charset="0"/>
              </a:rPr>
              <a:t>BOOK</a:t>
            </a:r>
          </a:p>
        </p:txBody>
      </p:sp>
      <p:sp>
        <p:nvSpPr>
          <p:cNvPr id="106" name="Phase Bar BOOK"/>
          <p:cNvSpPr/>
          <p:nvPr/>
        </p:nvSpPr>
        <p:spPr>
          <a:xfrm>
            <a:off x="8089900" y="2489200"/>
            <a:ext cx="3543300" cy="38100"/>
          </a:xfrm>
          <a:prstGeom prst="rect">
            <a:avLst/>
          </a:prstGeom>
          <a:solidFill>
            <a:srgbClr val="46D9A0"/>
          </a:solidFill>
          <a:ln>
            <a:noFill/>
          </a:ln>
        </p:spPr>
        <p:txBody>
          <a:bodyPr/>
          <a:lstStyle/>
          <a:p>
            <a:endParaRPr/>
          </a:p>
        </p:txBody>
      </p:sp>
      <p:pic>
        <p:nvPicPr>
          <p:cNvPr id="107" name="Graphic 107" descr="Decisi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2200" y="2921000"/>
            <a:ext cx="622300" cy="622300"/>
          </a:xfrm>
          <a:prstGeom prst="rect">
            <a:avLst/>
          </a:prstGeom>
        </p:spPr>
      </p:pic>
      <p:pic>
        <p:nvPicPr>
          <p:cNvPr id="108" name="Graphic 108" descr="Request"/>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71800" y="2921000"/>
            <a:ext cx="622300" cy="622300"/>
          </a:xfrm>
          <a:prstGeom prst="rect">
            <a:avLst/>
          </a:prstGeom>
        </p:spPr>
      </p:pic>
      <p:pic>
        <p:nvPicPr>
          <p:cNvPr id="109" name="Graphic 109" descr="Executio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31000" y="2921000"/>
            <a:ext cx="622300" cy="622300"/>
          </a:xfrm>
          <a:prstGeom prst="rect">
            <a:avLst/>
          </a:prstGeom>
        </p:spPr>
      </p:pic>
      <p:pic>
        <p:nvPicPr>
          <p:cNvPr id="110" name="Graphic 110" descr="Integration"/>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610600" y="2921000"/>
            <a:ext cx="622300" cy="622300"/>
          </a:xfrm>
          <a:prstGeom prst="rect">
            <a:avLst/>
          </a:prstGeom>
        </p:spPr>
      </p:pic>
      <p:pic>
        <p:nvPicPr>
          <p:cNvPr id="111" name="Graphic 111" descr="Settle"/>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77500" y="2921000"/>
            <a:ext cx="622300" cy="622300"/>
          </a:xfrm>
          <a:prstGeom prst="rect">
            <a:avLst/>
          </a:prstGeom>
        </p:spPr>
      </p:pic>
      <p:pic>
        <p:nvPicPr>
          <p:cNvPr id="112" name="Graphic 112" descr="Approval"/>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51400" y="2921000"/>
            <a:ext cx="622300" cy="622300"/>
          </a:xfrm>
          <a:prstGeom prst="rect">
            <a:avLst/>
          </a:prstGeom>
        </p:spPr>
      </p:pic>
    </p:spTree>
    <p:extLst>
      <p:ext uri="{BB962C8B-B14F-4D97-AF65-F5344CB8AC3E}">
        <p14:creationId xmlns:p14="http://schemas.microsoft.com/office/powerpoint/2010/main" val="4411903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MINUTES TO SECONDS</a:t>
            </a:r>
            <a:endParaRPr lang="en-US" sz="1200" dirty="0"/>
          </a:p>
        </p:txBody>
      </p:sp>
      <p:sp>
        <p:nvSpPr>
          <p:cNvPr id="4" name="Text 2"/>
          <p:cNvSpPr/>
          <p:nvPr/>
        </p:nvSpPr>
        <p:spPr>
          <a:xfrm>
            <a:off x="566928" y="960120"/>
            <a:ext cx="1088136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The manual middle, gone.</a:t>
            </a:r>
            <a:endParaRPr lang="en-US" sz="2900" dirty="0"/>
          </a:p>
        </p:txBody>
      </p:sp>
      <p:sp>
        <p:nvSpPr>
          <p:cNvPr id="6" name="Shape 3"/>
          <p:cNvSpPr/>
          <p:nvPr/>
        </p:nvSpPr>
        <p:spPr>
          <a:xfrm>
            <a:off x="7772400" y="2240280"/>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7" name="Image 1" descr="C:/Users/neuma_p1qrsic/Repo/agentic-ops1/.scratch/icons/bolt.png"/>
          <p:cNvPicPr>
            <a:picLocks noChangeAspect="1"/>
          </p:cNvPicPr>
          <p:nvPr/>
        </p:nvPicPr>
        <p:blipFill>
          <a:blip r:embed="rId3"/>
          <a:stretch>
            <a:fillRect/>
          </a:stretch>
        </p:blipFill>
        <p:spPr>
          <a:xfrm>
            <a:off x="7908463" y="2376343"/>
            <a:ext cx="294803" cy="294803"/>
          </a:xfrm>
          <a:prstGeom prst="rect">
            <a:avLst/>
          </a:prstGeom>
        </p:spPr>
      </p:pic>
      <p:sp>
        <p:nvSpPr>
          <p:cNvPr id="8" name="Text 4"/>
          <p:cNvSpPr/>
          <p:nvPr/>
        </p:nvSpPr>
        <p:spPr>
          <a:xfrm>
            <a:off x="8522208" y="2212848"/>
            <a:ext cx="3102559" cy="365760"/>
          </a:xfrm>
          <a:prstGeom prst="rect">
            <a:avLst/>
          </a:prstGeom>
          <a:noFill/>
          <a:ln/>
        </p:spPr>
        <p:txBody>
          <a:bodyPr wrap="square" rtlCol="0" anchor="ctr"/>
          <a:lstStyle/>
          <a:p>
            <a:pPr marL="0" indent="0">
              <a:buNone/>
            </a:pPr>
            <a:r>
              <a:rPr lang="en-US" sz="1550" b="1" dirty="0">
                <a:solidFill>
                  <a:srgbClr val="F3F6FB"/>
                </a:solidFill>
                <a:latin typeface="Segoe UI Semibold" pitchFamily="34" charset="0"/>
                <a:ea typeface="Segoe UI Semibold" pitchFamily="34" charset="-122"/>
                <a:cs typeface="Segoe UI Semibold" pitchFamily="34" charset="-120"/>
              </a:rPr>
              <a:t>Straight to SAP</a:t>
            </a:r>
            <a:endParaRPr lang="en-US" sz="1550" dirty="0"/>
          </a:p>
        </p:txBody>
      </p:sp>
      <p:sp>
        <p:nvSpPr>
          <p:cNvPr id="9" name="Text 5"/>
          <p:cNvSpPr/>
          <p:nvPr/>
        </p:nvSpPr>
        <p:spPr>
          <a:xfrm>
            <a:off x="8522208" y="2578608"/>
            <a:ext cx="3102559" cy="822960"/>
          </a:xfrm>
          <a:prstGeom prst="rect">
            <a:avLst/>
          </a:prstGeom>
          <a:noFill/>
          <a:ln/>
        </p:spPr>
        <p:txBody>
          <a:bodyPr wrap="square" rtlCol="0" anchor="t"/>
          <a:lstStyle/>
          <a:p>
            <a:pPr marL="0" indent="0">
              <a:lnSpc>
                <a:spcPct val="118000"/>
              </a:lnSpc>
              <a:buNone/>
            </a:pPr>
            <a:r>
              <a:rPr lang="en-US" sz="1200" dirty="0">
                <a:solidFill>
                  <a:srgbClr val="AAB6C7"/>
                </a:solidFill>
                <a:latin typeface="Segoe UI" pitchFamily="34" charset="0"/>
                <a:ea typeface="Segoe UI" pitchFamily="34" charset="-122"/>
                <a:cs typeface="Segoe UI" pitchFamily="34" charset="-120"/>
              </a:rPr>
              <a:t>The trade flows from the venue into SAP Treasury on its own, checked and logged.</a:t>
            </a:r>
            <a:endParaRPr lang="en-US" sz="1200" dirty="0"/>
          </a:p>
        </p:txBody>
      </p:sp>
      <p:sp>
        <p:nvSpPr>
          <p:cNvPr id="10" name="Shape 6"/>
          <p:cNvSpPr/>
          <p:nvPr/>
        </p:nvSpPr>
        <p:spPr>
          <a:xfrm>
            <a:off x="7772400" y="359359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1" name="Image 2" descr="C:/Users/neuma_p1qrsic/Repo/agentic-ops1/.scratch/icons/shield.png"/>
          <p:cNvPicPr>
            <a:picLocks noChangeAspect="1"/>
          </p:cNvPicPr>
          <p:nvPr/>
        </p:nvPicPr>
        <p:blipFill>
          <a:blip r:embed="rId4"/>
          <a:stretch>
            <a:fillRect/>
          </a:stretch>
        </p:blipFill>
        <p:spPr>
          <a:xfrm>
            <a:off x="7908463" y="3729655"/>
            <a:ext cx="294803" cy="294803"/>
          </a:xfrm>
          <a:prstGeom prst="rect">
            <a:avLst/>
          </a:prstGeom>
        </p:spPr>
      </p:pic>
      <p:sp>
        <p:nvSpPr>
          <p:cNvPr id="12" name="Text 7"/>
          <p:cNvSpPr/>
          <p:nvPr/>
        </p:nvSpPr>
        <p:spPr>
          <a:xfrm>
            <a:off x="8522208" y="3566160"/>
            <a:ext cx="3102559" cy="365760"/>
          </a:xfrm>
          <a:prstGeom prst="rect">
            <a:avLst/>
          </a:prstGeom>
          <a:noFill/>
          <a:ln/>
        </p:spPr>
        <p:txBody>
          <a:bodyPr wrap="square" rtlCol="0" anchor="ctr"/>
          <a:lstStyle/>
          <a:p>
            <a:pPr marL="0" indent="0">
              <a:buNone/>
            </a:pPr>
            <a:r>
              <a:rPr lang="en-US" sz="1550" b="1" dirty="0">
                <a:solidFill>
                  <a:srgbClr val="F3F6FB"/>
                </a:solidFill>
                <a:latin typeface="Segoe UI Semibold" pitchFamily="34" charset="0"/>
                <a:ea typeface="Segoe UI Semibold" pitchFamily="34" charset="-122"/>
                <a:cs typeface="Segoe UI Semibold" pitchFamily="34" charset="-120"/>
              </a:rPr>
              <a:t>Approvals, not waiting</a:t>
            </a:r>
            <a:endParaRPr lang="en-US" sz="1550" dirty="0"/>
          </a:p>
        </p:txBody>
      </p:sp>
      <p:sp>
        <p:nvSpPr>
          <p:cNvPr id="13" name="Text 8"/>
          <p:cNvSpPr/>
          <p:nvPr/>
        </p:nvSpPr>
        <p:spPr>
          <a:xfrm>
            <a:off x="8522208" y="3931920"/>
            <a:ext cx="3102559" cy="822960"/>
          </a:xfrm>
          <a:prstGeom prst="rect">
            <a:avLst/>
          </a:prstGeom>
          <a:noFill/>
          <a:ln/>
        </p:spPr>
        <p:txBody>
          <a:bodyPr wrap="square" rtlCol="0" anchor="t"/>
          <a:lstStyle/>
          <a:p>
            <a:pPr marL="0" indent="0">
              <a:lnSpc>
                <a:spcPct val="118000"/>
              </a:lnSpc>
              <a:buNone/>
            </a:pPr>
            <a:r>
              <a:rPr lang="en-US" sz="1200" dirty="0">
                <a:solidFill>
                  <a:srgbClr val="AAB6C7"/>
                </a:solidFill>
                <a:latin typeface="Segoe UI" pitchFamily="34" charset="0"/>
                <a:ea typeface="Segoe UI" pitchFamily="34" charset="-122"/>
                <a:cs typeface="Segoe UI" pitchFamily="34" charset="-120"/>
              </a:rPr>
              <a:t>Sign-off routes to the right person in the tool, so nothing sits in an inbox.</a:t>
            </a:r>
            <a:endParaRPr lang="en-US" sz="1200" dirty="0"/>
          </a:p>
        </p:txBody>
      </p:sp>
      <p:sp>
        <p:nvSpPr>
          <p:cNvPr id="14" name="Shape 9"/>
          <p:cNvSpPr/>
          <p:nvPr/>
        </p:nvSpPr>
        <p:spPr>
          <a:xfrm>
            <a:off x="7772400" y="494690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5" name="Image 3" descr="C:/Users/neuma_p1qrsic/Repo/agentic-ops1/.scratch/icons/check.png"/>
          <p:cNvPicPr>
            <a:picLocks noChangeAspect="1"/>
          </p:cNvPicPr>
          <p:nvPr/>
        </p:nvPicPr>
        <p:blipFill>
          <a:blip r:embed="rId5"/>
          <a:stretch>
            <a:fillRect/>
          </a:stretch>
        </p:blipFill>
        <p:spPr>
          <a:xfrm>
            <a:off x="7908463" y="5082967"/>
            <a:ext cx="294803" cy="294803"/>
          </a:xfrm>
          <a:prstGeom prst="rect">
            <a:avLst/>
          </a:prstGeom>
        </p:spPr>
      </p:pic>
      <p:sp>
        <p:nvSpPr>
          <p:cNvPr id="16" name="Text 10"/>
          <p:cNvSpPr/>
          <p:nvPr/>
        </p:nvSpPr>
        <p:spPr>
          <a:xfrm>
            <a:off x="8522208" y="4919472"/>
            <a:ext cx="3102559" cy="365760"/>
          </a:xfrm>
          <a:prstGeom prst="rect">
            <a:avLst/>
          </a:prstGeom>
          <a:noFill/>
          <a:ln/>
        </p:spPr>
        <p:txBody>
          <a:bodyPr wrap="square" rtlCol="0" anchor="ctr"/>
          <a:lstStyle/>
          <a:p>
            <a:pPr marL="0" indent="0">
              <a:buNone/>
            </a:pPr>
            <a:r>
              <a:rPr lang="en-US" sz="1550" b="1" dirty="0">
                <a:solidFill>
                  <a:srgbClr val="F3F6FB"/>
                </a:solidFill>
                <a:latin typeface="Segoe UI Semibold" pitchFamily="34" charset="0"/>
                <a:ea typeface="Segoe UI Semibold" pitchFamily="34" charset="-122"/>
                <a:cs typeface="Segoe UI Semibold" pitchFamily="34" charset="-120"/>
              </a:rPr>
              <a:t>Nothing re-typed</a:t>
            </a:r>
            <a:endParaRPr lang="en-US" sz="1550" dirty="0"/>
          </a:p>
        </p:txBody>
      </p:sp>
      <p:sp>
        <p:nvSpPr>
          <p:cNvPr id="17" name="Text 11"/>
          <p:cNvSpPr/>
          <p:nvPr/>
        </p:nvSpPr>
        <p:spPr>
          <a:xfrm>
            <a:off x="8522208" y="5285232"/>
            <a:ext cx="3102559" cy="822960"/>
          </a:xfrm>
          <a:prstGeom prst="rect">
            <a:avLst/>
          </a:prstGeom>
          <a:noFill/>
          <a:ln/>
        </p:spPr>
        <p:txBody>
          <a:bodyPr wrap="square" rtlCol="0" anchor="t"/>
          <a:lstStyle/>
          <a:p>
            <a:pPr marL="0" indent="0">
              <a:lnSpc>
                <a:spcPct val="118000"/>
              </a:lnSpc>
              <a:buNone/>
            </a:pPr>
            <a:r>
              <a:rPr lang="en-US" sz="1200" dirty="0">
                <a:solidFill>
                  <a:srgbClr val="AAB6C7"/>
                </a:solidFill>
                <a:latin typeface="Segoe UI" pitchFamily="34" charset="0"/>
                <a:ea typeface="Segoe UI" pitchFamily="34" charset="-122"/>
                <a:cs typeface="Segoe UI" pitchFamily="34" charset="-120"/>
              </a:rPr>
              <a:t>No re-keying tickets or building deal entries by hand; the busywork is gone.</a:t>
            </a:r>
            <a:endParaRPr lang="en-US" sz="1200" dirty="0"/>
          </a:p>
        </p:txBody>
      </p:sp>
      <p:sp>
        <p:nvSpPr>
          <p:cNvPr id="18" name="Text 12"/>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19" name="Text 13"/>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06 / 10</a:t>
            </a:r>
            <a:endParaRPr lang="en-US" sz="900" dirty="0"/>
          </a:p>
        </p:txBody>
      </p:sp>
      <p:sp>
        <p:nvSpPr>
          <p:cNvPr id="20" name="Shape 14"/>
          <p:cNvSpPr/>
          <p:nvPr/>
        </p:nvSpPr>
        <p:spPr>
          <a:xfrm>
            <a:off x="566928" y="6327648"/>
            <a:ext cx="11057839" cy="0"/>
          </a:xfrm>
          <a:prstGeom prst="line">
            <a:avLst/>
          </a:prstGeom>
          <a:noFill/>
          <a:ln w="9525">
            <a:solidFill>
              <a:srgbClr val="36414F"/>
            </a:solidFill>
            <a:prstDash val="solid"/>
          </a:ln>
        </p:spPr>
        <p:txBody>
          <a:bodyPr/>
          <a:lstStyle/>
          <a:p>
            <a:endParaRPr lang="en-US"/>
          </a:p>
        </p:txBody>
      </p:sp>
      <p:sp>
        <p:nvSpPr>
          <p:cNvPr id="39" name="Rectangle 38">
            <a:extLst>
              <a:ext uri="{FF2B5EF4-FFF2-40B4-BE49-F238E27FC236}">
                <a16:creationId xmlns:a16="http://schemas.microsoft.com/office/drawing/2014/main" id="{8D10D51A-6499-004C-AFC1-348C1AE5726D}"/>
              </a:ext>
            </a:extLst>
          </p:cNvPr>
          <p:cNvSpPr/>
          <p:nvPr/>
        </p:nvSpPr>
        <p:spPr>
          <a:xfrm>
            <a:off x="2095500" y="2667000"/>
            <a:ext cx="4572000" cy="609600"/>
          </a:xfrm>
          <a:prstGeom prst="rect">
            <a:avLst/>
          </a:prstGeom>
          <a:solidFill>
            <a:srgbClr val="FFC9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2453F76B-3E00-6B49-BA0C-490A2A4222D6}"/>
              </a:ext>
            </a:extLst>
          </p:cNvPr>
          <p:cNvSpPr/>
          <p:nvPr/>
        </p:nvSpPr>
        <p:spPr>
          <a:xfrm>
            <a:off x="2095500" y="3784600"/>
            <a:ext cx="279400" cy="609600"/>
          </a:xfrm>
          <a:prstGeom prst="rect">
            <a:avLst/>
          </a:prstGeom>
          <a:solidFill>
            <a:srgbClr val="3BE3E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334C61C3-1CD8-4E46-934D-11E98AF00522}"/>
              </a:ext>
            </a:extLst>
          </p:cNvPr>
          <p:cNvSpPr txBox="1"/>
          <p:nvPr/>
        </p:nvSpPr>
        <p:spPr>
          <a:xfrm>
            <a:off x="444500" y="2667000"/>
            <a:ext cx="1587500" cy="609600"/>
          </a:xfrm>
          <a:prstGeom prst="rect">
            <a:avLst/>
          </a:prstGeom>
          <a:noFill/>
        </p:spPr>
        <p:txBody>
          <a:bodyPr vertOverflow="overflow" vert="horz" wrap="none" rtlCol="0" anchor="ctr" anchorCtr="0">
            <a:noAutofit/>
          </a:bodyPr>
          <a:lstStyle/>
          <a:p>
            <a:pPr algn="l"/>
            <a:r>
              <a:rPr lang="en-US" sz="1200">
                <a:solidFill>
                  <a:srgbClr val="F3F6FB"/>
                </a:solidFill>
                <a:latin typeface="Segoe UI"/>
                <a:cs typeface="Segoe UI"/>
              </a:rPr>
              <a:t>Manual today</a:t>
            </a:r>
          </a:p>
        </p:txBody>
      </p:sp>
      <p:sp>
        <p:nvSpPr>
          <p:cNvPr id="42" name="TextBox 41">
            <a:extLst>
              <a:ext uri="{FF2B5EF4-FFF2-40B4-BE49-F238E27FC236}">
                <a16:creationId xmlns:a16="http://schemas.microsoft.com/office/drawing/2014/main" id="{910741B5-B612-A947-ACF8-5A333E06DCA9}"/>
              </a:ext>
            </a:extLst>
          </p:cNvPr>
          <p:cNvSpPr txBox="1"/>
          <p:nvPr/>
        </p:nvSpPr>
        <p:spPr>
          <a:xfrm>
            <a:off x="317500" y="3784600"/>
            <a:ext cx="1714500" cy="609600"/>
          </a:xfrm>
          <a:prstGeom prst="rect">
            <a:avLst/>
          </a:prstGeom>
          <a:noFill/>
        </p:spPr>
        <p:txBody>
          <a:bodyPr vertOverflow="overflow" vert="horz" wrap="none" rtlCol="0" anchor="ctr" anchorCtr="0">
            <a:noAutofit/>
          </a:bodyPr>
          <a:lstStyle/>
          <a:p>
            <a:pPr algn="l"/>
            <a:r>
              <a:rPr lang="en-US" sz="1200">
                <a:solidFill>
                  <a:srgbClr val="F3F6FB"/>
                </a:solidFill>
                <a:latin typeface="Segoe UI"/>
                <a:cs typeface="Segoe UI"/>
              </a:rPr>
              <a:t>With Smart Trading</a:t>
            </a:r>
          </a:p>
        </p:txBody>
      </p:sp>
      <p:sp>
        <p:nvSpPr>
          <p:cNvPr id="43" name="TextBox 42">
            <a:extLst>
              <a:ext uri="{FF2B5EF4-FFF2-40B4-BE49-F238E27FC236}">
                <a16:creationId xmlns:a16="http://schemas.microsoft.com/office/drawing/2014/main" id="{002D66C0-DCE6-A641-BB09-43077EF2D741}"/>
              </a:ext>
            </a:extLst>
          </p:cNvPr>
          <p:cNvSpPr txBox="1"/>
          <p:nvPr/>
        </p:nvSpPr>
        <p:spPr>
          <a:xfrm>
            <a:off x="5587847" y="2685288"/>
            <a:ext cx="1016000" cy="609600"/>
          </a:xfrm>
          <a:prstGeom prst="rect">
            <a:avLst/>
          </a:prstGeom>
          <a:noFill/>
        </p:spPr>
        <p:txBody>
          <a:bodyPr vertOverflow="overflow" vert="horz" wrap="none" rtlCol="0" anchor="ctr" anchorCtr="0">
            <a:noAutofit/>
          </a:bodyPr>
          <a:lstStyle/>
          <a:p>
            <a:pPr algn="l"/>
            <a:r>
              <a:rPr lang="en-US" sz="1400" b="1" dirty="0">
                <a:solidFill>
                  <a:srgbClr val="07222A"/>
                </a:solidFill>
                <a:latin typeface="Segoe UI"/>
                <a:cs typeface="Segoe UI"/>
              </a:rPr>
              <a:t>~12 min</a:t>
            </a:r>
          </a:p>
        </p:txBody>
      </p:sp>
      <p:sp>
        <p:nvSpPr>
          <p:cNvPr id="44" name="TextBox 43">
            <a:extLst>
              <a:ext uri="{FF2B5EF4-FFF2-40B4-BE49-F238E27FC236}">
                <a16:creationId xmlns:a16="http://schemas.microsoft.com/office/drawing/2014/main" id="{BB8F6BBC-0105-2143-A577-9A1263114707}"/>
              </a:ext>
            </a:extLst>
          </p:cNvPr>
          <p:cNvSpPr txBox="1"/>
          <p:nvPr/>
        </p:nvSpPr>
        <p:spPr>
          <a:xfrm>
            <a:off x="2463800" y="3784600"/>
            <a:ext cx="1016000" cy="609600"/>
          </a:xfrm>
          <a:prstGeom prst="rect">
            <a:avLst/>
          </a:prstGeom>
          <a:noFill/>
        </p:spPr>
        <p:txBody>
          <a:bodyPr vertOverflow="overflow" vert="horz" wrap="none" rtlCol="0" anchor="ctr" anchorCtr="0">
            <a:noAutofit/>
          </a:bodyPr>
          <a:lstStyle/>
          <a:p>
            <a:pPr algn="l"/>
            <a:r>
              <a:rPr lang="en-US" sz="1400" b="1">
                <a:solidFill>
                  <a:srgbClr val="F3F6FB"/>
                </a:solidFill>
                <a:latin typeface="Segoe UI"/>
                <a:cs typeface="Segoe UI"/>
              </a:rPr>
              <a:t>&lt;1 min</a:t>
            </a:r>
          </a:p>
        </p:txBody>
      </p:sp>
      <p:sp>
        <p:nvSpPr>
          <p:cNvPr id="45" name="TextBox 44">
            <a:extLst>
              <a:ext uri="{FF2B5EF4-FFF2-40B4-BE49-F238E27FC236}">
                <a16:creationId xmlns:a16="http://schemas.microsoft.com/office/drawing/2014/main" id="{79CFBBA0-6C8D-9746-A759-FA2C4B7E2CC4}"/>
              </a:ext>
            </a:extLst>
          </p:cNvPr>
          <p:cNvSpPr txBox="1"/>
          <p:nvPr/>
        </p:nvSpPr>
        <p:spPr>
          <a:xfrm>
            <a:off x="2095500" y="4826000"/>
            <a:ext cx="5334000" cy="558800"/>
          </a:xfrm>
          <a:prstGeom prst="rect">
            <a:avLst/>
          </a:prstGeom>
          <a:noFill/>
        </p:spPr>
        <p:txBody>
          <a:bodyPr vertOverflow="overflow" vert="horz" wrap="square" rtlCol="0" anchor="t" anchorCtr="0">
            <a:noAutofit/>
          </a:bodyPr>
          <a:lstStyle/>
          <a:p>
            <a:pPr algn="l"/>
            <a:r>
              <a:rPr lang="en-US" sz="1000" i="1">
                <a:solidFill>
                  <a:srgbClr val="AAB6C7"/>
                </a:solidFill>
                <a:latin typeface="Segoe UI"/>
                <a:cs typeface="Segoe UI"/>
              </a:rPr>
              <a:t>Manual FX execution: 10–15 min per trade — The Association of Corporate Treasurers.
Spot FX automation now ~90% — LSEG.</a:t>
            </a:r>
          </a:p>
        </p:txBody>
      </p:sp>
    </p:spTree>
    <p:extLst>
      <p:ext uri="{BB962C8B-B14F-4D97-AF65-F5344CB8AC3E}">
        <p14:creationId xmlns:p14="http://schemas.microsoft.com/office/powerpoint/2010/main" val="42037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WHY IT IS SAFE TO LET IT RUN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The controls are built in, not bolted on.</a:t>
            </a:r>
            <a:endParaRPr lang="en-US" sz="2800" dirty="0"/>
          </a:p>
        </p:txBody>
      </p:sp>
      <p:sp>
        <p:nvSpPr>
          <p:cNvPr id="5" name="Shape 3"/>
          <p:cNvSpPr/>
          <p:nvPr/>
        </p:nvSpPr>
        <p:spPr>
          <a:xfrm>
            <a:off x="566928" y="2194560"/>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22960" y="249631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list.png"/>
          <p:cNvPicPr>
            <a:picLocks noChangeAspect="1"/>
          </p:cNvPicPr>
          <p:nvPr/>
        </p:nvPicPr>
        <p:blipFill>
          <a:blip r:embed="rId3"/>
          <a:stretch>
            <a:fillRect/>
          </a:stretch>
        </p:blipFill>
        <p:spPr>
          <a:xfrm>
            <a:off x="959023" y="2632375"/>
            <a:ext cx="294803" cy="294803"/>
          </a:xfrm>
          <a:prstGeom prst="rect">
            <a:avLst/>
          </a:prstGeom>
        </p:spPr>
      </p:pic>
      <p:sp>
        <p:nvSpPr>
          <p:cNvPr id="8" name="Text 5"/>
          <p:cNvSpPr/>
          <p:nvPr/>
        </p:nvSpPr>
        <p:spPr>
          <a:xfrm>
            <a:off x="1572768" y="2414016"/>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A full audit trail</a:t>
            </a:r>
            <a:endParaRPr lang="en-US" sz="1650" dirty="0"/>
          </a:p>
        </p:txBody>
      </p:sp>
      <p:sp>
        <p:nvSpPr>
          <p:cNvPr id="9" name="Text 6"/>
          <p:cNvSpPr/>
          <p:nvPr/>
        </p:nvSpPr>
        <p:spPr>
          <a:xfrm>
            <a:off x="1572768" y="2798064"/>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Every action is recorded, end to end.</a:t>
            </a:r>
            <a:endParaRPr lang="en-US" sz="1250" dirty="0"/>
          </a:p>
        </p:txBody>
      </p:sp>
      <p:sp>
        <p:nvSpPr>
          <p:cNvPr id="10" name="Shape 7"/>
          <p:cNvSpPr/>
          <p:nvPr/>
        </p:nvSpPr>
        <p:spPr>
          <a:xfrm>
            <a:off x="6278728" y="2194560"/>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534760" y="249631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shield.png"/>
          <p:cNvPicPr>
            <a:picLocks noChangeAspect="1"/>
          </p:cNvPicPr>
          <p:nvPr/>
        </p:nvPicPr>
        <p:blipFill>
          <a:blip r:embed="rId4"/>
          <a:stretch>
            <a:fillRect/>
          </a:stretch>
        </p:blipFill>
        <p:spPr>
          <a:xfrm>
            <a:off x="6670822" y="2632375"/>
            <a:ext cx="294803" cy="294803"/>
          </a:xfrm>
          <a:prstGeom prst="rect">
            <a:avLst/>
          </a:prstGeom>
        </p:spPr>
      </p:pic>
      <p:sp>
        <p:nvSpPr>
          <p:cNvPr id="13" name="Text 9"/>
          <p:cNvSpPr/>
          <p:nvPr/>
        </p:nvSpPr>
        <p:spPr>
          <a:xfrm>
            <a:off x="7284568" y="2414016"/>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Four-eye approval</a:t>
            </a:r>
            <a:endParaRPr lang="en-US" sz="1650" dirty="0"/>
          </a:p>
        </p:txBody>
      </p:sp>
      <p:sp>
        <p:nvSpPr>
          <p:cNvPr id="14" name="Text 10"/>
          <p:cNvSpPr/>
          <p:nvPr/>
        </p:nvSpPr>
        <p:spPr>
          <a:xfrm>
            <a:off x="7284568" y="2798064"/>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The moves that matter need a second person.</a:t>
            </a:r>
            <a:endParaRPr lang="en-US" sz="1250" dirty="0"/>
          </a:p>
        </p:txBody>
      </p:sp>
      <p:sp>
        <p:nvSpPr>
          <p:cNvPr id="15" name="Shape 11"/>
          <p:cNvSpPr/>
          <p:nvPr/>
        </p:nvSpPr>
        <p:spPr>
          <a:xfrm>
            <a:off x="566928" y="3547872"/>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822960" y="384962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eye.png"/>
          <p:cNvPicPr>
            <a:picLocks noChangeAspect="1"/>
          </p:cNvPicPr>
          <p:nvPr/>
        </p:nvPicPr>
        <p:blipFill>
          <a:blip r:embed="rId5"/>
          <a:stretch>
            <a:fillRect/>
          </a:stretch>
        </p:blipFill>
        <p:spPr>
          <a:xfrm>
            <a:off x="959023" y="3985687"/>
            <a:ext cx="294803" cy="294803"/>
          </a:xfrm>
          <a:prstGeom prst="rect">
            <a:avLst/>
          </a:prstGeom>
        </p:spPr>
      </p:pic>
      <p:sp>
        <p:nvSpPr>
          <p:cNvPr id="18" name="Text 13"/>
          <p:cNvSpPr/>
          <p:nvPr/>
        </p:nvSpPr>
        <p:spPr>
          <a:xfrm>
            <a:off x="1572768" y="3767328"/>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Automatic checks</a:t>
            </a:r>
            <a:endParaRPr lang="en-US" sz="1650" dirty="0"/>
          </a:p>
        </p:txBody>
      </p:sp>
      <p:sp>
        <p:nvSpPr>
          <p:cNvPr id="19" name="Text 14"/>
          <p:cNvSpPr/>
          <p:nvPr/>
        </p:nvSpPr>
        <p:spPr>
          <a:xfrm>
            <a:off x="1572768" y="4151376"/>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Odd or bad data is caught before it reaches SAP.</a:t>
            </a:r>
            <a:endParaRPr lang="en-US" sz="1250" dirty="0"/>
          </a:p>
        </p:txBody>
      </p:sp>
      <p:sp>
        <p:nvSpPr>
          <p:cNvPr id="20" name="Shape 15"/>
          <p:cNvSpPr/>
          <p:nvPr/>
        </p:nvSpPr>
        <p:spPr>
          <a:xfrm>
            <a:off x="6278728" y="3547872"/>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21" name="Shape 16"/>
          <p:cNvSpPr/>
          <p:nvPr/>
        </p:nvSpPr>
        <p:spPr>
          <a:xfrm>
            <a:off x="6534760" y="384962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22" name="Image 3" descr="C:/Users/neuma_p1qrsic/Repo/agentic-ops1/.scratch/icons/bell.png"/>
          <p:cNvPicPr>
            <a:picLocks noChangeAspect="1"/>
          </p:cNvPicPr>
          <p:nvPr/>
        </p:nvPicPr>
        <p:blipFill>
          <a:blip r:embed="rId6"/>
          <a:stretch>
            <a:fillRect/>
          </a:stretch>
        </p:blipFill>
        <p:spPr>
          <a:xfrm>
            <a:off x="6670822" y="3985687"/>
            <a:ext cx="294803" cy="294803"/>
          </a:xfrm>
          <a:prstGeom prst="rect">
            <a:avLst/>
          </a:prstGeom>
        </p:spPr>
      </p:pic>
      <p:sp>
        <p:nvSpPr>
          <p:cNvPr id="23" name="Text 17"/>
          <p:cNvSpPr/>
          <p:nvPr/>
        </p:nvSpPr>
        <p:spPr>
          <a:xfrm>
            <a:off x="7284568" y="3767328"/>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Alerts on exceptions</a:t>
            </a:r>
            <a:endParaRPr lang="en-US" sz="1650" dirty="0"/>
          </a:p>
        </p:txBody>
      </p:sp>
      <p:sp>
        <p:nvSpPr>
          <p:cNvPr id="24" name="Text 18"/>
          <p:cNvSpPr/>
          <p:nvPr/>
        </p:nvSpPr>
        <p:spPr>
          <a:xfrm>
            <a:off x="7284568" y="4151376"/>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You hear about the odd one out; the rest just runs.</a:t>
            </a:r>
            <a:endParaRPr lang="en-US" sz="1250" dirty="0"/>
          </a:p>
        </p:txBody>
      </p:sp>
      <p:sp>
        <p:nvSpPr>
          <p:cNvPr id="25" name="Shape 19"/>
          <p:cNvSpPr/>
          <p:nvPr/>
        </p:nvSpPr>
        <p:spPr>
          <a:xfrm>
            <a:off x="566928" y="4901184"/>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26" name="Shape 20"/>
          <p:cNvSpPr/>
          <p:nvPr/>
        </p:nvSpPr>
        <p:spPr>
          <a:xfrm>
            <a:off x="822960" y="5202936"/>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27" name="Image 4" descr="C:/Users/neuma_p1qrsic/Repo/agentic-ops1/.scratch/icons/blocks.png"/>
          <p:cNvPicPr>
            <a:picLocks noChangeAspect="1"/>
          </p:cNvPicPr>
          <p:nvPr/>
        </p:nvPicPr>
        <p:blipFill>
          <a:blip r:embed="rId7"/>
          <a:stretch>
            <a:fillRect/>
          </a:stretch>
        </p:blipFill>
        <p:spPr>
          <a:xfrm>
            <a:off x="959023" y="5338999"/>
            <a:ext cx="294803" cy="294803"/>
          </a:xfrm>
          <a:prstGeom prst="rect">
            <a:avLst/>
          </a:prstGeom>
        </p:spPr>
      </p:pic>
      <p:sp>
        <p:nvSpPr>
          <p:cNvPr id="28" name="Text 21"/>
          <p:cNvSpPr/>
          <p:nvPr/>
        </p:nvSpPr>
        <p:spPr>
          <a:xfrm>
            <a:off x="1572768" y="5120640"/>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No code to change it</a:t>
            </a:r>
            <a:endParaRPr lang="en-US" sz="1650" dirty="0"/>
          </a:p>
        </p:txBody>
      </p:sp>
      <p:sp>
        <p:nvSpPr>
          <p:cNvPr id="29" name="Text 22"/>
          <p:cNvSpPr/>
          <p:nvPr/>
        </p:nvSpPr>
        <p:spPr>
          <a:xfrm>
            <a:off x="1572768" y="5504688"/>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Your rules, changed by your team, no IT project.</a:t>
            </a:r>
            <a:endParaRPr lang="en-US" sz="1250" dirty="0"/>
          </a:p>
        </p:txBody>
      </p:sp>
      <p:sp>
        <p:nvSpPr>
          <p:cNvPr id="30" name="Shape 23"/>
          <p:cNvSpPr/>
          <p:nvPr/>
        </p:nvSpPr>
        <p:spPr>
          <a:xfrm>
            <a:off x="6278728" y="4901184"/>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31" name="Shape 24"/>
          <p:cNvSpPr/>
          <p:nvPr/>
        </p:nvSpPr>
        <p:spPr>
          <a:xfrm>
            <a:off x="6534760" y="5202936"/>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32" name="Image 5" descr="C:/Users/neuma_p1qrsic/Repo/agentic-ops1/.scratch/icons/lock.png"/>
          <p:cNvPicPr>
            <a:picLocks noChangeAspect="1"/>
          </p:cNvPicPr>
          <p:nvPr/>
        </p:nvPicPr>
        <p:blipFill>
          <a:blip r:embed="rId8"/>
          <a:stretch>
            <a:fillRect/>
          </a:stretch>
        </p:blipFill>
        <p:spPr>
          <a:xfrm>
            <a:off x="6670822" y="5338999"/>
            <a:ext cx="294803" cy="294803"/>
          </a:xfrm>
          <a:prstGeom prst="rect">
            <a:avLst/>
          </a:prstGeom>
        </p:spPr>
      </p:pic>
      <p:sp>
        <p:nvSpPr>
          <p:cNvPr id="33" name="Text 25"/>
          <p:cNvSpPr/>
          <p:nvPr/>
        </p:nvSpPr>
        <p:spPr>
          <a:xfrm>
            <a:off x="7284568" y="5120640"/>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ISO 27001 and SOC 1</a:t>
            </a:r>
            <a:endParaRPr lang="en-US" sz="1650" dirty="0"/>
          </a:p>
        </p:txBody>
      </p:sp>
      <p:sp>
        <p:nvSpPr>
          <p:cNvPr id="34" name="Text 26"/>
          <p:cNvSpPr/>
          <p:nvPr/>
        </p:nvSpPr>
        <p:spPr>
          <a:xfrm>
            <a:off x="7284568" y="5504688"/>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The security controls your auditors already expect.</a:t>
            </a:r>
            <a:endParaRPr lang="en-US" sz="1250" dirty="0"/>
          </a:p>
        </p:txBody>
      </p:sp>
      <p:sp>
        <p:nvSpPr>
          <p:cNvPr id="35" name="Text 2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36" name="Text 2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07 / 10</a:t>
            </a:r>
            <a:endParaRPr lang="en-US" sz="900" dirty="0"/>
          </a:p>
        </p:txBody>
      </p:sp>
      <p:sp>
        <p:nvSpPr>
          <p:cNvPr id="37" name="Shape 29"/>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WHAT IT RUNS ON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Under the hood, it’s a single app: </a:t>
            </a:r>
            <a:r>
              <a:rPr lang="en-US" sz="2900" b="1" dirty="0">
                <a:solidFill>
                  <a:srgbClr val="3BE3E0"/>
                </a:solidFill>
                <a:latin typeface="Segoe UI Semibold" pitchFamily="34" charset="0"/>
                <a:ea typeface="Segoe UI Semibold" pitchFamily="34" charset="-122"/>
                <a:cs typeface="Segoe UI Semibold" pitchFamily="34" charset="-120"/>
              </a:rPr>
              <a:t>OnePilot</a:t>
            </a:r>
            <a:r>
              <a:rPr lang="en-US" sz="2900" b="1" dirty="0">
                <a:solidFill>
                  <a:srgbClr val="F3F6FB"/>
                </a:solidFill>
                <a:latin typeface="Segoe UI Semibold" pitchFamily="34" charset="0"/>
                <a:ea typeface="Segoe UI Semibold" pitchFamily="34" charset="-122"/>
                <a:cs typeface="Segoe UI Semibold" pitchFamily="34" charset="-120"/>
              </a:rPr>
              <a:t>.</a:t>
            </a:r>
            <a:endParaRPr lang="en-US" sz="2900" dirty="0"/>
          </a:p>
        </p:txBody>
      </p:sp>
      <p:sp>
        <p:nvSpPr>
          <p:cNvPr id="5" name="Text 3"/>
          <p:cNvSpPr/>
          <p:nvPr/>
        </p:nvSpPr>
        <p:spPr>
          <a:xfrm>
            <a:off x="566928" y="1828800"/>
            <a:ext cx="10607040" cy="1051560"/>
          </a:xfrm>
          <a:prstGeom prst="rect">
            <a:avLst/>
          </a:prstGeom>
          <a:noFill/>
          <a:ln/>
        </p:spPr>
        <p:txBody>
          <a:bodyPr wrap="square" rtlCol="0" anchor="ctr"/>
          <a:lstStyle/>
          <a:p>
            <a:pPr marL="0" indent="0">
              <a:lnSpc>
                <a:spcPct val="130000"/>
              </a:lnSpc>
              <a:buNone/>
            </a:pPr>
            <a:r>
              <a:rPr lang="en-US" sz="1600" dirty="0">
                <a:solidFill>
                  <a:srgbClr val="AAB6C7"/>
                </a:solidFill>
                <a:latin typeface="Segoe UI" pitchFamily="34" charset="0"/>
                <a:ea typeface="Segoe UI" pitchFamily="34" charset="-122"/>
                <a:cs typeface="Segoe UI" pitchFamily="34" charset="-120"/>
              </a:rPr>
              <a:t>OnePilot is the layer underneath. It moves your data cleanly between systems, both ways, across SAP and everything else, with the checks and the AI built in. One way to connect to all of it:</a:t>
            </a:r>
            <a:endParaRPr lang="en-US" sz="1600" dirty="0"/>
          </a:p>
        </p:txBody>
      </p:sp>
      <p:sp>
        <p:nvSpPr>
          <p:cNvPr id="6" name="Shape 4"/>
          <p:cNvSpPr/>
          <p:nvPr/>
        </p:nvSpPr>
        <p:spPr>
          <a:xfrm>
            <a:off x="566420"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7" name="Image 0" descr="C:/Users/neuma_p1qrsic/Repo/agentic-ops1/.scratch/icons/database.png"/>
          <p:cNvPicPr>
            <a:picLocks noChangeAspect="1"/>
          </p:cNvPicPr>
          <p:nvPr/>
        </p:nvPicPr>
        <p:blipFill>
          <a:blip r:embed="rId3"/>
          <a:stretch>
            <a:fillRect/>
          </a:stretch>
        </p:blipFill>
        <p:spPr>
          <a:xfrm>
            <a:off x="1542256" y="3538728"/>
            <a:ext cx="621792" cy="621792"/>
          </a:xfrm>
          <a:prstGeom prst="rect">
            <a:avLst/>
          </a:prstGeom>
        </p:spPr>
      </p:pic>
      <p:sp>
        <p:nvSpPr>
          <p:cNvPr id="8" name="Text 5"/>
          <p:cNvSpPr/>
          <p:nvPr/>
        </p:nvSpPr>
        <p:spPr>
          <a:xfrm>
            <a:off x="709930"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SAP systems</a:t>
            </a:r>
            <a:endParaRPr lang="en-US" sz="1300" dirty="0"/>
          </a:p>
        </p:txBody>
      </p:sp>
      <p:sp>
        <p:nvSpPr>
          <p:cNvPr id="9" name="Shape 6"/>
          <p:cNvSpPr/>
          <p:nvPr/>
        </p:nvSpPr>
        <p:spPr>
          <a:xfrm>
            <a:off x="3394392"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0" name="Image 1" descr="C:/Users/neuma_p1qrsic/Repo/agentic-ops1/.scratch/icons/sheet.png"/>
          <p:cNvPicPr>
            <a:picLocks noChangeAspect="1"/>
          </p:cNvPicPr>
          <p:nvPr/>
        </p:nvPicPr>
        <p:blipFill>
          <a:blip r:embed="rId4"/>
          <a:stretch>
            <a:fillRect/>
          </a:stretch>
        </p:blipFill>
        <p:spPr>
          <a:xfrm>
            <a:off x="4370228" y="3538728"/>
            <a:ext cx="621792" cy="621792"/>
          </a:xfrm>
          <a:prstGeom prst="rect">
            <a:avLst/>
          </a:prstGeom>
        </p:spPr>
      </p:pic>
      <p:sp>
        <p:nvSpPr>
          <p:cNvPr id="11" name="Text 7"/>
          <p:cNvSpPr/>
          <p:nvPr/>
        </p:nvSpPr>
        <p:spPr>
          <a:xfrm>
            <a:off x="3537902"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Spreadsheets &amp; files</a:t>
            </a:r>
            <a:endParaRPr lang="en-US" sz="1300" dirty="0"/>
          </a:p>
        </p:txBody>
      </p:sp>
      <p:sp>
        <p:nvSpPr>
          <p:cNvPr id="12" name="Shape 8"/>
          <p:cNvSpPr/>
          <p:nvPr/>
        </p:nvSpPr>
        <p:spPr>
          <a:xfrm>
            <a:off x="6222365"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3" name="Image 2" descr="C:/Users/neuma_p1qrsic/Repo/agentic-ops1/.scratch/icons/mail.png"/>
          <p:cNvPicPr>
            <a:picLocks noChangeAspect="1"/>
          </p:cNvPicPr>
          <p:nvPr/>
        </p:nvPicPr>
        <p:blipFill>
          <a:blip r:embed="rId5"/>
          <a:stretch>
            <a:fillRect/>
          </a:stretch>
        </p:blipFill>
        <p:spPr>
          <a:xfrm>
            <a:off x="7198201" y="3538728"/>
            <a:ext cx="621792" cy="621792"/>
          </a:xfrm>
          <a:prstGeom prst="rect">
            <a:avLst/>
          </a:prstGeom>
        </p:spPr>
      </p:pic>
      <p:sp>
        <p:nvSpPr>
          <p:cNvPr id="14" name="Text 9"/>
          <p:cNvSpPr/>
          <p:nvPr/>
        </p:nvSpPr>
        <p:spPr>
          <a:xfrm>
            <a:off x="6365875"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Email</a:t>
            </a:r>
            <a:endParaRPr lang="en-US" sz="1300" dirty="0"/>
          </a:p>
        </p:txBody>
      </p:sp>
      <p:sp>
        <p:nvSpPr>
          <p:cNvPr id="15" name="Shape 10"/>
          <p:cNvSpPr/>
          <p:nvPr/>
        </p:nvSpPr>
        <p:spPr>
          <a:xfrm>
            <a:off x="9050337"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6" name="Image 3" descr="C:/Users/neuma_p1qrsic/Repo/agentic-ops1/.scratch/icons/globe.png"/>
          <p:cNvPicPr>
            <a:picLocks noChangeAspect="1"/>
          </p:cNvPicPr>
          <p:nvPr/>
        </p:nvPicPr>
        <p:blipFill>
          <a:blip r:embed="rId6"/>
          <a:stretch>
            <a:fillRect/>
          </a:stretch>
        </p:blipFill>
        <p:spPr>
          <a:xfrm>
            <a:off x="10026173" y="3538728"/>
            <a:ext cx="621792" cy="621792"/>
          </a:xfrm>
          <a:prstGeom prst="rect">
            <a:avLst/>
          </a:prstGeom>
        </p:spPr>
      </p:pic>
      <p:sp>
        <p:nvSpPr>
          <p:cNvPr id="17" name="Text 11"/>
          <p:cNvSpPr/>
          <p:nvPr/>
        </p:nvSpPr>
        <p:spPr>
          <a:xfrm>
            <a:off x="9193847"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Web &amp; APIs</a:t>
            </a:r>
            <a:endParaRPr lang="en-US" sz="1300" dirty="0"/>
          </a:p>
        </p:txBody>
      </p:sp>
      <p:sp>
        <p:nvSpPr>
          <p:cNvPr id="21" name="Text 14"/>
          <p:cNvSpPr/>
          <p:nvPr/>
        </p:nvSpPr>
        <p:spPr>
          <a:xfrm>
            <a:off x="566928" y="5166360"/>
            <a:ext cx="11057839" cy="457200"/>
          </a:xfrm>
          <a:prstGeom prst="rect">
            <a:avLst/>
          </a:prstGeom>
          <a:noFill/>
          <a:ln/>
        </p:spPr>
        <p:txBody>
          <a:bodyPr wrap="square" rtlCol="0" anchor="ctr"/>
          <a:lstStyle/>
          <a:p>
            <a:pPr marL="0" indent="0">
              <a:buNone/>
            </a:pPr>
            <a:r>
              <a:rPr lang="en-US" sz="1450" dirty="0">
                <a:solidFill>
                  <a:srgbClr val="3BE3E0"/>
                </a:solidFill>
                <a:latin typeface="Segoe UI" pitchFamily="34" charset="0"/>
                <a:ea typeface="Segoe UI" pitchFamily="34" charset="-122"/>
                <a:cs typeface="Segoe UI" pitchFamily="34" charset="-120"/>
              </a:rPr>
              <a:t>It reads and writes to each of them, so the trade lands where it needs to with nothing re-typed.</a:t>
            </a:r>
            <a:endParaRPr lang="en-US" sz="1450" dirty="0"/>
          </a:p>
        </p:txBody>
      </p:sp>
      <p:sp>
        <p:nvSpPr>
          <p:cNvPr id="22" name="Text 15"/>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23" name="Text 16"/>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08 / 10</a:t>
            </a:r>
            <a:endParaRPr lang="en-US" sz="900" dirty="0"/>
          </a:p>
        </p:txBody>
      </p:sp>
      <p:sp>
        <p:nvSpPr>
          <p:cNvPr id="24" name="Shape 17"/>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1464484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a:effectLst/>
      </p:bgPr>
    </p:bg>
    <p:spTree>
      <p:nvGrpSpPr>
        <p:cNvPr id="1" name=""/>
        <p:cNvGrpSpPr/>
        <p:nvPr/>
      </p:nvGrpSpPr>
      <p:grpSpPr>
        <a:xfrm>
          <a:off x="0" y="0"/>
          <a:ext cx="0" cy="0"/>
          <a:chOff x="0" y="0"/>
          <a:chExt cx="0" cy="0"/>
        </a:xfrm>
      </p:grpSpPr>
      <p:pic>
        <p:nvPicPr>
          <p:cNvPr id="2" name="Image 0" descr="C:/Users/neuma_p1qrsic/Repo/agentic-ops1/.scratch/logo/favicon.png"/>
          <p:cNvPicPr>
            <a:picLocks noChangeAspect="1"/>
          </p:cNvPicPr>
          <p:nvPr/>
        </p:nvPicPr>
        <p:blipFill>
          <a:blip r:embed="rId3"/>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4"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WHO WE ARE</a:t>
            </a:r>
            <a:endParaRPr lang="en-US" sz="1200" dirty="0"/>
          </a:p>
        </p:txBody>
      </p:sp>
      <p:sp>
        <p:nvSpPr>
          <p:cNvPr id="5" name="Text 2"/>
          <p:cNvSpPr/>
          <p:nvPr/>
        </p:nvSpPr>
        <p:spPr>
          <a:xfrm>
            <a:off x="566928" y="960120"/>
            <a:ext cx="10607040" cy="822960"/>
          </a:xfrm>
          <a:prstGeom prst="rect">
            <a:avLst/>
          </a:prstGeom>
          <a:noFill/>
          <a:ln/>
        </p:spPr>
        <p:txBody>
          <a:bodyPr wrap="square" rtlCol="0" anchor="ctr"/>
          <a:lstStyle/>
          <a:p>
            <a:pPr marL="0" indent="0">
              <a:buNone/>
            </a:pPr>
            <a:r>
              <a:rPr lang="en-US" sz="3000" b="1" dirty="0">
                <a:solidFill>
                  <a:srgbClr val="F3F6FB"/>
                </a:solidFill>
                <a:latin typeface="Segoe UI Semibold" pitchFamily="34" charset="0"/>
                <a:ea typeface="Segoe UI Semibold" pitchFamily="34" charset="-122"/>
                <a:cs typeface="Segoe UI Semibold" pitchFamily="34" charset="-120"/>
              </a:rPr>
              <a:t>We are the AI layer for SAP treasury.</a:t>
            </a:r>
            <a:endParaRPr lang="en-US" sz="3000" dirty="0"/>
          </a:p>
        </p:txBody>
      </p:sp>
      <p:sp>
        <p:nvSpPr>
          <p:cNvPr id="6" name="Shape 3"/>
          <p:cNvSpPr/>
          <p:nvPr/>
        </p:nvSpPr>
        <p:spPr>
          <a:xfrm>
            <a:off x="566928"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7" name="Shape 4"/>
          <p:cNvSpPr/>
          <p:nvPr/>
        </p:nvSpPr>
        <p:spPr>
          <a:xfrm>
            <a:off x="841248"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8" name="Image 1" descr="C:/Users/neuma_p1qrsic/Repo/agentic-ops1/.scratch/icons/shield.png"/>
          <p:cNvPicPr>
            <a:picLocks noChangeAspect="1"/>
          </p:cNvPicPr>
          <p:nvPr/>
        </p:nvPicPr>
        <p:blipFill>
          <a:blip r:embed="rId4"/>
          <a:stretch>
            <a:fillRect/>
          </a:stretch>
        </p:blipFill>
        <p:spPr>
          <a:xfrm>
            <a:off x="990478" y="2590678"/>
            <a:ext cx="323332" cy="323332"/>
          </a:xfrm>
          <a:prstGeom prst="rect">
            <a:avLst/>
          </a:prstGeom>
        </p:spPr>
      </p:pic>
      <p:sp>
        <p:nvSpPr>
          <p:cNvPr id="9" name="Text 5"/>
          <p:cNvSpPr/>
          <p:nvPr/>
        </p:nvSpPr>
        <p:spPr>
          <a:xfrm>
            <a:off x="841248"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Built into SAP</a:t>
            </a:r>
            <a:endParaRPr lang="en-US" sz="1850" dirty="0"/>
          </a:p>
        </p:txBody>
      </p:sp>
      <p:sp>
        <p:nvSpPr>
          <p:cNvPr id="10" name="Text 6"/>
          <p:cNvSpPr/>
          <p:nvPr/>
        </p:nvSpPr>
        <p:spPr>
          <a:xfrm>
            <a:off x="841248"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An SAP co-innovation partner. Smart Trading runs on SAP's own cloud, so it sits inside your landscape, not beside it.</a:t>
            </a:r>
            <a:endParaRPr lang="en-US" sz="1300" dirty="0"/>
          </a:p>
        </p:txBody>
      </p:sp>
      <p:sp>
        <p:nvSpPr>
          <p:cNvPr id="11" name="Shape 7"/>
          <p:cNvSpPr/>
          <p:nvPr/>
        </p:nvSpPr>
        <p:spPr>
          <a:xfrm>
            <a:off x="4359554"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12" name="Shape 8"/>
          <p:cNvSpPr/>
          <p:nvPr/>
        </p:nvSpPr>
        <p:spPr>
          <a:xfrm>
            <a:off x="4633874"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13" name="Image 2" descr="C:/Users/neuma_p1qrsic/Repo/agentic-ops1/.scratch/icons/venue.png"/>
          <p:cNvPicPr>
            <a:picLocks noChangeAspect="1"/>
          </p:cNvPicPr>
          <p:nvPr/>
        </p:nvPicPr>
        <p:blipFill>
          <a:blip r:embed="rId5"/>
          <a:stretch>
            <a:fillRect/>
          </a:stretch>
        </p:blipFill>
        <p:spPr>
          <a:xfrm>
            <a:off x="4783104" y="2590678"/>
            <a:ext cx="323332" cy="323332"/>
          </a:xfrm>
          <a:prstGeom prst="rect">
            <a:avLst/>
          </a:prstGeom>
        </p:spPr>
      </p:pic>
      <p:sp>
        <p:nvSpPr>
          <p:cNvPr id="14" name="Text 9"/>
          <p:cNvSpPr/>
          <p:nvPr/>
        </p:nvSpPr>
        <p:spPr>
          <a:xfrm>
            <a:off x="4633874"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Every venue you trade</a:t>
            </a:r>
            <a:endParaRPr lang="en-US" sz="1850" dirty="0"/>
          </a:p>
        </p:txBody>
      </p:sp>
      <p:sp>
        <p:nvSpPr>
          <p:cNvPr id="15" name="Text 10"/>
          <p:cNvSpPr/>
          <p:nvPr/>
        </p:nvSpPr>
        <p:spPr>
          <a:xfrm>
            <a:off x="4633874"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Direct links to the platforms your desk already uses: FXall, Bloomberg, 360T, Citi Pulse and BidFX.</a:t>
            </a:r>
            <a:endParaRPr lang="en-US" sz="1300" dirty="0"/>
          </a:p>
        </p:txBody>
      </p:sp>
      <p:sp>
        <p:nvSpPr>
          <p:cNvPr id="16" name="Shape 11"/>
          <p:cNvSpPr/>
          <p:nvPr/>
        </p:nvSpPr>
        <p:spPr>
          <a:xfrm>
            <a:off x="8152181"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17" name="Shape 12"/>
          <p:cNvSpPr/>
          <p:nvPr/>
        </p:nvSpPr>
        <p:spPr>
          <a:xfrm>
            <a:off x="8426501"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18" name="Image 3" descr="C:/Users/neuma_p1qrsic/Repo/agentic-ops1/.scratch/icons/blocks.png"/>
          <p:cNvPicPr>
            <a:picLocks noChangeAspect="1"/>
          </p:cNvPicPr>
          <p:nvPr/>
        </p:nvPicPr>
        <p:blipFill>
          <a:blip r:embed="rId6"/>
          <a:stretch>
            <a:fillRect/>
          </a:stretch>
        </p:blipFill>
        <p:spPr>
          <a:xfrm>
            <a:off x="8575731" y="2590678"/>
            <a:ext cx="323332" cy="323332"/>
          </a:xfrm>
          <a:prstGeom prst="rect">
            <a:avLst/>
          </a:prstGeom>
        </p:spPr>
      </p:pic>
      <p:sp>
        <p:nvSpPr>
          <p:cNvPr id="19" name="Text 13"/>
          <p:cNvSpPr/>
          <p:nvPr/>
        </p:nvSpPr>
        <p:spPr>
          <a:xfrm>
            <a:off x="8426501"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Yours to change</a:t>
            </a:r>
            <a:endParaRPr lang="en-US" sz="1850" dirty="0"/>
          </a:p>
        </p:txBody>
      </p:sp>
      <p:sp>
        <p:nvSpPr>
          <p:cNvPr id="20" name="Text 14"/>
          <p:cNvSpPr/>
          <p:nvPr/>
        </p:nvSpPr>
        <p:spPr>
          <a:xfrm>
            <a:off x="8426501"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No code to run it. Your team keeps it in step with how you trade. Customer teams already build on the platform.</a:t>
            </a:r>
            <a:endParaRPr lang="en-US" sz="1300" dirty="0"/>
          </a:p>
        </p:txBody>
      </p:sp>
      <p:sp>
        <p:nvSpPr>
          <p:cNvPr id="21" name="Text 15"/>
          <p:cNvSpPr/>
          <p:nvPr/>
        </p:nvSpPr>
        <p:spPr>
          <a:xfrm>
            <a:off x="566928" y="5349240"/>
            <a:ext cx="960120" cy="777240"/>
          </a:xfrm>
          <a:prstGeom prst="rect">
            <a:avLst/>
          </a:prstGeom>
          <a:noFill/>
          <a:ln/>
        </p:spPr>
        <p:txBody>
          <a:bodyPr wrap="square" rtlCol="0" anchor="ctr"/>
          <a:lstStyle/>
          <a:p>
            <a:pPr marL="0" indent="0">
              <a:buNone/>
            </a:pPr>
            <a:r>
              <a:rPr lang="en-US" sz="4400" b="1" dirty="0">
                <a:solidFill>
                  <a:srgbClr val="3BE3E0"/>
                </a:solidFill>
                <a:latin typeface="Segoe UI Semibold" pitchFamily="34" charset="0"/>
                <a:ea typeface="Segoe UI Semibold" pitchFamily="34" charset="-122"/>
                <a:cs typeface="Segoe UI Semibold" pitchFamily="34" charset="-120"/>
              </a:rPr>
              <a:t>1</a:t>
            </a:r>
            <a:endParaRPr lang="en-US" sz="4400" dirty="0"/>
          </a:p>
        </p:txBody>
      </p:sp>
      <p:sp>
        <p:nvSpPr>
          <p:cNvPr id="22" name="Text 16"/>
          <p:cNvSpPr/>
          <p:nvPr/>
        </p:nvSpPr>
        <p:spPr>
          <a:xfrm>
            <a:off x="1481328" y="5349240"/>
            <a:ext cx="255818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platform for every venue</a:t>
            </a:r>
            <a:endParaRPr lang="en-US" sz="1250" dirty="0"/>
          </a:p>
        </p:txBody>
      </p:sp>
      <p:sp>
        <p:nvSpPr>
          <p:cNvPr id="23" name="Text 17"/>
          <p:cNvSpPr/>
          <p:nvPr/>
        </p:nvSpPr>
        <p:spPr>
          <a:xfrm>
            <a:off x="4359554" y="5349240"/>
            <a:ext cx="960120" cy="777240"/>
          </a:xfrm>
          <a:prstGeom prst="rect">
            <a:avLst/>
          </a:prstGeom>
          <a:noFill/>
          <a:ln/>
        </p:spPr>
        <p:txBody>
          <a:bodyPr wrap="square" rtlCol="0" anchor="ctr"/>
          <a:lstStyle/>
          <a:p>
            <a:pPr marL="0" indent="0">
              <a:buNone/>
            </a:pPr>
            <a:r>
              <a:rPr lang="en-US" sz="4400" b="1" dirty="0">
                <a:solidFill>
                  <a:srgbClr val="3BE3E0"/>
                </a:solidFill>
                <a:latin typeface="Segoe UI Semibold" pitchFamily="34" charset="0"/>
                <a:ea typeface="Segoe UI Semibold" pitchFamily="34" charset="-122"/>
                <a:cs typeface="Segoe UI Semibold" pitchFamily="34" charset="-120"/>
              </a:rPr>
              <a:t>6</a:t>
            </a:r>
            <a:endParaRPr lang="en-US" sz="4400" dirty="0"/>
          </a:p>
        </p:txBody>
      </p:sp>
      <p:sp>
        <p:nvSpPr>
          <p:cNvPr id="24" name="Text 18"/>
          <p:cNvSpPr/>
          <p:nvPr/>
        </p:nvSpPr>
        <p:spPr>
          <a:xfrm>
            <a:off x="5273954" y="5349240"/>
            <a:ext cx="255818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steps, decision to deal</a:t>
            </a:r>
            <a:endParaRPr lang="en-US" sz="1250" dirty="0"/>
          </a:p>
        </p:txBody>
      </p:sp>
      <p:sp>
        <p:nvSpPr>
          <p:cNvPr id="25" name="Text 19"/>
          <p:cNvSpPr/>
          <p:nvPr/>
        </p:nvSpPr>
        <p:spPr>
          <a:xfrm>
            <a:off x="8152181" y="5349240"/>
            <a:ext cx="960120" cy="777240"/>
          </a:xfrm>
          <a:prstGeom prst="rect">
            <a:avLst/>
          </a:prstGeom>
          <a:noFill/>
          <a:ln/>
        </p:spPr>
        <p:txBody>
          <a:bodyPr wrap="square" rtlCol="0" anchor="ctr"/>
          <a:lstStyle/>
          <a:p>
            <a:pPr marL="0" indent="0">
              <a:buNone/>
            </a:pPr>
            <a:r>
              <a:rPr lang="en-US" sz="4400" b="1" dirty="0">
                <a:solidFill>
                  <a:srgbClr val="3BE3E0"/>
                </a:solidFill>
                <a:latin typeface="Segoe UI Semibold" pitchFamily="34" charset="0"/>
                <a:ea typeface="Segoe UI Semibold" pitchFamily="34" charset="-122"/>
                <a:cs typeface="Segoe UI Semibold" pitchFamily="34" charset="-120"/>
              </a:rPr>
              <a:t>0</a:t>
            </a:r>
            <a:endParaRPr lang="en-US" sz="4400" dirty="0"/>
          </a:p>
        </p:txBody>
      </p:sp>
      <p:sp>
        <p:nvSpPr>
          <p:cNvPr id="26" name="Text 20"/>
          <p:cNvSpPr/>
          <p:nvPr/>
        </p:nvSpPr>
        <p:spPr>
          <a:xfrm>
            <a:off x="9066581" y="5349240"/>
            <a:ext cx="255818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code to set it up</a:t>
            </a:r>
            <a:endParaRPr lang="en-US" sz="1250" dirty="0"/>
          </a:p>
        </p:txBody>
      </p:sp>
      <p:sp>
        <p:nvSpPr>
          <p:cNvPr id="27" name="Text 2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28" name="Text 2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09 / 10</a:t>
            </a:r>
            <a:endParaRPr lang="en-US" sz="900" dirty="0"/>
          </a:p>
        </p:txBody>
      </p:sp>
      <p:sp>
        <p:nvSpPr>
          <p:cNvPr id="29" name="Shape 23"/>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0B0E14"/>
        </a:solidFill>
        <a:effectLst/>
      </p:bgPr>
    </p:bg>
    <p:spTree>
      <p:nvGrpSpPr>
        <p:cNvPr id="1" name="">
          <a:extLst>
            <a:ext uri="{FF2B5EF4-FFF2-40B4-BE49-F238E27FC236}">
              <a16:creationId xmlns:a16="http://schemas.microsoft.com/office/drawing/2014/main" id="{416B6F50-CDF6-A4C2-236C-A75FB7AD182D}"/>
            </a:ext>
          </a:extLst>
        </p:cNvPr>
        <p:cNvGrpSpPr/>
        <p:nvPr/>
      </p:nvGrpSpPr>
      <p:grpSpPr>
        <a:xfrm>
          <a:off x="0" y="0"/>
          <a:ext cx="0" cy="0"/>
          <a:chOff x="0" y="0"/>
          <a:chExt cx="0" cy="0"/>
        </a:xfrm>
      </p:grpSpPr>
      <p:sp>
        <p:nvSpPr>
          <p:cNvPr id="30" name="Shape 0">
            <a:extLst>
              <a:ext uri="{FF2B5EF4-FFF2-40B4-BE49-F238E27FC236}">
                <a16:creationId xmlns:a16="http://schemas.microsoft.com/office/drawing/2014/main" id="{019AD514-5530-DF31-9314-26AD84C6F541}"/>
              </a:ext>
            </a:extLst>
          </p:cNvPr>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1" name="Text 1">
            <a:extLst>
              <a:ext uri="{FF2B5EF4-FFF2-40B4-BE49-F238E27FC236}">
                <a16:creationId xmlns:a16="http://schemas.microsoft.com/office/drawing/2014/main" id="{430ED0D0-70B3-19BE-7471-8DED44524411}"/>
              </a:ext>
            </a:extLst>
          </p:cNvPr>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PARTNERS AND CUSTOMERS</a:t>
            </a:r>
            <a:endParaRPr lang="en-US" sz="1200" dirty="0"/>
          </a:p>
        </p:txBody>
      </p:sp>
      <p:sp>
        <p:nvSpPr>
          <p:cNvPr id="32" name="Text 2">
            <a:extLst>
              <a:ext uri="{FF2B5EF4-FFF2-40B4-BE49-F238E27FC236}">
                <a16:creationId xmlns:a16="http://schemas.microsoft.com/office/drawing/2014/main" id="{2484DF32-0A21-6C63-BD7A-D25302576AF1}"/>
              </a:ext>
            </a:extLst>
          </p:cNvPr>
          <p:cNvSpPr/>
          <p:nvPr/>
        </p:nvSpPr>
        <p:spPr>
          <a:xfrm>
            <a:off x="566928" y="960120"/>
            <a:ext cx="1088136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The data, the platform, and the teams behind it.</a:t>
            </a:r>
            <a:endParaRPr lang="en-US" sz="2800" dirty="0"/>
          </a:p>
        </p:txBody>
      </p:sp>
      <p:sp>
        <p:nvSpPr>
          <p:cNvPr id="33" name="Text 3">
            <a:extLst>
              <a:ext uri="{FF2B5EF4-FFF2-40B4-BE49-F238E27FC236}">
                <a16:creationId xmlns:a16="http://schemas.microsoft.com/office/drawing/2014/main" id="{AF8AF46E-A91D-BD30-E1A5-46E9DB287E48}"/>
              </a:ext>
            </a:extLst>
          </p:cNvPr>
          <p:cNvSpPr/>
          <p:nvPr/>
        </p:nvSpPr>
        <p:spPr>
          <a:xfrm>
            <a:off x="585216" y="2103120"/>
            <a:ext cx="5486400" cy="256032"/>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TECHNOLOGY PARTNER</a:t>
            </a:r>
            <a:endParaRPr lang="en-US" sz="1050" dirty="0"/>
          </a:p>
        </p:txBody>
      </p:sp>
      <p:sp>
        <p:nvSpPr>
          <p:cNvPr id="34" name="Shape 4">
            <a:extLst>
              <a:ext uri="{FF2B5EF4-FFF2-40B4-BE49-F238E27FC236}">
                <a16:creationId xmlns:a16="http://schemas.microsoft.com/office/drawing/2014/main" id="{4C080745-EE34-55B1-1546-3E726F271965}"/>
              </a:ext>
            </a:extLst>
          </p:cNvPr>
          <p:cNvSpPr/>
          <p:nvPr/>
        </p:nvSpPr>
        <p:spPr>
          <a:xfrm>
            <a:off x="585216" y="2377440"/>
            <a:ext cx="1828800" cy="731520"/>
          </a:xfrm>
          <a:prstGeom prst="roundRect">
            <a:avLst>
              <a:gd name="adj" fmla="val 17500"/>
            </a:avLst>
          </a:prstGeom>
          <a:solidFill>
            <a:srgbClr val="FFFFFF"/>
          </a:solidFill>
          <a:ln w="9525">
            <a:solidFill>
              <a:srgbClr val="36414F"/>
            </a:solidFill>
            <a:prstDash val="solid"/>
          </a:ln>
        </p:spPr>
        <p:txBody>
          <a:bodyPr/>
          <a:lstStyle/>
          <a:p>
            <a:endParaRPr lang="en-US"/>
          </a:p>
        </p:txBody>
      </p:sp>
      <p:pic>
        <p:nvPicPr>
          <p:cNvPr id="35" name="Image 0" descr="C:/Users/neuma_p1qrsic/Repo/agentic-ops1/.scratch/deckgen/logos/sap.png">
            <a:extLst>
              <a:ext uri="{FF2B5EF4-FFF2-40B4-BE49-F238E27FC236}">
                <a16:creationId xmlns:a16="http://schemas.microsoft.com/office/drawing/2014/main" id="{987BD4BD-2B96-B4C2-4363-35A1B39345D5}"/>
              </a:ext>
            </a:extLst>
          </p:cNvPr>
          <p:cNvPicPr>
            <a:picLocks noChangeAspect="1"/>
          </p:cNvPicPr>
          <p:nvPr/>
        </p:nvPicPr>
        <p:blipFill>
          <a:blip r:embed="rId3"/>
          <a:stretch>
            <a:fillRect/>
          </a:stretch>
        </p:blipFill>
        <p:spPr>
          <a:xfrm>
            <a:off x="1012244" y="2501798"/>
            <a:ext cx="974745" cy="482803"/>
          </a:xfrm>
          <a:prstGeom prst="rect">
            <a:avLst/>
          </a:prstGeom>
        </p:spPr>
      </p:pic>
      <p:sp>
        <p:nvSpPr>
          <p:cNvPr id="36" name="Text 5">
            <a:extLst>
              <a:ext uri="{FF2B5EF4-FFF2-40B4-BE49-F238E27FC236}">
                <a16:creationId xmlns:a16="http://schemas.microsoft.com/office/drawing/2014/main" id="{F6C76210-D22D-2952-4BB6-1749AD1A59A5}"/>
              </a:ext>
            </a:extLst>
          </p:cNvPr>
          <p:cNvSpPr/>
          <p:nvPr/>
        </p:nvSpPr>
        <p:spPr>
          <a:xfrm>
            <a:off x="585216" y="3401568"/>
            <a:ext cx="5486400" cy="256032"/>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TRUSTED BY TEAMS AT</a:t>
            </a:r>
            <a:endParaRPr lang="en-US" sz="1050" dirty="0"/>
          </a:p>
        </p:txBody>
      </p:sp>
      <p:sp>
        <p:nvSpPr>
          <p:cNvPr id="37" name="Shape 6">
            <a:extLst>
              <a:ext uri="{FF2B5EF4-FFF2-40B4-BE49-F238E27FC236}">
                <a16:creationId xmlns:a16="http://schemas.microsoft.com/office/drawing/2014/main" id="{26E6731B-71D5-860B-8D05-9D14E01FD93D}"/>
              </a:ext>
            </a:extLst>
          </p:cNvPr>
          <p:cNvSpPr/>
          <p:nvPr/>
        </p:nvSpPr>
        <p:spPr>
          <a:xfrm>
            <a:off x="585216"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38" name="Image 1" descr="C:/Users/neuma_p1qrsic/Repo/agentic-ops1/.scratch/deckgen/logos/nestle.png">
            <a:extLst>
              <a:ext uri="{FF2B5EF4-FFF2-40B4-BE49-F238E27FC236}">
                <a16:creationId xmlns:a16="http://schemas.microsoft.com/office/drawing/2014/main" id="{D35D8C4B-9487-FE3F-74DA-49955BF99B13}"/>
              </a:ext>
            </a:extLst>
          </p:cNvPr>
          <p:cNvPicPr>
            <a:picLocks noChangeAspect="1"/>
          </p:cNvPicPr>
          <p:nvPr/>
        </p:nvPicPr>
        <p:blipFill>
          <a:blip r:embed="rId4"/>
          <a:stretch>
            <a:fillRect/>
          </a:stretch>
        </p:blipFill>
        <p:spPr>
          <a:xfrm>
            <a:off x="765164" y="3807069"/>
            <a:ext cx="1639530" cy="450871"/>
          </a:xfrm>
          <a:prstGeom prst="rect">
            <a:avLst/>
          </a:prstGeom>
        </p:spPr>
      </p:pic>
      <p:sp>
        <p:nvSpPr>
          <p:cNvPr id="39" name="Shape 7">
            <a:extLst>
              <a:ext uri="{FF2B5EF4-FFF2-40B4-BE49-F238E27FC236}">
                <a16:creationId xmlns:a16="http://schemas.microsoft.com/office/drawing/2014/main" id="{6D4DCE39-F90B-4221-450B-3863D233E57F}"/>
              </a:ext>
            </a:extLst>
          </p:cNvPr>
          <p:cNvSpPr/>
          <p:nvPr/>
        </p:nvSpPr>
        <p:spPr>
          <a:xfrm>
            <a:off x="2840675"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40" name="Image 2" descr="C:/Users/neuma_p1qrsic/Repo/agentic-ops1/.scratch/deckgen/logos/ford.png">
            <a:extLst>
              <a:ext uri="{FF2B5EF4-FFF2-40B4-BE49-F238E27FC236}">
                <a16:creationId xmlns:a16="http://schemas.microsoft.com/office/drawing/2014/main" id="{5C5D6C8D-9AC9-6AE6-541C-8A823876EFF6}"/>
              </a:ext>
            </a:extLst>
          </p:cNvPr>
          <p:cNvPicPr>
            <a:picLocks noChangeAspect="1"/>
          </p:cNvPicPr>
          <p:nvPr/>
        </p:nvPicPr>
        <p:blipFill>
          <a:blip r:embed="rId5"/>
          <a:stretch>
            <a:fillRect/>
          </a:stretch>
        </p:blipFill>
        <p:spPr>
          <a:xfrm>
            <a:off x="3153363" y="3785067"/>
            <a:ext cx="1374052" cy="494873"/>
          </a:xfrm>
          <a:prstGeom prst="rect">
            <a:avLst/>
          </a:prstGeom>
        </p:spPr>
      </p:pic>
      <p:sp>
        <p:nvSpPr>
          <p:cNvPr id="41" name="Shape 8">
            <a:extLst>
              <a:ext uri="{FF2B5EF4-FFF2-40B4-BE49-F238E27FC236}">
                <a16:creationId xmlns:a16="http://schemas.microsoft.com/office/drawing/2014/main" id="{D7C45F53-5C51-66D4-6E74-701CAB3C0F8C}"/>
              </a:ext>
            </a:extLst>
          </p:cNvPr>
          <p:cNvSpPr/>
          <p:nvPr/>
        </p:nvSpPr>
        <p:spPr>
          <a:xfrm>
            <a:off x="5096134"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42" name="Image 3" descr="C:/Users/neuma_p1qrsic/Repo/agentic-ops1/.scratch/deckgen/logos/siemens.png">
            <a:extLst>
              <a:ext uri="{FF2B5EF4-FFF2-40B4-BE49-F238E27FC236}">
                <a16:creationId xmlns:a16="http://schemas.microsoft.com/office/drawing/2014/main" id="{9CA6C267-230C-F209-AD6E-D2115CEB298D}"/>
              </a:ext>
            </a:extLst>
          </p:cNvPr>
          <p:cNvPicPr>
            <a:picLocks noChangeAspect="1"/>
          </p:cNvPicPr>
          <p:nvPr/>
        </p:nvPicPr>
        <p:blipFill>
          <a:blip r:embed="rId6"/>
          <a:stretch>
            <a:fillRect/>
          </a:stretch>
        </p:blipFill>
        <p:spPr>
          <a:xfrm>
            <a:off x="5276083" y="3837169"/>
            <a:ext cx="1639530" cy="390669"/>
          </a:xfrm>
          <a:prstGeom prst="rect">
            <a:avLst/>
          </a:prstGeom>
        </p:spPr>
      </p:pic>
      <p:sp>
        <p:nvSpPr>
          <p:cNvPr id="43" name="Shape 9">
            <a:extLst>
              <a:ext uri="{FF2B5EF4-FFF2-40B4-BE49-F238E27FC236}">
                <a16:creationId xmlns:a16="http://schemas.microsoft.com/office/drawing/2014/main" id="{7512A64D-21BE-04ED-E421-41DCED940896}"/>
              </a:ext>
            </a:extLst>
          </p:cNvPr>
          <p:cNvSpPr/>
          <p:nvPr/>
        </p:nvSpPr>
        <p:spPr>
          <a:xfrm>
            <a:off x="7351593"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44" name="Image 4" descr="C:/Users/neuma_p1qrsic/Repo/agentic-ops1/.scratch/deckgen/logos/yeti.png">
            <a:extLst>
              <a:ext uri="{FF2B5EF4-FFF2-40B4-BE49-F238E27FC236}">
                <a16:creationId xmlns:a16="http://schemas.microsoft.com/office/drawing/2014/main" id="{3FD0467F-B57B-C94C-4290-7B1B8A0CFC07}"/>
              </a:ext>
            </a:extLst>
          </p:cNvPr>
          <p:cNvPicPr>
            <a:picLocks noChangeAspect="1"/>
          </p:cNvPicPr>
          <p:nvPr/>
        </p:nvPicPr>
        <p:blipFill>
          <a:blip r:embed="rId7"/>
          <a:stretch>
            <a:fillRect/>
          </a:stretch>
        </p:blipFill>
        <p:spPr>
          <a:xfrm>
            <a:off x="7531542" y="3807709"/>
            <a:ext cx="1639530" cy="449590"/>
          </a:xfrm>
          <a:prstGeom prst="rect">
            <a:avLst/>
          </a:prstGeom>
        </p:spPr>
      </p:pic>
      <p:sp>
        <p:nvSpPr>
          <p:cNvPr id="45" name="Shape 10">
            <a:extLst>
              <a:ext uri="{FF2B5EF4-FFF2-40B4-BE49-F238E27FC236}">
                <a16:creationId xmlns:a16="http://schemas.microsoft.com/office/drawing/2014/main" id="{A1D84551-B2C1-1588-34B2-9E2C511C2C0B}"/>
              </a:ext>
            </a:extLst>
          </p:cNvPr>
          <p:cNvSpPr/>
          <p:nvPr/>
        </p:nvSpPr>
        <p:spPr>
          <a:xfrm>
            <a:off x="9607052"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46" name="Image 5" descr="C:/Users/neuma_p1qrsic/Repo/agentic-ops1/.scratch/deckgen/logos/bat.png">
            <a:extLst>
              <a:ext uri="{FF2B5EF4-FFF2-40B4-BE49-F238E27FC236}">
                <a16:creationId xmlns:a16="http://schemas.microsoft.com/office/drawing/2014/main" id="{623B2DFE-2C36-D6A8-BED0-04A01B6E01E4}"/>
              </a:ext>
            </a:extLst>
          </p:cNvPr>
          <p:cNvPicPr>
            <a:picLocks noChangeAspect="1"/>
          </p:cNvPicPr>
          <p:nvPr/>
        </p:nvPicPr>
        <p:blipFill>
          <a:blip r:embed="rId8"/>
          <a:stretch>
            <a:fillRect/>
          </a:stretch>
        </p:blipFill>
        <p:spPr>
          <a:xfrm>
            <a:off x="10025630" y="3785067"/>
            <a:ext cx="1162271" cy="494873"/>
          </a:xfrm>
          <a:prstGeom prst="rect">
            <a:avLst/>
          </a:prstGeom>
        </p:spPr>
      </p:pic>
      <p:sp>
        <p:nvSpPr>
          <p:cNvPr id="47" name="Text 11">
            <a:extLst>
              <a:ext uri="{FF2B5EF4-FFF2-40B4-BE49-F238E27FC236}">
                <a16:creationId xmlns:a16="http://schemas.microsoft.com/office/drawing/2014/main" id="{A6F91C67-39D8-A7C6-AB60-65F89813AA3B}"/>
              </a:ext>
            </a:extLst>
          </p:cNvPr>
          <p:cNvSpPr/>
          <p:nvPr/>
        </p:nvSpPr>
        <p:spPr>
          <a:xfrm>
            <a:off x="585216" y="4754880"/>
            <a:ext cx="5486400" cy="256032"/>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MARKET DATA PROVIDERS</a:t>
            </a:r>
            <a:endParaRPr lang="en-US" sz="1050" dirty="0"/>
          </a:p>
        </p:txBody>
      </p:sp>
      <p:sp>
        <p:nvSpPr>
          <p:cNvPr id="48" name="Shape 12">
            <a:extLst>
              <a:ext uri="{FF2B5EF4-FFF2-40B4-BE49-F238E27FC236}">
                <a16:creationId xmlns:a16="http://schemas.microsoft.com/office/drawing/2014/main" id="{D4F88415-0C79-CDA9-1222-14DBD872553B}"/>
              </a:ext>
            </a:extLst>
          </p:cNvPr>
          <p:cNvSpPr/>
          <p:nvPr/>
        </p:nvSpPr>
        <p:spPr>
          <a:xfrm>
            <a:off x="585216"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49" name="Image 6" descr="C:/Users/neuma_p1qrsic/Repo/agentic-ops1/.scratch/deckgen/logos/bloomberg.png">
            <a:extLst>
              <a:ext uri="{FF2B5EF4-FFF2-40B4-BE49-F238E27FC236}">
                <a16:creationId xmlns:a16="http://schemas.microsoft.com/office/drawing/2014/main" id="{8039228F-CD70-C036-612B-67194D01C5A8}"/>
              </a:ext>
            </a:extLst>
          </p:cNvPr>
          <p:cNvPicPr>
            <a:picLocks noChangeAspect="1"/>
          </p:cNvPicPr>
          <p:nvPr/>
        </p:nvPicPr>
        <p:blipFill>
          <a:blip r:embed="rId9"/>
          <a:stretch>
            <a:fillRect/>
          </a:stretch>
        </p:blipFill>
        <p:spPr>
          <a:xfrm>
            <a:off x="815912" y="5155696"/>
            <a:ext cx="2101899" cy="423664"/>
          </a:xfrm>
          <a:prstGeom prst="rect">
            <a:avLst/>
          </a:prstGeom>
        </p:spPr>
      </p:pic>
      <p:sp>
        <p:nvSpPr>
          <p:cNvPr id="50" name="Shape 13">
            <a:extLst>
              <a:ext uri="{FF2B5EF4-FFF2-40B4-BE49-F238E27FC236}">
                <a16:creationId xmlns:a16="http://schemas.microsoft.com/office/drawing/2014/main" id="{5E011981-3118-6B0B-DD45-3C276F4F1283}"/>
              </a:ext>
            </a:extLst>
          </p:cNvPr>
          <p:cNvSpPr/>
          <p:nvPr/>
        </p:nvSpPr>
        <p:spPr>
          <a:xfrm>
            <a:off x="3404540"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51" name="Image 7" descr="C:/Users/neuma_p1qrsic/Repo/agentic-ops1/.scratch/deckgen/logos/lseg.png">
            <a:extLst>
              <a:ext uri="{FF2B5EF4-FFF2-40B4-BE49-F238E27FC236}">
                <a16:creationId xmlns:a16="http://schemas.microsoft.com/office/drawing/2014/main" id="{3ADE5641-7EC2-4833-675C-00ABB4307F3D}"/>
              </a:ext>
            </a:extLst>
          </p:cNvPr>
          <p:cNvPicPr>
            <a:picLocks noChangeAspect="1"/>
          </p:cNvPicPr>
          <p:nvPr/>
        </p:nvPicPr>
        <p:blipFill>
          <a:blip r:embed="rId10"/>
          <a:stretch>
            <a:fillRect/>
          </a:stretch>
        </p:blipFill>
        <p:spPr>
          <a:xfrm>
            <a:off x="3791080" y="5132161"/>
            <a:ext cx="1790212" cy="470733"/>
          </a:xfrm>
          <a:prstGeom prst="rect">
            <a:avLst/>
          </a:prstGeom>
        </p:spPr>
      </p:pic>
      <p:sp>
        <p:nvSpPr>
          <p:cNvPr id="52" name="Shape 14">
            <a:extLst>
              <a:ext uri="{FF2B5EF4-FFF2-40B4-BE49-F238E27FC236}">
                <a16:creationId xmlns:a16="http://schemas.microsoft.com/office/drawing/2014/main" id="{83F1125E-D278-B37D-C077-52D341421E16}"/>
              </a:ext>
            </a:extLst>
          </p:cNvPr>
          <p:cNvSpPr/>
          <p:nvPr/>
        </p:nvSpPr>
        <p:spPr>
          <a:xfrm>
            <a:off x="6223864"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53" name="Image 8" descr="C:/Users/neuma_p1qrsic/Repo/agentic-ops1/.scratch/deckgen/logos/ice.png">
            <a:extLst>
              <a:ext uri="{FF2B5EF4-FFF2-40B4-BE49-F238E27FC236}">
                <a16:creationId xmlns:a16="http://schemas.microsoft.com/office/drawing/2014/main" id="{3426F545-1B6C-A488-0590-E6FA90EB0722}"/>
              </a:ext>
            </a:extLst>
          </p:cNvPr>
          <p:cNvPicPr>
            <a:picLocks noChangeAspect="1"/>
          </p:cNvPicPr>
          <p:nvPr/>
        </p:nvPicPr>
        <p:blipFill>
          <a:blip r:embed="rId11"/>
          <a:stretch>
            <a:fillRect/>
          </a:stretch>
        </p:blipFill>
        <p:spPr>
          <a:xfrm>
            <a:off x="7270143" y="5132161"/>
            <a:ext cx="470733" cy="470733"/>
          </a:xfrm>
          <a:prstGeom prst="rect">
            <a:avLst/>
          </a:prstGeom>
        </p:spPr>
      </p:pic>
      <p:sp>
        <p:nvSpPr>
          <p:cNvPr id="54" name="Shape 15">
            <a:extLst>
              <a:ext uri="{FF2B5EF4-FFF2-40B4-BE49-F238E27FC236}">
                <a16:creationId xmlns:a16="http://schemas.microsoft.com/office/drawing/2014/main" id="{57A8974D-9DB8-F836-E0A1-B424756D09CA}"/>
              </a:ext>
            </a:extLst>
          </p:cNvPr>
          <p:cNvSpPr/>
          <p:nvPr/>
        </p:nvSpPr>
        <p:spPr>
          <a:xfrm>
            <a:off x="9043187"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55" name="Image 9" descr="C:/Users/neuma_p1qrsic/Repo/agentic-ops1/.scratch/deckgen/logos/cme.png">
            <a:extLst>
              <a:ext uri="{FF2B5EF4-FFF2-40B4-BE49-F238E27FC236}">
                <a16:creationId xmlns:a16="http://schemas.microsoft.com/office/drawing/2014/main" id="{DE294EE8-EDFB-7381-87C8-6D017123E8DF}"/>
              </a:ext>
            </a:extLst>
          </p:cNvPr>
          <p:cNvPicPr>
            <a:picLocks noChangeAspect="1"/>
          </p:cNvPicPr>
          <p:nvPr/>
        </p:nvPicPr>
        <p:blipFill>
          <a:blip r:embed="rId12"/>
          <a:stretch>
            <a:fillRect/>
          </a:stretch>
        </p:blipFill>
        <p:spPr>
          <a:xfrm>
            <a:off x="9273884" y="5205780"/>
            <a:ext cx="2101899" cy="323495"/>
          </a:xfrm>
          <a:prstGeom prst="rect">
            <a:avLst/>
          </a:prstGeom>
        </p:spPr>
      </p:pic>
      <p:sp>
        <p:nvSpPr>
          <p:cNvPr id="56" name="Text 16">
            <a:extLst>
              <a:ext uri="{FF2B5EF4-FFF2-40B4-BE49-F238E27FC236}">
                <a16:creationId xmlns:a16="http://schemas.microsoft.com/office/drawing/2014/main" id="{C49D8418-4500-B577-4B41-5C4762DB4310}"/>
              </a:ext>
            </a:extLst>
          </p:cNvPr>
          <p:cNvSpPr/>
          <p:nvPr/>
        </p:nvSpPr>
        <p:spPr>
          <a:xfrm>
            <a:off x="566928" y="6400800"/>
            <a:ext cx="9144000" cy="274320"/>
          </a:xfrm>
          <a:prstGeom prst="rect">
            <a:avLst/>
          </a:prstGeom>
          <a:noFill/>
          <a:ln/>
        </p:spPr>
        <p:txBody>
          <a:bodyPr wrap="square" rtlCol="0" anchor="ctr"/>
          <a:lstStyle/>
          <a:p>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Smart Trading, part of OnePilot</a:t>
            </a:r>
            <a:endParaRPr lang="en-US" sz="900" dirty="0"/>
          </a:p>
        </p:txBody>
      </p:sp>
      <p:sp>
        <p:nvSpPr>
          <p:cNvPr id="57" name="Text 17">
            <a:extLst>
              <a:ext uri="{FF2B5EF4-FFF2-40B4-BE49-F238E27FC236}">
                <a16:creationId xmlns:a16="http://schemas.microsoft.com/office/drawing/2014/main" id="{92CDD0B3-4F77-79A5-2293-94A835E4B127}"/>
              </a:ext>
            </a:extLst>
          </p:cNvPr>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10 / 10</a:t>
            </a:r>
            <a:endParaRPr lang="en-US" sz="900" dirty="0"/>
          </a:p>
        </p:txBody>
      </p:sp>
      <p:sp>
        <p:nvSpPr>
          <p:cNvPr id="58" name="Shape 18">
            <a:extLst>
              <a:ext uri="{FF2B5EF4-FFF2-40B4-BE49-F238E27FC236}">
                <a16:creationId xmlns:a16="http://schemas.microsoft.com/office/drawing/2014/main" id="{928E489A-F8C8-6F13-E475-DDC7948539AC}"/>
              </a:ext>
            </a:extLst>
          </p:cNvPr>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302320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3072384" y="0"/>
            <a:ext cx="6035040" cy="6035040"/>
          </a:xfrm>
          <a:prstGeom prst="ellipse">
            <a:avLst/>
          </a:prstGeom>
          <a:solidFill>
            <a:srgbClr val="3BE3E0">
              <a:alpha val="7000"/>
            </a:srgbClr>
          </a:solidFill>
          <a:ln w="12700">
            <a:solidFill>
              <a:srgbClr val="333333"/>
            </a:solidFill>
            <a:prstDash val="solid"/>
          </a:ln>
        </p:spPr>
        <p:txBody>
          <a:bodyPr/>
          <a:lstStyle/>
          <a:p>
            <a:endParaRPr lang="en-US"/>
          </a:p>
        </p:txBody>
      </p:sp>
      <p:sp>
        <p:nvSpPr>
          <p:cNvPr id="3" name="Shape 1"/>
          <p:cNvSpPr/>
          <p:nvPr/>
        </p:nvSpPr>
        <p:spPr>
          <a:xfrm>
            <a:off x="4443984" y="1371600"/>
            <a:ext cx="3291840" cy="3291840"/>
          </a:xfrm>
          <a:prstGeom prst="ellipse">
            <a:avLst/>
          </a:prstGeom>
          <a:solidFill>
            <a:srgbClr val="3BE3E0">
              <a:alpha val="12000"/>
            </a:srgbClr>
          </a:solidFill>
          <a:ln w="12700">
            <a:solidFill>
              <a:srgbClr val="333333"/>
            </a:solidFill>
            <a:prstDash val="solid"/>
          </a:ln>
        </p:spPr>
        <p:txBody>
          <a:bodyPr/>
          <a:lstStyle/>
          <a:p>
            <a:endParaRPr lang="en-US"/>
          </a:p>
        </p:txBody>
      </p:sp>
      <p:pic>
        <p:nvPicPr>
          <p:cNvPr id="4" name="Image 0" descr="C:/Users/neuma_p1qrsic/Repo/agentic-ops1/.scratch/brisken-logo-light.png"/>
          <p:cNvPicPr>
            <a:picLocks noChangeAspect="1"/>
          </p:cNvPicPr>
          <p:nvPr/>
        </p:nvPicPr>
        <p:blipFill>
          <a:blip r:embed="rId3"/>
          <a:stretch>
            <a:fillRect/>
          </a:stretch>
        </p:blipFill>
        <p:spPr>
          <a:xfrm>
            <a:off x="5312664" y="1417320"/>
            <a:ext cx="1554480" cy="338328"/>
          </a:xfrm>
          <a:prstGeom prst="rect">
            <a:avLst/>
          </a:prstGeom>
        </p:spPr>
      </p:pic>
      <p:sp>
        <p:nvSpPr>
          <p:cNvPr id="5" name="Text 2"/>
          <p:cNvSpPr/>
          <p:nvPr/>
        </p:nvSpPr>
        <p:spPr>
          <a:xfrm>
            <a:off x="914400" y="2514600"/>
            <a:ext cx="10360152" cy="1005840"/>
          </a:xfrm>
          <a:prstGeom prst="rect">
            <a:avLst/>
          </a:prstGeom>
          <a:noFill/>
          <a:ln/>
        </p:spPr>
        <p:txBody>
          <a:bodyPr wrap="square" rtlCol="0" anchor="ctr"/>
          <a:lstStyle/>
          <a:p>
            <a:pPr marL="0" indent="0" algn="ctr">
              <a:buNone/>
            </a:pPr>
            <a:r>
              <a:rPr lang="en-US" sz="5200" b="1" dirty="0">
                <a:solidFill>
                  <a:srgbClr val="F3F6FB"/>
                </a:solidFill>
                <a:latin typeface="Segoe UI Semibold" pitchFamily="34" charset="0"/>
                <a:ea typeface="Segoe UI Semibold" pitchFamily="34" charset="-122"/>
                <a:cs typeface="Segoe UI Semibold" pitchFamily="34" charset="-120"/>
              </a:rPr>
              <a:t>Built to stay done.</a:t>
            </a:r>
            <a:endParaRPr lang="en-US" sz="5200" dirty="0"/>
          </a:p>
        </p:txBody>
      </p:sp>
      <p:sp>
        <p:nvSpPr>
          <p:cNvPr id="6" name="Text 3"/>
          <p:cNvSpPr/>
          <p:nvPr/>
        </p:nvSpPr>
        <p:spPr>
          <a:xfrm>
            <a:off x="1920240" y="3611880"/>
            <a:ext cx="8348472" cy="822960"/>
          </a:xfrm>
          <a:prstGeom prst="rect">
            <a:avLst/>
          </a:prstGeom>
          <a:noFill/>
          <a:ln/>
        </p:spPr>
        <p:txBody>
          <a:bodyPr wrap="square" rtlCol="0" anchor="ctr"/>
          <a:lstStyle/>
          <a:p>
            <a:pPr marL="0" indent="0" algn="ctr">
              <a:lnSpc>
                <a:spcPct val="125000"/>
              </a:lnSpc>
              <a:buNone/>
            </a:pPr>
            <a:r>
              <a:rPr lang="en-US" sz="1700" dirty="0">
                <a:solidFill>
                  <a:srgbClr val="C4CEDA"/>
                </a:solidFill>
                <a:latin typeface="Segoe UI" pitchFamily="34" charset="0"/>
                <a:ea typeface="Segoe UI" pitchFamily="34" charset="-122"/>
                <a:cs typeface="Segoe UI" pitchFamily="34" charset="-120"/>
              </a:rPr>
              <a:t>Give us twenty minutes on how your trades reach SAP, and we will show you the manual middle disappearing.</a:t>
            </a:r>
            <a:endParaRPr lang="en-US" sz="1700" dirty="0"/>
          </a:p>
        </p:txBody>
      </p:sp>
      <p:sp>
        <p:nvSpPr>
          <p:cNvPr id="7" name="Shape 4">
            <a:hlinkClick r:id="rId4"/>
          </p:cNvPr>
          <p:cNvSpPr/>
          <p:nvPr/>
        </p:nvSpPr>
        <p:spPr>
          <a:xfrm>
            <a:off x="3575304" y="4754880"/>
            <a:ext cx="5029200" cy="658368"/>
          </a:xfrm>
          <a:prstGeom prst="roundRect">
            <a:avLst>
              <a:gd name="adj" fmla="val 50000"/>
            </a:avLst>
          </a:prstGeom>
          <a:solidFill>
            <a:srgbClr val="3BE3E0"/>
          </a:solidFill>
          <a:ln w="12700">
            <a:solidFill>
              <a:srgbClr val="333333"/>
            </a:solidFill>
            <a:prstDash val="solid"/>
          </a:ln>
        </p:spPr>
        <p:txBody>
          <a:bodyPr/>
          <a:lstStyle/>
          <a:p>
            <a:endParaRPr lang="en-US"/>
          </a:p>
        </p:txBody>
      </p:sp>
      <p:sp>
        <p:nvSpPr>
          <p:cNvPr id="8" name="Text 5"/>
          <p:cNvSpPr/>
          <p:nvPr/>
        </p:nvSpPr>
        <p:spPr>
          <a:xfrm>
            <a:off x="3575304" y="4754880"/>
            <a:ext cx="5029200" cy="658368"/>
          </a:xfrm>
          <a:prstGeom prst="rect">
            <a:avLst/>
          </a:prstGeom>
          <a:noFill/>
          <a:ln/>
        </p:spPr>
        <p:txBody>
          <a:bodyPr wrap="square" rtlCol="0" anchor="ctr"/>
          <a:lstStyle/>
          <a:p>
            <a:pPr marL="0" indent="0" algn="ctr">
              <a:buNone/>
            </a:pPr>
            <a:r>
              <a:rPr lang="en-US" sz="1500" b="1" dirty="0">
                <a:solidFill>
                  <a:srgbClr val="07222A"/>
                </a:solidFill>
                <a:latin typeface="Segoe UI" pitchFamily="34" charset="0"/>
                <a:ea typeface="Segoe UI" pitchFamily="34" charset="-122"/>
                <a:cs typeface="Segoe UI" pitchFamily="34" charset="-120"/>
              </a:rPr>
              <a:t>Dirk Neumann   ·   dirk.neumann@brisken.com</a:t>
            </a:r>
            <a:endParaRPr lang="en-US" sz="1500" dirty="0"/>
          </a:p>
        </p:txBody>
      </p:sp>
      <p:sp>
        <p:nvSpPr>
          <p:cNvPr id="9" name="Text 6"/>
          <p:cNvSpPr/>
          <p:nvPr/>
        </p:nvSpPr>
        <p:spPr>
          <a:xfrm>
            <a:off x="914400" y="5623560"/>
            <a:ext cx="10360152" cy="365760"/>
          </a:xfrm>
          <a:prstGeom prst="rect">
            <a:avLst/>
          </a:prstGeom>
          <a:noFill/>
          <a:ln/>
        </p:spPr>
        <p:txBody>
          <a:bodyPr wrap="square" rtlCol="0" anchor="ctr"/>
          <a:lstStyle/>
          <a:p>
            <a:pPr marL="0" indent="0" algn="ctr">
              <a:buNone/>
            </a:pPr>
            <a:r>
              <a:rPr lang="en-US" sz="1150" dirty="0">
                <a:solidFill>
                  <a:srgbClr val="AAB6C7"/>
                </a:solidFill>
                <a:latin typeface="Segoe UI" pitchFamily="34" charset="0"/>
                <a:ea typeface="Segoe UI" pitchFamily="34" charset="-122"/>
                <a:cs typeface="Segoe UI" pitchFamily="34" charset="-120"/>
              </a:rPr>
              <a:t>brisken.com   ·   Houston, TX</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6A93B5E-D633-6243-B42B-7E640F6F0D78}">
  <we:reference id="f5f369e5-aa35-49d7-ad7b-638152ddb008" version="1.0.0.1" store="EXCatalog" storeType="EXCatalog"/>
  <we:alternateReferences>
    <we:reference id="WA200010001" version="1.0.0.1" store="en-US" storeType="OMEX"/>
  </we:alternateReferences>
  <we:properties>
    <we:property name="claude.fileId" value="&quot;bdc4cd57-04be-4e56-9b61-b1d182e89135&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E36004C6954FC41BFA5A9934AAC0872" ma:contentTypeVersion="24" ma:contentTypeDescription="Create a new document." ma:contentTypeScope="" ma:versionID="1cf73f14b085dc989d6ca704a5f7b696">
  <xsd:schema xmlns:xsd="http://www.w3.org/2001/XMLSchema" xmlns:xs="http://www.w3.org/2001/XMLSchema" xmlns:p="http://schemas.microsoft.com/office/2006/metadata/properties" xmlns:ns1="http://schemas.microsoft.com/sharepoint/v3" xmlns:ns2="f7c12939-211d-4aac-95d7-b8d38b675650" xmlns:ns3="e9089a15-9498-4149-a6f3-b4bc8e4d21ac" targetNamespace="http://schemas.microsoft.com/office/2006/metadata/properties" ma:root="true" ma:fieldsID="d257115e6736aa2126af141fdcd75720" ns1:_="" ns2:_="" ns3:_="">
    <xsd:import namespace="http://schemas.microsoft.com/sharepoint/v3"/>
    <xsd:import namespace="f7c12939-211d-4aac-95d7-b8d38b675650"/>
    <xsd:import namespace="e9089a15-9498-4149-a6f3-b4bc8e4d21a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Location" minOccurs="0"/>
                <xsd:element ref="ns3:TaxCatchAll" minOccurs="0"/>
                <xsd:element ref="ns2:lcf76f155ced4ddcb4097134ff3c332f"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Unified Compliance Policy Properties" ma:hidden="true" ma:internalName="_ip_UnifiedCompliancePolicyProperties">
      <xsd:simpleType>
        <xsd:restriction base="dms:Note"/>
      </xsd:simpleType>
    </xsd:element>
    <xsd:element name="_ip_UnifiedCompliancePolicyUIAction" ma:index="2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7c12939-211d-4aac-95d7-b8d38b6756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hidden="true" ma:internalName="MediaServiceKeyPoints" ma:readOnly="true">
      <xsd:simpleType>
        <xsd:restriction base="dms:Note"/>
      </xsd:simpleType>
    </xsd:element>
    <xsd:element name="MediaServiceAutoTags" ma:index="12" nillable="true" ma:displayName="Tags" ma:hidden="true" ma:internalName="MediaServiceAutoTags" ma:readOnly="true">
      <xsd:simpleType>
        <xsd:restriction base="dms:Text"/>
      </xsd:simpleType>
    </xsd:element>
    <xsd:element name="MediaServiceOCR" ma:index="13" nillable="true" ma:displayName="Extracted Text" ma:hidden="true" ma:internalName="MediaServiceOCR"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hidden="true" ma:internalName="MediaLengthInSeconds" ma:readOnly="true">
      <xsd:simpleType>
        <xsd:restriction base="dms:Unknown"/>
      </xsd:simpleType>
    </xsd:element>
    <xsd:element name="MediaServiceLocation" ma:index="20" nillable="true" ma:displayName="Location" ma:hidden="true" ma:internalName="MediaServiceLocation" ma:readOnly="true">
      <xsd:simpleType>
        <xsd:restriction base="dms:Text"/>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0fd6ee07-b435-4fc4-a9c7-316946df4b7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BillingMetadata" ma:index="2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9089a15-9498-4149-a6f3-b4bc8e4d21ac" elementFormDefault="qualified">
    <xsd:import namespace="http://schemas.microsoft.com/office/2006/documentManagement/types"/>
    <xsd:import namespace="http://schemas.microsoft.com/office/infopath/2007/PartnerControls"/>
    <xsd:element name="SharedWithUsers" ma:index="17"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hidden="true" ma:internalName="SharedWithDetails" ma:readOnly="true">
      <xsd:simpleType>
        <xsd:restriction base="dms:Note"/>
      </xsd:simpleType>
    </xsd:element>
    <xsd:element name="TaxCatchAll" ma:index="21" nillable="true" ma:displayName="Taxonomy Catch All Column" ma:hidden="true" ma:list="{3ed79911-b83d-417d-9b12-a1fdc4449e3b}" ma:internalName="TaxCatchAll" ma:showField="CatchAllData" ma:web="e9089a15-9498-4149-a6f3-b4bc8e4d21a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f7c12939-211d-4aac-95d7-b8d38b675650">
      <Terms xmlns="http://schemas.microsoft.com/office/infopath/2007/PartnerControls"/>
    </lcf76f155ced4ddcb4097134ff3c332f>
    <TaxCatchAll xmlns="e9089a15-9498-4149-a6f3-b4bc8e4d21ac" xsi:nil="true"/>
  </documentManagement>
</p:properties>
</file>

<file path=customXml/itemProps1.xml><?xml version="1.0" encoding="utf-8"?>
<ds:datastoreItem xmlns:ds="http://schemas.openxmlformats.org/officeDocument/2006/customXml" ds:itemID="{C59AC5C6-F531-4AEB-9E72-774F3C4C9179}">
  <ds:schemaRefs>
    <ds:schemaRef ds:uri="http://schemas.microsoft.com/sharepoint/v3/contenttype/forms"/>
  </ds:schemaRefs>
</ds:datastoreItem>
</file>

<file path=customXml/itemProps2.xml><?xml version="1.0" encoding="utf-8"?>
<ds:datastoreItem xmlns:ds="http://schemas.openxmlformats.org/officeDocument/2006/customXml" ds:itemID="{21EF85BC-52F0-4AC9-80A7-A6A23489CD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7c12939-211d-4aac-95d7-b8d38b675650"/>
    <ds:schemaRef ds:uri="e9089a15-9498-4149-a6f3-b4bc8e4d21a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E16F5C-90B0-4C8B-B2A3-487415805437}">
  <ds:schemaRefs>
    <ds:schemaRef ds:uri="f7c12939-211d-4aac-95d7-b8d38b675650"/>
    <ds:schemaRef ds:uri="http://purl.org/dc/terms/"/>
    <ds:schemaRef ds:uri="http://www.w3.org/XML/1998/namespace"/>
    <ds:schemaRef ds:uri="e9089a15-9498-4149-a6f3-b4bc8e4d21ac"/>
    <ds:schemaRef ds:uri="http://purl.org/dc/dcmitype/"/>
    <ds:schemaRef ds:uri="http://schemas.microsoft.com/office/2006/metadata/properties"/>
    <ds:schemaRef ds:uri="http://schemas.microsoft.com/office/infopath/2007/PartnerControls"/>
    <ds:schemaRef ds:uri="http://schemas.microsoft.com/office/2006/documentManagement/types"/>
    <ds:schemaRef ds:uri="http://schemas.openxmlformats.org/package/2006/metadata/core-properties"/>
    <ds:schemaRef ds:uri="http://schemas.microsoft.com/sharepoint/v3"/>
    <ds:schemaRef ds:uri="http://purl.org/dc/elements/1.1/"/>
  </ds:schemaRefs>
</ds:datastoreItem>
</file>

<file path=docMetadata/LabelInfo.xml><?xml version="1.0" encoding="utf-8"?>
<clbl:labelList xmlns:clbl="http://schemas.microsoft.com/office/2020/mipLabelMetadata">
  <clbl:label id="{c5f3e595-28df-4b6d-866e-5db0c24f0139}" enabled="1" method="Standard" siteId="{aa3bd2bf-9c6e-4f49-9c4f-44f878ae9e74}" removed="0"/>
</clbl:labelList>
</file>

<file path=docProps/app.xml><?xml version="1.0" encoding="utf-8"?>
<Properties xmlns="http://schemas.openxmlformats.org/officeDocument/2006/extended-properties" xmlns:vt="http://schemas.openxmlformats.org/officeDocument/2006/docPropsVTypes">
  <TotalTime>233</TotalTime>
  <Words>1027</Words>
  <Application>Microsoft Macintosh PowerPoint</Application>
  <PresentationFormat>Widescreen</PresentationFormat>
  <Paragraphs>158</Paragraphs>
  <Slides>11</Slides>
  <Notes>11</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Brisken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Brisken</dc:creator>
  <cp:lastModifiedBy>Dirk Neumann</cp:lastModifiedBy>
  <cp:revision>2</cp:revision>
  <dcterms:created xsi:type="dcterms:W3CDTF">2026-07-09T00:26:58Z</dcterms:created>
  <dcterms:modified xsi:type="dcterms:W3CDTF">2026-07-09T11:55:54Z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0x0101002E36004C6954FC41BFA5A9934AAC0872</vt:lpwstr>
  </property>
</Properties>
</file>