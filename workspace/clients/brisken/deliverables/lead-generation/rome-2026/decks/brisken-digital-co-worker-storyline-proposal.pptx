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89" r:id="rId6"/>
    <p:sldId id="296" r:id="rId31"/>
    <p:sldId id="257" r:id="rId7"/>
    <p:sldId id="297" r:id="rId32"/>
    <p:sldId id="298" r:id="rId33"/>
    <p:sldId id="299" r:id="rId34"/>
    <p:sldId id="300" r:id="rId35"/>
    <p:sldId id="258" r:id="rId8"/>
    <p:sldId id="295" r:id="rId30"/>
    <p:sldId id="291" r:id="rId20"/>
    <p:sldId id="292" r:id="rId21"/>
    <p:sldId id="293" r:id="rId22"/>
    <p:sldId id="26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96" d="100"/>
          <a:sy n="96" d="100"/>
        </p:scale>
        <p:origin x="200" y="75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994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1599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37.png"/><Relationship Id="rId5" Type="http://schemas.openxmlformats.org/officeDocument/2006/relationships/image" Target="../media/image4.png"/><Relationship Id="rId6" Type="http://schemas.openxmlformats.org/officeDocument/2006/relationships/image" Target="../media/image38.png"/><Relationship Id="rId7" Type="http://schemas.openxmlformats.org/officeDocument/2006/relationships/image" Target="../media/image2.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35.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0.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png"/><Relationship Id="rId4" Type="http://schemas.openxmlformats.org/officeDocument/2006/relationships/image" Target="../media/image9.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s>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6949440" y="-109728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8321040" y="27432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sp>
        <p:nvSpPr>
          <p:cNvPr id="4" name="Shape 2"/>
          <p:cNvSpPr/>
          <p:nvPr/>
        </p:nvSpPr>
        <p:spPr>
          <a:xfrm>
            <a:off x="-1737360" y="3017520"/>
            <a:ext cx="6035040" cy="6035040"/>
          </a:xfrm>
          <a:prstGeom prst="ellipse">
            <a:avLst/>
          </a:prstGeom>
          <a:solidFill>
            <a:srgbClr val="5A6BFF">
              <a:alpha val="7000"/>
            </a:srgbClr>
          </a:solidFill>
          <a:ln w="12700">
            <a:solidFill>
              <a:srgbClr val="333333"/>
            </a:solidFill>
            <a:prstDash val="solid"/>
          </a:ln>
        </p:spPr>
        <p:txBody>
          <a:bodyPr/>
          <a:lstStyle/>
          <a:p>
            <a:endParaRPr lang="en-US"/>
          </a:p>
        </p:txBody>
      </p:sp>
      <p:sp>
        <p:nvSpPr>
          <p:cNvPr id="5" name="Shape 3"/>
          <p:cNvSpPr/>
          <p:nvPr/>
        </p:nvSpPr>
        <p:spPr>
          <a:xfrm>
            <a:off x="-365760" y="4389120"/>
            <a:ext cx="3291840" cy="3291840"/>
          </a:xfrm>
          <a:prstGeom prst="ellipse">
            <a:avLst/>
          </a:prstGeom>
          <a:solidFill>
            <a:srgbClr val="5A6BFF">
              <a:alpha val="12000"/>
            </a:srgbClr>
          </a:solidFill>
          <a:ln w="12700">
            <a:solidFill>
              <a:srgbClr val="333333"/>
            </a:solidFill>
            <a:prstDash val="solid"/>
          </a:ln>
        </p:spPr>
        <p:txBody>
          <a:bodyPr/>
          <a:lstStyle/>
          <a:p>
            <a:endParaRPr lang="en-US"/>
          </a:p>
        </p:txBody>
      </p:sp>
      <p:sp>
        <p:nvSpPr>
          <p:cNvPr id="7" name="Shape 4"/>
          <p:cNvSpPr/>
          <p:nvPr/>
        </p:nvSpPr>
        <p:spPr>
          <a:xfrm>
            <a:off x="566928" y="2624328"/>
            <a:ext cx="45720" cy="219456"/>
          </a:xfrm>
          <a:prstGeom prst="rect">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713232" y="2551176"/>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ONEPILOT · DIGITAL CO-WORKER</a:t>
            </a:r>
            <a:endParaRPr lang="en-US" sz="1200" dirty="0"/>
          </a:p>
        </p:txBody>
      </p:sp>
      <p:sp>
        <p:nvSpPr>
          <p:cNvPr id="9" name="Text 6"/>
          <p:cNvSpPr/>
          <p:nvPr/>
        </p:nvSpPr>
        <p:spPr>
          <a:xfrm>
            <a:off x="539496" y="2880360"/>
            <a:ext cx="11155680" cy="1371600"/>
          </a:xfrm>
          <a:prstGeom prst="rect">
            <a:avLst/>
          </a:prstGeom>
          <a:noFill/>
          <a:ln/>
        </p:spPr>
        <p:txBody>
          <a:bodyPr wrap="square" rtlCol="0" anchor="ctr"/>
          <a:lstStyle/>
          <a:p>
            <a:pPr marL="0" indent="0">
              <a:buNone/>
            </a:pPr>
            <a:r>
              <a:rPr lang="en-US" sz="6800" b="1" dirty="0">
                <a:solidFill>
                  <a:srgbClr val="F3F6FB"/>
                </a:solidFill>
                <a:latin typeface="Segoe UI Semibold" pitchFamily="34" charset="0"/>
                <a:ea typeface="Segoe UI Semibold" pitchFamily="34" charset="-122"/>
                <a:cs typeface="Segoe UI Semibold" pitchFamily="34" charset="-120"/>
              </a:rPr>
              <a:t>Digital Co-Worker</a:t>
            </a:r>
            <a:endParaRPr lang="en-US" sz="6800" dirty="0"/>
          </a:p>
        </p:txBody>
      </p:sp>
      <p:sp>
        <p:nvSpPr>
          <p:cNvPr id="10" name="Text 7"/>
          <p:cNvSpPr/>
          <p:nvPr/>
        </p:nvSpPr>
        <p:spPr>
          <a:xfrm>
            <a:off x="566928" y="4206240"/>
            <a:ext cx="10332720" cy="822960"/>
          </a:xfrm>
          <a:prstGeom prst="rect">
            <a:avLst/>
          </a:prstGeom>
          <a:noFill/>
          <a:ln/>
        </p:spPr>
        <p:txBody>
          <a:bodyPr wrap="square" rtlCol="0" anchor="t"/>
          <a:lstStyle/>
          <a:p>
            <a:pPr marL="0" indent="0">
              <a:lnSpc>
                <a:spcPct val="115000"/>
              </a:lnSpc>
              <a:buNone/>
            </a:pPr>
            <a:r>
              <a:rPr lang="en-US" sz="2000" dirty="0">
                <a:solidFill>
                  <a:srgbClr val="AAB6C7"/>
                </a:solidFill>
                <a:latin typeface="Segoe UI" pitchFamily="34" charset="0"/>
                <a:ea typeface="Segoe UI" pitchFamily="34" charset="-122"/>
                <a:cs typeface="Segoe UI" pitchFamily="34" charset="-120"/>
              </a:rPr>
              <a:t xml:space="preserve">An AI co-worker for every person on your team. </a:t>
            </a:r>
            <a:r>
              <a:rPr lang="en-US" sz="2000" dirty="0">
                <a:solidFill>
                  <a:srgbClr val="3BE3E0"/>
                </a:solidFill>
                <a:latin typeface="Segoe UI" pitchFamily="34" charset="0"/>
                <a:ea typeface="Segoe UI" pitchFamily="34" charset="-122"/>
                <a:cs typeface="Segoe UI" pitchFamily="34" charset="-120"/>
              </a:rPr>
              <a:t>It does the busywork across your systems, in plain chat or in the background.</a:t>
            </a:r>
            <a:endParaRPr lang="en-US" sz="2000" dirty="0"/>
          </a:p>
        </p:txBody>
      </p:sp>
      <p:sp>
        <p:nvSpPr>
          <p:cNvPr id="11" name="Shape 8"/>
          <p:cNvSpPr/>
          <p:nvPr/>
        </p:nvSpPr>
        <p:spPr>
          <a:xfrm>
            <a:off x="566928" y="553212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sp>
        <p:nvSpPr>
          <p:cNvPr id="13" name="Text 9"/>
          <p:cNvSpPr/>
          <p:nvPr/>
        </p:nvSpPr>
        <p:spPr>
          <a:xfrm>
            <a:off x="1252728" y="5532120"/>
            <a:ext cx="2743200" cy="566928"/>
          </a:xfrm>
          <a:prstGeom prst="rect">
            <a:avLst/>
          </a:prstGeom>
          <a:noFill/>
          <a:ln/>
        </p:spPr>
        <p:txBody>
          <a:bodyPr wrap="square" rtlCol="0" anchor="ctr"/>
          <a:lstStyle/>
          <a:p>
            <a:pPr marL="0" indent="0">
              <a:buNone/>
            </a:pPr>
            <a:r>
              <a:rPr lang="en-US" sz="1300" dirty="0">
                <a:solidFill>
                  <a:srgbClr val="F3F6FB"/>
                </a:solidFill>
                <a:latin typeface="Segoe UI" pitchFamily="34" charset="0"/>
                <a:ea typeface="Segoe UI" pitchFamily="34" charset="-122"/>
                <a:cs typeface="Segoe UI" pitchFamily="34" charset="-120"/>
              </a:rPr>
              <a:t>Ask in plain language</a:t>
            </a:r>
            <a:endParaRPr lang="en-US" sz="1300" dirty="0"/>
          </a:p>
        </p:txBody>
      </p:sp>
      <p:sp>
        <p:nvSpPr>
          <p:cNvPr id="14" name="Shape 10"/>
          <p:cNvSpPr/>
          <p:nvPr/>
        </p:nvSpPr>
        <p:spPr>
          <a:xfrm>
            <a:off x="3995928" y="5815584"/>
            <a:ext cx="640080" cy="0"/>
          </a:xfrm>
          <a:prstGeom prst="line">
            <a:avLst/>
          </a:prstGeom>
          <a:noFill/>
          <a:ln w="25400">
            <a:solidFill>
              <a:srgbClr val="3BE3E0"/>
            </a:solidFill>
            <a:prstDash val="solid"/>
            <a:tailEnd type="triangle"/>
          </a:ln>
        </p:spPr>
        <p:txBody>
          <a:bodyPr/>
          <a:lstStyle/>
          <a:p>
            <a:endParaRPr lang="en-US"/>
          </a:p>
        </p:txBody>
      </p:sp>
      <p:sp>
        <p:nvSpPr>
          <p:cNvPr id="15" name="Text 11"/>
          <p:cNvSpPr/>
          <p:nvPr/>
        </p:nvSpPr>
        <p:spPr>
          <a:xfrm>
            <a:off x="4727448" y="5532120"/>
            <a:ext cx="2103120" cy="566928"/>
          </a:xfrm>
          <a:prstGeom prst="rect">
            <a:avLst/>
          </a:prstGeom>
          <a:noFill/>
          <a:ln/>
        </p:spPr>
        <p:txBody>
          <a:bodyPr wrap="square" rtlCol="0" anchor="ctr"/>
          <a:lstStyle/>
          <a:p>
            <a:pPr marL="0" indent="0" algn="ctr">
              <a:buNone/>
            </a:pPr>
            <a:r>
              <a:rPr lang="en-US" sz="1200" i="1" dirty="0">
                <a:solidFill>
                  <a:srgbClr val="3BE3E0"/>
                </a:solidFill>
                <a:latin typeface="Segoe UI" pitchFamily="34" charset="0"/>
                <a:ea typeface="Segoe UI" pitchFamily="34" charset="-122"/>
                <a:cs typeface="Segoe UI" pitchFamily="34" charset="-120"/>
              </a:rPr>
              <a:t>Digital Co-Worker</a:t>
            </a:r>
            <a:endParaRPr lang="en-US" sz="1200" dirty="0"/>
          </a:p>
        </p:txBody>
      </p:sp>
      <p:sp>
        <p:nvSpPr>
          <p:cNvPr id="16" name="Shape 12"/>
          <p:cNvSpPr/>
          <p:nvPr/>
        </p:nvSpPr>
        <p:spPr>
          <a:xfrm>
            <a:off x="6876288" y="5815584"/>
            <a:ext cx="640080" cy="0"/>
          </a:xfrm>
          <a:prstGeom prst="line">
            <a:avLst/>
          </a:prstGeom>
          <a:noFill/>
          <a:ln w="25400">
            <a:solidFill>
              <a:srgbClr val="3BE3E0"/>
            </a:solidFill>
            <a:prstDash val="solid"/>
            <a:tailEnd type="triangle"/>
          </a:ln>
        </p:spPr>
        <p:txBody>
          <a:bodyPr/>
          <a:lstStyle/>
          <a:p>
            <a:endParaRPr lang="en-US"/>
          </a:p>
        </p:txBody>
      </p:sp>
      <p:sp>
        <p:nvSpPr>
          <p:cNvPr id="17" name="Shape 13"/>
          <p:cNvSpPr/>
          <p:nvPr/>
        </p:nvSpPr>
        <p:spPr>
          <a:xfrm>
            <a:off x="7653528" y="5532120"/>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sp>
        <p:nvSpPr>
          <p:cNvPr id="19" name="Text 14"/>
          <p:cNvSpPr/>
          <p:nvPr/>
        </p:nvSpPr>
        <p:spPr>
          <a:xfrm>
            <a:off x="8339328" y="5532120"/>
            <a:ext cx="2743200" cy="566928"/>
          </a:xfrm>
          <a:prstGeom prst="rect">
            <a:avLst/>
          </a:prstGeom>
          <a:noFill/>
          <a:ln/>
        </p:spPr>
        <p:txBody>
          <a:bodyPr wrap="square" rtlCol="0" anchor="ctr"/>
          <a:lstStyle/>
          <a:p>
            <a:pPr marL="0" indent="0">
              <a:buNone/>
            </a:pPr>
            <a:r>
              <a:rPr lang="en-US" sz="1300" dirty="0">
                <a:solidFill>
                  <a:srgbClr val="F3F6FB"/>
                </a:solidFill>
                <a:latin typeface="Segoe UI" pitchFamily="34" charset="0"/>
                <a:ea typeface="Segoe UI" pitchFamily="34" charset="-122"/>
                <a:cs typeface="Segoe UI" pitchFamily="34" charset="-120"/>
              </a:rPr>
              <a:t>Done in your systems</a:t>
            </a:r>
            <a:endParaRPr lang="en-US" sz="1300" dirty="0"/>
          </a:p>
        </p:txBody>
      </p:sp>
      <p:pic>
        <p:nvPicPr>
          <p:cNvPr id="20" name="Picture 19" descr="image.png"/>
          <p:cNvPicPr>
            <a:picLocks noChangeAspect="1"/>
          </p:cNvPicPr>
          <p:nvPr/>
        </p:nvPicPr>
        <p:blipFill>
          <a:blip r:embed="rId3"/>
          <a:stretch>
            <a:fillRect/>
          </a:stretch>
        </p:blipFill>
        <p:spPr>
          <a:xfrm>
            <a:off x="566928" y="548640"/>
            <a:ext cx="1417320" cy="310896"/>
          </a:xfrm>
          <a:prstGeom prst="rect">
            <a:avLst/>
          </a:prstGeom>
        </p:spPr>
      </p:pic>
      <p:pic>
        <p:nvPicPr>
          <p:cNvPr id="21" name="Picture 20" descr="image.png"/>
          <p:cNvPicPr>
            <a:picLocks noChangeAspect="1"/>
          </p:cNvPicPr>
          <p:nvPr/>
        </p:nvPicPr>
        <p:blipFill>
          <a:blip r:embed="rId4"/>
          <a:stretch>
            <a:fillRect/>
          </a:stretch>
        </p:blipFill>
        <p:spPr>
          <a:xfrm>
            <a:off x="702991" y="5668183"/>
            <a:ext cx="294803" cy="294803"/>
          </a:xfrm>
          <a:prstGeom prst="rect">
            <a:avLst/>
          </a:prstGeom>
        </p:spPr>
      </p:pic>
      <p:pic>
        <p:nvPicPr>
          <p:cNvPr id="22" name="Picture 21" descr="image.png"/>
          <p:cNvPicPr>
            <a:picLocks noChangeAspect="1"/>
          </p:cNvPicPr>
          <p:nvPr/>
        </p:nvPicPr>
        <p:blipFill>
          <a:blip r:embed="rId5"/>
          <a:stretch>
            <a:fillRect/>
          </a:stretch>
        </p:blipFill>
        <p:spPr>
          <a:xfrm>
            <a:off x="7789591" y="5668183"/>
            <a:ext cx="294803" cy="294803"/>
          </a:xfrm>
          <a:prstGeom prst="rect">
            <a:avLst/>
          </a:prstGeom>
        </p:spPr>
      </p:pic>
    </p:spTree>
    <p:extLst>
      <p:ext uri="{BB962C8B-B14F-4D97-AF65-F5344CB8AC3E}">
        <p14:creationId xmlns:p14="http://schemas.microsoft.com/office/powerpoint/2010/main" val="512368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PROBLEM</a:t>
            </a:r>
            <a:endParaRPr lang="en-US" sz="1200" dirty="0"/>
          </a:p>
        </p:txBody>
      </p:sp>
      <p:sp>
        <p:nvSpPr>
          <p:cNvPr id="4" name="Text 2"/>
          <p:cNvSpPr/>
          <p:nvPr/>
        </p:nvSpPr>
        <p:spPr>
          <a:xfrm>
            <a:off x="566928" y="960120"/>
            <a:ext cx="10881360" cy="1463040"/>
          </a:xfrm>
          <a:prstGeom prst="rect">
            <a:avLst/>
          </a:prstGeom>
          <a:noFill/>
          <a:ln/>
        </p:spPr>
        <p:txBody>
          <a:bodyPr wrap="square" rtlCol="0" anchor="ctr"/>
          <a:lstStyle/>
          <a:p>
            <a:pPr marL="0" indent="0">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Between every request and your systems
</a:t>
            </a:r>
            <a:r>
              <a:rPr lang="en-US" sz="3300" b="1" dirty="0">
                <a:solidFill>
                  <a:srgbClr val="3BE3E0"/>
                </a:solidFill>
                <a:latin typeface="Segoe UI Semibold" pitchFamily="34" charset="0"/>
                <a:ea typeface="Segoe UI Semibold" pitchFamily="34" charset="-122"/>
                <a:cs typeface="Segoe UI Semibold" pitchFamily="34" charset="-120"/>
              </a:rPr>
              <a:t>sits a person, re-keying.</a:t>
            </a:r>
            <a:endParaRPr lang="en-US" sz="3300" dirty="0"/>
          </a:p>
        </p:txBody>
      </p:sp>
      <p:sp>
        <p:nvSpPr>
          <p:cNvPr id="5" name="Shape 3"/>
          <p:cNvSpPr/>
          <p:nvPr/>
        </p:nvSpPr>
        <p:spPr>
          <a:xfrm>
            <a:off x="566928" y="3246120"/>
            <a:ext cx="3246120"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4124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mail.png"/>
          <p:cNvPicPr>
            <a:picLocks noChangeAspect="1"/>
          </p:cNvPicPr>
          <p:nvPr/>
        </p:nvPicPr>
        <p:blipFill>
          <a:blip r:embed="rId3"/>
          <a:stretch>
            <a:fillRect/>
          </a:stretch>
        </p:blipFill>
        <p:spPr>
          <a:xfrm>
            <a:off x="986089" y="3711001"/>
            <a:ext cx="313822" cy="313822"/>
          </a:xfrm>
          <a:prstGeom prst="rect">
            <a:avLst/>
          </a:prstGeom>
        </p:spPr>
      </p:pic>
      <p:sp>
        <p:nvSpPr>
          <p:cNvPr id="8" name="Text 5"/>
          <p:cNvSpPr/>
          <p:nvPr/>
        </p:nvSpPr>
        <p:spPr>
          <a:xfrm>
            <a:off x="841248" y="4343400"/>
            <a:ext cx="2697480"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A request comes in</a:t>
            </a:r>
            <a:endParaRPr lang="en-US" sz="1500" dirty="0"/>
          </a:p>
        </p:txBody>
      </p:sp>
      <p:sp>
        <p:nvSpPr>
          <p:cNvPr id="9" name="Text 6"/>
          <p:cNvSpPr/>
          <p:nvPr/>
        </p:nvSpPr>
        <p:spPr>
          <a:xfrm>
            <a:off x="841248" y="4663440"/>
            <a:ext cx="2697480"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an email, a message, a form</a:t>
            </a:r>
            <a:endParaRPr lang="en-US" sz="1200" dirty="0"/>
          </a:p>
        </p:txBody>
      </p:sp>
      <p:sp>
        <p:nvSpPr>
          <p:cNvPr id="10" name="Shape 7"/>
          <p:cNvSpPr/>
          <p:nvPr/>
        </p:nvSpPr>
        <p:spPr>
          <a:xfrm>
            <a:off x="4270248" y="3246120"/>
            <a:ext cx="3657600" cy="1874520"/>
          </a:xfrm>
          <a:prstGeom prst="roundRect">
            <a:avLst>
              <a:gd name="adj" fmla="val 4390"/>
            </a:avLst>
          </a:prstGeom>
          <a:solidFill>
            <a:srgbClr val="24190E"/>
          </a:solidFill>
          <a:ln w="17780">
            <a:solidFill>
              <a:srgbClr val="FFC96B"/>
            </a:solidFill>
            <a:prstDash val="dash"/>
          </a:ln>
        </p:spPr>
        <p:txBody>
          <a:bodyPr/>
          <a:lstStyle/>
          <a:p>
            <a:endParaRPr lang="en-US"/>
          </a:p>
        </p:txBody>
      </p:sp>
      <p:pic>
        <p:nvPicPr>
          <p:cNvPr id="11" name="Image 1" descr="C:/Users/neuma_p1qrsic/Repo/agentic-ops1/.scratch/icons/gap.png"/>
          <p:cNvPicPr>
            <a:picLocks noChangeAspect="1"/>
          </p:cNvPicPr>
          <p:nvPr/>
        </p:nvPicPr>
        <p:blipFill>
          <a:blip r:embed="rId4"/>
          <a:stretch>
            <a:fillRect/>
          </a:stretch>
        </p:blipFill>
        <p:spPr>
          <a:xfrm>
            <a:off x="5797296" y="3538728"/>
            <a:ext cx="603504" cy="603504"/>
          </a:xfrm>
          <a:prstGeom prst="rect">
            <a:avLst/>
          </a:prstGeom>
        </p:spPr>
      </p:pic>
      <p:sp>
        <p:nvSpPr>
          <p:cNvPr id="12" name="Text 8"/>
          <p:cNvSpPr/>
          <p:nvPr/>
        </p:nvSpPr>
        <p:spPr>
          <a:xfrm>
            <a:off x="4270248" y="4270248"/>
            <a:ext cx="3657600" cy="365760"/>
          </a:xfrm>
          <a:prstGeom prst="rect">
            <a:avLst/>
          </a:prstGeom>
          <a:noFill/>
          <a:ln/>
        </p:spPr>
        <p:txBody>
          <a:bodyPr wrap="square" rtlCol="0" anchor="ctr"/>
          <a:lstStyle/>
          <a:p>
            <a:pPr marL="0" indent="0" algn="ctr">
              <a:buNone/>
            </a:pPr>
            <a:r>
              <a:rPr lang="en-US" sz="1500" b="1" dirty="0">
                <a:solidFill>
                  <a:srgbClr val="FFC96B"/>
                </a:solidFill>
                <a:latin typeface="Segoe UI Semibold" pitchFamily="34" charset="0"/>
                <a:ea typeface="Segoe UI Semibold" pitchFamily="34" charset="-122"/>
                <a:cs typeface="Segoe UI Semibold" pitchFamily="34" charset="-120"/>
              </a:rPr>
              <a:t>The manual middle</a:t>
            </a:r>
            <a:endParaRPr lang="en-US" sz="1500" dirty="0"/>
          </a:p>
        </p:txBody>
      </p:sp>
      <p:sp>
        <p:nvSpPr>
          <p:cNvPr id="13" name="Text 9"/>
          <p:cNvSpPr/>
          <p:nvPr/>
        </p:nvSpPr>
        <p:spPr>
          <a:xfrm>
            <a:off x="4590288" y="4617720"/>
            <a:ext cx="3017520" cy="457200"/>
          </a:xfrm>
          <a:prstGeom prst="rect">
            <a:avLst/>
          </a:prstGeom>
          <a:noFill/>
          <a:ln/>
        </p:spPr>
        <p:txBody>
          <a:bodyPr wrap="square" rtlCol="0" anchor="ctr"/>
          <a:lstStyle/>
          <a:p>
            <a:pPr marL="0" indent="0" algn="ctr">
              <a:lnSpc>
                <a:spcPct val="105000"/>
              </a:lnSpc>
              <a:buNone/>
            </a:pPr>
            <a:r>
              <a:rPr lang="en-US" sz="1200" dirty="0">
                <a:solidFill>
                  <a:srgbClr val="F3F6FB"/>
                </a:solidFill>
                <a:latin typeface="Segoe UI" pitchFamily="34" charset="0"/>
                <a:ea typeface="Segoe UI" pitchFamily="34" charset="-122"/>
                <a:cs typeface="Segoe UI" pitchFamily="34" charset="-120"/>
              </a:rPr>
              <a:t>read it, check the balance, open the system, key in the record, write back</a:t>
            </a:r>
            <a:endParaRPr lang="en-US" sz="1200" dirty="0"/>
          </a:p>
        </p:txBody>
      </p:sp>
      <p:sp>
        <p:nvSpPr>
          <p:cNvPr id="14" name="Shape 10"/>
          <p:cNvSpPr/>
          <p:nvPr/>
        </p:nvSpPr>
        <p:spPr>
          <a:xfrm>
            <a:off x="8385048" y="3246120"/>
            <a:ext cx="3239719" cy="187452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15" name="Shape 11"/>
          <p:cNvSpPr/>
          <p:nvPr/>
        </p:nvSpPr>
        <p:spPr>
          <a:xfrm>
            <a:off x="8659368" y="3566160"/>
            <a:ext cx="603504" cy="603504"/>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16" name="Image 2" descr="C:/Users/neuma_p1qrsic/Repo/agentic-ops1/.scratch/icons/database.png"/>
          <p:cNvPicPr>
            <a:picLocks noChangeAspect="1"/>
          </p:cNvPicPr>
          <p:nvPr/>
        </p:nvPicPr>
        <p:blipFill>
          <a:blip r:embed="rId5"/>
          <a:stretch>
            <a:fillRect/>
          </a:stretch>
        </p:blipFill>
        <p:spPr>
          <a:xfrm>
            <a:off x="8804209" y="3711001"/>
            <a:ext cx="313822" cy="313822"/>
          </a:xfrm>
          <a:prstGeom prst="rect">
            <a:avLst/>
          </a:prstGeom>
        </p:spPr>
      </p:pic>
      <p:sp>
        <p:nvSpPr>
          <p:cNvPr id="17" name="Text 12"/>
          <p:cNvSpPr/>
          <p:nvPr/>
        </p:nvSpPr>
        <p:spPr>
          <a:xfrm>
            <a:off x="8659368" y="4343400"/>
            <a:ext cx="2691079" cy="365760"/>
          </a:xfrm>
          <a:prstGeom prst="rect">
            <a:avLst/>
          </a:prstGeom>
          <a:noFill/>
          <a:ln/>
        </p:spPr>
        <p:txBody>
          <a:bodyPr wrap="square" rtlCol="0" anchor="ctr"/>
          <a:lstStyle/>
          <a:p>
            <a:pPr marL="0" indent="0">
              <a:buNone/>
            </a:pPr>
            <a:r>
              <a:rPr lang="en-US" sz="1500" b="1" dirty="0">
                <a:solidFill>
                  <a:srgbClr val="F3F6FB"/>
                </a:solidFill>
                <a:latin typeface="Segoe UI Semibold" pitchFamily="34" charset="0"/>
                <a:ea typeface="Segoe UI Semibold" pitchFamily="34" charset="-122"/>
                <a:cs typeface="Segoe UI Semibold" pitchFamily="34" charset="-120"/>
              </a:rPr>
              <a:t>Your systems</a:t>
            </a:r>
            <a:endParaRPr lang="en-US" sz="1500" dirty="0"/>
          </a:p>
        </p:txBody>
      </p:sp>
      <p:sp>
        <p:nvSpPr>
          <p:cNvPr id="18" name="Text 13"/>
          <p:cNvSpPr/>
          <p:nvPr/>
        </p:nvSpPr>
        <p:spPr>
          <a:xfrm>
            <a:off x="8659368" y="4663440"/>
            <a:ext cx="2691079" cy="457200"/>
          </a:xfrm>
          <a:prstGeom prst="rect">
            <a:avLst/>
          </a:prstGeom>
          <a:noFill/>
          <a:ln/>
        </p:spPr>
        <p:txBody>
          <a:bodyPr wrap="square" rtlCol="0" anchor="ctr"/>
          <a:lstStyle/>
          <a:p>
            <a:pPr marL="0" indent="0">
              <a:buNone/>
            </a:pPr>
            <a:r>
              <a:rPr lang="en-US" sz="1200" dirty="0">
                <a:solidFill>
                  <a:srgbClr val="AAB6C7"/>
                </a:solidFill>
                <a:latin typeface="Segoe UI" pitchFamily="34" charset="0"/>
                <a:ea typeface="Segoe UI" pitchFamily="34" charset="-122"/>
                <a:cs typeface="Segoe UI" pitchFamily="34" charset="-120"/>
              </a:rPr>
              <a:t>SAP, treasury, email, files</a:t>
            </a:r>
            <a:endParaRPr lang="en-US" sz="1200" dirty="0"/>
          </a:p>
        </p:txBody>
      </p:sp>
      <p:sp>
        <p:nvSpPr>
          <p:cNvPr id="19" name="Shape 14"/>
          <p:cNvSpPr/>
          <p:nvPr/>
        </p:nvSpPr>
        <p:spPr>
          <a:xfrm>
            <a:off x="3813048" y="4183380"/>
            <a:ext cx="457200" cy="0"/>
          </a:xfrm>
          <a:prstGeom prst="line">
            <a:avLst/>
          </a:prstGeom>
          <a:noFill/>
          <a:ln w="25400">
            <a:solidFill>
              <a:srgbClr val="FFC96B"/>
            </a:solidFill>
            <a:prstDash val="solid"/>
            <a:tailEnd type="triangle"/>
          </a:ln>
        </p:spPr>
        <p:txBody>
          <a:bodyPr/>
          <a:lstStyle/>
          <a:p>
            <a:endParaRPr lang="en-US"/>
          </a:p>
        </p:txBody>
      </p:sp>
      <p:sp>
        <p:nvSpPr>
          <p:cNvPr id="20" name="Shape 15"/>
          <p:cNvSpPr/>
          <p:nvPr/>
        </p:nvSpPr>
        <p:spPr>
          <a:xfrm>
            <a:off x="7927848" y="4183380"/>
            <a:ext cx="457200" cy="0"/>
          </a:xfrm>
          <a:prstGeom prst="line">
            <a:avLst/>
          </a:prstGeom>
          <a:noFill/>
          <a:ln w="25400">
            <a:solidFill>
              <a:srgbClr val="FFC96B"/>
            </a:solidFill>
            <a:prstDash val="solid"/>
            <a:tailEnd type="triangle"/>
          </a:ln>
        </p:spPr>
        <p:txBody>
          <a:bodyPr/>
          <a:lstStyle/>
          <a:p>
            <a:endParaRPr lang="en-US"/>
          </a:p>
        </p:txBody>
      </p:sp>
      <p:sp>
        <p:nvSpPr>
          <p:cNvPr id="21" name="Text 16"/>
          <p:cNvSpPr/>
          <p:nvPr/>
        </p:nvSpPr>
        <p:spPr>
          <a:xfrm>
            <a:off x="566928" y="5532120"/>
            <a:ext cx="11057839" cy="457200"/>
          </a:xfrm>
          <a:prstGeom prst="rect">
            <a:avLst/>
          </a:prstGeom>
          <a:noFill/>
          <a:ln/>
        </p:spPr>
        <p:txBody>
          <a:bodyPr wrap="square" rtlCol="0" anchor="ctr"/>
          <a:lstStyle/>
          <a:p>
            <a:pPr marL="0" indent="0">
              <a:buNone/>
            </a:pPr>
            <a:r>
              <a:rPr lang="en-US" sz="1600" dirty="0">
                <a:solidFill>
                  <a:srgbClr val="3BE3E0"/>
                </a:solidFill>
                <a:latin typeface="Segoe UI" pitchFamily="34" charset="0"/>
                <a:ea typeface="Segoe UI" pitchFamily="34" charset="-122"/>
                <a:cs typeface="Segoe UI" pitchFamily="34" charset="-120"/>
              </a:rPr>
              <a:t>The steps are small. The cost isn't: they fill the day and every re-key can hide an error. So watch one request.</a:t>
            </a:r>
            <a:endParaRPr lang="en-US" sz="1600" dirty="0"/>
          </a:p>
        </p:txBody>
      </p:sp>
      <p:sp>
        <p:nvSpPr>
          <p:cNvPr id="25" name="Text 20"/>
          <p:cNvSpPr/>
          <p:nvPr/>
        </p:nvSpPr>
        <p:spPr>
          <a:xfrm>
            <a:off x="566928" y="2529840"/>
            <a:ext cx="11057839" cy="594360"/>
          </a:xfrm>
          <a:prstGeom prst="rect">
            <a:avLst/>
          </a:prstGeom>
          <a:noFill/>
          <a:ln/>
        </p:spPr>
        <p:txBody>
          <a:bodyPr wrap="square" rtlCol="0" anchor="ctr"/>
          <a:lstStyle/>
          <a:p>
            <a:pPr marL="0" indent="0" algn="l">
              <a:lnSpc>
                <a:spcPct val="115000"/>
              </a:lnSpc>
              <a:buNone/>
            </a:pPr>
            <a:r>
              <a:rPr lang="en-US" sz="1300" dirty="0">
                <a:solidFill>
                  <a:srgbClr val="7C8A9B"/>
                </a:solidFill>
                <a:latin typeface="Segoe UI" pitchFamily="34" charset="0"/>
                <a:ea typeface="Segoe UI" pitchFamily="34" charset="-122"/>
                <a:cs typeface="Segoe UI" pitchFamily="34" charset="-120"/>
              </a:rPr>
              <a:t>Switching between disconnected apps can cost up to 40% of productive time (American Psychological Association).
</a:t>
            </a:r>
            <a:r>
              <a:rPr lang="en-US" sz="1300" dirty="0">
                <a:solidFill>
                  <a:srgbClr val="7C8A9B"/>
                </a:solidFill>
                <a:latin typeface="Segoe UI" pitchFamily="34" charset="0"/>
                <a:ea typeface="Segoe UI" pitchFamily="34" charset="-122"/>
                <a:cs typeface="Segoe UI" pitchFamily="34" charset="-120"/>
              </a:rPr>
              <a:t>The average worker toggles between apps about 1,200 times a day (Harvard Business Review, 2022).</a:t>
            </a:r>
            <a:endParaRPr lang="en-US" sz="1300" dirty="0"/>
          </a:p>
        </p:txBody>
      </p:sp>
      <p:sp>
        <p:nvSpPr>
          <p:cNvPr id="22" name="Text 1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endParaRPr lang="en-US" sz="900" dirty="0"/>
          </a:p>
        </p:txBody>
      </p:sp>
      <p:sp>
        <p:nvSpPr>
          <p:cNvPr id="23" name="Text 18"/>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03 / 13</a:t>
            </a:r>
            <a:endParaRPr lang="en-US" sz="900" dirty="0"/>
          </a:p>
        </p:txBody>
      </p:sp>
      <p:sp>
        <p:nvSpPr>
          <p:cNvPr id="24" name="Shape 1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SAME PATTERN, ACROSS YOUR TEAM</a:t>
            </a:r>
            <a:endParaRPr lang="en-US" sz="1200" dirty="0"/>
          </a:p>
        </p:txBody>
      </p:sp>
      <p:sp>
        <p:nvSpPr>
          <p:cNvPr id="4" name="Text 2"/>
          <p:cNvSpPr/>
          <p:nvPr/>
        </p:nvSpPr>
        <p:spPr>
          <a:xfrm>
            <a:off x="566928" y="960120"/>
            <a:ext cx="1051560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You just watched one request.
Now multiply it across your team.</a:t>
            </a:r>
            <a:endParaRPr lang="en-US" sz="2900" dirty="0"/>
          </a:p>
        </p:txBody>
      </p:sp>
      <p:sp>
        <p:nvSpPr>
          <p:cNvPr id="5" name="Shape 3"/>
          <p:cNvSpPr/>
          <p:nvPr/>
        </p:nvSpPr>
        <p:spPr>
          <a:xfrm>
            <a:off x="566928" y="2331720"/>
            <a:ext cx="2558720" cy="3063240"/>
          </a:xfrm>
          <a:prstGeom prst="roundRect">
            <a:avLst>
              <a:gd name="adj" fmla="val 3216"/>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1462240" y="2715768"/>
            <a:ext cx="768096" cy="768096"/>
          </a:xfrm>
          <a:prstGeom prst="roundRect">
            <a:avLst>
              <a:gd name="adj" fmla="val 13095"/>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target.png"/>
          <p:cNvPicPr>
            <a:picLocks noChangeAspect="1"/>
          </p:cNvPicPr>
          <p:nvPr/>
        </p:nvPicPr>
        <p:blipFill>
          <a:blip r:embed="rId3"/>
          <a:stretch>
            <a:fillRect/>
          </a:stretch>
        </p:blipFill>
        <p:spPr>
          <a:xfrm>
            <a:off x="1646583" y="2900111"/>
            <a:ext cx="399410" cy="399410"/>
          </a:xfrm>
          <a:prstGeom prst="rect">
            <a:avLst/>
          </a:prstGeom>
        </p:spPr>
      </p:pic>
      <p:sp>
        <p:nvSpPr>
          <p:cNvPr id="8" name="Text 5"/>
          <p:cNvSpPr/>
          <p:nvPr/>
        </p:nvSpPr>
        <p:spPr>
          <a:xfrm>
            <a:off x="749808" y="3657600"/>
            <a:ext cx="2192960" cy="640080"/>
          </a:xfrm>
          <a:prstGeom prst="rect">
            <a:avLst/>
          </a:prstGeom>
          <a:noFill/>
          <a:ln/>
        </p:spPr>
        <p:txBody>
          <a:bodyPr wrap="square" rtlCol="0" anchor="t"/>
          <a:lstStyle/>
          <a:p>
            <a:pPr marL="0" indent="0" algn="ctr">
              <a:lnSpc>
                <a:spcPct val="100000"/>
              </a:lnSpc>
              <a:buNone/>
            </a:pPr>
            <a:r>
              <a:rPr lang="en-US" sz="1650" b="1" dirty="0">
                <a:solidFill>
                  <a:srgbClr val="F3F6FB"/>
                </a:solidFill>
                <a:latin typeface="Segoe UI Semibold" pitchFamily="34" charset="0"/>
                <a:ea typeface="Segoe UI Semibold" pitchFamily="34" charset="-122"/>
                <a:cs typeface="Segoe UI Semibold" pitchFamily="34" charset="-120"/>
              </a:rPr>
              <a:t>Domain specialists</a:t>
            </a:r>
            <a:endParaRPr lang="en-US" sz="1650" dirty="0"/>
          </a:p>
        </p:txBody>
      </p:sp>
      <p:sp>
        <p:nvSpPr>
          <p:cNvPr id="9" name="Text 6"/>
          <p:cNvSpPr/>
          <p:nvPr/>
        </p:nvSpPr>
        <p:spPr>
          <a:xfrm>
            <a:off x="786384" y="4297680"/>
            <a:ext cx="2119808" cy="960120"/>
          </a:xfrm>
          <a:prstGeom prst="rect">
            <a:avLst/>
          </a:prstGeom>
          <a:noFill/>
          <a:ln/>
        </p:spPr>
        <p:txBody>
          <a:bodyPr wrap="square" rtlCol="0" anchor="t"/>
          <a:lstStyle/>
          <a:p>
            <a:pPr marL="0" indent="0" algn="ctr">
              <a:lnSpc>
                <a:spcPct val="122000"/>
              </a:lnSpc>
              <a:buNone/>
            </a:pPr>
            <a:r>
              <a:rPr lang="en-US" sz="1300" dirty="0">
                <a:solidFill>
                  <a:srgbClr val="AAB6C7"/>
                </a:solidFill>
                <a:latin typeface="Segoe UI" pitchFamily="34" charset="0"/>
                <a:ea typeface="Segoe UI" pitchFamily="34" charset="-122"/>
                <a:cs typeface="Segoe UI" pitchFamily="34" charset="-120"/>
              </a:rPr>
              <a:t>Deep in one area: treasury, payments, market data. The transfer you just saw was one of these.</a:t>
            </a:r>
            <a:endParaRPr lang="en-US" sz="1300" dirty="0"/>
          </a:p>
        </p:txBody>
      </p:sp>
      <p:sp>
        <p:nvSpPr>
          <p:cNvPr id="10" name="Shape 7"/>
          <p:cNvSpPr/>
          <p:nvPr/>
        </p:nvSpPr>
        <p:spPr>
          <a:xfrm>
            <a:off x="3399968" y="2331720"/>
            <a:ext cx="2558720" cy="3063240"/>
          </a:xfrm>
          <a:prstGeom prst="roundRect">
            <a:avLst>
              <a:gd name="adj" fmla="val 3216"/>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4295280" y="2715768"/>
            <a:ext cx="768096" cy="768096"/>
          </a:xfrm>
          <a:prstGeom prst="roundRect">
            <a:avLst>
              <a:gd name="adj" fmla="val 13095"/>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spark.png"/>
          <p:cNvPicPr>
            <a:picLocks noChangeAspect="1"/>
          </p:cNvPicPr>
          <p:nvPr/>
        </p:nvPicPr>
        <p:blipFill>
          <a:blip r:embed="rId4"/>
          <a:stretch>
            <a:fillRect/>
          </a:stretch>
        </p:blipFill>
        <p:spPr>
          <a:xfrm>
            <a:off x="4479623" y="2900111"/>
            <a:ext cx="399410" cy="399410"/>
          </a:xfrm>
          <a:prstGeom prst="rect">
            <a:avLst/>
          </a:prstGeom>
        </p:spPr>
      </p:pic>
      <p:sp>
        <p:nvSpPr>
          <p:cNvPr id="13" name="Text 9"/>
          <p:cNvSpPr/>
          <p:nvPr/>
        </p:nvSpPr>
        <p:spPr>
          <a:xfrm>
            <a:off x="3582848" y="3657600"/>
            <a:ext cx="2192960" cy="640080"/>
          </a:xfrm>
          <a:prstGeom prst="rect">
            <a:avLst/>
          </a:prstGeom>
          <a:noFill/>
          <a:ln/>
        </p:spPr>
        <p:txBody>
          <a:bodyPr wrap="square" rtlCol="0" anchor="t"/>
          <a:lstStyle/>
          <a:p>
            <a:pPr marL="0" indent="0" algn="ctr">
              <a:lnSpc>
                <a:spcPct val="100000"/>
              </a:lnSpc>
              <a:buNone/>
            </a:pPr>
            <a:r>
              <a:rPr lang="en-US" sz="1650" b="1" dirty="0">
                <a:solidFill>
                  <a:srgbClr val="F3F6FB"/>
                </a:solidFill>
                <a:latin typeface="Segoe UI Semibold" pitchFamily="34" charset="0"/>
                <a:ea typeface="Segoe UI Semibold" pitchFamily="34" charset="-122"/>
                <a:cs typeface="Segoe UI Semibold" pitchFamily="34" charset="-120"/>
              </a:rPr>
              <a:t>Personal assistants</a:t>
            </a:r>
            <a:endParaRPr lang="en-US" sz="1650" dirty="0"/>
          </a:p>
        </p:txBody>
      </p:sp>
      <p:sp>
        <p:nvSpPr>
          <p:cNvPr id="14" name="Text 10"/>
          <p:cNvSpPr/>
          <p:nvPr/>
        </p:nvSpPr>
        <p:spPr>
          <a:xfrm>
            <a:off x="3619424" y="4297680"/>
            <a:ext cx="2119808" cy="960120"/>
          </a:xfrm>
          <a:prstGeom prst="rect">
            <a:avLst/>
          </a:prstGeom>
          <a:noFill/>
          <a:ln/>
        </p:spPr>
        <p:txBody>
          <a:bodyPr wrap="square" rtlCol="0" anchor="t"/>
          <a:lstStyle/>
          <a:p>
            <a:pPr marL="0" indent="0" algn="ctr">
              <a:lnSpc>
                <a:spcPct val="122000"/>
              </a:lnSpc>
              <a:buNone/>
            </a:pPr>
            <a:r>
              <a:rPr lang="en-US" sz="1300" dirty="0">
                <a:solidFill>
                  <a:srgbClr val="AAB6C7"/>
                </a:solidFill>
                <a:latin typeface="Segoe UI" pitchFamily="34" charset="0"/>
                <a:ea typeface="Segoe UI" pitchFamily="34" charset="-122"/>
                <a:cs typeface="Segoe UI" pitchFamily="34" charset="-120"/>
              </a:rPr>
              <a:t>One per person. The constant small tasks: chase a reply, prep the numbers.</a:t>
            </a:r>
            <a:endParaRPr lang="en-US" sz="1300" dirty="0"/>
          </a:p>
        </p:txBody>
      </p:sp>
      <p:sp>
        <p:nvSpPr>
          <p:cNvPr id="15" name="Shape 11"/>
          <p:cNvSpPr/>
          <p:nvPr/>
        </p:nvSpPr>
        <p:spPr>
          <a:xfrm>
            <a:off x="6233008" y="2331720"/>
            <a:ext cx="2558720" cy="3063240"/>
          </a:xfrm>
          <a:prstGeom prst="roundRect">
            <a:avLst>
              <a:gd name="adj" fmla="val 3216"/>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7128319" y="2715768"/>
            <a:ext cx="768096" cy="768096"/>
          </a:xfrm>
          <a:prstGeom prst="roundRect">
            <a:avLst>
              <a:gd name="adj" fmla="val 13095"/>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eye.png"/>
          <p:cNvPicPr>
            <a:picLocks noChangeAspect="1"/>
          </p:cNvPicPr>
          <p:nvPr/>
        </p:nvPicPr>
        <p:blipFill>
          <a:blip r:embed="rId5"/>
          <a:stretch>
            <a:fillRect/>
          </a:stretch>
        </p:blipFill>
        <p:spPr>
          <a:xfrm>
            <a:off x="7312663" y="2900111"/>
            <a:ext cx="399410" cy="399410"/>
          </a:xfrm>
          <a:prstGeom prst="rect">
            <a:avLst/>
          </a:prstGeom>
        </p:spPr>
      </p:pic>
      <p:sp>
        <p:nvSpPr>
          <p:cNvPr id="18" name="Text 13"/>
          <p:cNvSpPr/>
          <p:nvPr/>
        </p:nvSpPr>
        <p:spPr>
          <a:xfrm>
            <a:off x="6415888" y="3657600"/>
            <a:ext cx="2192960" cy="640080"/>
          </a:xfrm>
          <a:prstGeom prst="rect">
            <a:avLst/>
          </a:prstGeom>
          <a:noFill/>
          <a:ln/>
        </p:spPr>
        <p:txBody>
          <a:bodyPr wrap="square" rtlCol="0" anchor="t"/>
          <a:lstStyle/>
          <a:p>
            <a:pPr marL="0" indent="0" algn="ctr">
              <a:lnSpc>
                <a:spcPct val="100000"/>
              </a:lnSpc>
              <a:buNone/>
            </a:pPr>
            <a:r>
              <a:rPr lang="en-US" sz="1650" b="1" dirty="0">
                <a:solidFill>
                  <a:srgbClr val="F3F6FB"/>
                </a:solidFill>
                <a:latin typeface="Segoe UI Semibold" pitchFamily="34" charset="0"/>
                <a:ea typeface="Segoe UI Semibold" pitchFamily="34" charset="-122"/>
                <a:cs typeface="Segoe UI Semibold" pitchFamily="34" charset="-120"/>
              </a:rPr>
              <a:t>Analysts</a:t>
            </a:r>
            <a:endParaRPr lang="en-US" sz="1650" dirty="0"/>
          </a:p>
        </p:txBody>
      </p:sp>
      <p:sp>
        <p:nvSpPr>
          <p:cNvPr id="19" name="Text 14"/>
          <p:cNvSpPr/>
          <p:nvPr/>
        </p:nvSpPr>
        <p:spPr>
          <a:xfrm>
            <a:off x="6452464" y="4297680"/>
            <a:ext cx="2119808" cy="960120"/>
          </a:xfrm>
          <a:prstGeom prst="rect">
            <a:avLst/>
          </a:prstGeom>
          <a:noFill/>
          <a:ln/>
        </p:spPr>
        <p:txBody>
          <a:bodyPr wrap="square" rtlCol="0" anchor="t"/>
          <a:lstStyle/>
          <a:p>
            <a:pPr marL="0" indent="0" algn="ctr">
              <a:lnSpc>
                <a:spcPct val="122000"/>
              </a:lnSpc>
              <a:buNone/>
            </a:pPr>
            <a:r>
              <a:rPr lang="en-US" sz="1300" dirty="0">
                <a:solidFill>
                  <a:srgbClr val="AAB6C7"/>
                </a:solidFill>
                <a:latin typeface="Segoe UI" pitchFamily="34" charset="0"/>
                <a:ea typeface="Segoe UI" pitchFamily="34" charset="-122"/>
                <a:cs typeface="Segoe UI" pitchFamily="34" charset="-120"/>
              </a:rPr>
              <a:t>Pull the numbers together, summarize what matters, and suggest the next move to make.</a:t>
            </a:r>
            <a:endParaRPr lang="en-US" sz="1300" dirty="0"/>
          </a:p>
        </p:txBody>
      </p:sp>
      <p:sp>
        <p:nvSpPr>
          <p:cNvPr id="20" name="Shape 15"/>
          <p:cNvSpPr/>
          <p:nvPr/>
        </p:nvSpPr>
        <p:spPr>
          <a:xfrm>
            <a:off x="9066047" y="2331720"/>
            <a:ext cx="2558720" cy="3063240"/>
          </a:xfrm>
          <a:prstGeom prst="roundRect">
            <a:avLst>
              <a:gd name="adj" fmla="val 3216"/>
            </a:avLst>
          </a:prstGeom>
          <a:solidFill>
            <a:srgbClr val="141A25"/>
          </a:solidFill>
          <a:ln w="13970">
            <a:solidFill>
              <a:srgbClr val="36414F"/>
            </a:solidFill>
            <a:prstDash val="solid"/>
          </a:ln>
        </p:spPr>
        <p:txBody>
          <a:bodyPr/>
          <a:lstStyle/>
          <a:p>
            <a:endParaRPr lang="en-US"/>
          </a:p>
        </p:txBody>
      </p:sp>
      <p:sp>
        <p:nvSpPr>
          <p:cNvPr id="21" name="Shape 16"/>
          <p:cNvSpPr/>
          <p:nvPr/>
        </p:nvSpPr>
        <p:spPr>
          <a:xfrm>
            <a:off x="9961359" y="2715768"/>
            <a:ext cx="768096" cy="768096"/>
          </a:xfrm>
          <a:prstGeom prst="roundRect">
            <a:avLst>
              <a:gd name="adj" fmla="val 13095"/>
            </a:avLst>
          </a:prstGeom>
          <a:solidFill>
            <a:srgbClr val="1B2330"/>
          </a:solidFill>
          <a:ln w="15240">
            <a:solidFill>
              <a:srgbClr val="3BE3E0"/>
            </a:solidFill>
            <a:prstDash val="solid"/>
          </a:ln>
        </p:spPr>
        <p:txBody>
          <a:bodyPr/>
          <a:lstStyle/>
          <a:p>
            <a:endParaRPr lang="en-US"/>
          </a:p>
        </p:txBody>
      </p:sp>
      <p:pic>
        <p:nvPicPr>
          <p:cNvPr id="22" name="Image 3" descr="C:/Users/neuma_p1qrsic/Repo/agentic-ops1/.scratch/icons/doc.png"/>
          <p:cNvPicPr>
            <a:picLocks noChangeAspect="1"/>
          </p:cNvPicPr>
          <p:nvPr/>
        </p:nvPicPr>
        <p:blipFill>
          <a:blip r:embed="rId6"/>
          <a:stretch>
            <a:fillRect/>
          </a:stretch>
        </p:blipFill>
        <p:spPr>
          <a:xfrm>
            <a:off x="10145702" y="2900111"/>
            <a:ext cx="399410" cy="399410"/>
          </a:xfrm>
          <a:prstGeom prst="rect">
            <a:avLst/>
          </a:prstGeom>
        </p:spPr>
      </p:pic>
      <p:sp>
        <p:nvSpPr>
          <p:cNvPr id="23" name="Text 17"/>
          <p:cNvSpPr/>
          <p:nvPr/>
        </p:nvSpPr>
        <p:spPr>
          <a:xfrm>
            <a:off x="9248927" y="3657600"/>
            <a:ext cx="2192960" cy="640080"/>
          </a:xfrm>
          <a:prstGeom prst="rect">
            <a:avLst/>
          </a:prstGeom>
          <a:noFill/>
          <a:ln/>
        </p:spPr>
        <p:txBody>
          <a:bodyPr wrap="square" rtlCol="0" anchor="t"/>
          <a:lstStyle/>
          <a:p>
            <a:pPr marL="0" indent="0" algn="ctr">
              <a:lnSpc>
                <a:spcPct val="100000"/>
              </a:lnSpc>
              <a:buNone/>
            </a:pPr>
            <a:r>
              <a:rPr lang="en-US" sz="1650" b="1" dirty="0">
                <a:solidFill>
                  <a:srgbClr val="F3F6FB"/>
                </a:solidFill>
                <a:latin typeface="Segoe UI Semibold" pitchFamily="34" charset="0"/>
                <a:ea typeface="Segoe UI Semibold" pitchFamily="34" charset="-122"/>
                <a:cs typeface="Segoe UI Semibold" pitchFamily="34" charset="-120"/>
              </a:rPr>
              <a:t>Clerks</a:t>
            </a:r>
            <a:endParaRPr lang="en-US" sz="1650" dirty="0"/>
          </a:p>
        </p:txBody>
      </p:sp>
      <p:sp>
        <p:nvSpPr>
          <p:cNvPr id="24" name="Text 18"/>
          <p:cNvSpPr/>
          <p:nvPr/>
        </p:nvSpPr>
        <p:spPr>
          <a:xfrm>
            <a:off x="9285503" y="4297680"/>
            <a:ext cx="2119808" cy="960120"/>
          </a:xfrm>
          <a:prstGeom prst="rect">
            <a:avLst/>
          </a:prstGeom>
          <a:noFill/>
          <a:ln/>
        </p:spPr>
        <p:txBody>
          <a:bodyPr wrap="square" rtlCol="0" anchor="t"/>
          <a:lstStyle/>
          <a:p>
            <a:pPr marL="0" indent="0" algn="ctr">
              <a:lnSpc>
                <a:spcPct val="122000"/>
              </a:lnSpc>
              <a:buNone/>
            </a:pPr>
            <a:r>
              <a:rPr lang="en-US" sz="1300" dirty="0">
                <a:solidFill>
                  <a:srgbClr val="AAB6C7"/>
                </a:solidFill>
                <a:latin typeface="Segoe UI" pitchFamily="34" charset="0"/>
                <a:ea typeface="Segoe UI" pitchFamily="34" charset="-122"/>
                <a:cs typeface="Segoe UI" pitchFamily="34" charset="-120"/>
              </a:rPr>
              <a:t>The steady, repetitive work: entries, records, reconciliations, done without tiring.</a:t>
            </a:r>
            <a:endParaRPr lang="en-US" sz="1300" dirty="0"/>
          </a:p>
        </p:txBody>
      </p:sp>
      <p:sp>
        <p:nvSpPr>
          <p:cNvPr id="25" name="Text 19"/>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endParaRPr lang="en-US" sz="900" dirty="0"/>
          </a:p>
        </p:txBody>
      </p:sp>
      <p:sp>
        <p:nvSpPr>
          <p:cNvPr id="26" name="Text 20"/>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08 / 13</a:t>
            </a:r>
            <a:endParaRPr lang="en-US" sz="900" dirty="0"/>
          </a:p>
        </p:txBody>
      </p:sp>
      <p:sp>
        <p:nvSpPr>
          <p:cNvPr id="27" name="Shape 21"/>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WHY IT IS SAFE TO LET IT RUN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800" b="1" dirty="0">
                <a:solidFill>
                  <a:srgbClr val="F3F6FB"/>
                </a:solidFill>
                <a:latin typeface="Segoe UI Semibold" pitchFamily="34" charset="0"/>
                <a:ea typeface="Segoe UI Semibold" pitchFamily="34" charset="-122"/>
                <a:cs typeface="Segoe UI Semibold" pitchFamily="34" charset="-120"/>
              </a:rPr>
              <a:t>The controls are built in, not bolted on.</a:t>
            </a:r>
            <a:endParaRPr lang="en-US" sz="2800" dirty="0"/>
          </a:p>
        </p:txBody>
      </p:sp>
      <p:sp>
        <p:nvSpPr>
          <p:cNvPr id="5" name="Shape 3"/>
          <p:cNvSpPr/>
          <p:nvPr/>
        </p:nvSpPr>
        <p:spPr>
          <a:xfrm>
            <a:off x="5669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6" name="Shape 4"/>
          <p:cNvSpPr/>
          <p:nvPr/>
        </p:nvSpPr>
        <p:spPr>
          <a:xfrm>
            <a:off x="8229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7" name="Image 0" descr="C:/Users/neuma_p1qrsic/Repo/agentic-ops1/.scratch/icons/list.png"/>
          <p:cNvPicPr>
            <a:picLocks noChangeAspect="1"/>
          </p:cNvPicPr>
          <p:nvPr/>
        </p:nvPicPr>
        <p:blipFill>
          <a:blip r:embed="rId3"/>
          <a:stretch>
            <a:fillRect/>
          </a:stretch>
        </p:blipFill>
        <p:spPr>
          <a:xfrm>
            <a:off x="959023" y="2632375"/>
            <a:ext cx="294803" cy="294803"/>
          </a:xfrm>
          <a:prstGeom prst="rect">
            <a:avLst/>
          </a:prstGeom>
        </p:spPr>
      </p:pic>
      <p:sp>
        <p:nvSpPr>
          <p:cNvPr id="8" name="Text 5"/>
          <p:cNvSpPr/>
          <p:nvPr/>
        </p:nvSpPr>
        <p:spPr>
          <a:xfrm>
            <a:off x="1572768" y="2414016"/>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A full audit trail</a:t>
            </a:r>
            <a:endParaRPr lang="en-US" sz="1600" dirty="0"/>
          </a:p>
        </p:txBody>
      </p:sp>
      <p:sp>
        <p:nvSpPr>
          <p:cNvPr id="9" name="Text 6"/>
          <p:cNvSpPr/>
          <p:nvPr/>
        </p:nvSpPr>
        <p:spPr>
          <a:xfrm>
            <a:off x="15727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Every action the co-worker takes is recorded, end to end.</a:t>
            </a:r>
            <a:endParaRPr lang="en-US" sz="1250" dirty="0"/>
          </a:p>
        </p:txBody>
      </p:sp>
      <p:sp>
        <p:nvSpPr>
          <p:cNvPr id="10" name="Shape 7"/>
          <p:cNvSpPr/>
          <p:nvPr/>
        </p:nvSpPr>
        <p:spPr>
          <a:xfrm>
            <a:off x="6278728" y="2194560"/>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1" name="Shape 8"/>
          <p:cNvSpPr/>
          <p:nvPr/>
        </p:nvSpPr>
        <p:spPr>
          <a:xfrm>
            <a:off x="6534760" y="2496312"/>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2" name="Image 1" descr="C:/Users/neuma_p1qrsic/Repo/agentic-ops1/.scratch/icons/shield.png"/>
          <p:cNvPicPr>
            <a:picLocks noChangeAspect="1"/>
          </p:cNvPicPr>
          <p:nvPr/>
        </p:nvPicPr>
        <p:blipFill>
          <a:blip r:embed="rId4"/>
          <a:stretch>
            <a:fillRect/>
          </a:stretch>
        </p:blipFill>
        <p:spPr>
          <a:xfrm>
            <a:off x="6670822" y="2632375"/>
            <a:ext cx="294803" cy="294803"/>
          </a:xfrm>
          <a:prstGeom prst="rect">
            <a:avLst/>
          </a:prstGeom>
        </p:spPr>
      </p:pic>
      <p:sp>
        <p:nvSpPr>
          <p:cNvPr id="13" name="Text 9"/>
          <p:cNvSpPr/>
          <p:nvPr/>
        </p:nvSpPr>
        <p:spPr>
          <a:xfrm>
            <a:off x="7284568" y="2414016"/>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Approvals where you want them</a:t>
            </a:r>
            <a:endParaRPr lang="en-US" sz="1600" dirty="0"/>
          </a:p>
        </p:txBody>
      </p:sp>
      <p:sp>
        <p:nvSpPr>
          <p:cNvPr id="14" name="Text 10"/>
          <p:cNvSpPr/>
          <p:nvPr/>
        </p:nvSpPr>
        <p:spPr>
          <a:xfrm>
            <a:off x="7284568" y="2798064"/>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moves that matter wait for a person to sign off.</a:t>
            </a:r>
            <a:endParaRPr lang="en-US" sz="1250" dirty="0"/>
          </a:p>
        </p:txBody>
      </p:sp>
      <p:sp>
        <p:nvSpPr>
          <p:cNvPr id="15" name="Shape 11"/>
          <p:cNvSpPr/>
          <p:nvPr/>
        </p:nvSpPr>
        <p:spPr>
          <a:xfrm>
            <a:off x="5669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16" name="Shape 12"/>
          <p:cNvSpPr/>
          <p:nvPr/>
        </p:nvSpPr>
        <p:spPr>
          <a:xfrm>
            <a:off x="8229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17" name="Image 2" descr="C:/Users/neuma_p1qrsic/Repo/agentic-ops1/.scratch/icons/eye.png"/>
          <p:cNvPicPr>
            <a:picLocks noChangeAspect="1"/>
          </p:cNvPicPr>
          <p:nvPr/>
        </p:nvPicPr>
        <p:blipFill>
          <a:blip r:embed="rId5"/>
          <a:stretch>
            <a:fillRect/>
          </a:stretch>
        </p:blipFill>
        <p:spPr>
          <a:xfrm>
            <a:off x="959023" y="3985687"/>
            <a:ext cx="294803" cy="294803"/>
          </a:xfrm>
          <a:prstGeom prst="rect">
            <a:avLst/>
          </a:prstGeom>
        </p:spPr>
      </p:pic>
      <p:sp>
        <p:nvSpPr>
          <p:cNvPr id="18" name="Text 13"/>
          <p:cNvSpPr/>
          <p:nvPr/>
        </p:nvSpPr>
        <p:spPr>
          <a:xfrm>
            <a:off x="1572768" y="3767328"/>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Automatic checks</a:t>
            </a:r>
            <a:endParaRPr lang="en-US" sz="1600" dirty="0"/>
          </a:p>
        </p:txBody>
      </p:sp>
      <p:sp>
        <p:nvSpPr>
          <p:cNvPr id="19" name="Text 14"/>
          <p:cNvSpPr/>
          <p:nvPr/>
        </p:nvSpPr>
        <p:spPr>
          <a:xfrm>
            <a:off x="15727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Odd or bad data is caught before it reaches a system.</a:t>
            </a:r>
            <a:endParaRPr lang="en-US" sz="1250" dirty="0"/>
          </a:p>
        </p:txBody>
      </p:sp>
      <p:sp>
        <p:nvSpPr>
          <p:cNvPr id="20" name="Shape 15"/>
          <p:cNvSpPr/>
          <p:nvPr/>
        </p:nvSpPr>
        <p:spPr>
          <a:xfrm>
            <a:off x="6278728" y="3547872"/>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1" name="Shape 16"/>
          <p:cNvSpPr/>
          <p:nvPr/>
        </p:nvSpPr>
        <p:spPr>
          <a:xfrm>
            <a:off x="6534760" y="3849624"/>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2" name="Image 3" descr="C:/Users/neuma_p1qrsic/Repo/agentic-ops1/.scratch/icons/bell.png"/>
          <p:cNvPicPr>
            <a:picLocks noChangeAspect="1"/>
          </p:cNvPicPr>
          <p:nvPr/>
        </p:nvPicPr>
        <p:blipFill>
          <a:blip r:embed="rId6"/>
          <a:stretch>
            <a:fillRect/>
          </a:stretch>
        </p:blipFill>
        <p:spPr>
          <a:xfrm>
            <a:off x="6670822" y="3985687"/>
            <a:ext cx="294803" cy="294803"/>
          </a:xfrm>
          <a:prstGeom prst="rect">
            <a:avLst/>
          </a:prstGeom>
        </p:spPr>
      </p:pic>
      <p:sp>
        <p:nvSpPr>
          <p:cNvPr id="23" name="Text 17"/>
          <p:cNvSpPr/>
          <p:nvPr/>
        </p:nvSpPr>
        <p:spPr>
          <a:xfrm>
            <a:off x="7284568" y="3767328"/>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Alerts on exceptions</a:t>
            </a:r>
            <a:endParaRPr lang="en-US" sz="1600" dirty="0"/>
          </a:p>
        </p:txBody>
      </p:sp>
      <p:sp>
        <p:nvSpPr>
          <p:cNvPr id="24" name="Text 18"/>
          <p:cNvSpPr/>
          <p:nvPr/>
        </p:nvSpPr>
        <p:spPr>
          <a:xfrm>
            <a:off x="7284568" y="4151376"/>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 hear about the odd one out; the rest just runs.</a:t>
            </a:r>
            <a:endParaRPr lang="en-US" sz="1250" dirty="0"/>
          </a:p>
        </p:txBody>
      </p:sp>
      <p:sp>
        <p:nvSpPr>
          <p:cNvPr id="25" name="Shape 19"/>
          <p:cNvSpPr/>
          <p:nvPr/>
        </p:nvSpPr>
        <p:spPr>
          <a:xfrm>
            <a:off x="5669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26" name="Shape 20"/>
          <p:cNvSpPr/>
          <p:nvPr/>
        </p:nvSpPr>
        <p:spPr>
          <a:xfrm>
            <a:off x="8229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27" name="Image 4" descr="C:/Users/neuma_p1qrsic/Repo/agentic-ops1/.scratch/icons/blocks.png"/>
          <p:cNvPicPr>
            <a:picLocks noChangeAspect="1"/>
          </p:cNvPicPr>
          <p:nvPr/>
        </p:nvPicPr>
        <p:blipFill>
          <a:blip r:embed="rId7"/>
          <a:stretch>
            <a:fillRect/>
          </a:stretch>
        </p:blipFill>
        <p:spPr>
          <a:xfrm>
            <a:off x="959023" y="5338999"/>
            <a:ext cx="294803" cy="294803"/>
          </a:xfrm>
          <a:prstGeom prst="rect">
            <a:avLst/>
          </a:prstGeom>
        </p:spPr>
      </p:pic>
      <p:sp>
        <p:nvSpPr>
          <p:cNvPr id="28" name="Text 21"/>
          <p:cNvSpPr/>
          <p:nvPr/>
        </p:nvSpPr>
        <p:spPr>
          <a:xfrm>
            <a:off x="1572768" y="5120640"/>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No code to change it</a:t>
            </a:r>
            <a:endParaRPr lang="en-US" sz="1600" dirty="0"/>
          </a:p>
        </p:txBody>
      </p:sp>
      <p:sp>
        <p:nvSpPr>
          <p:cNvPr id="29" name="Text 22"/>
          <p:cNvSpPr/>
          <p:nvPr/>
        </p:nvSpPr>
        <p:spPr>
          <a:xfrm>
            <a:off x="15727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Your rules, changed by your team, no IT project.</a:t>
            </a:r>
            <a:endParaRPr lang="en-US" sz="1250" dirty="0"/>
          </a:p>
        </p:txBody>
      </p:sp>
      <p:sp>
        <p:nvSpPr>
          <p:cNvPr id="30" name="Shape 23"/>
          <p:cNvSpPr/>
          <p:nvPr/>
        </p:nvSpPr>
        <p:spPr>
          <a:xfrm>
            <a:off x="6278728" y="4901184"/>
            <a:ext cx="5346040" cy="1188720"/>
          </a:xfrm>
          <a:prstGeom prst="roundRect">
            <a:avLst>
              <a:gd name="adj" fmla="val 6154"/>
            </a:avLst>
          </a:prstGeom>
          <a:solidFill>
            <a:srgbClr val="141A25"/>
          </a:solidFill>
          <a:ln w="13970">
            <a:solidFill>
              <a:srgbClr val="36414F"/>
            </a:solidFill>
            <a:prstDash val="solid"/>
          </a:ln>
        </p:spPr>
        <p:txBody>
          <a:bodyPr/>
          <a:lstStyle/>
          <a:p>
            <a:endParaRPr lang="en-US"/>
          </a:p>
        </p:txBody>
      </p:sp>
      <p:sp>
        <p:nvSpPr>
          <p:cNvPr id="31" name="Shape 24"/>
          <p:cNvSpPr/>
          <p:nvPr/>
        </p:nvSpPr>
        <p:spPr>
          <a:xfrm>
            <a:off x="6534760" y="5202936"/>
            <a:ext cx="566928" cy="566928"/>
          </a:xfrm>
          <a:prstGeom prst="roundRect">
            <a:avLst>
              <a:gd name="adj" fmla="val 17742"/>
            </a:avLst>
          </a:prstGeom>
          <a:solidFill>
            <a:srgbClr val="1B2330"/>
          </a:solidFill>
          <a:ln w="15240">
            <a:solidFill>
              <a:srgbClr val="3BE3E0"/>
            </a:solidFill>
            <a:prstDash val="solid"/>
          </a:ln>
        </p:spPr>
        <p:txBody>
          <a:bodyPr/>
          <a:lstStyle/>
          <a:p>
            <a:endParaRPr lang="en-US"/>
          </a:p>
        </p:txBody>
      </p:sp>
      <p:pic>
        <p:nvPicPr>
          <p:cNvPr id="32" name="Image 5" descr="C:/Users/neuma_p1qrsic/Repo/agentic-ops1/.scratch/icons/lock.png"/>
          <p:cNvPicPr>
            <a:picLocks noChangeAspect="1"/>
          </p:cNvPicPr>
          <p:nvPr/>
        </p:nvPicPr>
        <p:blipFill>
          <a:blip r:embed="rId8"/>
          <a:stretch>
            <a:fillRect/>
          </a:stretch>
        </p:blipFill>
        <p:spPr>
          <a:xfrm>
            <a:off x="6670822" y="5338999"/>
            <a:ext cx="294803" cy="294803"/>
          </a:xfrm>
          <a:prstGeom prst="rect">
            <a:avLst/>
          </a:prstGeom>
        </p:spPr>
      </p:pic>
      <p:sp>
        <p:nvSpPr>
          <p:cNvPr id="33" name="Text 25"/>
          <p:cNvSpPr/>
          <p:nvPr/>
        </p:nvSpPr>
        <p:spPr>
          <a:xfrm>
            <a:off x="7284568" y="5120640"/>
            <a:ext cx="4111600" cy="384048"/>
          </a:xfrm>
          <a:prstGeom prst="rect">
            <a:avLst/>
          </a:prstGeom>
          <a:noFill/>
          <a:ln/>
        </p:spPr>
        <p:txBody>
          <a:bodyPr wrap="square" rtlCol="0" anchor="ctr"/>
          <a:lstStyle/>
          <a:p>
            <a:pPr marL="0" indent="0">
              <a:buNone/>
            </a:pPr>
            <a:r>
              <a:rPr lang="en-US" sz="1600" b="1" dirty="0">
                <a:solidFill>
                  <a:srgbClr val="F3F6FB"/>
                </a:solidFill>
                <a:latin typeface="Segoe UI Semibold" pitchFamily="34" charset="0"/>
                <a:ea typeface="Segoe UI Semibold" pitchFamily="34" charset="-122"/>
                <a:cs typeface="Segoe UI Semibold" pitchFamily="34" charset="-120"/>
              </a:rPr>
              <a:t>ISO 27001 and SOC 1</a:t>
            </a:r>
            <a:endParaRPr lang="en-US" sz="1600" dirty="0"/>
          </a:p>
        </p:txBody>
      </p:sp>
      <p:sp>
        <p:nvSpPr>
          <p:cNvPr id="34" name="Text 26"/>
          <p:cNvSpPr/>
          <p:nvPr/>
        </p:nvSpPr>
        <p:spPr>
          <a:xfrm>
            <a:off x="7284568" y="5504688"/>
            <a:ext cx="4111600" cy="45720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The security controls your auditors already expect.</a:t>
            </a:r>
            <a:endParaRPr lang="en-US" sz="1250" dirty="0"/>
          </a:p>
        </p:txBody>
      </p:sp>
      <p:sp>
        <p:nvSpPr>
          <p:cNvPr id="35" name="Text 27"/>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endParaRPr lang="en-US" sz="900" dirty="0"/>
          </a:p>
        </p:txBody>
      </p:sp>
      <p:sp>
        <p:nvSpPr>
          <p:cNvPr id="36" name="Text 28"/>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10 / 13</a:t>
            </a:r>
            <a:endParaRPr lang="en-US" sz="900" dirty="0"/>
          </a:p>
        </p:txBody>
      </p:sp>
      <p:sp>
        <p:nvSpPr>
          <p:cNvPr id="37" name="Shape 29"/>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005252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0E121B"/>
        </a:solidFill>
        <a:effectLst/>
      </p:bgPr>
    </p:bg>
    <p:spTree>
      <p:nvGrpSpPr>
        <p:cNvPr id="1" name=""/>
        <p:cNvGrpSpPr/>
        <p:nvPr/>
      </p:nvGrpSpPr>
      <p:grpSpPr>
        <a:xfrm>
          <a:off x="0" y="0"/>
          <a:ext cx="0" cy="0"/>
          <a:chOff x="0" y="0"/>
          <a:chExt cx="0" cy="0"/>
        </a:xfrm>
      </p:grpSpPr>
      <p:sp>
        <p:nvSpPr>
          <p:cNvPr id="2"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WHAT IT RUNS ON</a:t>
            </a:r>
            <a:endParaRPr lang="en-US" sz="1200" dirty="0"/>
          </a:p>
        </p:txBody>
      </p:sp>
      <p:sp>
        <p:nvSpPr>
          <p:cNvPr id="4" name="Text 2"/>
          <p:cNvSpPr/>
          <p:nvPr/>
        </p:nvSpPr>
        <p:spPr>
          <a:xfrm>
            <a:off x="566928" y="960120"/>
            <a:ext cx="10789920" cy="731520"/>
          </a:xfrm>
          <a:prstGeom prst="rect">
            <a:avLst/>
          </a:prstGeom>
          <a:noFill/>
          <a:ln/>
        </p:spPr>
        <p:txBody>
          <a:bodyPr wrap="square" rtlCol="0" anchor="ctr"/>
          <a:lstStyle/>
          <a:p>
            <a:pPr marL="0" indent="0">
              <a:buNone/>
            </a:pPr>
            <a:r>
              <a:rPr lang="en-US" sz="2900" b="1" dirty="0">
                <a:solidFill>
                  <a:srgbClr val="F3F6FB"/>
                </a:solidFill>
                <a:latin typeface="Segoe UI Semibold" pitchFamily="34" charset="0"/>
                <a:ea typeface="Segoe UI Semibold" pitchFamily="34" charset="-122"/>
                <a:cs typeface="Segoe UI Semibold" pitchFamily="34" charset="-120"/>
              </a:rPr>
              <a:t xml:space="preserve">Digital Co-Worker is one app on </a:t>
            </a:r>
            <a:r>
              <a:rPr lang="en-US" sz="2900" b="1" dirty="0">
                <a:solidFill>
                  <a:srgbClr val="3BE3E0"/>
                </a:solidFill>
                <a:latin typeface="Segoe UI Semibold" pitchFamily="34" charset="0"/>
                <a:ea typeface="Segoe UI Semibold" pitchFamily="34" charset="-122"/>
                <a:cs typeface="Segoe UI Semibold" pitchFamily="34" charset="-120"/>
              </a:rPr>
              <a:t>OnePilot</a:t>
            </a:r>
            <a:r>
              <a:rPr lang="en-US" sz="2900" b="1" dirty="0">
                <a:solidFill>
                  <a:srgbClr val="F3F6FB"/>
                </a:solidFill>
                <a:latin typeface="Segoe UI Semibold" pitchFamily="34" charset="0"/>
                <a:ea typeface="Segoe UI Semibold" pitchFamily="34" charset="-122"/>
                <a:cs typeface="Segoe UI Semibold" pitchFamily="34" charset="-120"/>
              </a:rPr>
              <a:t>.</a:t>
            </a:r>
            <a:endParaRPr lang="en-US" sz="2900" dirty="0"/>
          </a:p>
        </p:txBody>
      </p:sp>
      <p:sp>
        <p:nvSpPr>
          <p:cNvPr id="5" name="Text 3"/>
          <p:cNvSpPr/>
          <p:nvPr/>
        </p:nvSpPr>
        <p:spPr>
          <a:xfrm>
            <a:off x="566928" y="1828800"/>
            <a:ext cx="10607040" cy="1051560"/>
          </a:xfrm>
          <a:prstGeom prst="rect">
            <a:avLst/>
          </a:prstGeom>
          <a:noFill/>
          <a:ln/>
        </p:spPr>
        <p:txBody>
          <a:bodyPr wrap="square" rtlCol="0" anchor="ctr"/>
          <a:lstStyle/>
          <a:p>
            <a:pPr marL="0" indent="0">
              <a:lnSpc>
                <a:spcPct val="130000"/>
              </a:lnSpc>
              <a:buNone/>
            </a:pPr>
            <a:r>
              <a:rPr lang="en-US" sz="1600" dirty="0">
                <a:solidFill>
                  <a:srgbClr val="AAB6C7"/>
                </a:solidFill>
                <a:latin typeface="Segoe UI" pitchFamily="34" charset="0"/>
                <a:ea typeface="Segoe UI" pitchFamily="34" charset="-122"/>
                <a:cs typeface="Segoe UI" pitchFamily="34" charset="-120"/>
              </a:rPr>
              <a:t>OnePilot is the layer underneath. It moves your data cleanly between systems, both ways, across SAP and everything else, with the checks and the AI built in. One way to connect to all of it:</a:t>
            </a:r>
            <a:endParaRPr lang="en-US" sz="1600" dirty="0"/>
          </a:p>
        </p:txBody>
      </p:sp>
      <p:sp>
        <p:nvSpPr>
          <p:cNvPr id="6" name="Shape 4"/>
          <p:cNvSpPr/>
          <p:nvPr/>
        </p:nvSpPr>
        <p:spPr>
          <a:xfrm>
            <a:off x="566420"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7" name="Image 0" descr="C:/Users/neuma_p1qrsic/Repo/agentic-ops1/.scratch/icons/database.png"/>
          <p:cNvPicPr>
            <a:picLocks noChangeAspect="1"/>
          </p:cNvPicPr>
          <p:nvPr/>
        </p:nvPicPr>
        <p:blipFill>
          <a:blip r:embed="rId3"/>
          <a:stretch>
            <a:fillRect/>
          </a:stretch>
        </p:blipFill>
        <p:spPr>
          <a:xfrm>
            <a:off x="1542510" y="3538728"/>
            <a:ext cx="621792" cy="621792"/>
          </a:xfrm>
          <a:prstGeom prst="rect">
            <a:avLst/>
          </a:prstGeom>
        </p:spPr>
      </p:pic>
      <p:sp>
        <p:nvSpPr>
          <p:cNvPr id="8" name="Text 5"/>
          <p:cNvSpPr/>
          <p:nvPr/>
        </p:nvSpPr>
        <p:spPr>
          <a:xfrm>
            <a:off x="709930"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SAP systems</a:t>
            </a:r>
            <a:endParaRPr lang="en-US" sz="1300" dirty="0"/>
          </a:p>
        </p:txBody>
      </p:sp>
      <p:sp>
        <p:nvSpPr>
          <p:cNvPr id="9" name="Shape 6"/>
          <p:cNvSpPr/>
          <p:nvPr/>
        </p:nvSpPr>
        <p:spPr>
          <a:xfrm>
            <a:off x="3394392"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0" name="Image 1" descr="C:/Users/neuma_p1qrsic/Repo/agentic-ops1/.scratch/icons/sheet.png"/>
          <p:cNvPicPr>
            <a:picLocks noChangeAspect="1"/>
          </p:cNvPicPr>
          <p:nvPr/>
        </p:nvPicPr>
        <p:blipFill>
          <a:blip r:embed="rId4"/>
          <a:stretch>
            <a:fillRect/>
          </a:stretch>
        </p:blipFill>
        <p:spPr>
          <a:xfrm>
            <a:off x="4370482" y="3538728"/>
            <a:ext cx="621792" cy="621792"/>
          </a:xfrm>
          <a:prstGeom prst="rect">
            <a:avLst/>
          </a:prstGeom>
        </p:spPr>
      </p:pic>
      <p:sp>
        <p:nvSpPr>
          <p:cNvPr id="11" name="Text 7"/>
          <p:cNvSpPr/>
          <p:nvPr/>
        </p:nvSpPr>
        <p:spPr>
          <a:xfrm>
            <a:off x="3537902"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Spreadsheets &amp; files</a:t>
            </a:r>
            <a:endParaRPr lang="en-US" sz="1300" dirty="0"/>
          </a:p>
        </p:txBody>
      </p:sp>
      <p:sp>
        <p:nvSpPr>
          <p:cNvPr id="12" name="Shape 8"/>
          <p:cNvSpPr/>
          <p:nvPr/>
        </p:nvSpPr>
        <p:spPr>
          <a:xfrm>
            <a:off x="6222365"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3" name="Image 2" descr="C:/Users/neuma_p1qrsic/Repo/agentic-ops1/.scratch/icons/mail.png"/>
          <p:cNvPicPr>
            <a:picLocks noChangeAspect="1"/>
          </p:cNvPicPr>
          <p:nvPr/>
        </p:nvPicPr>
        <p:blipFill>
          <a:blip r:embed="rId5"/>
          <a:stretch>
            <a:fillRect/>
          </a:stretch>
        </p:blipFill>
        <p:spPr>
          <a:xfrm>
            <a:off x="7198455" y="3538728"/>
            <a:ext cx="621792" cy="621792"/>
          </a:xfrm>
          <a:prstGeom prst="rect">
            <a:avLst/>
          </a:prstGeom>
        </p:spPr>
      </p:pic>
      <p:sp>
        <p:nvSpPr>
          <p:cNvPr id="14" name="Text 9"/>
          <p:cNvSpPr/>
          <p:nvPr/>
        </p:nvSpPr>
        <p:spPr>
          <a:xfrm>
            <a:off x="6365875"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Email</a:t>
            </a:r>
            <a:endParaRPr lang="en-US" sz="1300" dirty="0"/>
          </a:p>
        </p:txBody>
      </p:sp>
      <p:sp>
        <p:nvSpPr>
          <p:cNvPr id="15" name="Shape 10"/>
          <p:cNvSpPr/>
          <p:nvPr/>
        </p:nvSpPr>
        <p:spPr>
          <a:xfrm>
            <a:off x="9050337" y="3246120"/>
            <a:ext cx="2573972" cy="1554480"/>
          </a:xfrm>
          <a:prstGeom prst="roundRect">
            <a:avLst>
              <a:gd name="adj" fmla="val 5882"/>
            </a:avLst>
          </a:prstGeom>
          <a:solidFill>
            <a:srgbClr val="141A25"/>
          </a:solidFill>
          <a:ln w="13970">
            <a:solidFill>
              <a:srgbClr val="36414F"/>
            </a:solidFill>
            <a:prstDash val="solid"/>
          </a:ln>
        </p:spPr>
        <p:txBody>
          <a:bodyPr/>
          <a:lstStyle/>
          <a:p>
            <a:endParaRPr lang="en-US"/>
          </a:p>
        </p:txBody>
      </p:sp>
      <p:pic>
        <p:nvPicPr>
          <p:cNvPr id="16" name="Image 3" descr="C:/Users/neuma_p1qrsic/Repo/agentic-ops1/.scratch/icons/globe.png"/>
          <p:cNvPicPr>
            <a:picLocks noChangeAspect="1"/>
          </p:cNvPicPr>
          <p:nvPr/>
        </p:nvPicPr>
        <p:blipFill>
          <a:blip r:embed="rId6"/>
          <a:stretch>
            <a:fillRect/>
          </a:stretch>
        </p:blipFill>
        <p:spPr>
          <a:xfrm>
            <a:off x="10026427" y="3538728"/>
            <a:ext cx="621792" cy="621792"/>
          </a:xfrm>
          <a:prstGeom prst="rect">
            <a:avLst/>
          </a:prstGeom>
        </p:spPr>
      </p:pic>
      <p:sp>
        <p:nvSpPr>
          <p:cNvPr id="17" name="Text 11"/>
          <p:cNvSpPr/>
          <p:nvPr/>
        </p:nvSpPr>
        <p:spPr>
          <a:xfrm>
            <a:off x="9193847" y="4233672"/>
            <a:ext cx="2286952" cy="457200"/>
          </a:xfrm>
          <a:prstGeom prst="rect">
            <a:avLst/>
          </a:prstGeom>
          <a:noFill/>
          <a:ln/>
        </p:spPr>
        <p:txBody>
          <a:bodyPr wrap="square" rtlCol="0" anchor="ctr"/>
          <a:lstStyle/>
          <a:p>
            <a:pPr marL="0" indent="0" algn="ctr">
              <a:buNone/>
            </a:pPr>
            <a:r>
              <a:rPr lang="en-US" sz="1300" dirty="0">
                <a:solidFill>
                  <a:srgbClr val="F3F6FB"/>
                </a:solidFill>
                <a:latin typeface="Segoe UI" pitchFamily="34" charset="0"/>
                <a:ea typeface="Segoe UI" pitchFamily="34" charset="-122"/>
                <a:cs typeface="Segoe UI" pitchFamily="34" charset="-120"/>
              </a:rPr>
              <a:t>Web &amp; APIs</a:t>
            </a:r>
            <a:endParaRPr lang="en-US" sz="1300" dirty="0"/>
          </a:p>
        </p:txBody>
      </p:sp>
      <p:sp>
        <p:nvSpPr>
          <p:cNvPr id="21" name="Text 14"/>
          <p:cNvSpPr/>
          <p:nvPr/>
        </p:nvSpPr>
        <p:spPr>
          <a:xfrm>
            <a:off x="566928" y="5166360"/>
            <a:ext cx="11057839" cy="457200"/>
          </a:xfrm>
          <a:prstGeom prst="rect">
            <a:avLst/>
          </a:prstGeom>
          <a:noFill/>
          <a:ln/>
        </p:spPr>
        <p:txBody>
          <a:bodyPr wrap="square" rtlCol="0" anchor="ctr"/>
          <a:lstStyle/>
          <a:p>
            <a:pPr marL="0" indent="0">
              <a:buNone/>
            </a:pPr>
            <a:r>
              <a:rPr lang="en-US" sz="1450" dirty="0">
                <a:solidFill>
                  <a:srgbClr val="3BE3E0"/>
                </a:solidFill>
                <a:latin typeface="Segoe UI" pitchFamily="34" charset="0"/>
                <a:ea typeface="Segoe UI" pitchFamily="34" charset="-122"/>
                <a:cs typeface="Segoe UI" pitchFamily="34" charset="-120"/>
              </a:rPr>
              <a:t>It reads and writes to each of them, so the work lands where it needs to with nothing re-typed.</a:t>
            </a:r>
            <a:endParaRPr lang="en-US" sz="1450" dirty="0"/>
          </a:p>
        </p:txBody>
      </p:sp>
      <p:sp>
        <p:nvSpPr>
          <p:cNvPr id="22" name="Text 15"/>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endParaRPr lang="en-US" sz="900" dirty="0"/>
          </a:p>
        </p:txBody>
      </p:sp>
      <p:sp>
        <p:nvSpPr>
          <p:cNvPr id="23" name="Text 16"/>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11 / 13</a:t>
            </a:r>
            <a:endParaRPr lang="en-US" sz="900" dirty="0"/>
          </a:p>
        </p:txBody>
      </p:sp>
      <p:sp>
        <p:nvSpPr>
          <p:cNvPr id="24" name="Shape 17"/>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616649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a:effectLst/>
      </p:bgPr>
    </p:bg>
    <p:spTree>
      <p:nvGrpSpPr>
        <p:cNvPr id="1" name=""/>
        <p:cNvGrpSpPr/>
        <p:nvPr/>
      </p:nvGrpSpPr>
      <p:grpSpPr>
        <a:xfrm>
          <a:off x="0" y="0"/>
          <a:ext cx="0" cy="0"/>
          <a:chOff x="0" y="0"/>
          <a:chExt cx="0" cy="0"/>
        </a:xfrm>
      </p:grpSpPr>
      <p:pic>
        <p:nvPicPr>
          <p:cNvPr id="2" name="Image 0" descr="C:/Users/neuma_p1qrsic/Repo/agentic-ops1/.scratch/logo/favicon.png"/>
          <p:cNvPicPr>
            <a:picLocks noChangeAspect="1"/>
          </p:cNvPicPr>
          <p:nvPr/>
        </p:nvPicPr>
        <p:blipFill>
          <a:blip r:embed="rId3"/>
          <a:stretch>
            <a:fillRect/>
          </a:stretch>
        </p:blipFill>
        <p:spPr>
          <a:xfrm>
            <a:off x="11313871" y="502920"/>
            <a:ext cx="310896" cy="310896"/>
          </a:xfrm>
          <a:prstGeom prst="rect">
            <a:avLst/>
          </a:prstGeom>
        </p:spPr>
      </p:pic>
      <p:sp>
        <p:nvSpPr>
          <p:cNvPr id="3" name="Shape 0"/>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4" name="Text 1"/>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WHO WE ARE</a:t>
            </a:r>
            <a:endParaRPr lang="en-US" sz="1200" dirty="0"/>
          </a:p>
        </p:txBody>
      </p:sp>
      <p:sp>
        <p:nvSpPr>
          <p:cNvPr id="5" name="Text 2"/>
          <p:cNvSpPr/>
          <p:nvPr/>
        </p:nvSpPr>
        <p:spPr>
          <a:xfrm>
            <a:off x="566928" y="960120"/>
            <a:ext cx="10881360" cy="822960"/>
          </a:xfrm>
          <a:prstGeom prst="rect">
            <a:avLst/>
          </a:prstGeom>
          <a:noFill/>
          <a:ln/>
        </p:spPr>
        <p:txBody>
          <a:bodyPr wrap="square" rtlCol="0" anchor="ctr"/>
          <a:lstStyle/>
          <a:p>
            <a:pPr marL="0" indent="0">
              <a:buNone/>
            </a:pPr>
            <a:r>
              <a:rPr lang="en-US" sz="3000" b="1" dirty="0">
                <a:solidFill>
                  <a:srgbClr val="F3F6FB"/>
                </a:solidFill>
                <a:latin typeface="Segoe UI Semibold" pitchFamily="34" charset="0"/>
                <a:ea typeface="Segoe UI Semibold" pitchFamily="34" charset="-122"/>
                <a:cs typeface="Segoe UI Semibold" pitchFamily="34" charset="-120"/>
              </a:rPr>
              <a:t>We run the data and AI layer for SAP treasury.</a:t>
            </a:r>
            <a:endParaRPr lang="en-US" sz="3000" dirty="0"/>
          </a:p>
        </p:txBody>
      </p:sp>
      <p:sp>
        <p:nvSpPr>
          <p:cNvPr id="6" name="Shape 3"/>
          <p:cNvSpPr/>
          <p:nvPr/>
        </p:nvSpPr>
        <p:spPr>
          <a:xfrm>
            <a:off x="566928"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7" name="Shape 4"/>
          <p:cNvSpPr/>
          <p:nvPr/>
        </p:nvSpPr>
        <p:spPr>
          <a:xfrm>
            <a:off x="841248"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8" name="Image 1" descr="C:/Users/neuma_p1qrsic/Repo/agentic-ops1/.scratch/icons/shield.png"/>
          <p:cNvPicPr>
            <a:picLocks noChangeAspect="1"/>
          </p:cNvPicPr>
          <p:nvPr/>
        </p:nvPicPr>
        <p:blipFill>
          <a:blip r:embed="rId4"/>
          <a:stretch>
            <a:fillRect/>
          </a:stretch>
        </p:blipFill>
        <p:spPr>
          <a:xfrm>
            <a:off x="990478" y="2590678"/>
            <a:ext cx="323332" cy="323332"/>
          </a:xfrm>
          <a:prstGeom prst="rect">
            <a:avLst/>
          </a:prstGeom>
        </p:spPr>
      </p:pic>
      <p:sp>
        <p:nvSpPr>
          <p:cNvPr id="9" name="Text 5"/>
          <p:cNvSpPr/>
          <p:nvPr/>
        </p:nvSpPr>
        <p:spPr>
          <a:xfrm>
            <a:off x="841248"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Built into SAP</a:t>
            </a:r>
            <a:endParaRPr lang="en-US" sz="1850" dirty="0"/>
          </a:p>
        </p:txBody>
      </p:sp>
      <p:sp>
        <p:nvSpPr>
          <p:cNvPr id="10" name="Text 6"/>
          <p:cNvSpPr/>
          <p:nvPr/>
        </p:nvSpPr>
        <p:spPr>
          <a:xfrm>
            <a:off x="841248"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An SAP co-innovation partner. The co-worker runs on SAP's own cloud, so it sits inside your landscape, not beside it.</a:t>
            </a:r>
            <a:endParaRPr lang="en-US" sz="1300" dirty="0"/>
          </a:p>
        </p:txBody>
      </p:sp>
      <p:sp>
        <p:nvSpPr>
          <p:cNvPr id="11" name="Shape 7"/>
          <p:cNvSpPr/>
          <p:nvPr/>
        </p:nvSpPr>
        <p:spPr>
          <a:xfrm>
            <a:off x="4359554"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2" name="Shape 8"/>
          <p:cNvSpPr/>
          <p:nvPr/>
        </p:nvSpPr>
        <p:spPr>
          <a:xfrm>
            <a:off x="4633874"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3" name="Image 2" descr="C:/Users/neuma_p1qrsic/Repo/agentic-ops1/.scratch/icons/spark.png"/>
          <p:cNvPicPr>
            <a:picLocks noChangeAspect="1"/>
          </p:cNvPicPr>
          <p:nvPr/>
        </p:nvPicPr>
        <p:blipFill>
          <a:blip r:embed="rId5"/>
          <a:stretch>
            <a:fillRect/>
          </a:stretch>
        </p:blipFill>
        <p:spPr>
          <a:xfrm>
            <a:off x="4783104" y="2590678"/>
            <a:ext cx="323332" cy="323332"/>
          </a:xfrm>
          <a:prstGeom prst="rect">
            <a:avLst/>
          </a:prstGeom>
        </p:spPr>
      </p:pic>
      <p:sp>
        <p:nvSpPr>
          <p:cNvPr id="14" name="Text 9"/>
          <p:cNvSpPr/>
          <p:nvPr/>
        </p:nvSpPr>
        <p:spPr>
          <a:xfrm>
            <a:off x="4633874"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AI you can talk to</a:t>
            </a:r>
            <a:endParaRPr lang="en-US" sz="1850" dirty="0"/>
          </a:p>
        </p:txBody>
      </p:sp>
      <p:sp>
        <p:nvSpPr>
          <p:cNvPr id="15" name="Text 10"/>
          <p:cNvSpPr/>
          <p:nvPr/>
        </p:nvSpPr>
        <p:spPr>
          <a:xfrm>
            <a:off x="4633874"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Large language models do the reading, drafting and judgment. You work with it the way you already message a colleague.</a:t>
            </a:r>
            <a:endParaRPr lang="en-US" sz="1300" dirty="0"/>
          </a:p>
        </p:txBody>
      </p:sp>
      <p:sp>
        <p:nvSpPr>
          <p:cNvPr id="16" name="Shape 11"/>
          <p:cNvSpPr/>
          <p:nvPr/>
        </p:nvSpPr>
        <p:spPr>
          <a:xfrm>
            <a:off x="8152181" y="2148840"/>
            <a:ext cx="3472586" cy="2788920"/>
          </a:xfrm>
          <a:prstGeom prst="roundRect">
            <a:avLst>
              <a:gd name="adj" fmla="val 2951"/>
            </a:avLst>
          </a:prstGeom>
          <a:solidFill>
            <a:srgbClr val="141A25"/>
          </a:solidFill>
          <a:ln w="13970">
            <a:solidFill>
              <a:srgbClr val="36414F"/>
            </a:solidFill>
            <a:prstDash val="solid"/>
          </a:ln>
        </p:spPr>
        <p:txBody>
          <a:bodyPr/>
          <a:lstStyle/>
          <a:p>
            <a:endParaRPr lang="en-US"/>
          </a:p>
        </p:txBody>
      </p:sp>
      <p:sp>
        <p:nvSpPr>
          <p:cNvPr id="17" name="Shape 12"/>
          <p:cNvSpPr/>
          <p:nvPr/>
        </p:nvSpPr>
        <p:spPr>
          <a:xfrm>
            <a:off x="8426501" y="2441448"/>
            <a:ext cx="621792" cy="621792"/>
          </a:xfrm>
          <a:prstGeom prst="roundRect">
            <a:avLst>
              <a:gd name="adj" fmla="val 16176"/>
            </a:avLst>
          </a:prstGeom>
          <a:solidFill>
            <a:srgbClr val="1B2330"/>
          </a:solidFill>
          <a:ln w="15240">
            <a:solidFill>
              <a:srgbClr val="3BE3E0"/>
            </a:solidFill>
            <a:prstDash val="solid"/>
          </a:ln>
        </p:spPr>
        <p:txBody>
          <a:bodyPr/>
          <a:lstStyle/>
          <a:p>
            <a:endParaRPr lang="en-US"/>
          </a:p>
        </p:txBody>
      </p:sp>
      <p:pic>
        <p:nvPicPr>
          <p:cNvPr id="18" name="Image 3" descr="C:/Users/neuma_p1qrsic/Repo/agentic-ops1/.scratch/icons/blocks.png"/>
          <p:cNvPicPr>
            <a:picLocks noChangeAspect="1"/>
          </p:cNvPicPr>
          <p:nvPr/>
        </p:nvPicPr>
        <p:blipFill>
          <a:blip r:embed="rId6"/>
          <a:stretch>
            <a:fillRect/>
          </a:stretch>
        </p:blipFill>
        <p:spPr>
          <a:xfrm>
            <a:off x="8575731" y="2590678"/>
            <a:ext cx="323332" cy="323332"/>
          </a:xfrm>
          <a:prstGeom prst="rect">
            <a:avLst/>
          </a:prstGeom>
        </p:spPr>
      </p:pic>
      <p:sp>
        <p:nvSpPr>
          <p:cNvPr id="19" name="Text 13"/>
          <p:cNvSpPr/>
          <p:nvPr/>
        </p:nvSpPr>
        <p:spPr>
          <a:xfrm>
            <a:off x="8426501" y="3191256"/>
            <a:ext cx="2923946" cy="457200"/>
          </a:xfrm>
          <a:prstGeom prst="rect">
            <a:avLst/>
          </a:prstGeom>
          <a:noFill/>
          <a:ln/>
        </p:spPr>
        <p:txBody>
          <a:bodyPr wrap="square" rtlCol="0" anchor="ctr"/>
          <a:lstStyle/>
          <a:p>
            <a:pPr marL="0" indent="0">
              <a:buNone/>
            </a:pPr>
            <a:r>
              <a:rPr lang="en-US" sz="1850" b="1" dirty="0">
                <a:solidFill>
                  <a:srgbClr val="F3F6FB"/>
                </a:solidFill>
                <a:latin typeface="Segoe UI Semibold" pitchFamily="34" charset="0"/>
                <a:ea typeface="Segoe UI Semibold" pitchFamily="34" charset="-122"/>
                <a:cs typeface="Segoe UI Semibold" pitchFamily="34" charset="-120"/>
              </a:rPr>
              <a:t>Yours to shape</a:t>
            </a:r>
            <a:endParaRPr lang="en-US" sz="1850" dirty="0"/>
          </a:p>
        </p:txBody>
      </p:sp>
      <p:sp>
        <p:nvSpPr>
          <p:cNvPr id="20" name="Text 14"/>
          <p:cNvSpPr/>
          <p:nvPr/>
        </p:nvSpPr>
        <p:spPr>
          <a:xfrm>
            <a:off x="8426501" y="3630168"/>
            <a:ext cx="2923946" cy="1143000"/>
          </a:xfrm>
          <a:prstGeom prst="rect">
            <a:avLst/>
          </a:prstGeom>
          <a:noFill/>
          <a:ln/>
        </p:spPr>
        <p:txBody>
          <a:bodyPr wrap="square" rtlCol="0" anchor="t"/>
          <a:lstStyle/>
          <a:p>
            <a:pPr marL="0" indent="0">
              <a:lnSpc>
                <a:spcPct val="116000"/>
              </a:lnSpc>
              <a:buNone/>
            </a:pPr>
            <a:r>
              <a:rPr lang="en-US" sz="1300" dirty="0">
                <a:solidFill>
                  <a:srgbClr val="AAB6C7"/>
                </a:solidFill>
                <a:latin typeface="Segoe UI" pitchFamily="34" charset="0"/>
                <a:ea typeface="Segoe UI" pitchFamily="34" charset="-122"/>
                <a:cs typeface="Segoe UI" pitchFamily="34" charset="-120"/>
              </a:rPr>
              <a:t>No code. Role-based co-workers your team sets up. Customer teams already build on the platform.</a:t>
            </a:r>
            <a:endParaRPr lang="en-US" sz="1300" dirty="0"/>
          </a:p>
        </p:txBody>
      </p:sp>
      <p:sp>
        <p:nvSpPr>
          <p:cNvPr id="21" name="Text 15"/>
          <p:cNvSpPr/>
          <p:nvPr/>
        </p:nvSpPr>
        <p:spPr>
          <a:xfrm>
            <a:off x="566928"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1</a:t>
            </a:r>
            <a:endParaRPr lang="en-US" sz="3800" dirty="0"/>
          </a:p>
        </p:txBody>
      </p:sp>
      <p:sp>
        <p:nvSpPr>
          <p:cNvPr id="22" name="Text 16"/>
          <p:cNvSpPr/>
          <p:nvPr/>
        </p:nvSpPr>
        <p:spPr>
          <a:xfrm>
            <a:off x="1892808"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co-worker per person</a:t>
            </a:r>
            <a:endParaRPr lang="en-US" sz="1250" dirty="0"/>
          </a:p>
        </p:txBody>
      </p:sp>
      <p:sp>
        <p:nvSpPr>
          <p:cNvPr id="23" name="Text 17"/>
          <p:cNvSpPr/>
          <p:nvPr/>
        </p:nvSpPr>
        <p:spPr>
          <a:xfrm>
            <a:off x="4359554" y="5349240"/>
            <a:ext cx="1371600" cy="777240"/>
          </a:xfrm>
          <a:prstGeom prst="rect">
            <a:avLst/>
          </a:prstGeom>
          <a:noFill/>
          <a:ln/>
        </p:spPr>
        <p:txBody>
          <a:bodyPr wrap="square" rtlCol="0" anchor="ctr"/>
          <a:lstStyle/>
          <a:p>
            <a:pPr marL="0" indent="0">
              <a:buNone/>
            </a:pPr>
            <a:r>
              <a:rPr lang="en-US" sz="3800" b="1" dirty="0">
                <a:solidFill>
                  <a:srgbClr val="3BE3E0"/>
                </a:solidFill>
                <a:latin typeface="Segoe UI Semibold" pitchFamily="34" charset="0"/>
                <a:ea typeface="Segoe UI Semibold" pitchFamily="34" charset="-122"/>
                <a:cs typeface="Segoe UI Semibold" pitchFamily="34" charset="-120"/>
              </a:rPr>
              <a:t>0</a:t>
            </a:r>
            <a:endParaRPr lang="en-US" sz="3800" dirty="0"/>
          </a:p>
        </p:txBody>
      </p:sp>
      <p:sp>
        <p:nvSpPr>
          <p:cNvPr id="24" name="Text 18"/>
          <p:cNvSpPr/>
          <p:nvPr/>
        </p:nvSpPr>
        <p:spPr>
          <a:xfrm>
            <a:off x="5685434"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code to set it up</a:t>
            </a:r>
            <a:endParaRPr lang="en-US" sz="1250" dirty="0"/>
          </a:p>
        </p:txBody>
      </p:sp>
      <p:sp>
        <p:nvSpPr>
          <p:cNvPr id="25" name="Text 19"/>
          <p:cNvSpPr/>
          <p:nvPr/>
        </p:nvSpPr>
        <p:spPr>
          <a:xfrm>
            <a:off x="8152181" y="5349240"/>
            <a:ext cx="1371600" cy="777240"/>
          </a:xfrm>
          <a:prstGeom prst="rect">
            <a:avLst/>
          </a:prstGeom>
          <a:noFill/>
          <a:ln/>
        </p:spPr>
        <p:txBody>
          <a:bodyPr wrap="square" rtlCol="0" anchor="ctr"/>
          <a:lstStyle/>
          <a:p>
            <a:pPr marL="0" indent="0">
              <a:buNone/>
            </a:pPr>
            <a:r>
              <a:rPr lang="en-US" sz="3800" b="1">
                <a:solidFill>
                  <a:srgbClr val="3BE3E0"/>
                </a:solidFill>
                <a:latin typeface="Segoe UI Semibold" pitchFamily="34" charset="0"/>
                <a:ea typeface="Segoe UI Semibold" pitchFamily="34" charset="-122"/>
                <a:cs typeface="Segoe UI Semibold" pitchFamily="34" charset="-120"/>
              </a:rPr>
              <a:t>24/7</a:t>
            </a:r>
            <a:endParaRPr lang="en-US" sz="3800" dirty="0"/>
          </a:p>
        </p:txBody>
      </p:sp>
      <p:sp>
        <p:nvSpPr>
          <p:cNvPr id="26" name="Text 20"/>
          <p:cNvSpPr/>
          <p:nvPr/>
        </p:nvSpPr>
        <p:spPr>
          <a:xfrm>
            <a:off x="9478061" y="5349240"/>
            <a:ext cx="2146706" cy="777240"/>
          </a:xfrm>
          <a:prstGeom prst="rect">
            <a:avLst/>
          </a:prstGeom>
          <a:noFill/>
          <a:ln/>
        </p:spPr>
        <p:txBody>
          <a:bodyPr wrap="square" rtlCol="0" anchor="ctr"/>
          <a:lstStyle/>
          <a:p>
            <a:pPr marL="0" indent="0">
              <a:buNone/>
            </a:pPr>
            <a:r>
              <a:rPr lang="en-US" sz="1250" dirty="0">
                <a:solidFill>
                  <a:srgbClr val="AAB6C7"/>
                </a:solidFill>
                <a:latin typeface="Segoe UI" pitchFamily="34" charset="0"/>
                <a:ea typeface="Segoe UI" pitchFamily="34" charset="-122"/>
                <a:cs typeface="Segoe UI" pitchFamily="34" charset="-120"/>
              </a:rPr>
              <a:t>tireless, never off</a:t>
            </a:r>
            <a:endParaRPr lang="en-US" sz="1250" dirty="0"/>
          </a:p>
        </p:txBody>
      </p:sp>
      <p:sp>
        <p:nvSpPr>
          <p:cNvPr id="27" name="Text 2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endParaRPr lang="en-US" sz="900" dirty="0"/>
          </a:p>
        </p:txBody>
      </p:sp>
      <p:sp>
        <p:nvSpPr>
          <p:cNvPr id="28" name="Text 22"/>
          <p:cNvSpPr/>
          <p:nvPr/>
        </p:nvSpPr>
        <p:spPr>
          <a:xfrm>
            <a:off x="10527487" y="6400800"/>
            <a:ext cx="1097280" cy="274320"/>
          </a:xfrm>
          <a:prstGeom prst="rect">
            <a:avLst/>
          </a:prstGeom>
          <a:noFill/>
          <a:ln/>
        </p:spPr>
        <p:txBody>
          <a:bodyPr wrap="square" rtlCol="0" anchor="ctr"/>
          <a:lstStyle/>
          <a:p>
            <a:pPr marL="0" indent="0" algn="r">
              <a:buNone/>
            </a:pPr>
            <a:r>
              <a:rPr lang="en-US" sz="900">
                <a:solidFill>
                  <a:srgbClr val="AAB6C7"/>
                </a:solidFill>
                <a:latin typeface="Segoe UI" pitchFamily="34" charset="0"/>
                <a:ea typeface="Segoe UI" pitchFamily="34" charset="-122"/>
                <a:cs typeface="Segoe UI" pitchFamily="34" charset="-120"/>
              </a:rPr>
              <a:t>12 / 13</a:t>
            </a:r>
            <a:endParaRPr lang="en-US" sz="900" dirty="0"/>
          </a:p>
        </p:txBody>
      </p:sp>
      <p:sp>
        <p:nvSpPr>
          <p:cNvPr id="29" name="Shape 2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extLst>
      <p:ext uri="{BB962C8B-B14F-4D97-AF65-F5344CB8AC3E}">
        <p14:creationId xmlns:p14="http://schemas.microsoft.com/office/powerpoint/2010/main" val="2519876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3072384" y="0"/>
            <a:ext cx="6035040" cy="6035040"/>
          </a:xfrm>
          <a:prstGeom prst="ellipse">
            <a:avLst/>
          </a:prstGeom>
          <a:solidFill>
            <a:srgbClr val="3BE3E0">
              <a:alpha val="7000"/>
            </a:srgbClr>
          </a:solidFill>
          <a:ln w="12700">
            <a:solidFill>
              <a:srgbClr val="333333"/>
            </a:solidFill>
            <a:prstDash val="solid"/>
          </a:ln>
        </p:spPr>
        <p:txBody>
          <a:bodyPr/>
          <a:lstStyle/>
          <a:p>
            <a:endParaRPr lang="en-US"/>
          </a:p>
        </p:txBody>
      </p:sp>
      <p:sp>
        <p:nvSpPr>
          <p:cNvPr id="3" name="Shape 1"/>
          <p:cNvSpPr/>
          <p:nvPr/>
        </p:nvSpPr>
        <p:spPr>
          <a:xfrm>
            <a:off x="4443984" y="1371600"/>
            <a:ext cx="3291840" cy="3291840"/>
          </a:xfrm>
          <a:prstGeom prst="ellipse">
            <a:avLst/>
          </a:prstGeom>
          <a:solidFill>
            <a:srgbClr val="3BE3E0">
              <a:alpha val="12000"/>
            </a:srgbClr>
          </a:solidFill>
          <a:ln w="12700">
            <a:solidFill>
              <a:srgbClr val="333333"/>
            </a:solidFill>
            <a:prstDash val="solid"/>
          </a:ln>
        </p:spPr>
        <p:txBody>
          <a:bodyPr/>
          <a:lstStyle/>
          <a:p>
            <a:endParaRPr lang="en-US"/>
          </a:p>
        </p:txBody>
      </p:sp>
      <p:pic>
        <p:nvPicPr>
          <p:cNvPr id="4" name="Image 0" descr="C:/Users/neuma_p1qrsic/Repo/agentic-ops1/.scratch/brisken-logo-light.png"/>
          <p:cNvPicPr>
            <a:picLocks noChangeAspect="1"/>
          </p:cNvPicPr>
          <p:nvPr/>
        </p:nvPicPr>
        <p:blipFill>
          <a:blip r:embed="rId3"/>
          <a:stretch>
            <a:fillRect/>
          </a:stretch>
        </p:blipFill>
        <p:spPr>
          <a:xfrm>
            <a:off x="5316443" y="1417320"/>
            <a:ext cx="1546921" cy="338328"/>
          </a:xfrm>
          <a:prstGeom prst="rect">
            <a:avLst/>
          </a:prstGeom>
        </p:spPr>
      </p:pic>
      <p:sp>
        <p:nvSpPr>
          <p:cNvPr id="5" name="Text 2"/>
          <p:cNvSpPr/>
          <p:nvPr/>
        </p:nvSpPr>
        <p:spPr>
          <a:xfrm>
            <a:off x="914400" y="2514600"/>
            <a:ext cx="10360152" cy="1005840"/>
          </a:xfrm>
          <a:prstGeom prst="rect">
            <a:avLst/>
          </a:prstGeom>
          <a:noFill/>
          <a:ln/>
        </p:spPr>
        <p:txBody>
          <a:bodyPr wrap="square" rtlCol="0" anchor="ctr"/>
          <a:lstStyle/>
          <a:p>
            <a:pPr marL="0" indent="0" algn="ctr">
              <a:buNone/>
            </a:pPr>
            <a:r>
              <a:rPr lang="en-US" sz="5200" b="1" dirty="0">
                <a:solidFill>
                  <a:srgbClr val="F3F6FB"/>
                </a:solidFill>
                <a:latin typeface="Segoe UI Semibold" pitchFamily="34" charset="0"/>
                <a:ea typeface="Segoe UI Semibold" pitchFamily="34" charset="-122"/>
                <a:cs typeface="Segoe UI Semibold" pitchFamily="34" charset="-120"/>
              </a:rPr>
              <a:t>Busywork, done.</a:t>
            </a:r>
            <a:endParaRPr lang="en-US" sz="5200" dirty="0"/>
          </a:p>
        </p:txBody>
      </p:sp>
      <p:sp>
        <p:nvSpPr>
          <p:cNvPr id="6" name="Text 3"/>
          <p:cNvSpPr/>
          <p:nvPr/>
        </p:nvSpPr>
        <p:spPr>
          <a:xfrm>
            <a:off x="1828800" y="3611880"/>
            <a:ext cx="8531352" cy="1100000"/>
          </a:xfrm>
          <a:prstGeom prst="rect">
            <a:avLst/>
          </a:prstGeom>
          <a:noFill/>
          <a:ln/>
        </p:spPr>
        <p:txBody>
          <a:bodyPr wrap="square" rtlCol="0" anchor="ctr"/>
          <a:lstStyle/>
          <a:p>
            <a:pPr marL="0" indent="0" algn="ctr">
              <a:lnSpc>
                <a:spcPct val="125000"/>
              </a:lnSpc>
              <a:buNone/>
            </a:pPr>
            <a:r>
              <a:rPr lang="en-US" sz="1700" dirty="0">
                <a:solidFill>
                  <a:srgbClr val="C4CEDA"/>
                </a:solidFill>
                <a:latin typeface="Segoe UI" pitchFamily="34" charset="0"/>
                <a:ea typeface="Segoe UI" pitchFamily="34" charset="-122"/>
                <a:cs typeface="Segoe UI" pitchFamily="34" charset="-120"/>
              </a:rPr>
              <a:t>Give us twenty minutes on the busywork your team repeats every day, and we will show you a co-worker doing it.</a:t>
            </a:r>
            <a:endParaRPr lang="en-US" sz="1700" dirty="0"/>
          </a:p>
          <a:p>
            <a:pPr marL="0" indent="0" algn="ctr">
              <a:spcBef>
                <a:spcPts val="1000"/>
              </a:spcBef>
              <a:buNone/>
            </a:pPr>
            <a:r>
              <a:rPr lang="en-US" sz="1300" dirty="0">
                <a:solidFill>
                  <a:srgbClr val="AAB6C7"/>
                </a:solidFill>
                <a:latin typeface="Segoe UI" pitchFamily="34" charset="0"/>
                <a:ea typeface="Segoe UI" pitchFamily="34" charset="-122"/>
                <a:cs typeface="Segoe UI" pitchFamily="34" charset="-120"/>
              </a:rPr>
              <a:t>Or start with the Quick Assessment.</a:t>
            </a:r>
            <a:endParaRPr lang="en-US" sz="1300" dirty="0"/>
          </a:p>
        </p:txBody>
      </p:sp>
      <p:sp>
        <p:nvSpPr>
          <p:cNvPr id="7" name="Shape 4"/>
          <p:cNvSpPr/>
          <p:nvPr/>
        </p:nvSpPr>
        <p:spPr>
          <a:xfrm>
            <a:off x="3575304" y="4754880"/>
            <a:ext cx="5029200" cy="658368"/>
          </a:xfrm>
          <a:prstGeom prst="roundRect">
            <a:avLst>
              <a:gd name="adj" fmla="val 50000"/>
            </a:avLst>
          </a:prstGeom>
          <a:solidFill>
            <a:srgbClr val="3BE3E0"/>
          </a:solidFill>
          <a:ln w="12700">
            <a:solidFill>
              <a:srgbClr val="333333"/>
            </a:solidFill>
            <a:prstDash val="solid"/>
          </a:ln>
        </p:spPr>
        <p:txBody>
          <a:bodyPr/>
          <a:lstStyle/>
          <a:p>
            <a:endParaRPr lang="en-US"/>
          </a:p>
        </p:txBody>
      </p:sp>
      <p:sp>
        <p:nvSpPr>
          <p:cNvPr id="8" name="Text 5"/>
          <p:cNvSpPr/>
          <p:nvPr/>
        </p:nvSpPr>
        <p:spPr>
          <a:xfrm>
            <a:off x="3575304" y="4754880"/>
            <a:ext cx="5029200" cy="658368"/>
          </a:xfrm>
          <a:prstGeom prst="rect">
            <a:avLst/>
          </a:prstGeom>
          <a:noFill/>
          <a:ln/>
        </p:spPr>
        <p:txBody>
          <a:bodyPr wrap="square" rtlCol="0" anchor="ctr"/>
          <a:lstStyle/>
          <a:p>
            <a:pPr marL="0" indent="0" algn="ctr">
              <a:buNone/>
            </a:pPr>
            <a:r>
              <a:rPr lang="en-US" sz="1500" b="1" dirty="0">
                <a:solidFill>
                  <a:srgbClr val="07222A"/>
                </a:solidFill>
                <a:latin typeface="Segoe UI" pitchFamily="34" charset="0"/>
                <a:ea typeface="Segoe UI" pitchFamily="34" charset="-122"/>
                <a:cs typeface="Segoe UI" pitchFamily="34" charset="-120"/>
              </a:rPr>
              <a:t>Dirk Neumann   ·   dirk.neumann@brisken.com</a:t>
            </a:r>
            <a:endParaRPr lang="en-US" sz="1500" dirty="0"/>
          </a:p>
        </p:txBody>
      </p:sp>
      <p:sp>
        <p:nvSpPr>
          <p:cNvPr id="9" name="Text 6"/>
          <p:cNvSpPr/>
          <p:nvPr/>
        </p:nvSpPr>
        <p:spPr>
          <a:xfrm>
            <a:off x="914400" y="5623560"/>
            <a:ext cx="10360152" cy="365760"/>
          </a:xfrm>
          <a:prstGeom prst="rect">
            <a:avLst/>
          </a:prstGeom>
          <a:noFill/>
          <a:ln/>
        </p:spPr>
        <p:txBody>
          <a:bodyPr wrap="square" rtlCol="0" anchor="ctr"/>
          <a:lstStyle/>
          <a:p>
            <a:pPr marL="0" indent="0" algn="ctr">
              <a:buNone/>
            </a:pPr>
            <a:r>
              <a:rPr lang="en-US" sz="1150" dirty="0">
                <a:solidFill>
                  <a:srgbClr val="AAB6C7"/>
                </a:solidFill>
                <a:latin typeface="Segoe UI" pitchFamily="34" charset="0"/>
                <a:ea typeface="Segoe UI" pitchFamily="34" charset="-122"/>
                <a:cs typeface="Segoe UI" pitchFamily="34" charset="-120"/>
              </a:rPr>
              <a:t>brisken.com   ·   Houston, TX</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roof">
    <p:bg>
      <p:bgPr>
        <a:solidFill>
          <a:srgbClr val="0B0E14"/>
        </a:solidFill>
        <a:effectLst/>
      </p:bgPr>
    </p:bg>
    <p:spTree>
      <p:nvGrpSpPr>
        <p:cNvPr id="1" name=""/>
        <p:cNvGrpSpPr/>
        <p:nvPr/>
      </p:nvGrpSpPr>
      <p:grpSpPr>
        <a:xfrm>
          <a:off x="0" y="0"/>
          <a:ext cx="0" cy="0"/>
          <a:chOff x="0" y="0"/>
          <a:chExt cx="0" cy="0"/>
        </a:xfrm>
      </p:grpSpPr>
      <p:sp>
        <p:nvSpPr>
          <p:cNvPr id="2" name="Shape 2"/>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3"/>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WHERE IT ALREADY RUNS</a:t>
            </a:r>
          </a:p>
        </p:txBody>
      </p:sp>
      <p:sp>
        <p:nvSpPr>
          <p:cNvPr id="4" name="Text 4"/>
          <p:cNvSpPr/>
          <p:nvPr/>
        </p:nvSpPr>
        <p:spPr>
          <a:xfrm>
            <a:off x="566928" y="960120"/>
            <a:ext cx="10881360" cy="1463040"/>
          </a:xfrm>
          <a:prstGeom prst="rect">
            <a:avLst/>
          </a:prstGeom>
          <a:noFill/>
          <a:ln/>
        </p:spPr>
        <p:txBody>
          <a:bodyPr wrap="square" rtlCol="0" anchor="ctr"/>
          <a:lstStyle/>
          <a:p>
            <a:pPr marL="0" indent="0" algn="l">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Two co-workers, already on the job.</a:t>
            </a:r>
          </a:p>
        </p:txBody>
      </p:sp>
      <p:sp>
        <p:nvSpPr>
          <p:cNvPr id="10" name="Shape 10"/>
          <p:cNvSpPr/>
          <p:nvPr/>
        </p:nvSpPr>
        <p:spPr>
          <a:xfrm>
            <a:off x="566928" y="3018560"/>
            <a:ext cx="5346040" cy="183744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11" name="Shape 11"/>
          <p:cNvSpPr/>
          <p:nvPr/>
        </p:nvSpPr>
        <p:spPr>
          <a:xfrm>
            <a:off x="822960" y="3274592"/>
            <a:ext cx="566928" cy="566928"/>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12" name="Image 12" descr="icons/target.png"/>
          <p:cNvPicPr>
            <a:picLocks noChangeAspect="1"/>
          </p:cNvPicPr>
          <p:nvPr/>
        </p:nvPicPr>
        <p:blipFill>
          <a:blip r:embed="rId3"/>
          <a:stretch>
            <a:fillRect/>
          </a:stretch>
        </p:blipFill>
        <p:spPr>
          <a:xfrm>
            <a:off x="949513" y="3401145"/>
            <a:ext cx="313822" cy="313822"/>
          </a:xfrm>
          <a:prstGeom prst="rect">
            <a:avLst/>
          </a:prstGeom>
        </p:spPr>
      </p:pic>
      <p:sp>
        <p:nvSpPr>
          <p:cNvPr id="13" name="Text 13"/>
          <p:cNvSpPr/>
          <p:nvPr/>
        </p:nvSpPr>
        <p:spPr>
          <a:xfrm>
            <a:off x="1527048" y="3329312"/>
            <a:ext cx="4129888" cy="4572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Intercompany funding requests</a:t>
            </a:r>
          </a:p>
        </p:txBody>
      </p:sp>
      <p:sp>
        <p:nvSpPr>
          <p:cNvPr id="14" name="Text 14"/>
          <p:cNvSpPr/>
          <p:nvPr/>
        </p:nvSpPr>
        <p:spPr>
          <a:xfrm>
            <a:off x="822960" y="3978680"/>
            <a:ext cx="4833976" cy="777240"/>
          </a:xfrm>
          <a:prstGeom prst="rect">
            <a:avLst/>
          </a:prstGeom>
          <a:noFill/>
          <a:ln/>
        </p:spPr>
        <p:txBody>
          <a:bodyPr wrap="square" rtlCol="0" anchor="t"/>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A chemicals company on SAP S/4HANA runs its funding-request process exactly this way: a complex multi-system integration, fully automated with AI.</a:t>
            </a:r>
          </a:p>
        </p:txBody>
      </p:sp>
      <p:sp>
        <p:nvSpPr>
          <p:cNvPr id="20" name="Shape 20"/>
          <p:cNvSpPr/>
          <p:nvPr/>
        </p:nvSpPr>
        <p:spPr>
          <a:xfrm>
            <a:off x="6278728" y="3018560"/>
            <a:ext cx="5346040" cy="1837440"/>
          </a:xfrm>
          <a:prstGeom prst="roundRect">
            <a:avLst>
              <a:gd name="adj" fmla="val 4390"/>
            </a:avLst>
          </a:prstGeom>
          <a:solidFill>
            <a:srgbClr val="141A25"/>
          </a:solidFill>
          <a:ln w="13970">
            <a:solidFill>
              <a:srgbClr val="36414F"/>
            </a:solidFill>
            <a:prstDash val="solid"/>
          </a:ln>
        </p:spPr>
        <p:txBody>
          <a:bodyPr/>
          <a:lstStyle/>
          <a:p>
            <a:endParaRPr lang="en-US"/>
          </a:p>
        </p:txBody>
      </p:sp>
      <p:sp>
        <p:nvSpPr>
          <p:cNvPr id="21" name="Shape 21"/>
          <p:cNvSpPr/>
          <p:nvPr/>
        </p:nvSpPr>
        <p:spPr>
          <a:xfrm>
            <a:off x="6534760" y="3274592"/>
            <a:ext cx="566928" cy="566928"/>
          </a:xfrm>
          <a:prstGeom prst="roundRect">
            <a:avLst>
              <a:gd name="adj" fmla="val 16667"/>
            </a:avLst>
          </a:prstGeom>
          <a:solidFill>
            <a:srgbClr val="1B2330"/>
          </a:solidFill>
          <a:ln w="15240">
            <a:solidFill>
              <a:srgbClr val="3BE3E0"/>
            </a:solidFill>
            <a:prstDash val="solid"/>
          </a:ln>
        </p:spPr>
        <p:txBody>
          <a:bodyPr/>
          <a:lstStyle/>
          <a:p>
            <a:endParaRPr lang="en-US"/>
          </a:p>
        </p:txBody>
      </p:sp>
      <p:pic>
        <p:nvPicPr>
          <p:cNvPr id="22" name="Image 22" descr="icons/check.png"/>
          <p:cNvPicPr>
            <a:picLocks noChangeAspect="1"/>
          </p:cNvPicPr>
          <p:nvPr/>
        </p:nvPicPr>
        <p:blipFill>
          <a:blip r:embed="rId4"/>
          <a:stretch>
            <a:fillRect/>
          </a:stretch>
        </p:blipFill>
        <p:spPr>
          <a:xfrm>
            <a:off x="6661313" y="3401145"/>
            <a:ext cx="313822" cy="313822"/>
          </a:xfrm>
          <a:prstGeom prst="rect">
            <a:avLst/>
          </a:prstGeom>
        </p:spPr>
      </p:pic>
      <p:sp>
        <p:nvSpPr>
          <p:cNvPr id="23" name="Text 23"/>
          <p:cNvSpPr/>
          <p:nvPr/>
        </p:nvSpPr>
        <p:spPr>
          <a:xfrm>
            <a:off x="7238848" y="3329312"/>
            <a:ext cx="4129888" cy="4572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Remittance advice, matched</a:t>
            </a:r>
          </a:p>
        </p:txBody>
      </p:sp>
      <p:sp>
        <p:nvSpPr>
          <p:cNvPr id="24" name="Text 24"/>
          <p:cNvSpPr/>
          <p:nvPr/>
        </p:nvSpPr>
        <p:spPr>
          <a:xfrm>
            <a:off x="6534760" y="3978680"/>
            <a:ext cx="4833976" cy="777240"/>
          </a:xfrm>
          <a:prstGeom prst="rect">
            <a:avLst/>
          </a:prstGeom>
          <a:noFill/>
          <a:ln/>
        </p:spPr>
        <p:txBody>
          <a:bodyPr wrap="square" rtlCol="0" anchor="t"/>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An agricultural company on S/4HANA Private Cloud runs remittance advice through the same checks, powered by an LLM. The team handles exceptions, not retyping.</a:t>
            </a:r>
          </a:p>
        </p:txBody>
      </p:sp>
      <p:sp>
        <p:nvSpPr>
          <p:cNvPr id="30" name="Text 30"/>
          <p:cNvSpPr/>
          <p:nvPr/>
        </p:nvSpPr>
        <p:spPr>
          <a:xfrm>
            <a:off x="566928" y="5532120"/>
            <a:ext cx="11057839" cy="457200"/>
          </a:xfrm>
          <a:prstGeom prst="rect">
            <a:avLst/>
          </a:prstGeom>
          <a:noFill/>
          <a:ln/>
        </p:spPr>
        <p:txBody>
          <a:bodyPr wrap="square" rtlCol="0" anchor="ctr"/>
          <a:lstStyle/>
          <a:p>
            <a:pPr marL="0" indent="0" algn="l">
              <a:buNone/>
            </a:pPr>
            <a:r>
              <a:rPr lang="en-US" sz="1600" dirty="0">
                <a:solidFill>
                  <a:srgbClr val="3BE3E0"/>
                </a:solidFill>
                <a:latin typeface="Segoe UI" pitchFamily="34" charset="0"/>
                <a:ea typeface="Segoe UI" pitchFamily="34" charset="-122"/>
                <a:cs typeface="Segoe UI" pitchFamily="34" charset="-120"/>
              </a:rPr>
              <a:t>Different industries, one pattern: the busywork moved to a co-worker.</a:t>
            </a:r>
          </a:p>
        </p:txBody>
      </p:sp>
      <p:sp>
        <p:nvSpPr>
          <p:cNvPr id="31" name="Text 3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p>
        </p:txBody>
      </p:sp>
      <p:sp>
        <p:nvSpPr>
          <p:cNvPr id="32" name="Text 3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09 / 13</a:t>
            </a:r>
          </a:p>
        </p:txBody>
      </p:sp>
      <p:sp>
        <p:nvSpPr>
          <p:cNvPr id="33" name="Shape 3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Intro">
    <p:bg>
      <p:bgPr>
        <a:solidFill>
          <a:srgbClr val="0B0E14"/>
        </a:solidFill>
        <a:effectLst/>
      </p:bgPr>
    </p:bg>
    <p:spTree>
      <p:nvGrpSpPr>
        <p:cNvPr id="1" name=""/>
        <p:cNvGrpSpPr/>
        <p:nvPr/>
      </p:nvGrpSpPr>
      <p:grpSpPr>
        <a:xfrm>
          <a:off x="0" y="0"/>
          <a:ext cx="0" cy="0"/>
          <a:chOff x="0" y="0"/>
          <a:chExt cx="0" cy="0"/>
        </a:xfrm>
      </p:grpSpPr>
      <p:sp>
        <p:nvSpPr>
          <p:cNvPr id="2" name="Shape 2"/>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Text 3"/>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THE SHORT VERSION</a:t>
            </a:r>
          </a:p>
        </p:txBody>
      </p:sp>
      <p:sp>
        <p:nvSpPr>
          <p:cNvPr id="4" name="Text 4"/>
          <p:cNvSpPr/>
          <p:nvPr/>
        </p:nvSpPr>
        <p:spPr>
          <a:xfrm>
            <a:off x="566928" y="960120"/>
            <a:ext cx="10881360" cy="1463040"/>
          </a:xfrm>
          <a:prstGeom prst="rect">
            <a:avLst/>
          </a:prstGeom>
          <a:noFill/>
          <a:ln/>
        </p:spPr>
        <p:txBody>
          <a:bodyPr wrap="square" rtlCol="0" anchor="ctr"/>
          <a:lstStyle/>
          <a:p>
            <a:pPr marL="0" indent="0" algn="l">
              <a:lnSpc>
                <a:spcPct val="105000"/>
              </a:lnSpc>
              <a:buNone/>
            </a:pPr>
            <a:r>
              <a:rPr lang="en-US" sz="3300" b="1" dirty="0">
                <a:solidFill>
                  <a:srgbClr val="F3F6FB"/>
                </a:solidFill>
                <a:latin typeface="Segoe UI Semibold" pitchFamily="34" charset="0"/>
                <a:ea typeface="Segoe UI Semibold" pitchFamily="34" charset="-122"/>
                <a:cs typeface="Segoe UI Semibold" pitchFamily="34" charset="-120"/>
              </a:rPr>
              <a:t>Busywork, done by a co-worker.
</a:t>
            </a:r>
            <a:r>
              <a:rPr lang="en-US" sz="3300" b="1" dirty="0">
                <a:solidFill>
                  <a:srgbClr val="3BE3E0"/>
                </a:solidFill>
                <a:latin typeface="Segoe UI Semibold" pitchFamily="34" charset="0"/>
                <a:ea typeface="Segoe UI Semibold" pitchFamily="34" charset="-122"/>
                <a:cs typeface="Segoe UI Semibold" pitchFamily="34" charset="-120"/>
              </a:rPr>
              <a:t>Here is what that looks like.</a:t>
            </a:r>
          </a:p>
        </p:txBody>
      </p:sp>
      <p:sp>
        <p:nvSpPr>
          <p:cNvPr id="10" name="Shape 10"/>
          <p:cNvSpPr/>
          <p:nvPr/>
        </p:nvSpPr>
        <p:spPr>
          <a:xfrm>
            <a:off x="566928" y="259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11" name="Text 11"/>
          <p:cNvSpPr/>
          <p:nvPr/>
        </p:nvSpPr>
        <p:spPr>
          <a:xfrm>
            <a:off x="886928" y="271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01</a:t>
            </a:r>
          </a:p>
        </p:txBody>
      </p:sp>
      <p:sp>
        <p:nvSpPr>
          <p:cNvPr id="12" name="Text 12"/>
          <p:cNvSpPr/>
          <p:nvPr/>
        </p:nvSpPr>
        <p:spPr>
          <a:xfrm>
            <a:off x="1686928" y="263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this is</a:t>
            </a:r>
          </a:p>
        </p:txBody>
      </p:sp>
      <p:sp>
        <p:nvSpPr>
          <p:cNvPr id="13" name="Text 13"/>
          <p:cNvSpPr/>
          <p:nvPr/>
        </p:nvSpPr>
        <p:spPr>
          <a:xfrm>
            <a:off x="4486928" y="263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A digital co-worker on OnePilot: you ask in plain language, it does the steps across SAP, email and files.</a:t>
            </a:r>
          </a:p>
        </p:txBody>
      </p:sp>
      <p:sp>
        <p:nvSpPr>
          <p:cNvPr id="20" name="Shape 20"/>
          <p:cNvSpPr/>
          <p:nvPr/>
        </p:nvSpPr>
        <p:spPr>
          <a:xfrm>
            <a:off x="566928" y="341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21" name="Text 21"/>
          <p:cNvSpPr/>
          <p:nvPr/>
        </p:nvSpPr>
        <p:spPr>
          <a:xfrm>
            <a:off x="886928" y="353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02</a:t>
            </a:r>
          </a:p>
        </p:txBody>
      </p:sp>
      <p:sp>
        <p:nvSpPr>
          <p:cNvPr id="22" name="Text 22"/>
          <p:cNvSpPr/>
          <p:nvPr/>
        </p:nvSpPr>
        <p:spPr>
          <a:xfrm>
            <a:off x="1686928" y="345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it replaces</a:t>
            </a:r>
          </a:p>
        </p:txBody>
      </p:sp>
      <p:sp>
        <p:nvSpPr>
          <p:cNvPr id="23" name="Text 23"/>
          <p:cNvSpPr/>
          <p:nvPr/>
        </p:nvSpPr>
        <p:spPr>
          <a:xfrm>
            <a:off x="4486928" y="345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The small constant steps between a request and your systems, re-keyed by a person today.</a:t>
            </a:r>
          </a:p>
        </p:txBody>
      </p:sp>
      <p:sp>
        <p:nvSpPr>
          <p:cNvPr id="30" name="Shape 30"/>
          <p:cNvSpPr/>
          <p:nvPr/>
        </p:nvSpPr>
        <p:spPr>
          <a:xfrm>
            <a:off x="566928" y="423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31" name="Text 31"/>
          <p:cNvSpPr/>
          <p:nvPr/>
        </p:nvSpPr>
        <p:spPr>
          <a:xfrm>
            <a:off x="886928" y="435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03</a:t>
            </a:r>
          </a:p>
        </p:txBody>
      </p:sp>
      <p:sp>
        <p:nvSpPr>
          <p:cNvPr id="32" name="Text 32"/>
          <p:cNvSpPr/>
          <p:nvPr/>
        </p:nvSpPr>
        <p:spPr>
          <a:xfrm>
            <a:off x="1686928" y="427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What you get</a:t>
            </a:r>
          </a:p>
        </p:txBody>
      </p:sp>
      <p:sp>
        <p:nvSpPr>
          <p:cNvPr id="33" name="Text 33"/>
          <p:cNvSpPr/>
          <p:nvPr/>
        </p:nvSpPr>
        <p:spPr>
          <a:xfrm>
            <a:off x="4486928" y="427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Requests become done tasks on their own: approved where you want, logged end to end, inside your permissions.</a:t>
            </a:r>
          </a:p>
        </p:txBody>
      </p:sp>
      <p:sp>
        <p:nvSpPr>
          <p:cNvPr id="34" name="Shape 30"/>
          <p:cNvSpPr/>
          <p:nvPr/>
        </p:nvSpPr>
        <p:spPr>
          <a:xfrm>
            <a:off x="566928" y="5050800"/>
            <a:ext cx="11057839" cy="700000"/>
          </a:xfrm>
          <a:prstGeom prst="roundRect">
            <a:avLst>
              <a:gd name="adj" fmla="val 8000"/>
            </a:avLst>
          </a:prstGeom>
          <a:solidFill>
            <a:srgbClr val="141A25"/>
          </a:solidFill>
          <a:ln w="13970">
            <a:solidFill>
              <a:srgbClr val="36414F"/>
            </a:solidFill>
            <a:prstDash val="solid"/>
          </a:ln>
        </p:spPr>
        <p:txBody>
          <a:bodyPr/>
          <a:lstStyle/>
          <a:p>
            <a:endParaRPr lang="en-US"/>
          </a:p>
        </p:txBody>
      </p:sp>
      <p:sp>
        <p:nvSpPr>
          <p:cNvPr id="35" name="Text 31"/>
          <p:cNvSpPr/>
          <p:nvPr/>
        </p:nvSpPr>
        <p:spPr>
          <a:xfrm>
            <a:off x="886928" y="5172200"/>
            <a:ext cx="700000" cy="457200"/>
          </a:xfrm>
          <a:prstGeom prst="rect">
            <a:avLst/>
          </a:prstGeom>
          <a:noFill/>
          <a:ln/>
        </p:spPr>
        <p:txBody>
          <a:bodyPr wrap="square" rtlCol="0" anchor="ctr"/>
          <a:lstStyle/>
          <a:p>
            <a:pPr marL="0" indent="0" algn="l">
              <a:buNone/>
            </a:pPr>
            <a:r>
              <a:rPr lang="en-US" sz="2000" b="1" dirty="0">
                <a:solidFill>
                  <a:srgbClr val="3BE3E0"/>
                </a:solidFill>
                <a:latin typeface="Segoe UI Semibold" pitchFamily="34" charset="0"/>
                <a:ea typeface="Segoe UI Semibold" pitchFamily="34" charset="-122"/>
                <a:cs typeface="Segoe UI Semibold" pitchFamily="34" charset="-120"/>
              </a:rPr>
              <a:t>04</a:t>
            </a:r>
          </a:p>
        </p:txBody>
      </p:sp>
      <p:sp>
        <p:nvSpPr>
          <p:cNvPr id="36" name="Text 32"/>
          <p:cNvSpPr/>
          <p:nvPr/>
        </p:nvSpPr>
        <p:spPr>
          <a:xfrm>
            <a:off x="1686928" y="5096000"/>
            <a:ext cx="2600000" cy="609600"/>
          </a:xfrm>
          <a:prstGeom prst="rect">
            <a:avLst/>
          </a:prstGeom>
          <a:noFill/>
          <a:ln/>
        </p:spPr>
        <p:txBody>
          <a:bodyPr wrap="square" rtlCol="0" anchor="ctr"/>
          <a:lstStyle/>
          <a:p>
            <a:pPr marL="0" indent="0" algn="l">
              <a:buNone/>
            </a:pPr>
            <a:r>
              <a:rPr lang="en-US" sz="1500" b="1" dirty="0">
                <a:solidFill>
                  <a:srgbClr val="F3F6FB"/>
                </a:solidFill>
                <a:latin typeface="Segoe UI Semibold" pitchFamily="34" charset="0"/>
                <a:ea typeface="Segoe UI Semibold" pitchFamily="34" charset="-122"/>
                <a:cs typeface="Segoe UI Semibold" pitchFamily="34" charset="-120"/>
              </a:rPr>
              <a:t>Who it is for</a:t>
            </a:r>
          </a:p>
        </p:txBody>
      </p:sp>
      <p:sp>
        <p:nvSpPr>
          <p:cNvPr id="37" name="Text 33"/>
          <p:cNvSpPr/>
          <p:nvPr/>
        </p:nvSpPr>
        <p:spPr>
          <a:xfrm>
            <a:off x="4486928" y="5096000"/>
            <a:ext cx="6817839" cy="609600"/>
          </a:xfrm>
          <a:prstGeom prst="rect">
            <a:avLst/>
          </a:prstGeom>
          <a:noFill/>
          <a:ln/>
        </p:spPr>
        <p:txBody>
          <a:bodyPr wrap="square" rtlCol="0" anchor="ctr"/>
          <a:lstStyle/>
          <a:p>
            <a:pPr marL="0" indent="0" algn="l">
              <a:lnSpc>
                <a:spcPct val="115000"/>
              </a:lnSpc>
              <a:buNone/>
            </a:pPr>
            <a:r>
              <a:rPr lang="en-US" sz="1300" dirty="0">
                <a:solidFill>
                  <a:srgbClr val="AAB6C7"/>
                </a:solidFill>
                <a:latin typeface="Segoe UI" pitchFamily="34" charset="0"/>
                <a:ea typeface="Segoe UI" pitchFamily="34" charset="-122"/>
                <a:cs typeface="Segoe UI" pitchFamily="34" charset="-120"/>
              </a:rPr>
              <a:t>Treasury and finance teams on SAP, and the roles around them: specialists, assistants, analysts, clerks.</a:t>
            </a:r>
          </a:p>
        </p:txBody>
      </p:sp>
      <p:sp>
        <p:nvSpPr>
          <p:cNvPr id="40" name="Text 40"/>
          <p:cNvSpPr/>
          <p:nvPr/>
        </p:nvSpPr>
        <p:spPr>
          <a:xfrm>
            <a:off x="566928" y="5871480"/>
            <a:ext cx="11057839" cy="350520"/>
          </a:xfrm>
          <a:prstGeom prst="rect">
            <a:avLst/>
          </a:prstGeom>
          <a:noFill/>
          <a:ln/>
        </p:spPr>
        <p:txBody>
          <a:bodyPr wrap="square" rtlCol="0" anchor="ctr"/>
          <a:lstStyle/>
          <a:p>
            <a:pPr marL="0" indent="0" algn="l">
              <a:buNone/>
            </a:pPr>
            <a:r>
              <a:rPr lang="en-US" sz="1600" dirty="0">
                <a:solidFill>
                  <a:srgbClr val="3BE3E0"/>
                </a:solidFill>
                <a:latin typeface="Segoe UI" pitchFamily="34" charset="0"/>
                <a:ea typeface="Segoe UI" pitchFamily="34" charset="-122"/>
                <a:cs typeface="Segoe UI" pitchFamily="34" charset="-120"/>
              </a:rPr>
              <a:t>The next page is where you are today. Then one request, followed end to end.</a:t>
            </a:r>
          </a:p>
        </p:txBody>
      </p:sp>
      <p:sp>
        <p:nvSpPr>
          <p:cNvPr id="41" name="Text 41"/>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p>
        </p:txBody>
      </p:sp>
      <p:sp>
        <p:nvSpPr>
          <p:cNvPr id="42" name="Text 42"/>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02 / 13</a:t>
            </a:r>
          </a:p>
        </p:txBody>
      </p:sp>
      <p:sp>
        <p:nvSpPr>
          <p:cNvPr id="43" name="Shape 43"/>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Beat 04 / 13">
    <p:bg>
      <p:bgPr>
        <a:solidFill>
          <a:srgbClr val="0B0E14"/>
        </a:solidFill>
        <a:effectLst/>
      </p:bgPr>
    </p:bg>
    <p:spTree>
      <p:nvGrpSpPr>
        <p:cNvPr id="1" name=""/>
        <p:cNvGrpSpPr/>
        <p:nvPr/>
      </p:nvGrpSpPr>
      <p:grpSpPr>
        <a:xfrm>
          <a:off x="0" y="0"/>
          <a:ext cx="0" cy="0"/>
          <a:chOff x="0" y="0"/>
          <a:chExt cx="0" cy="0"/>
        </a:xfrm>
      </p:grpSpPr>
      <p:sp>
        <p:nvSpPr>
          <p:cNvPr id="2" name="Accent"/>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Eyebrow"/>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 xml:space="preserve">A REQUEST, FOLLOWED · 1 / 4</a:t>
            </a:r>
          </a:p>
        </p:txBody>
      </p:sp>
      <p:sp>
        <p:nvSpPr>
          <p:cNvPr id="100" name="Rail Request"/>
          <p:cNvSpPr/>
          <p:nvPr/>
        </p:nvSpPr>
        <p:spPr>
          <a:xfrm>
            <a:off x="566928"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1" name="RailT Request"/>
          <p:cNvSpPr/>
          <p:nvPr/>
        </p:nvSpPr>
        <p:spPr>
          <a:xfrm>
            <a:off x="566928"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Request</a:t>
            </a:r>
          </a:p>
        </p:txBody>
      </p:sp>
      <p:sp>
        <p:nvSpPr>
          <p:cNvPr id="102" name="Chev 0"/>
          <p:cNvSpPr/>
          <p:nvPr/>
        </p:nvSpPr>
        <p:spPr>
          <a:xfrm>
            <a:off x="2508496"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3" name="Rail Reads"/>
          <p:cNvSpPr/>
          <p:nvPr/>
        </p:nvSpPr>
        <p:spPr>
          <a:xfrm>
            <a:off x="2838496" y="1040000"/>
            <a:ext cx="1971568" cy="520000"/>
          </a:xfrm>
          <a:prstGeom prst="roundRect">
            <a:avLst>
              <a:gd name="adj" fmla="val 16000"/>
            </a:avLst>
          </a:prstGeom>
          <a:solidFill>
            <a:srgbClr val="123038"/>
          </a:solidFill>
          <a:ln w="22225">
            <a:solidFill>
              <a:srgbClr val="3BE3E0"/>
            </a:solidFill>
            <a:prstDash val="solid"/>
          </a:ln>
        </p:spPr>
        <p:txBody>
          <a:bodyPr/>
          <a:lstStyle/>
          <a:p>
            <a:endParaRPr lang="en-US"/>
          </a:p>
        </p:txBody>
      </p:sp>
      <p:sp>
        <p:nvSpPr>
          <p:cNvPr id="104" name="RailT Reads"/>
          <p:cNvSpPr/>
          <p:nvPr/>
        </p:nvSpPr>
        <p:spPr>
          <a:xfrm>
            <a:off x="2838496" y="1040000"/>
            <a:ext cx="1971568" cy="520000"/>
          </a:xfrm>
          <a:prstGeom prst="rect">
            <a:avLst/>
          </a:prstGeom>
          <a:noFill/>
          <a:ln/>
        </p:spPr>
        <p:txBody>
          <a:bodyPr wrap="square" rtlCol="0" anchor="ctr"/>
          <a:lstStyle/>
          <a:p>
            <a:pPr marL="0" indent="0" algn="ctr">
              <a:buNone/>
            </a:pPr>
            <a:r>
              <a:rPr lang="en-US" sz="1350" b="1" kern="0" dirty="0">
                <a:solidFill>
                  <a:srgbClr val="F3F6FB"/>
                </a:solidFill>
                <a:latin typeface="Segoe UI Semibold" pitchFamily="34" charset="0"/>
                <a:ea typeface="Segoe UI Semibold" pitchFamily="34" charset="-122"/>
                <a:cs typeface="Segoe UI Semibold" pitchFamily="34" charset="-120"/>
              </a:rPr>
              <a:t xml:space="preserve">Reads</a:t>
            </a:r>
          </a:p>
        </p:txBody>
      </p:sp>
      <p:sp>
        <p:nvSpPr>
          <p:cNvPr id="105" name="Chev 1"/>
          <p:cNvSpPr/>
          <p:nvPr/>
        </p:nvSpPr>
        <p:spPr>
          <a:xfrm>
            <a:off x="4780064"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6" name="Rail Checks"/>
          <p:cNvSpPr/>
          <p:nvPr/>
        </p:nvSpPr>
        <p:spPr>
          <a:xfrm>
            <a:off x="5110064" y="1040000"/>
            <a:ext cx="1971568" cy="520000"/>
          </a:xfrm>
          <a:prstGeom prst="roundRect">
            <a:avLst>
              <a:gd name="adj" fmla="val 16000"/>
            </a:avLst>
          </a:prstGeom>
          <a:solidFill>
            <a:srgbClr val="0E121B"/>
          </a:solidFill>
          <a:ln w="12700">
            <a:solidFill>
              <a:srgbClr val="36414F"/>
            </a:solidFill>
            <a:prstDash val="solid"/>
          </a:ln>
        </p:spPr>
        <p:txBody>
          <a:bodyPr/>
          <a:lstStyle/>
          <a:p>
            <a:endParaRPr lang="en-US"/>
          </a:p>
        </p:txBody>
      </p:sp>
      <p:sp>
        <p:nvSpPr>
          <p:cNvPr id="107" name="RailT Checks"/>
          <p:cNvSpPr/>
          <p:nvPr/>
        </p:nvSpPr>
        <p:spPr>
          <a:xfrm>
            <a:off x="5110064" y="1040000"/>
            <a:ext cx="1971568" cy="520000"/>
          </a:xfrm>
          <a:prstGeom prst="rect">
            <a:avLst/>
          </a:prstGeom>
          <a:noFill/>
          <a:ln/>
        </p:spPr>
        <p:txBody>
          <a:bodyPr wrap="square" rtlCol="0" anchor="ctr"/>
          <a:lstStyle/>
          <a:p>
            <a:pPr marL="0" indent="0" algn="ctr">
              <a:buNone/>
            </a:pPr>
            <a:r>
              <a:rPr lang="en-US" sz="1350" b="1" kern="0" dirty="0">
                <a:solidFill>
                  <a:srgbClr val="7C8A9B"/>
                </a:solidFill>
                <a:latin typeface="Segoe UI Semibold" pitchFamily="34" charset="0"/>
                <a:ea typeface="Segoe UI Semibold" pitchFamily="34" charset="-122"/>
                <a:cs typeface="Segoe UI Semibold" pitchFamily="34" charset="-120"/>
              </a:rPr>
              <a:t xml:space="preserve">Checks</a:t>
            </a:r>
          </a:p>
        </p:txBody>
      </p:sp>
      <p:sp>
        <p:nvSpPr>
          <p:cNvPr id="108" name="Chev 2"/>
          <p:cNvSpPr/>
          <p:nvPr/>
        </p:nvSpPr>
        <p:spPr>
          <a:xfrm>
            <a:off x="7051632"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9" name="Rail Books"/>
          <p:cNvSpPr/>
          <p:nvPr/>
        </p:nvSpPr>
        <p:spPr>
          <a:xfrm>
            <a:off x="7381632" y="1040000"/>
            <a:ext cx="1971568" cy="520000"/>
          </a:xfrm>
          <a:prstGeom prst="roundRect">
            <a:avLst>
              <a:gd name="adj" fmla="val 16000"/>
            </a:avLst>
          </a:prstGeom>
          <a:solidFill>
            <a:srgbClr val="0E121B"/>
          </a:solidFill>
          <a:ln w="12700">
            <a:solidFill>
              <a:srgbClr val="36414F"/>
            </a:solidFill>
            <a:prstDash val="solid"/>
          </a:ln>
        </p:spPr>
        <p:txBody>
          <a:bodyPr/>
          <a:lstStyle/>
          <a:p>
            <a:endParaRPr lang="en-US"/>
          </a:p>
        </p:txBody>
      </p:sp>
      <p:sp>
        <p:nvSpPr>
          <p:cNvPr id="110" name="RailT Books"/>
          <p:cNvSpPr/>
          <p:nvPr/>
        </p:nvSpPr>
        <p:spPr>
          <a:xfrm>
            <a:off x="7381632" y="1040000"/>
            <a:ext cx="1971568" cy="520000"/>
          </a:xfrm>
          <a:prstGeom prst="rect">
            <a:avLst/>
          </a:prstGeom>
          <a:noFill/>
          <a:ln/>
        </p:spPr>
        <p:txBody>
          <a:bodyPr wrap="square" rtlCol="0" anchor="ctr"/>
          <a:lstStyle/>
          <a:p>
            <a:pPr marL="0" indent="0" algn="ctr">
              <a:buNone/>
            </a:pPr>
            <a:r>
              <a:rPr lang="en-US" sz="1350" b="1" kern="0" dirty="0">
                <a:solidFill>
                  <a:srgbClr val="7C8A9B"/>
                </a:solidFill>
                <a:latin typeface="Segoe UI Semibold" pitchFamily="34" charset="0"/>
                <a:ea typeface="Segoe UI Semibold" pitchFamily="34" charset="-122"/>
                <a:cs typeface="Segoe UI Semibold" pitchFamily="34" charset="-120"/>
              </a:rPr>
              <a:t xml:space="preserve">Books</a:t>
            </a:r>
          </a:p>
        </p:txBody>
      </p:sp>
      <p:sp>
        <p:nvSpPr>
          <p:cNvPr id="111" name="Chev 3"/>
          <p:cNvSpPr/>
          <p:nvPr/>
        </p:nvSpPr>
        <p:spPr>
          <a:xfrm>
            <a:off x="9323200"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12" name="Rail Replies"/>
          <p:cNvSpPr/>
          <p:nvPr/>
        </p:nvSpPr>
        <p:spPr>
          <a:xfrm>
            <a:off x="9653200" y="1040000"/>
            <a:ext cx="1971568" cy="520000"/>
          </a:xfrm>
          <a:prstGeom prst="roundRect">
            <a:avLst>
              <a:gd name="adj" fmla="val 16000"/>
            </a:avLst>
          </a:prstGeom>
          <a:solidFill>
            <a:srgbClr val="0E121B"/>
          </a:solidFill>
          <a:ln w="12700">
            <a:solidFill>
              <a:srgbClr val="36414F"/>
            </a:solidFill>
            <a:prstDash val="solid"/>
          </a:ln>
        </p:spPr>
        <p:txBody>
          <a:bodyPr/>
          <a:lstStyle/>
          <a:p>
            <a:endParaRPr lang="en-US"/>
          </a:p>
        </p:txBody>
      </p:sp>
      <p:sp>
        <p:nvSpPr>
          <p:cNvPr id="113" name="RailT Replies"/>
          <p:cNvSpPr/>
          <p:nvPr/>
        </p:nvSpPr>
        <p:spPr>
          <a:xfrm>
            <a:off x="9653200" y="1040000"/>
            <a:ext cx="1971568" cy="520000"/>
          </a:xfrm>
          <a:prstGeom prst="rect">
            <a:avLst/>
          </a:prstGeom>
          <a:noFill/>
          <a:ln/>
        </p:spPr>
        <p:txBody>
          <a:bodyPr wrap="square" rtlCol="0" anchor="ctr"/>
          <a:lstStyle/>
          <a:p>
            <a:pPr marL="0" indent="0" algn="ctr">
              <a:buNone/>
            </a:pPr>
            <a:r>
              <a:rPr lang="en-US" sz="1350" b="1" kern="0" dirty="0">
                <a:solidFill>
                  <a:srgbClr val="7C8A9B"/>
                </a:solidFill>
                <a:latin typeface="Segoe UI Semibold" pitchFamily="34" charset="0"/>
                <a:ea typeface="Segoe UI Semibold" pitchFamily="34" charset="-122"/>
                <a:cs typeface="Segoe UI Semibold" pitchFamily="34" charset="-120"/>
              </a:rPr>
              <a:t xml:space="preserve">Replies</a:t>
            </a:r>
          </a:p>
        </p:txBody>
      </p:sp>
      <p:sp>
        <p:nvSpPr>
          <p:cNvPr id="4" name="Headline"/>
          <p:cNvSpPr/>
          <p:nvPr/>
        </p:nvSpPr>
        <p:spPr>
          <a:xfrm>
            <a:off x="566928" y="1900000"/>
            <a:ext cx="5900000" cy="620000"/>
          </a:xfrm>
          <a:prstGeom prst="rect">
            <a:avLst/>
          </a:prstGeom>
          <a:noFill/>
          <a:ln/>
        </p:spPr>
        <p:txBody>
          <a:bodyPr wrap="square" rtlCol="0" anchor="ctr"/>
          <a:lstStyle/>
          <a:p>
            <a:pPr marL="0" indent="0" algn="l">
              <a:buNone/>
            </a:pPr>
            <a:r>
              <a:rPr lang="en-US" sz="3000" b="1" kern="0" dirty="0">
                <a:solidFill>
                  <a:srgbClr val="F3F6FB"/>
                </a:solidFill>
                <a:latin typeface="Segoe UI Semibold" pitchFamily="34" charset="0"/>
                <a:ea typeface="Segoe UI Semibold" pitchFamily="34" charset="-122"/>
                <a:cs typeface="Segoe UI Semibold" pitchFamily="34" charset="-120"/>
              </a:rPr>
              <a:t xml:space="preserve">The request lands.</a:t>
            </a:r>
          </a:p>
        </p:txBody>
      </p:sp>
      <p:sp>
        <p:nvSpPr>
          <p:cNvPr id="5" name="Desc"/>
          <p:cNvSpPr/>
          <p:nvPr/>
        </p:nvSpPr>
        <p:spPr>
          <a:xfrm>
            <a:off x="566928" y="2620000"/>
            <a:ext cx="5900000" cy="1800000"/>
          </a:xfrm>
          <a:prstGeom prst="rect">
            <a:avLst/>
          </a:prstGeom>
          <a:noFill/>
          <a:ln/>
        </p:spPr>
        <p:txBody>
          <a:bodyPr wrap="square" rtlCol="0" anchor="t"/>
          <a:lstStyle/>
          <a:p>
            <a:pPr marL="0" indent="0" algn="l">
              <a:lnSpc>
                <a:spcPct val="128000"/>
              </a:lnSpc>
              <a:buNone/>
            </a:pPr>
            <a:r>
              <a:rPr lang="en-US" sz="1400" kern="0" dirty="0">
                <a:solidFill>
                  <a:srgbClr val="AAB6C7"/>
                </a:solidFill>
                <a:latin typeface="Segoe UI" pitchFamily="34" charset="0"/>
                <a:ea typeface="Segoe UI" pitchFamily="34" charset="-122"/>
                <a:cs typeface="Segoe UI" pitchFamily="34" charset="-120"/>
              </a:rPr>
              <a:t xml:space="preserve">A subsidiary emails the treasury mailbox: fund EUR 2.0m to the Milan account by Thursday. The co-worker was already watching that mailbox. It reads the request and, in plain chat, summarizes what it sees: the amount, the account, the date.</a:t>
            </a:r>
          </a:p>
        </p:txBody>
      </p:sp>
      <p:sp>
        <p:nvSpPr>
          <p:cNvPr id="120" name="LedgerLbl"/>
          <p:cNvSpPr/>
          <p:nvPr/>
        </p:nvSpPr>
        <p:spPr>
          <a:xfrm>
            <a:off x="566928" y="4230000"/>
            <a:ext cx="5900000" cy="300000"/>
          </a:xfrm>
          <a:prstGeom prst="rect">
            <a:avLst/>
          </a:prstGeom>
          <a:noFill/>
          <a:ln/>
        </p:spPr>
        <p:txBody>
          <a:bodyPr wrap="square" rtlCol="0" anchor="ctr"/>
          <a:lstStyle/>
          <a:p>
            <a:pPr marL="0" indent="0" algn="l">
              <a:buNone/>
            </a:pPr>
            <a:r>
              <a:rPr lang="en-US" sz="1000" b="1" kern="0" spc="160" dirty="0">
                <a:solidFill>
                  <a:srgbClr val="3BE3E0"/>
                </a:solidFill>
                <a:latin typeface="Segoe UI Semibold" pitchFamily="34" charset="0"/>
                <a:ea typeface="Segoe UI Semibold" pitchFamily="34" charset="-122"/>
                <a:cs typeface="Segoe UI Semibold" pitchFamily="34" charset="-120"/>
              </a:rPr>
              <a:t xml:space="preserve">PROGRESS LOG</a:t>
            </a:r>
          </a:p>
        </p:txBody>
      </p:sp>
      <p:sp>
        <p:nvSpPr>
          <p:cNvPr id="121" name="Led121"/>
          <p:cNvSpPr/>
          <p:nvPr/>
        </p:nvSpPr>
        <p:spPr>
          <a:xfrm>
            <a:off x="566928" y="45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09:02  request read and summarized</a:t>
            </a:r>
          </a:p>
        </p:txBody>
      </p:sp>
      <p:sp>
        <p:nvSpPr>
          <p:cNvPr id="114" name="ChatPanel"/>
          <p:cNvSpPr/>
          <p:nvPr/>
        </p:nvSpPr>
        <p:spPr>
          <a:xfrm>
            <a:off x="6800000" y="1760000"/>
            <a:ext cx="4824839" cy="4440000"/>
          </a:xfrm>
          <a:prstGeom prst="roundRect">
            <a:avLst>
              <a:gd name="adj" fmla="val 5000"/>
            </a:avLst>
          </a:prstGeom>
          <a:solidFill>
            <a:srgbClr val="10151E"/>
          </a:solidFill>
          <a:ln w="13970">
            <a:solidFill>
              <a:srgbClr val="36414F"/>
            </a:solidFill>
            <a:prstDash val="solid"/>
          </a:ln>
        </p:spPr>
        <p:txBody>
          <a:bodyPr/>
          <a:lstStyle/>
          <a:p>
            <a:endParaRPr lang="en-US"/>
          </a:p>
        </p:txBody>
      </p:sp>
      <p:sp>
        <p:nvSpPr>
          <p:cNvPr id="115" name="ChatHdr"/>
          <p:cNvSpPr/>
          <p:nvPr/>
        </p:nvSpPr>
        <p:spPr>
          <a:xfrm>
            <a:off x="7040000" y="1880000"/>
            <a:ext cx="4344839" cy="300000"/>
          </a:xfrm>
          <a:prstGeom prst="rect">
            <a:avLst/>
          </a:prstGeom>
          <a:noFill/>
          <a:ln/>
        </p:spPr>
        <p:txBody>
          <a:bodyPr wrap="square" rtlCol="0" anchor="ctr"/>
          <a:lstStyle/>
          <a:p>
            <a:pPr marL="0" indent="0" algn="l">
              <a:buNone/>
            </a:pPr>
            <a:r>
              <a:rPr lang="en-US" sz="1000" b="1" kern="0" spc="160" dirty="0">
                <a:solidFill>
                  <a:srgbClr val="3BE3E0"/>
                </a:solidFill>
                <a:latin typeface="Segoe UI Semibold" pitchFamily="34" charset="0"/>
                <a:ea typeface="Segoe UI Semibold" pitchFamily="34" charset="-122"/>
                <a:cs typeface="Segoe UI Semibold" pitchFamily="34" charset="-120"/>
              </a:rPr>
              <a:t xml:space="preserve">CHAT</a:t>
            </a:r>
          </a:p>
        </p:txBody>
      </p:sp>
      <p:sp>
        <p:nvSpPr>
          <p:cNvPr id="116" name="Bub116"/>
          <p:cNvSpPr/>
          <p:nvPr/>
        </p:nvSpPr>
        <p:spPr>
          <a:xfrm>
            <a:off x="7000000" y="2280000"/>
            <a:ext cx="3300000" cy="650000"/>
          </a:xfrm>
          <a:prstGeom prst="roundRect">
            <a:avLst>
              <a:gd name="adj" fmla="val 14000"/>
            </a:avLst>
          </a:prstGeom>
          <a:solidFill>
            <a:srgbClr val="1B2330"/>
          </a:solidFill>
          <a:ln w="11430">
            <a:solidFill>
              <a:srgbClr val="36414F"/>
            </a:solidFill>
            <a:prstDash val="solid"/>
          </a:ln>
        </p:spPr>
        <p:txBody>
          <a:bodyPr/>
          <a:lstStyle/>
          <a:p>
            <a:endParaRPr lang="en-US"/>
          </a:p>
        </p:txBody>
      </p:sp>
      <p:sp>
        <p:nvSpPr>
          <p:cNvPr id="117" name="BubT117"/>
          <p:cNvSpPr/>
          <p:nvPr/>
        </p:nvSpPr>
        <p:spPr>
          <a:xfrm>
            <a:off x="7170000" y="228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Fund EUR 2.0m to the Milan account by Thursday.</a:t>
            </a:r>
          </a:p>
        </p:txBody>
      </p:sp>
      <p:sp>
        <p:nvSpPr>
          <p:cNvPr id="118" name="Bub118"/>
          <p:cNvSpPr/>
          <p:nvPr/>
        </p:nvSpPr>
        <p:spPr>
          <a:xfrm>
            <a:off x="8124839" y="305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19" name="BubT119"/>
          <p:cNvSpPr/>
          <p:nvPr/>
        </p:nvSpPr>
        <p:spPr>
          <a:xfrm>
            <a:off x="8294839" y="305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Read. EUR 2.0m to Milan, due Thursday. Checking cover now.</a:t>
            </a:r>
          </a:p>
        </p:txBody>
      </p:sp>
      <p:sp>
        <p:nvSpPr>
          <p:cNvPr id="900" name="FooterBrand"/>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p>
        </p:txBody>
      </p:sp>
      <p:sp>
        <p:nvSpPr>
          <p:cNvPr id="901" name="FooterNum"/>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04 / 13</a:t>
            </a:r>
          </a:p>
        </p:txBody>
      </p:sp>
      <p:sp>
        <p:nvSpPr>
          <p:cNvPr id="902" name="Divider"/>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Beat 05 / 13">
    <p:bg>
      <p:bgPr>
        <a:solidFill>
          <a:srgbClr val="0B0E14"/>
        </a:solidFill>
        <a:effectLst/>
      </p:bgPr>
    </p:bg>
    <p:spTree>
      <p:nvGrpSpPr>
        <p:cNvPr id="1" name=""/>
        <p:cNvGrpSpPr/>
        <p:nvPr/>
      </p:nvGrpSpPr>
      <p:grpSpPr>
        <a:xfrm>
          <a:off x="0" y="0"/>
          <a:ext cx="0" cy="0"/>
          <a:chOff x="0" y="0"/>
          <a:chExt cx="0" cy="0"/>
        </a:xfrm>
      </p:grpSpPr>
      <p:sp>
        <p:nvSpPr>
          <p:cNvPr id="2" name="Accent"/>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Eyebrow"/>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 xml:space="preserve">A REQUEST, FOLLOWED · 2 / 4</a:t>
            </a:r>
          </a:p>
        </p:txBody>
      </p:sp>
      <p:sp>
        <p:nvSpPr>
          <p:cNvPr id="100" name="Rail Request"/>
          <p:cNvSpPr/>
          <p:nvPr/>
        </p:nvSpPr>
        <p:spPr>
          <a:xfrm>
            <a:off x="566928"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1" name="RailT Request"/>
          <p:cNvSpPr/>
          <p:nvPr/>
        </p:nvSpPr>
        <p:spPr>
          <a:xfrm>
            <a:off x="566928"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Request</a:t>
            </a:r>
          </a:p>
        </p:txBody>
      </p:sp>
      <p:sp>
        <p:nvSpPr>
          <p:cNvPr id="102" name="Chev 0"/>
          <p:cNvSpPr/>
          <p:nvPr/>
        </p:nvSpPr>
        <p:spPr>
          <a:xfrm>
            <a:off x="2508496"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3" name="Rail Reads"/>
          <p:cNvSpPr/>
          <p:nvPr/>
        </p:nvSpPr>
        <p:spPr>
          <a:xfrm>
            <a:off x="2838496"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4" name="RailT Reads"/>
          <p:cNvSpPr/>
          <p:nvPr/>
        </p:nvSpPr>
        <p:spPr>
          <a:xfrm>
            <a:off x="2838496"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Reads</a:t>
            </a:r>
          </a:p>
        </p:txBody>
      </p:sp>
      <p:sp>
        <p:nvSpPr>
          <p:cNvPr id="105" name="Chev 1"/>
          <p:cNvSpPr/>
          <p:nvPr/>
        </p:nvSpPr>
        <p:spPr>
          <a:xfrm>
            <a:off x="4780064"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6" name="Rail Checks"/>
          <p:cNvSpPr/>
          <p:nvPr/>
        </p:nvSpPr>
        <p:spPr>
          <a:xfrm>
            <a:off x="5110064" y="1040000"/>
            <a:ext cx="1971568" cy="520000"/>
          </a:xfrm>
          <a:prstGeom prst="roundRect">
            <a:avLst>
              <a:gd name="adj" fmla="val 16000"/>
            </a:avLst>
          </a:prstGeom>
          <a:solidFill>
            <a:srgbClr val="123038"/>
          </a:solidFill>
          <a:ln w="22225">
            <a:solidFill>
              <a:srgbClr val="3BE3E0"/>
            </a:solidFill>
            <a:prstDash val="solid"/>
          </a:ln>
        </p:spPr>
        <p:txBody>
          <a:bodyPr/>
          <a:lstStyle/>
          <a:p>
            <a:endParaRPr lang="en-US"/>
          </a:p>
        </p:txBody>
      </p:sp>
      <p:sp>
        <p:nvSpPr>
          <p:cNvPr id="107" name="RailT Checks"/>
          <p:cNvSpPr/>
          <p:nvPr/>
        </p:nvSpPr>
        <p:spPr>
          <a:xfrm>
            <a:off x="5110064" y="1040000"/>
            <a:ext cx="1971568" cy="520000"/>
          </a:xfrm>
          <a:prstGeom prst="rect">
            <a:avLst/>
          </a:prstGeom>
          <a:noFill/>
          <a:ln/>
        </p:spPr>
        <p:txBody>
          <a:bodyPr wrap="square" rtlCol="0" anchor="ctr"/>
          <a:lstStyle/>
          <a:p>
            <a:pPr marL="0" indent="0" algn="ctr">
              <a:buNone/>
            </a:pPr>
            <a:r>
              <a:rPr lang="en-US" sz="1350" b="1" kern="0" dirty="0">
                <a:solidFill>
                  <a:srgbClr val="F3F6FB"/>
                </a:solidFill>
                <a:latin typeface="Segoe UI Semibold" pitchFamily="34" charset="0"/>
                <a:ea typeface="Segoe UI Semibold" pitchFamily="34" charset="-122"/>
                <a:cs typeface="Segoe UI Semibold" pitchFamily="34" charset="-120"/>
              </a:rPr>
              <a:t xml:space="preserve">Checks</a:t>
            </a:r>
          </a:p>
        </p:txBody>
      </p:sp>
      <p:sp>
        <p:nvSpPr>
          <p:cNvPr id="108" name="Chev 2"/>
          <p:cNvSpPr/>
          <p:nvPr/>
        </p:nvSpPr>
        <p:spPr>
          <a:xfrm>
            <a:off x="7051632"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9" name="Rail Books"/>
          <p:cNvSpPr/>
          <p:nvPr/>
        </p:nvSpPr>
        <p:spPr>
          <a:xfrm>
            <a:off x="7381632" y="1040000"/>
            <a:ext cx="1971568" cy="520000"/>
          </a:xfrm>
          <a:prstGeom prst="roundRect">
            <a:avLst>
              <a:gd name="adj" fmla="val 16000"/>
            </a:avLst>
          </a:prstGeom>
          <a:solidFill>
            <a:srgbClr val="0E121B"/>
          </a:solidFill>
          <a:ln w="12700">
            <a:solidFill>
              <a:srgbClr val="36414F"/>
            </a:solidFill>
            <a:prstDash val="solid"/>
          </a:ln>
        </p:spPr>
        <p:txBody>
          <a:bodyPr/>
          <a:lstStyle/>
          <a:p>
            <a:endParaRPr lang="en-US"/>
          </a:p>
        </p:txBody>
      </p:sp>
      <p:sp>
        <p:nvSpPr>
          <p:cNvPr id="110" name="RailT Books"/>
          <p:cNvSpPr/>
          <p:nvPr/>
        </p:nvSpPr>
        <p:spPr>
          <a:xfrm>
            <a:off x="7381632" y="1040000"/>
            <a:ext cx="1971568" cy="520000"/>
          </a:xfrm>
          <a:prstGeom prst="rect">
            <a:avLst/>
          </a:prstGeom>
          <a:noFill/>
          <a:ln/>
        </p:spPr>
        <p:txBody>
          <a:bodyPr wrap="square" rtlCol="0" anchor="ctr"/>
          <a:lstStyle/>
          <a:p>
            <a:pPr marL="0" indent="0" algn="ctr">
              <a:buNone/>
            </a:pPr>
            <a:r>
              <a:rPr lang="en-US" sz="1350" b="1" kern="0" dirty="0">
                <a:solidFill>
                  <a:srgbClr val="7C8A9B"/>
                </a:solidFill>
                <a:latin typeface="Segoe UI Semibold" pitchFamily="34" charset="0"/>
                <a:ea typeface="Segoe UI Semibold" pitchFamily="34" charset="-122"/>
                <a:cs typeface="Segoe UI Semibold" pitchFamily="34" charset="-120"/>
              </a:rPr>
              <a:t xml:space="preserve">Books</a:t>
            </a:r>
          </a:p>
        </p:txBody>
      </p:sp>
      <p:sp>
        <p:nvSpPr>
          <p:cNvPr id="111" name="Chev 3"/>
          <p:cNvSpPr/>
          <p:nvPr/>
        </p:nvSpPr>
        <p:spPr>
          <a:xfrm>
            <a:off x="9323200"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12" name="Rail Replies"/>
          <p:cNvSpPr/>
          <p:nvPr/>
        </p:nvSpPr>
        <p:spPr>
          <a:xfrm>
            <a:off x="9653200" y="1040000"/>
            <a:ext cx="1971568" cy="520000"/>
          </a:xfrm>
          <a:prstGeom prst="roundRect">
            <a:avLst>
              <a:gd name="adj" fmla="val 16000"/>
            </a:avLst>
          </a:prstGeom>
          <a:solidFill>
            <a:srgbClr val="0E121B"/>
          </a:solidFill>
          <a:ln w="12700">
            <a:solidFill>
              <a:srgbClr val="36414F"/>
            </a:solidFill>
            <a:prstDash val="solid"/>
          </a:ln>
        </p:spPr>
        <p:txBody>
          <a:bodyPr/>
          <a:lstStyle/>
          <a:p>
            <a:endParaRPr lang="en-US"/>
          </a:p>
        </p:txBody>
      </p:sp>
      <p:sp>
        <p:nvSpPr>
          <p:cNvPr id="113" name="RailT Replies"/>
          <p:cNvSpPr/>
          <p:nvPr/>
        </p:nvSpPr>
        <p:spPr>
          <a:xfrm>
            <a:off x="9653200" y="1040000"/>
            <a:ext cx="1971568" cy="520000"/>
          </a:xfrm>
          <a:prstGeom prst="rect">
            <a:avLst/>
          </a:prstGeom>
          <a:noFill/>
          <a:ln/>
        </p:spPr>
        <p:txBody>
          <a:bodyPr wrap="square" rtlCol="0" anchor="ctr"/>
          <a:lstStyle/>
          <a:p>
            <a:pPr marL="0" indent="0" algn="ctr">
              <a:buNone/>
            </a:pPr>
            <a:r>
              <a:rPr lang="en-US" sz="1350" b="1" kern="0" dirty="0">
                <a:solidFill>
                  <a:srgbClr val="7C8A9B"/>
                </a:solidFill>
                <a:latin typeface="Segoe UI Semibold" pitchFamily="34" charset="0"/>
                <a:ea typeface="Segoe UI Semibold" pitchFamily="34" charset="-122"/>
                <a:cs typeface="Segoe UI Semibold" pitchFamily="34" charset="-120"/>
              </a:rPr>
              <a:t xml:space="preserve">Replies</a:t>
            </a:r>
          </a:p>
        </p:txBody>
      </p:sp>
      <p:sp>
        <p:nvSpPr>
          <p:cNvPr id="4" name="Headline"/>
          <p:cNvSpPr/>
          <p:nvPr/>
        </p:nvSpPr>
        <p:spPr>
          <a:xfrm>
            <a:off x="566928" y="1900000"/>
            <a:ext cx="5900000" cy="620000"/>
          </a:xfrm>
          <a:prstGeom prst="rect">
            <a:avLst/>
          </a:prstGeom>
          <a:noFill/>
          <a:ln/>
        </p:spPr>
        <p:txBody>
          <a:bodyPr wrap="square" rtlCol="0" anchor="ctr"/>
          <a:lstStyle/>
          <a:p>
            <a:pPr marL="0" indent="0" algn="l">
              <a:buNone/>
            </a:pPr>
            <a:r>
              <a:rPr lang="en-US" sz="3000" b="1" kern="0" dirty="0">
                <a:solidFill>
                  <a:srgbClr val="F3F6FB"/>
                </a:solidFill>
                <a:latin typeface="Segoe UI Semibold" pitchFamily="34" charset="0"/>
                <a:ea typeface="Segoe UI Semibold" pitchFamily="34" charset="-122"/>
                <a:cs typeface="Segoe UI Semibold" pitchFamily="34" charset="-120"/>
              </a:rPr>
              <a:t xml:space="preserve">It checks the cash.</a:t>
            </a:r>
          </a:p>
        </p:txBody>
      </p:sp>
      <p:sp>
        <p:nvSpPr>
          <p:cNvPr id="5" name="Desc"/>
          <p:cNvSpPr/>
          <p:nvPr/>
        </p:nvSpPr>
        <p:spPr>
          <a:xfrm>
            <a:off x="566928" y="2620000"/>
            <a:ext cx="5900000" cy="1800000"/>
          </a:xfrm>
          <a:prstGeom prst="rect">
            <a:avLst/>
          </a:prstGeom>
          <a:noFill/>
          <a:ln/>
        </p:spPr>
        <p:txBody>
          <a:bodyPr wrap="square" rtlCol="0" anchor="t"/>
          <a:lstStyle/>
          <a:p>
            <a:pPr marL="0" indent="0" algn="l">
              <a:lnSpc>
                <a:spcPct val="128000"/>
              </a:lnSpc>
              <a:buNone/>
            </a:pPr>
            <a:r>
              <a:rPr lang="en-US" sz="1400" kern="0" dirty="0">
                <a:solidFill>
                  <a:srgbClr val="AAB6C7"/>
                </a:solidFill>
                <a:latin typeface="Segoe UI" pitchFamily="34" charset="0"/>
                <a:ea typeface="Segoe UI" pitchFamily="34" charset="-122"/>
                <a:cs typeface="Segoe UI" pitchFamily="34" charset="-120"/>
              </a:rPr>
              <a:t xml:space="preserve">The co-worker pulls the live cash position for the funding account from SAP S/4HANA, confirms the account covers the transfer, and flags nothing unusual. It reads the same system your team would open, and sees the real number.</a:t>
            </a:r>
          </a:p>
        </p:txBody>
      </p:sp>
      <p:sp>
        <p:nvSpPr>
          <p:cNvPr id="122" name="LedgerLbl"/>
          <p:cNvSpPr/>
          <p:nvPr/>
        </p:nvSpPr>
        <p:spPr>
          <a:xfrm>
            <a:off x="566928" y="4230000"/>
            <a:ext cx="5900000" cy="300000"/>
          </a:xfrm>
          <a:prstGeom prst="rect">
            <a:avLst/>
          </a:prstGeom>
          <a:noFill/>
          <a:ln/>
        </p:spPr>
        <p:txBody>
          <a:bodyPr wrap="square" rtlCol="0" anchor="ctr"/>
          <a:lstStyle/>
          <a:p>
            <a:pPr marL="0" indent="0" algn="l">
              <a:buNone/>
            </a:pPr>
            <a:r>
              <a:rPr lang="en-US" sz="1000" b="1" kern="0" spc="160" dirty="0">
                <a:solidFill>
                  <a:srgbClr val="3BE3E0"/>
                </a:solidFill>
                <a:latin typeface="Segoe UI Semibold" pitchFamily="34" charset="0"/>
                <a:ea typeface="Segoe UI Semibold" pitchFamily="34" charset="-122"/>
                <a:cs typeface="Segoe UI Semibold" pitchFamily="34" charset="-120"/>
              </a:rPr>
              <a:t xml:space="preserve">PROGRESS LOG</a:t>
            </a:r>
          </a:p>
        </p:txBody>
      </p:sp>
      <p:sp>
        <p:nvSpPr>
          <p:cNvPr id="123" name="Led123"/>
          <p:cNvSpPr/>
          <p:nvPr/>
        </p:nvSpPr>
        <p:spPr>
          <a:xfrm>
            <a:off x="566928" y="45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09:02  request read and summarized</a:t>
            </a:r>
          </a:p>
        </p:txBody>
      </p:sp>
      <p:sp>
        <p:nvSpPr>
          <p:cNvPr id="124" name="Led124"/>
          <p:cNvSpPr/>
          <p:nvPr/>
        </p:nvSpPr>
        <p:spPr>
          <a:xfrm>
            <a:off x="566928" y="48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09:02  cash position read from S/4HANA</a:t>
            </a:r>
          </a:p>
        </p:txBody>
      </p:sp>
      <p:sp>
        <p:nvSpPr>
          <p:cNvPr id="114" name="ChatPanel"/>
          <p:cNvSpPr/>
          <p:nvPr/>
        </p:nvSpPr>
        <p:spPr>
          <a:xfrm>
            <a:off x="6800000" y="1760000"/>
            <a:ext cx="4824839" cy="4440000"/>
          </a:xfrm>
          <a:prstGeom prst="roundRect">
            <a:avLst>
              <a:gd name="adj" fmla="val 5000"/>
            </a:avLst>
          </a:prstGeom>
          <a:solidFill>
            <a:srgbClr val="10151E"/>
          </a:solidFill>
          <a:ln w="13970">
            <a:solidFill>
              <a:srgbClr val="36414F"/>
            </a:solidFill>
            <a:prstDash val="solid"/>
          </a:ln>
        </p:spPr>
        <p:txBody>
          <a:bodyPr/>
          <a:lstStyle/>
          <a:p>
            <a:endParaRPr lang="en-US"/>
          </a:p>
        </p:txBody>
      </p:sp>
      <p:sp>
        <p:nvSpPr>
          <p:cNvPr id="115" name="ChatHdr"/>
          <p:cNvSpPr/>
          <p:nvPr/>
        </p:nvSpPr>
        <p:spPr>
          <a:xfrm>
            <a:off x="7040000" y="1880000"/>
            <a:ext cx="4344839" cy="300000"/>
          </a:xfrm>
          <a:prstGeom prst="rect">
            <a:avLst/>
          </a:prstGeom>
          <a:noFill/>
          <a:ln/>
        </p:spPr>
        <p:txBody>
          <a:bodyPr wrap="square" rtlCol="0" anchor="ctr"/>
          <a:lstStyle/>
          <a:p>
            <a:pPr marL="0" indent="0" algn="l">
              <a:buNone/>
            </a:pPr>
            <a:r>
              <a:rPr lang="en-US" sz="1000" b="1" kern="0" spc="160" dirty="0">
                <a:solidFill>
                  <a:srgbClr val="3BE3E0"/>
                </a:solidFill>
                <a:latin typeface="Segoe UI Semibold" pitchFamily="34" charset="0"/>
                <a:ea typeface="Segoe UI Semibold" pitchFamily="34" charset="-122"/>
                <a:cs typeface="Segoe UI Semibold" pitchFamily="34" charset="-120"/>
              </a:rPr>
              <a:t xml:space="preserve">CHAT</a:t>
            </a:r>
          </a:p>
        </p:txBody>
      </p:sp>
      <p:sp>
        <p:nvSpPr>
          <p:cNvPr id="116" name="Bub116"/>
          <p:cNvSpPr/>
          <p:nvPr/>
        </p:nvSpPr>
        <p:spPr>
          <a:xfrm>
            <a:off x="7000000" y="2280000"/>
            <a:ext cx="3300000" cy="650000"/>
          </a:xfrm>
          <a:prstGeom prst="roundRect">
            <a:avLst>
              <a:gd name="adj" fmla="val 14000"/>
            </a:avLst>
          </a:prstGeom>
          <a:solidFill>
            <a:srgbClr val="1B2330"/>
          </a:solidFill>
          <a:ln w="11430">
            <a:solidFill>
              <a:srgbClr val="36414F"/>
            </a:solidFill>
            <a:prstDash val="solid"/>
          </a:ln>
        </p:spPr>
        <p:txBody>
          <a:bodyPr/>
          <a:lstStyle/>
          <a:p>
            <a:endParaRPr lang="en-US"/>
          </a:p>
        </p:txBody>
      </p:sp>
      <p:sp>
        <p:nvSpPr>
          <p:cNvPr id="117" name="BubT117"/>
          <p:cNvSpPr/>
          <p:nvPr/>
        </p:nvSpPr>
        <p:spPr>
          <a:xfrm>
            <a:off x="7170000" y="228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Fund EUR 2.0m to the Milan account by Thursday.</a:t>
            </a:r>
          </a:p>
        </p:txBody>
      </p:sp>
      <p:sp>
        <p:nvSpPr>
          <p:cNvPr id="118" name="Bub118"/>
          <p:cNvSpPr/>
          <p:nvPr/>
        </p:nvSpPr>
        <p:spPr>
          <a:xfrm>
            <a:off x="8124839" y="305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19" name="BubT119"/>
          <p:cNvSpPr/>
          <p:nvPr/>
        </p:nvSpPr>
        <p:spPr>
          <a:xfrm>
            <a:off x="8294839" y="305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Read. EUR 2.0m to Milan, due Thursday. Checking cover now.</a:t>
            </a:r>
          </a:p>
        </p:txBody>
      </p:sp>
      <p:sp>
        <p:nvSpPr>
          <p:cNvPr id="120" name="Bub120"/>
          <p:cNvSpPr/>
          <p:nvPr/>
        </p:nvSpPr>
        <p:spPr>
          <a:xfrm>
            <a:off x="8124839" y="382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21" name="BubT121"/>
          <p:cNvSpPr/>
          <p:nvPr/>
        </p:nvSpPr>
        <p:spPr>
          <a:xfrm>
            <a:off x="8294839" y="382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Cash on the funding account covers it. No holds.</a:t>
            </a:r>
          </a:p>
        </p:txBody>
      </p:sp>
      <p:sp>
        <p:nvSpPr>
          <p:cNvPr id="900" name="FooterBrand"/>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p>
        </p:txBody>
      </p:sp>
      <p:sp>
        <p:nvSpPr>
          <p:cNvPr id="901" name="FooterNum"/>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05 / 13</a:t>
            </a:r>
          </a:p>
        </p:txBody>
      </p:sp>
      <p:sp>
        <p:nvSpPr>
          <p:cNvPr id="902" name="Divider"/>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Beat 06 / 13">
    <p:bg>
      <p:bgPr>
        <a:solidFill>
          <a:srgbClr val="0B0E14"/>
        </a:solidFill>
        <a:effectLst/>
      </p:bgPr>
    </p:bg>
    <p:spTree>
      <p:nvGrpSpPr>
        <p:cNvPr id="1" name=""/>
        <p:cNvGrpSpPr/>
        <p:nvPr/>
      </p:nvGrpSpPr>
      <p:grpSpPr>
        <a:xfrm>
          <a:off x="0" y="0"/>
          <a:ext cx="0" cy="0"/>
          <a:chOff x="0" y="0"/>
          <a:chExt cx="0" cy="0"/>
        </a:xfrm>
      </p:grpSpPr>
      <p:sp>
        <p:nvSpPr>
          <p:cNvPr id="2" name="Accent"/>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Eyebrow"/>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 xml:space="preserve">A REQUEST, FOLLOWED · 3 / 4</a:t>
            </a:r>
          </a:p>
        </p:txBody>
      </p:sp>
      <p:sp>
        <p:nvSpPr>
          <p:cNvPr id="100" name="Rail Request"/>
          <p:cNvSpPr/>
          <p:nvPr/>
        </p:nvSpPr>
        <p:spPr>
          <a:xfrm>
            <a:off x="566928"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1" name="RailT Request"/>
          <p:cNvSpPr/>
          <p:nvPr/>
        </p:nvSpPr>
        <p:spPr>
          <a:xfrm>
            <a:off x="566928"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Request</a:t>
            </a:r>
          </a:p>
        </p:txBody>
      </p:sp>
      <p:sp>
        <p:nvSpPr>
          <p:cNvPr id="102" name="Chev 0"/>
          <p:cNvSpPr/>
          <p:nvPr/>
        </p:nvSpPr>
        <p:spPr>
          <a:xfrm>
            <a:off x="2508496"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3" name="Rail Reads"/>
          <p:cNvSpPr/>
          <p:nvPr/>
        </p:nvSpPr>
        <p:spPr>
          <a:xfrm>
            <a:off x="2838496"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4" name="RailT Reads"/>
          <p:cNvSpPr/>
          <p:nvPr/>
        </p:nvSpPr>
        <p:spPr>
          <a:xfrm>
            <a:off x="2838496"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Reads</a:t>
            </a:r>
          </a:p>
        </p:txBody>
      </p:sp>
      <p:sp>
        <p:nvSpPr>
          <p:cNvPr id="105" name="Chev 1"/>
          <p:cNvSpPr/>
          <p:nvPr/>
        </p:nvSpPr>
        <p:spPr>
          <a:xfrm>
            <a:off x="4780064"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6" name="Rail Checks"/>
          <p:cNvSpPr/>
          <p:nvPr/>
        </p:nvSpPr>
        <p:spPr>
          <a:xfrm>
            <a:off x="5110064"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7" name="RailT Checks"/>
          <p:cNvSpPr/>
          <p:nvPr/>
        </p:nvSpPr>
        <p:spPr>
          <a:xfrm>
            <a:off x="5110064"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Checks</a:t>
            </a:r>
          </a:p>
        </p:txBody>
      </p:sp>
      <p:sp>
        <p:nvSpPr>
          <p:cNvPr id="108" name="Chev 2"/>
          <p:cNvSpPr/>
          <p:nvPr/>
        </p:nvSpPr>
        <p:spPr>
          <a:xfrm>
            <a:off x="7051632"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9" name="Rail Books"/>
          <p:cNvSpPr/>
          <p:nvPr/>
        </p:nvSpPr>
        <p:spPr>
          <a:xfrm>
            <a:off x="7381632" y="1040000"/>
            <a:ext cx="1971568" cy="520000"/>
          </a:xfrm>
          <a:prstGeom prst="roundRect">
            <a:avLst>
              <a:gd name="adj" fmla="val 16000"/>
            </a:avLst>
          </a:prstGeom>
          <a:solidFill>
            <a:srgbClr val="123038"/>
          </a:solidFill>
          <a:ln w="22225">
            <a:solidFill>
              <a:srgbClr val="3BE3E0"/>
            </a:solidFill>
            <a:prstDash val="solid"/>
          </a:ln>
        </p:spPr>
        <p:txBody>
          <a:bodyPr/>
          <a:lstStyle/>
          <a:p>
            <a:endParaRPr lang="en-US"/>
          </a:p>
        </p:txBody>
      </p:sp>
      <p:sp>
        <p:nvSpPr>
          <p:cNvPr id="110" name="RailT Books"/>
          <p:cNvSpPr/>
          <p:nvPr/>
        </p:nvSpPr>
        <p:spPr>
          <a:xfrm>
            <a:off x="7381632" y="1040000"/>
            <a:ext cx="1971568" cy="520000"/>
          </a:xfrm>
          <a:prstGeom prst="rect">
            <a:avLst/>
          </a:prstGeom>
          <a:noFill/>
          <a:ln/>
        </p:spPr>
        <p:txBody>
          <a:bodyPr wrap="square" rtlCol="0" anchor="ctr"/>
          <a:lstStyle/>
          <a:p>
            <a:pPr marL="0" indent="0" algn="ctr">
              <a:buNone/>
            </a:pPr>
            <a:r>
              <a:rPr lang="en-US" sz="1350" b="1" kern="0" dirty="0">
                <a:solidFill>
                  <a:srgbClr val="F3F6FB"/>
                </a:solidFill>
                <a:latin typeface="Segoe UI Semibold" pitchFamily="34" charset="0"/>
                <a:ea typeface="Segoe UI Semibold" pitchFamily="34" charset="-122"/>
                <a:cs typeface="Segoe UI Semibold" pitchFamily="34" charset="-120"/>
              </a:rPr>
              <a:t xml:space="preserve">Books</a:t>
            </a:r>
          </a:p>
        </p:txBody>
      </p:sp>
      <p:sp>
        <p:nvSpPr>
          <p:cNvPr id="111" name="Chev 3"/>
          <p:cNvSpPr/>
          <p:nvPr/>
        </p:nvSpPr>
        <p:spPr>
          <a:xfrm>
            <a:off x="9323200"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12" name="Rail Replies"/>
          <p:cNvSpPr/>
          <p:nvPr/>
        </p:nvSpPr>
        <p:spPr>
          <a:xfrm>
            <a:off x="9653200" y="1040000"/>
            <a:ext cx="1971568" cy="520000"/>
          </a:xfrm>
          <a:prstGeom prst="roundRect">
            <a:avLst>
              <a:gd name="adj" fmla="val 16000"/>
            </a:avLst>
          </a:prstGeom>
          <a:solidFill>
            <a:srgbClr val="0E121B"/>
          </a:solidFill>
          <a:ln w="12700">
            <a:solidFill>
              <a:srgbClr val="36414F"/>
            </a:solidFill>
            <a:prstDash val="solid"/>
          </a:ln>
        </p:spPr>
        <p:txBody>
          <a:bodyPr/>
          <a:lstStyle/>
          <a:p>
            <a:endParaRPr lang="en-US"/>
          </a:p>
        </p:txBody>
      </p:sp>
      <p:sp>
        <p:nvSpPr>
          <p:cNvPr id="113" name="RailT Replies"/>
          <p:cNvSpPr/>
          <p:nvPr/>
        </p:nvSpPr>
        <p:spPr>
          <a:xfrm>
            <a:off x="9653200" y="1040000"/>
            <a:ext cx="1971568" cy="520000"/>
          </a:xfrm>
          <a:prstGeom prst="rect">
            <a:avLst/>
          </a:prstGeom>
          <a:noFill/>
          <a:ln/>
        </p:spPr>
        <p:txBody>
          <a:bodyPr wrap="square" rtlCol="0" anchor="ctr"/>
          <a:lstStyle/>
          <a:p>
            <a:pPr marL="0" indent="0" algn="ctr">
              <a:buNone/>
            </a:pPr>
            <a:r>
              <a:rPr lang="en-US" sz="1350" b="1" kern="0" dirty="0">
                <a:solidFill>
                  <a:srgbClr val="7C8A9B"/>
                </a:solidFill>
                <a:latin typeface="Segoe UI Semibold" pitchFamily="34" charset="0"/>
                <a:ea typeface="Segoe UI Semibold" pitchFamily="34" charset="-122"/>
                <a:cs typeface="Segoe UI Semibold" pitchFamily="34" charset="-120"/>
              </a:rPr>
              <a:t xml:space="preserve">Replies</a:t>
            </a:r>
          </a:p>
        </p:txBody>
      </p:sp>
      <p:sp>
        <p:nvSpPr>
          <p:cNvPr id="4" name="Headline"/>
          <p:cNvSpPr/>
          <p:nvPr/>
        </p:nvSpPr>
        <p:spPr>
          <a:xfrm>
            <a:off x="566928" y="1900000"/>
            <a:ext cx="5900000" cy="620000"/>
          </a:xfrm>
          <a:prstGeom prst="rect">
            <a:avLst/>
          </a:prstGeom>
          <a:noFill/>
          <a:ln/>
        </p:spPr>
        <p:txBody>
          <a:bodyPr wrap="square" rtlCol="0" anchor="ctr"/>
          <a:lstStyle/>
          <a:p>
            <a:pPr marL="0" indent="0" algn="l">
              <a:buNone/>
            </a:pPr>
            <a:r>
              <a:rPr lang="en-US" sz="3000" b="1" kern="0" dirty="0">
                <a:solidFill>
                  <a:srgbClr val="F3F6FB"/>
                </a:solidFill>
                <a:latin typeface="Segoe UI Semibold" pitchFamily="34" charset="0"/>
                <a:ea typeface="Segoe UI Semibold" pitchFamily="34" charset="-122"/>
                <a:cs typeface="Segoe UI Semibold" pitchFamily="34" charset="-120"/>
              </a:rPr>
              <a:t xml:space="preserve">It books the record.</a:t>
            </a:r>
          </a:p>
        </p:txBody>
      </p:sp>
      <p:sp>
        <p:nvSpPr>
          <p:cNvPr id="5" name="Desc"/>
          <p:cNvSpPr/>
          <p:nvPr/>
        </p:nvSpPr>
        <p:spPr>
          <a:xfrm>
            <a:off x="566928" y="2620000"/>
            <a:ext cx="5900000" cy="1800000"/>
          </a:xfrm>
          <a:prstGeom prst="rect">
            <a:avLst/>
          </a:prstGeom>
          <a:noFill/>
          <a:ln/>
        </p:spPr>
        <p:txBody>
          <a:bodyPr wrap="square" rtlCol="0" anchor="t"/>
          <a:lstStyle/>
          <a:p>
            <a:pPr marL="0" indent="0" algn="l">
              <a:lnSpc>
                <a:spcPct val="128000"/>
              </a:lnSpc>
              <a:buNone/>
            </a:pPr>
            <a:r>
              <a:rPr lang="en-US" sz="1400" kern="0" dirty="0">
                <a:solidFill>
                  <a:srgbClr val="AAB6C7"/>
                </a:solidFill>
                <a:latin typeface="Segoe UI" pitchFamily="34" charset="0"/>
                <a:ea typeface="Segoe UI" pitchFamily="34" charset="-122"/>
                <a:cs typeface="Segoe UI" pitchFamily="34" charset="-120"/>
              </a:rPr>
              <a:t xml:space="preserve">The co-worker drafts the memo record and routes it for a one-tap approval. Once you sign off, it writes the record into SAP. It never invents the record: it drafts it, you approve it, and SAP holds it.</a:t>
            </a:r>
          </a:p>
        </p:txBody>
      </p:sp>
      <p:sp>
        <p:nvSpPr>
          <p:cNvPr id="124" name="LedgerLbl"/>
          <p:cNvSpPr/>
          <p:nvPr/>
        </p:nvSpPr>
        <p:spPr>
          <a:xfrm>
            <a:off x="566928" y="4230000"/>
            <a:ext cx="5900000" cy="300000"/>
          </a:xfrm>
          <a:prstGeom prst="rect">
            <a:avLst/>
          </a:prstGeom>
          <a:noFill/>
          <a:ln/>
        </p:spPr>
        <p:txBody>
          <a:bodyPr wrap="square" rtlCol="0" anchor="ctr"/>
          <a:lstStyle/>
          <a:p>
            <a:pPr marL="0" indent="0" algn="l">
              <a:buNone/>
            </a:pPr>
            <a:r>
              <a:rPr lang="en-US" sz="1000" b="1" kern="0" spc="160" dirty="0">
                <a:solidFill>
                  <a:srgbClr val="3BE3E0"/>
                </a:solidFill>
                <a:latin typeface="Segoe UI Semibold" pitchFamily="34" charset="0"/>
                <a:ea typeface="Segoe UI Semibold" pitchFamily="34" charset="-122"/>
                <a:cs typeface="Segoe UI Semibold" pitchFamily="34" charset="-120"/>
              </a:rPr>
              <a:t xml:space="preserve">PROGRESS LOG</a:t>
            </a:r>
          </a:p>
        </p:txBody>
      </p:sp>
      <p:sp>
        <p:nvSpPr>
          <p:cNvPr id="125" name="Led125"/>
          <p:cNvSpPr/>
          <p:nvPr/>
        </p:nvSpPr>
        <p:spPr>
          <a:xfrm>
            <a:off x="566928" y="45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09:02  request read and summarized</a:t>
            </a:r>
          </a:p>
        </p:txBody>
      </p:sp>
      <p:sp>
        <p:nvSpPr>
          <p:cNvPr id="126" name="Led126"/>
          <p:cNvSpPr/>
          <p:nvPr/>
        </p:nvSpPr>
        <p:spPr>
          <a:xfrm>
            <a:off x="566928" y="48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09:02  cash position read from S/4HANA</a:t>
            </a:r>
          </a:p>
        </p:txBody>
      </p:sp>
      <p:sp>
        <p:nvSpPr>
          <p:cNvPr id="127" name="Led127"/>
          <p:cNvSpPr/>
          <p:nvPr/>
        </p:nvSpPr>
        <p:spPr>
          <a:xfrm>
            <a:off x="566928" y="51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09:03  approval requested and granted</a:t>
            </a:r>
          </a:p>
        </p:txBody>
      </p:sp>
      <p:sp>
        <p:nvSpPr>
          <p:cNvPr id="128" name="Led128"/>
          <p:cNvSpPr/>
          <p:nvPr/>
        </p:nvSpPr>
        <p:spPr>
          <a:xfrm>
            <a:off x="566928" y="54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09:03  memo record posted to SAP</a:t>
            </a:r>
          </a:p>
        </p:txBody>
      </p:sp>
      <p:sp>
        <p:nvSpPr>
          <p:cNvPr id="114" name="ChatPanel"/>
          <p:cNvSpPr/>
          <p:nvPr/>
        </p:nvSpPr>
        <p:spPr>
          <a:xfrm>
            <a:off x="6800000" y="1760000"/>
            <a:ext cx="4824839" cy="4440000"/>
          </a:xfrm>
          <a:prstGeom prst="roundRect">
            <a:avLst>
              <a:gd name="adj" fmla="val 5000"/>
            </a:avLst>
          </a:prstGeom>
          <a:solidFill>
            <a:srgbClr val="10151E"/>
          </a:solidFill>
          <a:ln w="13970">
            <a:solidFill>
              <a:srgbClr val="36414F"/>
            </a:solidFill>
            <a:prstDash val="solid"/>
          </a:ln>
        </p:spPr>
        <p:txBody>
          <a:bodyPr/>
          <a:lstStyle/>
          <a:p>
            <a:endParaRPr lang="en-US"/>
          </a:p>
        </p:txBody>
      </p:sp>
      <p:sp>
        <p:nvSpPr>
          <p:cNvPr id="115" name="ChatHdr"/>
          <p:cNvSpPr/>
          <p:nvPr/>
        </p:nvSpPr>
        <p:spPr>
          <a:xfrm>
            <a:off x="7040000" y="1880000"/>
            <a:ext cx="4344839" cy="300000"/>
          </a:xfrm>
          <a:prstGeom prst="rect">
            <a:avLst/>
          </a:prstGeom>
          <a:noFill/>
          <a:ln/>
        </p:spPr>
        <p:txBody>
          <a:bodyPr wrap="square" rtlCol="0" anchor="ctr"/>
          <a:lstStyle/>
          <a:p>
            <a:pPr marL="0" indent="0" algn="l">
              <a:buNone/>
            </a:pPr>
            <a:r>
              <a:rPr lang="en-US" sz="1000" b="1" kern="0" spc="160" dirty="0">
                <a:solidFill>
                  <a:srgbClr val="3BE3E0"/>
                </a:solidFill>
                <a:latin typeface="Segoe UI Semibold" pitchFamily="34" charset="0"/>
                <a:ea typeface="Segoe UI Semibold" pitchFamily="34" charset="-122"/>
                <a:cs typeface="Segoe UI Semibold" pitchFamily="34" charset="-120"/>
              </a:rPr>
              <a:t xml:space="preserve">CHAT</a:t>
            </a:r>
          </a:p>
        </p:txBody>
      </p:sp>
      <p:sp>
        <p:nvSpPr>
          <p:cNvPr id="116" name="Bub116"/>
          <p:cNvSpPr/>
          <p:nvPr/>
        </p:nvSpPr>
        <p:spPr>
          <a:xfrm>
            <a:off x="8124839" y="228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17" name="BubT117"/>
          <p:cNvSpPr/>
          <p:nvPr/>
        </p:nvSpPr>
        <p:spPr>
          <a:xfrm>
            <a:off x="8294839" y="228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Read. EUR 2.0m to Milan, due Thursday. Checking cover now.</a:t>
            </a:r>
          </a:p>
        </p:txBody>
      </p:sp>
      <p:sp>
        <p:nvSpPr>
          <p:cNvPr id="118" name="Bub118"/>
          <p:cNvSpPr/>
          <p:nvPr/>
        </p:nvSpPr>
        <p:spPr>
          <a:xfrm>
            <a:off x="8124839" y="305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19" name="BubT119"/>
          <p:cNvSpPr/>
          <p:nvPr/>
        </p:nvSpPr>
        <p:spPr>
          <a:xfrm>
            <a:off x="8294839" y="305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Cash on the funding account covers it. No holds.</a:t>
            </a:r>
          </a:p>
        </p:txBody>
      </p:sp>
      <p:sp>
        <p:nvSpPr>
          <p:cNvPr id="120" name="Bub120"/>
          <p:cNvSpPr/>
          <p:nvPr/>
        </p:nvSpPr>
        <p:spPr>
          <a:xfrm>
            <a:off x="8124839" y="382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21" name="BubT121"/>
          <p:cNvSpPr/>
          <p:nvPr/>
        </p:nvSpPr>
        <p:spPr>
          <a:xfrm>
            <a:off x="8294839" y="382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Memo record drafted. Approve to post?</a:t>
            </a:r>
          </a:p>
        </p:txBody>
      </p:sp>
      <p:sp>
        <p:nvSpPr>
          <p:cNvPr id="122" name="Bub122"/>
          <p:cNvSpPr/>
          <p:nvPr/>
        </p:nvSpPr>
        <p:spPr>
          <a:xfrm>
            <a:off x="8124839" y="4590000"/>
            <a:ext cx="3300000" cy="400000"/>
          </a:xfrm>
          <a:prstGeom prst="roundRect">
            <a:avLst>
              <a:gd name="adj" fmla="val 14000"/>
            </a:avLst>
          </a:prstGeom>
          <a:solidFill>
            <a:srgbClr val="2A2410"/>
          </a:solidFill>
          <a:ln w="11430">
            <a:solidFill>
              <a:srgbClr val="FFC96B"/>
            </a:solidFill>
            <a:prstDash val="solid"/>
          </a:ln>
        </p:spPr>
        <p:txBody>
          <a:bodyPr/>
          <a:lstStyle/>
          <a:p>
            <a:endParaRPr lang="en-US"/>
          </a:p>
        </p:txBody>
      </p:sp>
      <p:sp>
        <p:nvSpPr>
          <p:cNvPr id="123" name="BubT123"/>
          <p:cNvSpPr/>
          <p:nvPr/>
        </p:nvSpPr>
        <p:spPr>
          <a:xfrm>
            <a:off x="8294839" y="4590000"/>
            <a:ext cx="2960000" cy="400000"/>
          </a:xfrm>
          <a:prstGeom prst="rect">
            <a:avLst/>
          </a:prstGeom>
          <a:noFill/>
          <a:ln/>
        </p:spPr>
        <p:txBody>
          <a:bodyPr wrap="square" rtlCol="0" anchor="ctr"/>
          <a:lstStyle/>
          <a:p>
            <a:pPr marL="0" indent="0" algn="l">
              <a:lnSpc>
                <a:spcPct val="112000"/>
              </a:lnSpc>
              <a:buNone/>
            </a:pPr>
            <a:r>
              <a:rPr lang="en-US" sz="1050" b="1" kern="0" dirty="0">
                <a:solidFill>
                  <a:srgbClr val="FFC96B"/>
                </a:solidFill>
                <a:latin typeface="Segoe UI" pitchFamily="34" charset="0"/>
                <a:ea typeface="Segoe UI" pitchFamily="34" charset="-122"/>
                <a:cs typeface="Segoe UI" pitchFamily="34" charset="-120"/>
              </a:rPr>
              <a:t xml:space="preserve">Approved by you</a:t>
            </a:r>
          </a:p>
        </p:txBody>
      </p:sp>
      <p:sp>
        <p:nvSpPr>
          <p:cNvPr id="900" name="FooterBrand"/>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p>
        </p:txBody>
      </p:sp>
      <p:sp>
        <p:nvSpPr>
          <p:cNvPr id="901" name="FooterNum"/>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06 / 13</a:t>
            </a:r>
          </a:p>
        </p:txBody>
      </p:sp>
      <p:sp>
        <p:nvSpPr>
          <p:cNvPr id="902" name="Divider"/>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Beat 07 / 13">
    <p:bg>
      <p:bgPr>
        <a:solidFill>
          <a:srgbClr val="0B0E14"/>
        </a:solidFill>
        <a:effectLst/>
      </p:bgPr>
    </p:bg>
    <p:spTree>
      <p:nvGrpSpPr>
        <p:cNvPr id="1" name=""/>
        <p:cNvGrpSpPr/>
        <p:nvPr/>
      </p:nvGrpSpPr>
      <p:grpSpPr>
        <a:xfrm>
          <a:off x="0" y="0"/>
          <a:ext cx="0" cy="0"/>
          <a:chOff x="0" y="0"/>
          <a:chExt cx="0" cy="0"/>
        </a:xfrm>
      </p:grpSpPr>
      <p:sp>
        <p:nvSpPr>
          <p:cNvPr id="2" name="Accent"/>
          <p:cNvSpPr/>
          <p:nvPr/>
        </p:nvSpPr>
        <p:spPr>
          <a:xfrm>
            <a:off x="566928" y="585216"/>
            <a:ext cx="45720" cy="219456"/>
          </a:xfrm>
          <a:prstGeom prst="rect">
            <a:avLst/>
          </a:prstGeom>
          <a:solidFill>
            <a:srgbClr val="3BE3E0"/>
          </a:solidFill>
          <a:ln w="12700">
            <a:solidFill>
              <a:srgbClr val="333333"/>
            </a:solidFill>
            <a:prstDash val="solid"/>
          </a:ln>
        </p:spPr>
        <p:txBody>
          <a:bodyPr/>
          <a:lstStyle/>
          <a:p>
            <a:endParaRPr lang="en-US"/>
          </a:p>
        </p:txBody>
      </p:sp>
      <p:sp>
        <p:nvSpPr>
          <p:cNvPr id="3" name="Eyebrow"/>
          <p:cNvSpPr/>
          <p:nvPr/>
        </p:nvSpPr>
        <p:spPr>
          <a:xfrm>
            <a:off x="713232" y="512064"/>
            <a:ext cx="8229600" cy="329184"/>
          </a:xfrm>
          <a:prstGeom prst="rect">
            <a:avLst/>
          </a:prstGeom>
          <a:noFill/>
          <a:ln/>
        </p:spPr>
        <p:txBody>
          <a:bodyPr wrap="square" rtlCol="0" anchor="ctr"/>
          <a:lstStyle/>
          <a:p>
            <a:pPr marL="0" indent="0" algn="l">
              <a:buNone/>
            </a:pPr>
            <a:r>
              <a:rPr lang="en-US" sz="1200" b="1" kern="0" spc="200" dirty="0">
                <a:solidFill>
                  <a:srgbClr val="3BE3E0"/>
                </a:solidFill>
                <a:latin typeface="Segoe UI Semibold" pitchFamily="34" charset="0"/>
                <a:ea typeface="Segoe UI Semibold" pitchFamily="34" charset="-122"/>
                <a:cs typeface="Segoe UI Semibold" pitchFamily="34" charset="-120"/>
              </a:rPr>
              <a:t xml:space="preserve">A REQUEST, FOLLOWED · 4 / 4</a:t>
            </a:r>
          </a:p>
        </p:txBody>
      </p:sp>
      <p:sp>
        <p:nvSpPr>
          <p:cNvPr id="100" name="Rail Request"/>
          <p:cNvSpPr/>
          <p:nvPr/>
        </p:nvSpPr>
        <p:spPr>
          <a:xfrm>
            <a:off x="566928"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1" name="RailT Request"/>
          <p:cNvSpPr/>
          <p:nvPr/>
        </p:nvSpPr>
        <p:spPr>
          <a:xfrm>
            <a:off x="566928"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Request</a:t>
            </a:r>
          </a:p>
        </p:txBody>
      </p:sp>
      <p:sp>
        <p:nvSpPr>
          <p:cNvPr id="102" name="Chev 0"/>
          <p:cNvSpPr/>
          <p:nvPr/>
        </p:nvSpPr>
        <p:spPr>
          <a:xfrm>
            <a:off x="2508496"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3" name="Rail Reads"/>
          <p:cNvSpPr/>
          <p:nvPr/>
        </p:nvSpPr>
        <p:spPr>
          <a:xfrm>
            <a:off x="2838496"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4" name="RailT Reads"/>
          <p:cNvSpPr/>
          <p:nvPr/>
        </p:nvSpPr>
        <p:spPr>
          <a:xfrm>
            <a:off x="2838496"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Reads</a:t>
            </a:r>
          </a:p>
        </p:txBody>
      </p:sp>
      <p:sp>
        <p:nvSpPr>
          <p:cNvPr id="105" name="Chev 1"/>
          <p:cNvSpPr/>
          <p:nvPr/>
        </p:nvSpPr>
        <p:spPr>
          <a:xfrm>
            <a:off x="4780064"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6" name="Rail Checks"/>
          <p:cNvSpPr/>
          <p:nvPr/>
        </p:nvSpPr>
        <p:spPr>
          <a:xfrm>
            <a:off x="5110064"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07" name="RailT Checks"/>
          <p:cNvSpPr/>
          <p:nvPr/>
        </p:nvSpPr>
        <p:spPr>
          <a:xfrm>
            <a:off x="5110064"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Checks</a:t>
            </a:r>
          </a:p>
        </p:txBody>
      </p:sp>
      <p:sp>
        <p:nvSpPr>
          <p:cNvPr id="108" name="Chev 2"/>
          <p:cNvSpPr/>
          <p:nvPr/>
        </p:nvSpPr>
        <p:spPr>
          <a:xfrm>
            <a:off x="7051632"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09" name="Rail Books"/>
          <p:cNvSpPr/>
          <p:nvPr/>
        </p:nvSpPr>
        <p:spPr>
          <a:xfrm>
            <a:off x="7381632" y="1040000"/>
            <a:ext cx="1971568" cy="520000"/>
          </a:xfrm>
          <a:prstGeom prst="roundRect">
            <a:avLst>
              <a:gd name="adj" fmla="val 16000"/>
            </a:avLst>
          </a:prstGeom>
          <a:solidFill>
            <a:srgbClr val="141A25"/>
          </a:solidFill>
          <a:ln w="15240">
            <a:solidFill>
              <a:srgbClr val="46D9A0"/>
            </a:solidFill>
            <a:prstDash val="solid"/>
          </a:ln>
        </p:spPr>
        <p:txBody>
          <a:bodyPr/>
          <a:lstStyle/>
          <a:p>
            <a:endParaRPr lang="en-US"/>
          </a:p>
        </p:txBody>
      </p:sp>
      <p:sp>
        <p:nvSpPr>
          <p:cNvPr id="110" name="RailT Books"/>
          <p:cNvSpPr/>
          <p:nvPr/>
        </p:nvSpPr>
        <p:spPr>
          <a:xfrm>
            <a:off x="7381632" y="1040000"/>
            <a:ext cx="1971568" cy="520000"/>
          </a:xfrm>
          <a:prstGeom prst="rect">
            <a:avLst/>
          </a:prstGeom>
          <a:noFill/>
          <a:ln/>
        </p:spPr>
        <p:txBody>
          <a:bodyPr wrap="square" rtlCol="0" anchor="ctr"/>
          <a:lstStyle/>
          <a:p>
            <a:pPr marL="0" indent="0" algn="ctr">
              <a:buNone/>
            </a:pPr>
            <a:r>
              <a:rPr lang="en-US" sz="1350" b="1" kern="0" dirty="0">
                <a:solidFill>
                  <a:srgbClr val="46D9A0"/>
                </a:solidFill>
                <a:latin typeface="Segoe UI Semibold" pitchFamily="34" charset="0"/>
                <a:ea typeface="Segoe UI Semibold" pitchFamily="34" charset="-122"/>
                <a:cs typeface="Segoe UI Semibold" pitchFamily="34" charset="-120"/>
              </a:rPr>
              <a:t xml:space="preserve">Books</a:t>
            </a:r>
          </a:p>
        </p:txBody>
      </p:sp>
      <p:sp>
        <p:nvSpPr>
          <p:cNvPr id="111" name="Chev 3"/>
          <p:cNvSpPr/>
          <p:nvPr/>
        </p:nvSpPr>
        <p:spPr>
          <a:xfrm>
            <a:off x="9323200" y="1040000"/>
            <a:ext cx="360000" cy="520000"/>
          </a:xfrm>
          <a:prstGeom prst="rect">
            <a:avLst/>
          </a:prstGeom>
          <a:noFill/>
          <a:ln/>
        </p:spPr>
        <p:txBody>
          <a:bodyPr wrap="square" rtlCol="0" anchor="ctr"/>
          <a:lstStyle/>
          <a:p>
            <a:pPr marL="0" indent="0" algn="ctr">
              <a:buNone/>
            </a:pPr>
            <a:r>
              <a:rPr lang="en-US" sz="1600" b="1" kern="0" dirty="0">
                <a:solidFill>
                  <a:srgbClr val="36414F"/>
                </a:solidFill>
                <a:latin typeface="Segoe UI Semibold" pitchFamily="34" charset="0"/>
                <a:ea typeface="Segoe UI Semibold" pitchFamily="34" charset="-122"/>
                <a:cs typeface="Segoe UI Semibold" pitchFamily="34" charset="-120"/>
              </a:rPr>
              <a:t xml:space="preserve">›</a:t>
            </a:r>
          </a:p>
        </p:txBody>
      </p:sp>
      <p:sp>
        <p:nvSpPr>
          <p:cNvPr id="112" name="Rail Replies"/>
          <p:cNvSpPr/>
          <p:nvPr/>
        </p:nvSpPr>
        <p:spPr>
          <a:xfrm>
            <a:off x="9653200" y="1040000"/>
            <a:ext cx="1971568" cy="520000"/>
          </a:xfrm>
          <a:prstGeom prst="roundRect">
            <a:avLst>
              <a:gd name="adj" fmla="val 16000"/>
            </a:avLst>
          </a:prstGeom>
          <a:solidFill>
            <a:srgbClr val="123038"/>
          </a:solidFill>
          <a:ln w="22225">
            <a:solidFill>
              <a:srgbClr val="3BE3E0"/>
            </a:solidFill>
            <a:prstDash val="solid"/>
          </a:ln>
        </p:spPr>
        <p:txBody>
          <a:bodyPr/>
          <a:lstStyle/>
          <a:p>
            <a:endParaRPr lang="en-US"/>
          </a:p>
        </p:txBody>
      </p:sp>
      <p:sp>
        <p:nvSpPr>
          <p:cNvPr id="113" name="RailT Replies"/>
          <p:cNvSpPr/>
          <p:nvPr/>
        </p:nvSpPr>
        <p:spPr>
          <a:xfrm>
            <a:off x="9653200" y="1040000"/>
            <a:ext cx="1971568" cy="520000"/>
          </a:xfrm>
          <a:prstGeom prst="rect">
            <a:avLst/>
          </a:prstGeom>
          <a:noFill/>
          <a:ln/>
        </p:spPr>
        <p:txBody>
          <a:bodyPr wrap="square" rtlCol="0" anchor="ctr"/>
          <a:lstStyle/>
          <a:p>
            <a:pPr marL="0" indent="0" algn="ctr">
              <a:buNone/>
            </a:pPr>
            <a:r>
              <a:rPr lang="en-US" sz="1350" b="1" kern="0" dirty="0">
                <a:solidFill>
                  <a:srgbClr val="F3F6FB"/>
                </a:solidFill>
                <a:latin typeface="Segoe UI Semibold" pitchFamily="34" charset="0"/>
                <a:ea typeface="Segoe UI Semibold" pitchFamily="34" charset="-122"/>
                <a:cs typeface="Segoe UI Semibold" pitchFamily="34" charset="-120"/>
              </a:rPr>
              <a:t xml:space="preserve">Replies</a:t>
            </a:r>
          </a:p>
        </p:txBody>
      </p:sp>
      <p:sp>
        <p:nvSpPr>
          <p:cNvPr id="4" name="Headline"/>
          <p:cNvSpPr/>
          <p:nvPr/>
        </p:nvSpPr>
        <p:spPr>
          <a:xfrm>
            <a:off x="566928" y="1900000"/>
            <a:ext cx="5900000" cy="620000"/>
          </a:xfrm>
          <a:prstGeom prst="rect">
            <a:avLst/>
          </a:prstGeom>
          <a:noFill/>
          <a:ln/>
        </p:spPr>
        <p:txBody>
          <a:bodyPr wrap="square" rtlCol="0" anchor="ctr"/>
          <a:lstStyle/>
          <a:p>
            <a:pPr marL="0" indent="0" algn="l">
              <a:buNone/>
            </a:pPr>
            <a:r>
              <a:rPr lang="en-US" sz="3000" b="1" kern="0" dirty="0">
                <a:solidFill>
                  <a:srgbClr val="F3F6FB"/>
                </a:solidFill>
                <a:latin typeface="Segoe UI Semibold" pitchFamily="34" charset="0"/>
                <a:ea typeface="Segoe UI Semibold" pitchFamily="34" charset="-122"/>
                <a:cs typeface="Segoe UI Semibold" pitchFamily="34" charset="-120"/>
              </a:rPr>
              <a:t xml:space="preserve">It reports back, on the record.</a:t>
            </a:r>
          </a:p>
        </p:txBody>
      </p:sp>
      <p:sp>
        <p:nvSpPr>
          <p:cNvPr id="5" name="Desc"/>
          <p:cNvSpPr/>
          <p:nvPr/>
        </p:nvSpPr>
        <p:spPr>
          <a:xfrm>
            <a:off x="566928" y="2620000"/>
            <a:ext cx="5900000" cy="1800000"/>
          </a:xfrm>
          <a:prstGeom prst="rect">
            <a:avLst/>
          </a:prstGeom>
          <a:noFill/>
          <a:ln/>
        </p:spPr>
        <p:txBody>
          <a:bodyPr wrap="square" rtlCol="0" anchor="t"/>
          <a:lstStyle/>
          <a:p>
            <a:pPr marL="0" indent="0" algn="l">
              <a:lnSpc>
                <a:spcPct val="128000"/>
              </a:lnSpc>
              <a:buNone/>
            </a:pPr>
            <a:r>
              <a:rPr lang="en-US" sz="1400" kern="0" dirty="0">
                <a:solidFill>
                  <a:srgbClr val="AAB6C7"/>
                </a:solidFill>
                <a:latin typeface="Segoe UI" pitchFamily="34" charset="0"/>
                <a:ea typeface="Segoe UI" pitchFamily="34" charset="-122"/>
                <a:cs typeface="Segoe UI" pitchFamily="34" charset="-120"/>
              </a:rPr>
              <a:t xml:space="preserve">The co-worker confirms in chat: funded, memo posted, reference attached. Every step you just watched is timestamped and traceable, and a person was in the loop at the point that mattered. The log below is exportable.</a:t>
            </a:r>
          </a:p>
        </p:txBody>
      </p:sp>
      <p:sp>
        <p:nvSpPr>
          <p:cNvPr id="124" name="LedgerLbl"/>
          <p:cNvSpPr/>
          <p:nvPr/>
        </p:nvSpPr>
        <p:spPr>
          <a:xfrm>
            <a:off x="566928" y="4230000"/>
            <a:ext cx="5900000" cy="300000"/>
          </a:xfrm>
          <a:prstGeom prst="rect">
            <a:avLst/>
          </a:prstGeom>
          <a:noFill/>
          <a:ln/>
        </p:spPr>
        <p:txBody>
          <a:bodyPr wrap="square" rtlCol="0" anchor="ctr"/>
          <a:lstStyle/>
          <a:p>
            <a:pPr marL="0" indent="0" algn="l">
              <a:buNone/>
            </a:pPr>
            <a:r>
              <a:rPr lang="en-US" sz="1000" b="1" kern="0" spc="160" dirty="0">
                <a:solidFill>
                  <a:srgbClr val="3BE3E0"/>
                </a:solidFill>
                <a:latin typeface="Segoe UI Semibold" pitchFamily="34" charset="0"/>
                <a:ea typeface="Segoe UI Semibold" pitchFamily="34" charset="-122"/>
                <a:cs typeface="Segoe UI Semibold" pitchFamily="34" charset="-120"/>
              </a:rPr>
              <a:t xml:space="preserve">PROGRESS LOG</a:t>
            </a:r>
          </a:p>
        </p:txBody>
      </p:sp>
      <p:sp>
        <p:nvSpPr>
          <p:cNvPr id="125" name="Led125"/>
          <p:cNvSpPr/>
          <p:nvPr/>
        </p:nvSpPr>
        <p:spPr>
          <a:xfrm>
            <a:off x="566928" y="45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09:02  request read and summarized</a:t>
            </a:r>
          </a:p>
        </p:txBody>
      </p:sp>
      <p:sp>
        <p:nvSpPr>
          <p:cNvPr id="126" name="Led126"/>
          <p:cNvSpPr/>
          <p:nvPr/>
        </p:nvSpPr>
        <p:spPr>
          <a:xfrm>
            <a:off x="566928" y="48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09:02  cash position read from S/4HANA</a:t>
            </a:r>
          </a:p>
        </p:txBody>
      </p:sp>
      <p:sp>
        <p:nvSpPr>
          <p:cNvPr id="127" name="Led127"/>
          <p:cNvSpPr/>
          <p:nvPr/>
        </p:nvSpPr>
        <p:spPr>
          <a:xfrm>
            <a:off x="566928" y="51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09:03  approval requested and granted</a:t>
            </a:r>
          </a:p>
        </p:txBody>
      </p:sp>
      <p:sp>
        <p:nvSpPr>
          <p:cNvPr id="128" name="Led128"/>
          <p:cNvSpPr/>
          <p:nvPr/>
        </p:nvSpPr>
        <p:spPr>
          <a:xfrm>
            <a:off x="566928" y="54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09:03  memo record posted to SAP</a:t>
            </a:r>
          </a:p>
        </p:txBody>
      </p:sp>
      <p:sp>
        <p:nvSpPr>
          <p:cNvPr id="129" name="Led129"/>
          <p:cNvSpPr/>
          <p:nvPr/>
        </p:nvSpPr>
        <p:spPr>
          <a:xfrm>
            <a:off x="566928" y="5740000"/>
            <a:ext cx="5900000" cy="300000"/>
          </a:xfrm>
          <a:prstGeom prst="rect">
            <a:avLst/>
          </a:prstGeom>
          <a:noFill/>
          <a:ln/>
        </p:spPr>
        <p:txBody>
          <a:bodyPr wrap="square" rtlCol="0" anchor="ctr"/>
          <a:lstStyle/>
          <a:p>
            <a:pPr marL="0" indent="0" algn="l">
              <a:buNone/>
            </a:pPr>
            <a:r>
              <a:rPr lang="en-US" sz="1100" kern="0" dirty="0">
                <a:solidFill>
                  <a:srgbClr val="AAB6C7"/>
                </a:solidFill>
                <a:latin typeface="Segoe UI" pitchFamily="34" charset="0"/>
                <a:ea typeface="Segoe UI" pitchFamily="34" charset="-122"/>
                <a:cs typeface="Segoe UI" pitchFamily="34" charset="-120"/>
              </a:rPr>
              <a:t xml:space="preserve">09:03  confirmed in chat  ·  log exportable</a:t>
            </a:r>
          </a:p>
        </p:txBody>
      </p:sp>
      <p:sp>
        <p:nvSpPr>
          <p:cNvPr id="114" name="ChatPanel"/>
          <p:cNvSpPr/>
          <p:nvPr/>
        </p:nvSpPr>
        <p:spPr>
          <a:xfrm>
            <a:off x="6800000" y="1760000"/>
            <a:ext cx="4824839" cy="4440000"/>
          </a:xfrm>
          <a:prstGeom prst="roundRect">
            <a:avLst>
              <a:gd name="adj" fmla="val 5000"/>
            </a:avLst>
          </a:prstGeom>
          <a:solidFill>
            <a:srgbClr val="10151E"/>
          </a:solidFill>
          <a:ln w="13970">
            <a:solidFill>
              <a:srgbClr val="36414F"/>
            </a:solidFill>
            <a:prstDash val="solid"/>
          </a:ln>
        </p:spPr>
        <p:txBody>
          <a:bodyPr/>
          <a:lstStyle/>
          <a:p>
            <a:endParaRPr lang="en-US"/>
          </a:p>
        </p:txBody>
      </p:sp>
      <p:sp>
        <p:nvSpPr>
          <p:cNvPr id="115" name="ChatHdr"/>
          <p:cNvSpPr/>
          <p:nvPr/>
        </p:nvSpPr>
        <p:spPr>
          <a:xfrm>
            <a:off x="7040000" y="1880000"/>
            <a:ext cx="4344839" cy="300000"/>
          </a:xfrm>
          <a:prstGeom prst="rect">
            <a:avLst/>
          </a:prstGeom>
          <a:noFill/>
          <a:ln/>
        </p:spPr>
        <p:txBody>
          <a:bodyPr wrap="square" rtlCol="0" anchor="ctr"/>
          <a:lstStyle/>
          <a:p>
            <a:pPr marL="0" indent="0" algn="l">
              <a:buNone/>
            </a:pPr>
            <a:r>
              <a:rPr lang="en-US" sz="1000" b="1" kern="0" spc="160" dirty="0">
                <a:solidFill>
                  <a:srgbClr val="3BE3E0"/>
                </a:solidFill>
                <a:latin typeface="Segoe UI Semibold" pitchFamily="34" charset="0"/>
                <a:ea typeface="Segoe UI Semibold" pitchFamily="34" charset="-122"/>
                <a:cs typeface="Segoe UI Semibold" pitchFamily="34" charset="-120"/>
              </a:rPr>
              <a:t xml:space="preserve">CHAT</a:t>
            </a:r>
          </a:p>
        </p:txBody>
      </p:sp>
      <p:sp>
        <p:nvSpPr>
          <p:cNvPr id="116" name="Bub116"/>
          <p:cNvSpPr/>
          <p:nvPr/>
        </p:nvSpPr>
        <p:spPr>
          <a:xfrm>
            <a:off x="8124839" y="228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17" name="BubT117"/>
          <p:cNvSpPr/>
          <p:nvPr/>
        </p:nvSpPr>
        <p:spPr>
          <a:xfrm>
            <a:off x="8294839" y="228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Cash on the funding account covers it. No holds.</a:t>
            </a:r>
          </a:p>
        </p:txBody>
      </p:sp>
      <p:sp>
        <p:nvSpPr>
          <p:cNvPr id="118" name="Bub118"/>
          <p:cNvSpPr/>
          <p:nvPr/>
        </p:nvSpPr>
        <p:spPr>
          <a:xfrm>
            <a:off x="8124839" y="305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19" name="BubT119"/>
          <p:cNvSpPr/>
          <p:nvPr/>
        </p:nvSpPr>
        <p:spPr>
          <a:xfrm>
            <a:off x="8294839" y="305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Memo record drafted. Approve to post?</a:t>
            </a:r>
          </a:p>
        </p:txBody>
      </p:sp>
      <p:sp>
        <p:nvSpPr>
          <p:cNvPr id="120" name="Bub120"/>
          <p:cNvSpPr/>
          <p:nvPr/>
        </p:nvSpPr>
        <p:spPr>
          <a:xfrm>
            <a:off x="8124839" y="3820000"/>
            <a:ext cx="3300000" cy="400000"/>
          </a:xfrm>
          <a:prstGeom prst="roundRect">
            <a:avLst>
              <a:gd name="adj" fmla="val 14000"/>
            </a:avLst>
          </a:prstGeom>
          <a:solidFill>
            <a:srgbClr val="2A2410"/>
          </a:solidFill>
          <a:ln w="11430">
            <a:solidFill>
              <a:srgbClr val="FFC96B"/>
            </a:solidFill>
            <a:prstDash val="solid"/>
          </a:ln>
        </p:spPr>
        <p:txBody>
          <a:bodyPr/>
          <a:lstStyle/>
          <a:p>
            <a:endParaRPr lang="en-US"/>
          </a:p>
        </p:txBody>
      </p:sp>
      <p:sp>
        <p:nvSpPr>
          <p:cNvPr id="121" name="BubT121"/>
          <p:cNvSpPr/>
          <p:nvPr/>
        </p:nvSpPr>
        <p:spPr>
          <a:xfrm>
            <a:off x="8294839" y="3820000"/>
            <a:ext cx="2960000" cy="400000"/>
          </a:xfrm>
          <a:prstGeom prst="rect">
            <a:avLst/>
          </a:prstGeom>
          <a:noFill/>
          <a:ln/>
        </p:spPr>
        <p:txBody>
          <a:bodyPr wrap="square" rtlCol="0" anchor="ctr"/>
          <a:lstStyle/>
          <a:p>
            <a:pPr marL="0" indent="0" algn="l">
              <a:lnSpc>
                <a:spcPct val="112000"/>
              </a:lnSpc>
              <a:buNone/>
            </a:pPr>
            <a:r>
              <a:rPr lang="en-US" sz="1050" b="1" kern="0" dirty="0">
                <a:solidFill>
                  <a:srgbClr val="FFC96B"/>
                </a:solidFill>
                <a:latin typeface="Segoe UI" pitchFamily="34" charset="0"/>
                <a:ea typeface="Segoe UI" pitchFamily="34" charset="-122"/>
                <a:cs typeface="Segoe UI" pitchFamily="34" charset="-120"/>
              </a:rPr>
              <a:t xml:space="preserve">Approved by you</a:t>
            </a:r>
          </a:p>
        </p:txBody>
      </p:sp>
      <p:sp>
        <p:nvSpPr>
          <p:cNvPr id="122" name="Bub122"/>
          <p:cNvSpPr/>
          <p:nvPr/>
        </p:nvSpPr>
        <p:spPr>
          <a:xfrm>
            <a:off x="8124839" y="4340000"/>
            <a:ext cx="3300000" cy="650000"/>
          </a:xfrm>
          <a:prstGeom prst="roundRect">
            <a:avLst>
              <a:gd name="adj" fmla="val 14000"/>
            </a:avLst>
          </a:prstGeom>
          <a:solidFill>
            <a:srgbClr val="123038"/>
          </a:solidFill>
          <a:ln w="11430">
            <a:solidFill>
              <a:srgbClr val="3BE3E0"/>
            </a:solidFill>
            <a:prstDash val="solid"/>
          </a:ln>
        </p:spPr>
        <p:txBody>
          <a:bodyPr/>
          <a:lstStyle/>
          <a:p>
            <a:endParaRPr lang="en-US"/>
          </a:p>
        </p:txBody>
      </p:sp>
      <p:sp>
        <p:nvSpPr>
          <p:cNvPr id="123" name="BubT123"/>
          <p:cNvSpPr/>
          <p:nvPr/>
        </p:nvSpPr>
        <p:spPr>
          <a:xfrm>
            <a:off x="8294839" y="4340000"/>
            <a:ext cx="2960000" cy="650000"/>
          </a:xfrm>
          <a:prstGeom prst="rect">
            <a:avLst/>
          </a:prstGeom>
          <a:noFill/>
          <a:ln/>
        </p:spPr>
        <p:txBody>
          <a:bodyPr wrap="square" rtlCol="0" anchor="ctr"/>
          <a:lstStyle/>
          <a:p>
            <a:pPr marL="0" indent="0" algn="l">
              <a:lnSpc>
                <a:spcPct val="112000"/>
              </a:lnSpc>
              <a:buNone/>
            </a:pPr>
            <a:r>
              <a:rPr lang="en-US" sz="1050" kern="0" dirty="0">
                <a:solidFill>
                  <a:srgbClr val="F3F6FB"/>
                </a:solidFill>
                <a:latin typeface="Segoe UI" pitchFamily="34" charset="0"/>
                <a:ea typeface="Segoe UI" pitchFamily="34" charset="-122"/>
                <a:cs typeface="Segoe UI" pitchFamily="34" charset="-120"/>
              </a:rPr>
              <a:t xml:space="preserve">Funded. Memo posted, reference attached.</a:t>
            </a:r>
          </a:p>
        </p:txBody>
      </p:sp>
      <p:sp>
        <p:nvSpPr>
          <p:cNvPr id="900" name="FooterBrand"/>
          <p:cNvSpPr/>
          <p:nvPr/>
        </p:nvSpPr>
        <p:spPr>
          <a:xfrm>
            <a:off x="566928" y="6400800"/>
            <a:ext cx="8229600" cy="274320"/>
          </a:xfrm>
          <a:prstGeom prst="rect">
            <a:avLst/>
          </a:prstGeom>
          <a:noFill/>
          <a:ln/>
        </p:spPr>
        <p:txBody>
          <a:bodyPr wrap="square" rtlCol="0" anchor="ctr"/>
          <a:lstStyle/>
          <a:p>
            <a:pPr marL="0" indent="0" algn="l">
              <a:buNone/>
            </a:pPr>
            <a:r>
              <a:rPr lang="en-US" sz="900" b="1" dirty="0">
                <a:solidFill>
                  <a:srgbClr val="AAB6C7"/>
                </a:solidFill>
                <a:latin typeface="Segoe UI" pitchFamily="34" charset="0"/>
                <a:ea typeface="Segoe UI" pitchFamily="34" charset="-122"/>
                <a:cs typeface="Segoe UI" pitchFamily="34" charset="-120"/>
              </a:rPr>
              <a:t>Brisken</a:t>
            </a:r>
            <a:r>
              <a:rPr lang="en-US" sz="900" dirty="0">
                <a:solidFill>
                  <a:srgbClr val="7C8A9B"/>
                </a:solidFill>
                <a:latin typeface="Segoe UI" pitchFamily="34" charset="0"/>
                <a:ea typeface="Segoe UI" pitchFamily="34" charset="-122"/>
                <a:cs typeface="Segoe UI" pitchFamily="34" charset="-120"/>
              </a:rPr>
              <a:t xml:space="preserve">   Digital Co-Worker, part of OnePilot</a:t>
            </a:r>
          </a:p>
        </p:txBody>
      </p:sp>
      <p:sp>
        <p:nvSpPr>
          <p:cNvPr id="901" name="FooterNum"/>
          <p:cNvSpPr/>
          <p:nvPr/>
        </p:nvSpPr>
        <p:spPr>
          <a:xfrm>
            <a:off x="10527487" y="6400800"/>
            <a:ext cx="1097280" cy="274320"/>
          </a:xfrm>
          <a:prstGeom prst="rect">
            <a:avLst/>
          </a:prstGeom>
          <a:noFill/>
          <a:ln/>
        </p:spPr>
        <p:txBody>
          <a:bodyPr wrap="square" rtlCol="0" anchor="ctr"/>
          <a:lstStyle/>
          <a:p>
            <a:pPr marL="0" indent="0" algn="r">
              <a:buNone/>
            </a:pPr>
            <a:r>
              <a:rPr lang="en-US" sz="900" dirty="0">
                <a:solidFill>
                  <a:srgbClr val="AAB6C7"/>
                </a:solidFill>
                <a:latin typeface="Segoe UI" pitchFamily="34" charset="0"/>
                <a:ea typeface="Segoe UI" pitchFamily="34" charset="-122"/>
                <a:cs typeface="Segoe UI" pitchFamily="34" charset="-120"/>
              </a:rPr>
              <a:t>07 / 13</a:t>
            </a:r>
          </a:p>
        </p:txBody>
      </p:sp>
      <p:sp>
        <p:nvSpPr>
          <p:cNvPr id="902" name="Divider"/>
          <p:cNvSpPr/>
          <p:nvPr/>
        </p:nvSpPr>
        <p:spPr>
          <a:xfrm>
            <a:off x="566928" y="6327648"/>
            <a:ext cx="11057839" cy="0"/>
          </a:xfrm>
          <a:prstGeom prst="line">
            <a:avLst/>
          </a:prstGeom>
          <a:noFill/>
          <a:ln w="9525">
            <a:solidFill>
              <a:srgbClr val="36414F"/>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254DD16-C901-114F-9761-C3F010AA2548}">
  <we:reference id="f5f369e5-aa35-49d7-ad7b-638152ddb008" version="1.0.0.1" store="EXCatalog" storeType="EXCatalog"/>
  <we:alternateReferences>
    <we:reference id="WA200010001" version="1.0.0.1" store="en-US" storeType="OMEX"/>
  </we:alternateReferences>
  <we:properties>
    <we:property name="claude.fileId" value="&quot;23f5b092-05e9-4537-be8e-b438e276d0a4&quot;"/>
  </we:properties>
  <we:bindings/>
  <we:snapshot xmlns:r="http://schemas.openxmlformats.org/officeDocument/2006/relationships"/>
</we:webextension>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36004C6954FC41BFA5A9934AAC0872" ma:contentTypeVersion="24" ma:contentTypeDescription="Create a new document." ma:contentTypeScope="" ma:versionID="1cf73f14b085dc989d6ca704a5f7b696">
  <xsd:schema xmlns:xsd="http://www.w3.org/2001/XMLSchema" xmlns:xs="http://www.w3.org/2001/XMLSchema" xmlns:p="http://schemas.microsoft.com/office/2006/metadata/properties" xmlns:ns1="http://schemas.microsoft.com/sharepoint/v3" xmlns:ns2="f7c12939-211d-4aac-95d7-b8d38b675650" xmlns:ns3="e9089a15-9498-4149-a6f3-b4bc8e4d21ac" targetNamespace="http://schemas.microsoft.com/office/2006/metadata/properties" ma:root="true" ma:fieldsID="d257115e6736aa2126af141fdcd75720" ns1:_="" ns2:_="" ns3:_="">
    <xsd:import namespace="http://schemas.microsoft.com/sharepoint/v3"/>
    <xsd:import namespace="f7c12939-211d-4aac-95d7-b8d38b675650"/>
    <xsd:import namespace="e9089a15-9498-4149-a6f3-b4bc8e4d21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3:TaxCatchAll" minOccurs="0"/>
                <xsd:element ref="ns2:lcf76f155ced4ddcb4097134ff3c332f"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c12939-211d-4aac-95d7-b8d38b6756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hidden="true" ma:internalName="MediaLengthInSeconds" ma:readOnly="true">
      <xsd:simpleType>
        <xsd:restriction base="dms:Unknown"/>
      </xsd:simpleType>
    </xsd:element>
    <xsd:element name="MediaServiceLocation" ma:index="20" nillable="true" ma:displayName="Location" ma:hidden="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fd6ee07-b435-4fc4-a9c7-316946df4b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9089a15-9498-4149-a6f3-b4bc8e4d21ac"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element name="TaxCatchAll" ma:index="21" nillable="true" ma:displayName="Taxonomy Catch All Column" ma:hidden="true" ma:list="{3ed79911-b83d-417d-9b12-a1fdc4449e3b}" ma:internalName="TaxCatchAll" ma:showField="CatchAllData" ma:web="e9089a15-9498-4149-a6f3-b4bc8e4d21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f7c12939-211d-4aac-95d7-b8d38b675650">
      <Terms xmlns="http://schemas.microsoft.com/office/infopath/2007/PartnerControls"/>
    </lcf76f155ced4ddcb4097134ff3c332f>
    <TaxCatchAll xmlns="e9089a15-9498-4149-a6f3-b4bc8e4d21ac" xsi:nil="true"/>
  </documentManagement>
</p:properties>
</file>

<file path=customXml/itemProps1.xml><?xml version="1.0" encoding="utf-8"?>
<ds:datastoreItem xmlns:ds="http://schemas.openxmlformats.org/officeDocument/2006/customXml" ds:itemID="{B3D00CFA-3D53-483F-AB50-906B0931AF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7c12939-211d-4aac-95d7-b8d38b675650"/>
    <ds:schemaRef ds:uri="e9089a15-9498-4149-a6f3-b4bc8e4d2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83481A-46EB-43A4-9D49-78D191929914}">
  <ds:schemaRefs>
    <ds:schemaRef ds:uri="http://schemas.microsoft.com/sharepoint/v3/contenttype/forms"/>
  </ds:schemaRefs>
</ds:datastoreItem>
</file>

<file path=customXml/itemProps3.xml><?xml version="1.0" encoding="utf-8"?>
<ds:datastoreItem xmlns:ds="http://schemas.openxmlformats.org/officeDocument/2006/customXml" ds:itemID="{F9EFA5C6-0C09-4163-A7B2-14E5D9BDE4B3}">
  <ds:schemaRefs>
    <ds:schemaRef ds:uri="http://www.w3.org/XML/1998/namespace"/>
    <ds:schemaRef ds:uri="http://purl.org/dc/elements/1.1/"/>
    <ds:schemaRef ds:uri="http://schemas.microsoft.com/office/2006/metadata/properties"/>
    <ds:schemaRef ds:uri="http://purl.org/dc/dcmitype/"/>
    <ds:schemaRef ds:uri="http://schemas.microsoft.com/office/2006/documentManagement/types"/>
    <ds:schemaRef ds:uri="http://schemas.microsoft.com/sharepoint/v3"/>
    <ds:schemaRef ds:uri="f7c12939-211d-4aac-95d7-b8d38b675650"/>
    <ds:schemaRef ds:uri="http://schemas.openxmlformats.org/package/2006/metadata/core-properties"/>
    <ds:schemaRef ds:uri="http://purl.org/dc/terms/"/>
    <ds:schemaRef ds:uri="http://schemas.microsoft.com/office/infopath/2007/PartnerControls"/>
    <ds:schemaRef ds:uri="e9089a15-9498-4149-a6f3-b4bc8e4d21ac"/>
  </ds:schemaRefs>
</ds:datastoreItem>
</file>

<file path=docMetadata/LabelInfo.xml><?xml version="1.0" encoding="utf-8"?>
<clbl:labelList xmlns:clbl="http://schemas.microsoft.com/office/2020/mipLabelMetadata">
  <clbl:label id="{c5f3e595-28df-4b6d-866e-5db0c24f0139}" enabled="1" method="Standard" siteId="{aa3bd2bf-9c6e-4f49-9c4f-44f878ae9e74}" removed="0"/>
</clbl:labelList>
</file>

<file path=docProps/app.xml><?xml version="1.0" encoding="utf-8"?>
<Properties xmlns="http://schemas.openxmlformats.org/officeDocument/2006/extended-properties" xmlns:vt="http://schemas.openxmlformats.org/officeDocument/2006/docPropsVTypes">
  <TotalTime>28</TotalTime>
  <Words>1672</Words>
  <Application>Microsoft Macintosh PowerPoint</Application>
  <PresentationFormat>Widescreen</PresentationFormat>
  <Paragraphs>262</Paragraphs>
  <Slides>19</Slides>
  <Notes>19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Brisken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Brisken</dc:creator>
  <cp:lastModifiedBy>Dirk Neumann</cp:lastModifiedBy>
  <cp:revision>2</cp:revision>
  <dcterms:created xsi:type="dcterms:W3CDTF">2026-07-09T00:26:58Z</dcterms:created>
  <dcterms:modified xsi:type="dcterms:W3CDTF">2026-07-09T23:31:37Z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0x0101002E36004C6954FC41BFA5A9934AAC0872</vt:lpwstr>
  </property>
</Properties>
</file>