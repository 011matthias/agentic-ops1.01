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sldIdLst>
    <p:sldId id="256" r:id="rId5"/>
    <p:sldId id="301" r:id="rId24"/>
    <p:sldId id="276" r:id="rId6"/>
    <p:sldId id="300" r:id="rId23"/>
    <p:sldId id="279" r:id="rId10"/>
    <p:sldId id="280" r:id="rId7"/>
    <p:sldId id="259" r:id="rId8"/>
    <p:sldId id="262" r:id="rId11"/>
    <p:sldId id="267" r:id="rId12"/>
    <p:sldId id="264" r:id="rId13"/>
    <p:sldId id="282" r:id="rId14"/>
    <p:sldId id="265"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2B239C-E8F4-9E4F-AEAD-3A53845C7CD8}" v="5" dt="2026-07-09T11:40:56.0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6301"/>
  </p:normalViewPr>
  <p:slideViewPr>
    <p:cSldViewPr snapToGrid="0" snapToObjects="1">
      <p:cViewPr varScale="1">
        <p:scale>
          <a:sx n="123" d="100"/>
          <a:sy n="123" d="100"/>
        </p:scale>
        <p:origin x="600" y="184"/>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microsoft.com/office/2016/11/relationships/changesInfo" Target="changesInfos/changesInfo1.xml"/><Relationship Id="rId22" Type="http://schemas.microsoft.com/office/2015/10/relationships/revisionInfo" Target="revisionInfo.xml"/><Relationship Id="rId23" Type="http://schemas.openxmlformats.org/officeDocument/2006/relationships/slide" Target="slides/slide12.xml"/><Relationship Id="rId2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rk Neumann" userId="3f083bcb-a186-44d0-81a0-918c73b145d9" providerId="ADAL" clId="{C1336F6D-DB6E-5C4A-B60A-95CF733899A6}"/>
    <pc:docChg chg="modSld">
      <pc:chgData name="Dirk Neumann" userId="3f083bcb-a186-44d0-81a0-918c73b145d9" providerId="ADAL" clId="{C1336F6D-DB6E-5C4A-B60A-95CF733899A6}" dt="2026-07-09T11:55:50.012" v="3" actId="20577"/>
      <pc:docMkLst>
        <pc:docMk/>
      </pc:docMkLst>
      <pc:sldChg chg="modSp mod">
        <pc:chgData name="Dirk Neumann" userId="3f083bcb-a186-44d0-81a0-918c73b145d9" providerId="ADAL" clId="{C1336F6D-DB6E-5C4A-B60A-95CF733899A6}" dt="2026-07-09T11:55:50.012" v="3" actId="20577"/>
        <pc:sldMkLst>
          <pc:docMk/>
          <pc:sldMk cId="302320163" sldId="282"/>
        </pc:sldMkLst>
        <pc:spChg chg="mod">
          <ac:chgData name="Dirk Neumann" userId="3f083bcb-a186-44d0-81a0-918c73b145d9" providerId="ADAL" clId="{C1336F6D-DB6E-5C4A-B60A-95CF733899A6}" dt="2026-07-09T11:55:50.012" v="3" actId="20577"/>
          <ac:spMkLst>
            <pc:docMk/>
            <pc:sldMk cId="302320163" sldId="282"/>
            <ac:spMk id="57" creationId="{92CDD0B3-4F77-79A5-2293-94A835E4B127}"/>
          </ac:spMkLst>
        </pc:spChg>
      </pc:sldChg>
    </pc:docChg>
  </pc:docChgLst>
</pc:chgInfo>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65591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Sources — figures on this slide:</a:t>
            </a:r>
          </a:p>
          <a:p>
            <a:r>
              <a:rPr lang="en-US" dirty="0"/>
              <a:t>Manual FX trade execution: 10–15 min per trade (midpoint ~12 min) — The Association of Corporate Treasurers</a:t>
            </a:r>
          </a:p>
          <a:p>
            <a:r>
              <a:rPr lang="en-US" dirty="0"/>
              <a:t>https://www.treasurers.org/hub/treasurer-magazine/what-effect-will-automation-have-fx-trading</a:t>
            </a:r>
          </a:p>
          <a:p>
            <a:r>
              <a:rPr lang="en-US" dirty="0"/>
              <a:t>Spot FX automation now ~90% (forwards 50–60%) — LSEG</a:t>
            </a:r>
          </a:p>
          <a:p>
            <a:r>
              <a:rPr lang="en-US" dirty="0"/>
              <a:t>https://www.lseg.com/en/insights/workflow-automation-streamlining-the-entire-fx-trade-lifecycle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FCE2C-7D38-F9DB-0D17-51AD5D5A95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D17935-805A-0837-73E5-724A677A05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260C70-BCEB-BE93-C4D0-0E9AFDE26C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BE5A407-3427-2BCE-67C0-3AD6D1B77A7E}"/>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2970849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6.png"/></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4.png"/><Relationship Id="rId6" Type="http://schemas.openxmlformats.org/officeDocument/2006/relationships/image" Target="../media/image8.png"/></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5.png"/><Relationship Id="rId4" Type="http://schemas.openxmlformats.org/officeDocument/2006/relationships/image" Target="../media/image8.png"/><Relationship Id="rId5" Type="http://schemas.openxmlformats.org/officeDocument/2006/relationships/image" Target="../media/image16.png"/></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png"/><Relationship Id="rId4" Type="http://schemas.openxmlformats.org/officeDocument/2006/relationships/image" Target="../media/image8.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2.png"/><Relationship Id="rId6" Type="http://schemas.openxmlformats.org/officeDocument/2006/relationships/image" Target="../media/image20.png"/></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png"/><Relationship Id="rId9" Type="http://schemas.openxmlformats.org/officeDocument/2006/relationships/image" Target="../media/image30.png"/><Relationship Id="rId10" Type="http://schemas.openxmlformats.org/officeDocument/2006/relationships/image" Target="../media/image31.png"/><Relationship Id="rId11" Type="http://schemas.openxmlformats.org/officeDocument/2006/relationships/image" Target="../media/image32.png"/><Relationship Id="rId12" Type="http://schemas.openxmlformats.org/officeDocument/2006/relationships/image" Target="../media/image33.png"/></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0.png"/><Relationship Id="rId4" Type="http://schemas.openxmlformats.org/officeDocument/2006/relationships/hyperlink" Target="mailto:dirk.neumann@brisken.com?subject=Meeting%20request%3A%20Smart%20Trading&amp;body=Hi%20Dirk%2C%0D%0A%0D%0AI%27d%20like%20to%20book%2020%20minutes%20to%20see%20how%20Smart%20Trading%20gets%20our%20trades%20into%20SAP%20automatically.%0D%0A%0D%0ABest%20regards%2C" TargetMode="Externa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8.png"/><Relationship Id="rId6" Type="http://schemas.openxmlformats.org/officeDocument/2006/relationships/image" Target="../media/image15.png"/><Relationship Id="rId7" Type="http://schemas.openxmlformats.org/officeDocument/2006/relationships/image" Target="../media/image36.png"/></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6949440" y="-1097280"/>
            <a:ext cx="6035040" cy="6035040"/>
          </a:xfrm>
          <a:prstGeom prst="ellipse">
            <a:avLst/>
          </a:prstGeom>
          <a:solidFill>
            <a:srgbClr val="3BE3E0">
              <a:alpha val="7000"/>
            </a:srgbClr>
          </a:solidFill>
          <a:ln w="12700">
            <a:solidFill>
              <a:srgbClr val="333333"/>
            </a:solidFill>
            <a:prstDash val="solid"/>
          </a:ln>
        </p:spPr>
        <p:txBody>
          <a:bodyPr/>
          <a:lstStyle/>
          <a:p>
            <a:endParaRPr lang="en-US"/>
          </a:p>
        </p:txBody>
      </p:sp>
      <p:sp>
        <p:nvSpPr>
          <p:cNvPr id="3" name="Shape 1"/>
          <p:cNvSpPr/>
          <p:nvPr/>
        </p:nvSpPr>
        <p:spPr>
          <a:xfrm>
            <a:off x="8321040" y="274320"/>
            <a:ext cx="3291840" cy="3291840"/>
          </a:xfrm>
          <a:prstGeom prst="ellipse">
            <a:avLst/>
          </a:prstGeom>
          <a:solidFill>
            <a:srgbClr val="3BE3E0">
              <a:alpha val="12000"/>
            </a:srgbClr>
          </a:solidFill>
          <a:ln w="12700">
            <a:solidFill>
              <a:srgbClr val="333333"/>
            </a:solidFill>
            <a:prstDash val="solid"/>
          </a:ln>
        </p:spPr>
        <p:txBody>
          <a:bodyPr/>
          <a:lstStyle/>
          <a:p>
            <a:endParaRPr lang="en-US"/>
          </a:p>
        </p:txBody>
      </p:sp>
      <p:sp>
        <p:nvSpPr>
          <p:cNvPr id="4" name="Shape 2"/>
          <p:cNvSpPr/>
          <p:nvPr/>
        </p:nvSpPr>
        <p:spPr>
          <a:xfrm>
            <a:off x="-1737360" y="3017520"/>
            <a:ext cx="6035040" cy="6035040"/>
          </a:xfrm>
          <a:prstGeom prst="ellipse">
            <a:avLst/>
          </a:prstGeom>
          <a:solidFill>
            <a:srgbClr val="5A6BFF">
              <a:alpha val="7000"/>
            </a:srgbClr>
          </a:solidFill>
          <a:ln w="12700">
            <a:solidFill>
              <a:srgbClr val="333333"/>
            </a:solidFill>
            <a:prstDash val="solid"/>
          </a:ln>
        </p:spPr>
        <p:txBody>
          <a:bodyPr/>
          <a:lstStyle/>
          <a:p>
            <a:endParaRPr lang="en-US"/>
          </a:p>
        </p:txBody>
      </p:sp>
      <p:sp>
        <p:nvSpPr>
          <p:cNvPr id="5" name="Shape 3"/>
          <p:cNvSpPr/>
          <p:nvPr/>
        </p:nvSpPr>
        <p:spPr>
          <a:xfrm>
            <a:off x="-365760" y="4389120"/>
            <a:ext cx="3291840" cy="3291840"/>
          </a:xfrm>
          <a:prstGeom prst="ellipse">
            <a:avLst/>
          </a:prstGeom>
          <a:solidFill>
            <a:srgbClr val="5A6BFF">
              <a:alpha val="12000"/>
            </a:srgbClr>
          </a:solidFill>
          <a:ln w="12700">
            <a:solidFill>
              <a:srgbClr val="333333"/>
            </a:solidFill>
            <a:prstDash val="solid"/>
          </a:ln>
        </p:spPr>
        <p:txBody>
          <a:bodyPr/>
          <a:lstStyle/>
          <a:p>
            <a:endParaRPr lang="en-US"/>
          </a:p>
        </p:txBody>
      </p:sp>
      <p:pic>
        <p:nvPicPr>
          <p:cNvPr id="6" name="Image 0" descr="C:/Users/neuma_p1qrsic/Repo/agentic-ops1/.scratch/brisken-logo-light.png"/>
          <p:cNvPicPr>
            <a:picLocks noChangeAspect="1"/>
          </p:cNvPicPr>
          <p:nvPr/>
        </p:nvPicPr>
        <p:blipFill>
          <a:blip r:embed="rId3"/>
          <a:stretch>
            <a:fillRect/>
          </a:stretch>
        </p:blipFill>
        <p:spPr>
          <a:xfrm>
            <a:off x="566928" y="548640"/>
            <a:ext cx="1417320" cy="310896"/>
          </a:xfrm>
          <a:prstGeom prst="rect">
            <a:avLst/>
          </a:prstGeom>
        </p:spPr>
      </p:pic>
      <p:sp>
        <p:nvSpPr>
          <p:cNvPr id="7" name="Shape 4"/>
          <p:cNvSpPr/>
          <p:nvPr/>
        </p:nvSpPr>
        <p:spPr>
          <a:xfrm>
            <a:off x="566928" y="2624328"/>
            <a:ext cx="45720" cy="219456"/>
          </a:xfrm>
          <a:prstGeom prst="rect">
            <a:avLst/>
          </a:prstGeom>
          <a:solidFill>
            <a:srgbClr val="3BE3E0"/>
          </a:solidFill>
          <a:ln w="12700">
            <a:solidFill>
              <a:srgbClr val="333333"/>
            </a:solidFill>
            <a:prstDash val="solid"/>
          </a:ln>
        </p:spPr>
        <p:txBody>
          <a:bodyPr/>
          <a:lstStyle/>
          <a:p>
            <a:endParaRPr lang="en-US"/>
          </a:p>
        </p:txBody>
      </p:sp>
      <p:sp>
        <p:nvSpPr>
          <p:cNvPr id="8" name="Text 5"/>
          <p:cNvSpPr/>
          <p:nvPr/>
        </p:nvSpPr>
        <p:spPr>
          <a:xfrm>
            <a:off x="713232" y="2551176"/>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ONEPILOT · SMART TRADING</a:t>
            </a:r>
            <a:endParaRPr lang="en-US" sz="1200" dirty="0"/>
          </a:p>
        </p:txBody>
      </p:sp>
      <p:sp>
        <p:nvSpPr>
          <p:cNvPr id="9" name="Text 6"/>
          <p:cNvSpPr/>
          <p:nvPr/>
        </p:nvSpPr>
        <p:spPr>
          <a:xfrm>
            <a:off x="539496" y="2880360"/>
            <a:ext cx="10515600" cy="1371600"/>
          </a:xfrm>
          <a:prstGeom prst="rect">
            <a:avLst/>
          </a:prstGeom>
          <a:noFill/>
          <a:ln/>
        </p:spPr>
        <p:txBody>
          <a:bodyPr wrap="square" rtlCol="0" anchor="ctr"/>
          <a:lstStyle/>
          <a:p>
            <a:pPr marL="0" indent="0">
              <a:buNone/>
            </a:pPr>
            <a:r>
              <a:rPr lang="en-US" sz="7600" b="1" dirty="0">
                <a:solidFill>
                  <a:srgbClr val="F3F6FB"/>
                </a:solidFill>
                <a:latin typeface="Segoe UI Semibold" pitchFamily="34" charset="0"/>
                <a:ea typeface="Segoe UI Semibold" pitchFamily="34" charset="-122"/>
                <a:cs typeface="Segoe UI Semibold" pitchFamily="34" charset="-120"/>
              </a:rPr>
              <a:t>Smart Trading</a:t>
            </a:r>
            <a:endParaRPr lang="en-US" sz="7600" dirty="0"/>
          </a:p>
        </p:txBody>
      </p:sp>
      <p:sp>
        <p:nvSpPr>
          <p:cNvPr id="10" name="Text 7"/>
          <p:cNvSpPr/>
          <p:nvPr/>
        </p:nvSpPr>
        <p:spPr>
          <a:xfrm>
            <a:off x="566928" y="4206240"/>
            <a:ext cx="9966960" cy="822960"/>
          </a:xfrm>
          <a:prstGeom prst="rect">
            <a:avLst/>
          </a:prstGeom>
          <a:noFill/>
          <a:ln/>
        </p:spPr>
        <p:txBody>
          <a:bodyPr wrap="square" rtlCol="0" anchor="t"/>
          <a:lstStyle/>
          <a:p>
            <a:pPr marL="0" indent="0">
              <a:lnSpc>
                <a:spcPct val="115000"/>
              </a:lnSpc>
              <a:buNone/>
            </a:pPr>
            <a:r>
              <a:rPr lang="en-US" sz="2000" dirty="0">
                <a:solidFill>
                  <a:srgbClr val="AAB6C7"/>
                </a:solidFill>
                <a:latin typeface="Segoe UI" pitchFamily="34" charset="0"/>
                <a:ea typeface="Segoe UI" pitchFamily="34" charset="-122"/>
                <a:cs typeface="Segoe UI" pitchFamily="34" charset="-120"/>
              </a:rPr>
              <a:t xml:space="preserve">Every trade, from the decision to the booked deal in SAP. </a:t>
            </a:r>
            <a:r>
              <a:rPr lang="en-US" sz="2000" dirty="0">
                <a:solidFill>
                  <a:srgbClr val="3BE3E0"/>
                </a:solidFill>
                <a:latin typeface="Segoe UI" pitchFamily="34" charset="0"/>
                <a:ea typeface="Segoe UI" pitchFamily="34" charset="-122"/>
                <a:cs typeface="Segoe UI" pitchFamily="34" charset="-120"/>
              </a:rPr>
              <a:t>Automated, on your own system, nothing to rebuild.</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THE MANUAL CLOCK</a:t>
            </a:r>
            <a:endParaRPr lang="en-US" sz="1200" dirty="0"/>
          </a:p>
        </p:txBody>
      </p:sp>
      <p:sp>
        <p:nvSpPr>
          <p:cNvPr id="4" name="Text 2"/>
          <p:cNvSpPr/>
          <p:nvPr/>
        </p:nvSpPr>
        <p:spPr>
          <a:xfrm>
            <a:off x="566928" y="960120"/>
            <a:ext cx="10881360" cy="1463040"/>
          </a:xfrm>
          <a:prstGeom prst="rect">
            <a:avLst/>
          </a:prstGeom>
          <a:noFill/>
          <a:ln/>
        </p:spPr>
        <p:txBody>
          <a:bodyPr wrap="square" rtlCol="0" anchor="ctr"/>
          <a:lstStyle/>
          <a:p>
            <a:pPr marL="0" indent="0">
              <a:lnSpc>
                <a:spcPct val="105000"/>
              </a:lnSpc>
              <a:buNone/>
            </a:pPr>
            <a:r>
              <a:rPr lang="en-US" sz="3300" b="1" dirty="0">
                <a:solidFill>
                  <a:srgbClr val="F3F6FB"/>
                </a:solidFill>
                <a:latin typeface="Segoe UI Semibold" pitchFamily="34" charset="0"/>
                <a:ea typeface="Segoe UI Semibold" pitchFamily="34" charset="-122"/>
                <a:cs typeface="Segoe UI Semibold" pitchFamily="34" charset="-120"/>
              </a:rPr>
              <a:t>You trade. You book in SAP.
</a:t>
            </a:r>
            <a:r>
              <a:rPr lang="en-US" sz="3300" b="1" dirty="0">
                <a:solidFill>
                  <a:srgbClr val="3BE3E0"/>
                </a:solidFill>
                <a:latin typeface="Segoe UI Semibold" pitchFamily="34" charset="0"/>
                <a:ea typeface="Segoe UI Semibold" pitchFamily="34" charset="-122"/>
                <a:cs typeface="Segoe UI Semibold" pitchFamily="34" charset="-120"/>
              </a:rPr>
              <a:t>Today a person joins the two by hand.</a:t>
            </a:r>
            <a:endParaRPr lang="en-US" sz="3300" dirty="0"/>
          </a:p>
        </p:txBody>
      </p:sp>
      <p:sp>
        <p:nvSpPr>
          <p:cNvPr id="30" name="Shape 30"/>
          <p:cNvSpPr/>
          <p:nvPr/>
        </p:nvSpPr>
        <p:spPr>
          <a:xfrm>
            <a:off x="566928" y="2895600"/>
            <a:ext cx="5346040" cy="2286000"/>
          </a:xfrm>
          <a:prstGeom prst="roundRect">
            <a:avLst>
              <a:gd name="adj" fmla="val 4390"/>
            </a:avLst>
          </a:prstGeom>
          <a:solidFill>
            <a:srgbClr val="24190E"/>
          </a:solidFill>
          <a:ln w="17780">
            <a:solidFill>
              <a:srgbClr val="FFC96B"/>
            </a:solidFill>
            <a:prstDash val="dash"/>
          </a:ln>
        </p:spPr>
        <p:txBody>
          <a:bodyPr/>
          <a:lstStyle/>
          <a:p>
            <a:endParaRPr lang="en-US"/>
          </a:p>
        </p:txBody>
      </p:sp>
      <p:sp>
        <p:nvSpPr>
          <p:cNvPr id="31" name="Text 31"/>
          <p:cNvSpPr/>
          <p:nvPr/>
        </p:nvSpPr>
        <p:spPr>
          <a:xfrm>
            <a:off x="886928" y="3095600"/>
            <a:ext cx="4706040" cy="365760"/>
          </a:xfrm>
          <a:prstGeom prst="rect">
            <a:avLst/>
          </a:prstGeom>
          <a:noFill/>
          <a:ln/>
        </p:spPr>
        <p:txBody>
          <a:bodyPr wrap="square" rtlCol="0" anchor="ctr"/>
          <a:lstStyle/>
          <a:p>
            <a:pPr marL="0" indent="0" algn="l">
              <a:buNone/>
            </a:pPr>
            <a:r>
              <a:rPr lang="en-US" sz="1500" b="1" dirty="0">
                <a:solidFill>
                  <a:srgbClr val="FFC96B"/>
                </a:solidFill>
                <a:latin typeface="Segoe UI Semibold" pitchFamily="34" charset="0"/>
                <a:ea typeface="Segoe UI Semibold" pitchFamily="34" charset="-122"/>
                <a:cs typeface="Segoe UI Semibold" pitchFamily="34" charset="-120"/>
              </a:rPr>
              <a:t>The manual middle</a:t>
            </a:r>
          </a:p>
        </p:txBody>
      </p:sp>
      <p:sp>
        <p:nvSpPr>
          <p:cNvPr id="32" name="Text 32"/>
          <p:cNvSpPr/>
          <p:nvPr/>
        </p:nvSpPr>
        <p:spPr>
          <a:xfrm>
            <a:off x="886928" y="3555600"/>
            <a:ext cx="4706040" cy="1400000"/>
          </a:xfrm>
          <a:prstGeom prst="rect">
            <a:avLst/>
          </a:prstGeom>
          <a:noFill/>
          <a:ln/>
        </p:spPr>
        <p:txBody>
          <a:bodyPr wrap="square" rtlCol="0" anchor="ctr"/>
          <a:lstStyle/>
          <a:p>
            <a:pPr marL="0" indent="0" algn="l">
              <a:lnSpc>
                <a:spcPct val="150000"/>
              </a:lnSpc>
              <a:buNone/>
            </a:pPr>
            <a:r>
              <a:rPr lang="en-US" sz="1300" b="1" dirty="0">
                <a:solidFill>
                  <a:srgbClr val="FFC96B"/>
                </a:solidFill>
                <a:latin typeface="Segoe UI Semibold" pitchFamily="34" charset="0"/>
                <a:ea typeface="Segoe UI Semibold" pitchFamily="34" charset="-122"/>
                <a:cs typeface="Segoe UI Semibold" pitchFamily="34" charset="-120"/>
              </a:rPr>
              <a:t xml:space="preserve">01   </a:t>
            </a:r>
            <a:r>
              <a:rPr lang="en-US" sz="1400" dirty="0">
                <a:solidFill>
                  <a:srgbClr val="F3F6FB"/>
                </a:solidFill>
                <a:latin typeface="Segoe UI" pitchFamily="34" charset="0"/>
                <a:ea typeface="Segoe UI" pitchFamily="34" charset="-122"/>
                <a:cs typeface="Segoe UI" pitchFamily="34" charset="-120"/>
              </a:rPr>
              <a:t>Re-key the ticket from the venue</a:t>
            </a:r>
          </a:p>
          <a:p>
            <a:pPr marL="0" indent="0" algn="l">
              <a:lnSpc>
                <a:spcPct val="150000"/>
              </a:lnSpc>
              <a:buNone/>
            </a:pPr>
            <a:r>
              <a:rPr lang="en-US" sz="1300" b="1" dirty="0">
                <a:solidFill>
                  <a:srgbClr val="FFC96B"/>
                </a:solidFill>
                <a:latin typeface="Segoe UI Semibold" pitchFamily="34" charset="0"/>
                <a:ea typeface="Segoe UI Semibold" pitchFamily="34" charset="-122"/>
                <a:cs typeface="Segoe UI Semibold" pitchFamily="34" charset="-120"/>
              </a:rPr>
              <a:t xml:space="preserve">02   </a:t>
            </a:r>
            <a:r>
              <a:rPr lang="en-US" sz="1400" dirty="0">
                <a:solidFill>
                  <a:srgbClr val="F3F6FB"/>
                </a:solidFill>
                <a:latin typeface="Segoe UI" pitchFamily="34" charset="0"/>
                <a:ea typeface="Segoe UI" pitchFamily="34" charset="-122"/>
                <a:cs typeface="Segoe UI" pitchFamily="34" charset="-120"/>
              </a:rPr>
              <a:t>Chase the approval through inboxes</a:t>
            </a:r>
          </a:p>
          <a:p>
            <a:pPr marL="0" indent="0" algn="l">
              <a:lnSpc>
                <a:spcPct val="150000"/>
              </a:lnSpc>
              <a:buNone/>
            </a:pPr>
            <a:r>
              <a:rPr lang="en-US" sz="1300" b="1" dirty="0">
                <a:solidFill>
                  <a:srgbClr val="FFC96B"/>
                </a:solidFill>
                <a:latin typeface="Segoe UI Semibold" pitchFamily="34" charset="0"/>
                <a:ea typeface="Segoe UI Semibold" pitchFamily="34" charset="-122"/>
                <a:cs typeface="Segoe UI Semibold" pitchFamily="34" charset="-120"/>
              </a:rPr>
              <a:t xml:space="preserve">03   </a:t>
            </a:r>
            <a:r>
              <a:rPr lang="en-US" sz="1400" dirty="0">
                <a:solidFill>
                  <a:srgbClr val="F3F6FB"/>
                </a:solidFill>
                <a:latin typeface="Segoe UI" pitchFamily="34" charset="0"/>
                <a:ea typeface="Segoe UI" pitchFamily="34" charset="-122"/>
                <a:cs typeface="Segoe UI" pitchFamily="34" charset="-120"/>
              </a:rPr>
              <a:t>Build the deal entry in SAP by hand</a:t>
            </a:r>
          </a:p>
        </p:txBody>
      </p:sp>
      <p:sp>
        <p:nvSpPr>
          <p:cNvPr id="33" name="Shape 33"/>
          <p:cNvSpPr/>
          <p:nvPr/>
        </p:nvSpPr>
        <p:spPr>
          <a:xfrm>
            <a:off x="6278728" y="2895600"/>
            <a:ext cx="5346040" cy="1080000"/>
          </a:xfrm>
          <a:prstGeom prst="roundRect">
            <a:avLst>
              <a:gd name="adj" fmla="val 4390"/>
            </a:avLst>
          </a:prstGeom>
          <a:solidFill>
            <a:srgbClr val="141A25"/>
          </a:solidFill>
          <a:ln w="13970">
            <a:solidFill>
              <a:srgbClr val="36414F"/>
            </a:solidFill>
            <a:prstDash val="solid"/>
          </a:ln>
        </p:spPr>
        <p:txBody>
          <a:bodyPr/>
          <a:lstStyle/>
          <a:p>
            <a:endParaRPr lang="en-US"/>
          </a:p>
        </p:txBody>
      </p:sp>
      <p:sp>
        <p:nvSpPr>
          <p:cNvPr id="34" name="Text 34"/>
          <p:cNvSpPr/>
          <p:nvPr/>
        </p:nvSpPr>
        <p:spPr>
          <a:xfrm>
            <a:off x="6598728" y="2975600"/>
            <a:ext cx="4706040" cy="274320"/>
          </a:xfrm>
          <a:prstGeom prst="rect">
            <a:avLst/>
          </a:prstGeom>
          <a:noFill/>
          <a:ln/>
        </p:spPr>
        <p:txBody>
          <a:bodyPr wrap="square" rtlCol="0" anchor="ctr"/>
          <a:lstStyle/>
          <a:p>
            <a:pPr marL="0" indent="0" algn="l">
              <a:buNone/>
            </a:pPr>
            <a:r>
              <a:rPr lang="en-US" sz="1100" b="1" dirty="0">
                <a:solidFill>
                  <a:srgbClr val="AAB6C7"/>
                </a:solidFill>
                <a:latin typeface="Segoe UI Semibold" pitchFamily="34" charset="0"/>
                <a:ea typeface="Segoe UI Semibold" pitchFamily="34" charset="-122"/>
                <a:cs typeface="Segoe UI Semibold" pitchFamily="34" charset="-120"/>
              </a:rPr>
              <a:t>MANUAL FX EXECUTION</a:t>
            </a:r>
          </a:p>
        </p:txBody>
      </p:sp>
      <p:sp>
        <p:nvSpPr>
          <p:cNvPr id="35" name="Text 35"/>
          <p:cNvSpPr/>
          <p:nvPr/>
        </p:nvSpPr>
        <p:spPr>
          <a:xfrm>
            <a:off x="6598728" y="3249920"/>
            <a:ext cx="4706040" cy="430000"/>
          </a:xfrm>
          <a:prstGeom prst="rect">
            <a:avLst/>
          </a:prstGeom>
          <a:noFill/>
          <a:ln/>
        </p:spPr>
        <p:txBody>
          <a:bodyPr wrap="square" rtlCol="0" anchor="ctr"/>
          <a:lstStyle/>
          <a:p>
            <a:pPr marL="0" indent="0" algn="l">
              <a:buNone/>
            </a:pPr>
            <a:r>
              <a:rPr lang="en-US" sz="3200" b="1" dirty="0">
                <a:solidFill>
                  <a:srgbClr val="3BE3E0"/>
                </a:solidFill>
                <a:latin typeface="Segoe UI Semibold" pitchFamily="34" charset="0"/>
                <a:ea typeface="Segoe UI Semibold" pitchFamily="34" charset="-122"/>
                <a:cs typeface="Segoe UI Semibold" pitchFamily="34" charset="-120"/>
              </a:rPr>
              <a:t>10-15 min</a:t>
            </a:r>
            <a:r>
              <a:rPr lang="en-US" sz="1400" dirty="0">
                <a:solidFill>
                  <a:srgbClr val="AAB6C7"/>
                </a:solidFill>
                <a:latin typeface="Segoe UI" pitchFamily="34" charset="0"/>
                <a:ea typeface="Segoe UI" pitchFamily="34" charset="-122"/>
                <a:cs typeface="Segoe UI" pitchFamily="34" charset="-120"/>
              </a:rPr>
              <a:t xml:space="preserve">  per trade</a:t>
            </a:r>
          </a:p>
        </p:txBody>
      </p:sp>
      <p:sp>
        <p:nvSpPr>
          <p:cNvPr id="36" name="Text 36"/>
          <p:cNvSpPr/>
          <p:nvPr/>
        </p:nvSpPr>
        <p:spPr>
          <a:xfrm>
            <a:off x="6598728" y="3679920"/>
            <a:ext cx="4706040" cy="240000"/>
          </a:xfrm>
          <a:prstGeom prst="rect">
            <a:avLst/>
          </a:prstGeom>
          <a:noFill/>
          <a:ln/>
        </p:spPr>
        <p:txBody>
          <a:bodyPr wrap="square" rtlCol="0" anchor="ctr"/>
          <a:lstStyle/>
          <a:p>
            <a:pPr marL="0" indent="0" algn="l">
              <a:buNone/>
            </a:pPr>
            <a:r>
              <a:rPr lang="en-US" sz="1000" i="1" dirty="0">
                <a:solidFill>
                  <a:srgbClr val="7C8A9B"/>
                </a:solidFill>
                <a:latin typeface="Segoe UI" pitchFamily="34" charset="0"/>
                <a:ea typeface="Segoe UI" pitchFamily="34" charset="-122"/>
                <a:cs typeface="Segoe UI" pitchFamily="34" charset="-120"/>
              </a:rPr>
              <a:t>Association of Corporate Treasurers</a:t>
            </a:r>
          </a:p>
        </p:txBody>
      </p:sp>
      <p:sp>
        <p:nvSpPr>
          <p:cNvPr id="37" name="Shape 37"/>
          <p:cNvSpPr/>
          <p:nvPr/>
        </p:nvSpPr>
        <p:spPr>
          <a:xfrm>
            <a:off x="6278728" y="4111600"/>
            <a:ext cx="5346040" cy="1080000"/>
          </a:xfrm>
          <a:prstGeom prst="roundRect">
            <a:avLst>
              <a:gd name="adj" fmla="val 4390"/>
            </a:avLst>
          </a:prstGeom>
          <a:solidFill>
            <a:srgbClr val="141A25"/>
          </a:solidFill>
          <a:ln w="13970">
            <a:solidFill>
              <a:srgbClr val="36414F"/>
            </a:solidFill>
            <a:prstDash val="solid"/>
          </a:ln>
        </p:spPr>
        <p:txBody>
          <a:bodyPr/>
          <a:lstStyle/>
          <a:p>
            <a:endParaRPr lang="en-US"/>
          </a:p>
        </p:txBody>
      </p:sp>
      <p:sp>
        <p:nvSpPr>
          <p:cNvPr id="38" name="Text 38"/>
          <p:cNvSpPr/>
          <p:nvPr/>
        </p:nvSpPr>
        <p:spPr>
          <a:xfrm>
            <a:off x="6598728" y="4191600"/>
            <a:ext cx="4706040" cy="274320"/>
          </a:xfrm>
          <a:prstGeom prst="rect">
            <a:avLst/>
          </a:prstGeom>
          <a:noFill/>
          <a:ln/>
        </p:spPr>
        <p:txBody>
          <a:bodyPr wrap="square" rtlCol="0" anchor="ctr"/>
          <a:lstStyle/>
          <a:p>
            <a:pPr marL="0" indent="0" algn="l">
              <a:buNone/>
            </a:pPr>
            <a:r>
              <a:rPr lang="en-US" sz="1100" b="1" dirty="0">
                <a:solidFill>
                  <a:srgbClr val="AAB6C7"/>
                </a:solidFill>
                <a:latin typeface="Segoe UI Semibold" pitchFamily="34" charset="0"/>
                <a:ea typeface="Segoe UI Semibold" pitchFamily="34" charset="-122"/>
                <a:cs typeface="Segoe UI Semibold" pitchFamily="34" charset="-120"/>
              </a:rPr>
              <a:t>SPOT FX ALREADY AUTOMATED</a:t>
            </a:r>
          </a:p>
        </p:txBody>
      </p:sp>
      <p:sp>
        <p:nvSpPr>
          <p:cNvPr id="39" name="Text 39"/>
          <p:cNvSpPr/>
          <p:nvPr/>
        </p:nvSpPr>
        <p:spPr>
          <a:xfrm>
            <a:off x="6598728" y="4465920"/>
            <a:ext cx="4706040" cy="430000"/>
          </a:xfrm>
          <a:prstGeom prst="rect">
            <a:avLst/>
          </a:prstGeom>
          <a:noFill/>
          <a:ln/>
        </p:spPr>
        <p:txBody>
          <a:bodyPr wrap="square" rtlCol="0" anchor="ctr"/>
          <a:lstStyle/>
          <a:p>
            <a:pPr marL="0" indent="0" algn="l">
              <a:buNone/>
            </a:pPr>
            <a:r>
              <a:rPr lang="en-US" sz="3200" b="1" dirty="0">
                <a:solidFill>
                  <a:srgbClr val="3BE3E0"/>
                </a:solidFill>
                <a:latin typeface="Segoe UI Semibold" pitchFamily="34" charset="0"/>
                <a:ea typeface="Segoe UI Semibold" pitchFamily="34" charset="-122"/>
                <a:cs typeface="Segoe UI Semibold" pitchFamily="34" charset="-120"/>
              </a:rPr>
              <a:t>~90%</a:t>
            </a:r>
            <a:r>
              <a:rPr lang="en-US" sz="1400" dirty="0">
                <a:solidFill>
                  <a:srgbClr val="AAB6C7"/>
                </a:solidFill>
                <a:latin typeface="Segoe UI" pitchFamily="34" charset="0"/>
                <a:ea typeface="Segoe UI" pitchFamily="34" charset="-122"/>
                <a:cs typeface="Segoe UI" pitchFamily="34" charset="-120"/>
              </a:rPr>
              <a:t xml:space="preserve">  of spot trades</a:t>
            </a:r>
          </a:p>
        </p:txBody>
      </p:sp>
      <p:sp>
        <p:nvSpPr>
          <p:cNvPr id="40" name="Text 40"/>
          <p:cNvSpPr/>
          <p:nvPr/>
        </p:nvSpPr>
        <p:spPr>
          <a:xfrm>
            <a:off x="6598728" y="4895920"/>
            <a:ext cx="4706040" cy="240000"/>
          </a:xfrm>
          <a:prstGeom prst="rect">
            <a:avLst/>
          </a:prstGeom>
          <a:noFill/>
          <a:ln/>
        </p:spPr>
        <p:txBody>
          <a:bodyPr wrap="square" rtlCol="0" anchor="ctr"/>
          <a:lstStyle/>
          <a:p>
            <a:pPr marL="0" indent="0" algn="l">
              <a:buNone/>
            </a:pPr>
            <a:r>
              <a:rPr lang="en-US" sz="1000" i="1" dirty="0">
                <a:solidFill>
                  <a:srgbClr val="7C8A9B"/>
                </a:solidFill>
                <a:latin typeface="Segoe UI" pitchFamily="34" charset="0"/>
                <a:ea typeface="Segoe UI" pitchFamily="34" charset="-122"/>
                <a:cs typeface="Segoe UI" pitchFamily="34" charset="-120"/>
              </a:rPr>
              <a:t>LSEG</a:t>
            </a:r>
          </a:p>
        </p:txBody>
      </p:sp>
      <p:sp>
        <p:nvSpPr>
          <p:cNvPr id="21" name="Text 16"/>
          <p:cNvSpPr/>
          <p:nvPr/>
        </p:nvSpPr>
        <p:spPr>
          <a:xfrm>
            <a:off x="566928" y="5532120"/>
            <a:ext cx="11057839" cy="457200"/>
          </a:xfrm>
          <a:prstGeom prst="rect">
            <a:avLst/>
          </a:prstGeom>
          <a:noFill/>
          <a:ln/>
        </p:spPr>
        <p:txBody>
          <a:bodyPr wrap="square" rtlCol="0" anchor="ctr"/>
          <a:lstStyle/>
          <a:p>
            <a:pPr marL="0" indent="0">
              <a:buNone/>
            </a:pPr>
            <a:r>
              <a:rPr lang="en-US" sz="1600" b="1" dirty="0">
                <a:solidFill>
                  <a:srgbClr val="FFC96B"/>
                </a:solidFill>
                <a:latin typeface="Segoe UI Semibold" pitchFamily="34" charset="0"/>
                <a:ea typeface="Segoe UI Semibold" pitchFamily="34" charset="-122"/>
                <a:cs typeface="Segoe UI Semibold" pitchFamily="34" charset="-120"/>
              </a:rPr>
              <a:t>Your desk knows which side of the 90% it is on.</a:t>
            </a:r>
            <a:endParaRPr lang="en-US" sz="1600" dirty="0"/>
          </a:p>
        </p:txBody>
      </p:sp>
      <p:sp>
        <p:nvSpPr>
          <p:cNvPr id="22" name="Text 17"/>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xml:space="preserve">   Smart Trading, part of OnePilot</a:t>
            </a:r>
            <a:endParaRPr lang="en-US" sz="900" dirty="0"/>
          </a:p>
        </p:txBody>
      </p:sp>
      <p:sp>
        <p:nvSpPr>
          <p:cNvPr id="23" name="Text 18"/>
          <p:cNvSpPr/>
          <p:nvPr/>
        </p:nvSpPr>
        <p:spPr>
          <a:xfrm>
            <a:off x="10527487" y="6400800"/>
            <a:ext cx="1097280" cy="274320"/>
          </a:xfrm>
          <a:prstGeom prst="rect">
            <a:avLst/>
          </a:prstGeom>
          <a:noFill/>
          <a:ln/>
        </p:spPr>
        <p:txBody>
          <a:bodyPr wrap="square" rtlCol="0" anchor="ctr"/>
          <a:lstStyle/>
          <a:p>
            <a:pPr marL="0" indent="0" algn="r">
              <a:buNone/>
            </a:pPr>
            <a:r>
              <a:rPr lang="en-US" sz="900" dirty="0">
                <a:solidFill>
                  <a:srgbClr val="AAB6C7"/>
                </a:solidFill>
                <a:latin typeface="Segoe UI" pitchFamily="34" charset="0"/>
                <a:ea typeface="Segoe UI" pitchFamily="34" charset="-122"/>
                <a:cs typeface="Segoe UI" pitchFamily="34" charset="-120"/>
              </a:rPr>
              <a:t>03 / 11</a:t>
            </a:r>
            <a:endParaRPr lang="en-US" sz="900" dirty="0"/>
          </a:p>
        </p:txBody>
      </p:sp>
      <p:sp>
        <p:nvSpPr>
          <p:cNvPr id="24" name="Shape 19"/>
          <p:cNvSpPr/>
          <p:nvPr/>
        </p:nvSpPr>
        <p:spPr>
          <a:xfrm>
            <a:off x="566928" y="6327648"/>
            <a:ext cx="11057839" cy="0"/>
          </a:xfrm>
          <a:prstGeom prst="line">
            <a:avLst/>
          </a:prstGeom>
          <a:noFill/>
          <a:ln w="9525">
            <a:solidFill>
              <a:srgbClr val="36414F"/>
            </a:solidFill>
            <a:prstDash val="solid"/>
          </a:ln>
        </p:spPr>
        <p:txBody>
          <a:bodyPr/>
          <a:lstStyle/>
          <a:p>
            <a:endParaRPr lang="en-US"/>
          </a:p>
        </p:txBody>
      </p:sp>
      <p:sp>
        <p:nvSpPr>
          <p:cNvPr id="950" name="SW Stem"/>
          <p:cNvSpPr/>
          <p:nvPr/>
        </p:nvSpPr>
        <p:spPr>
          <a:xfrm>
            <a:off x="9240000" y="440000"/>
            <a:ext cx="90000" cy="110000"/>
          </a:xfrm>
          <a:prstGeom prst="rect">
            <a:avLst/>
          </a:prstGeom>
          <a:solidFill>
            <a:srgbClr val="FFC96B"/>
          </a:solidFill>
          <a:ln/>
        </p:spPr>
        <p:txBody>
          <a:bodyPr/>
          <a:lstStyle/>
          <a:p>
            <a:endParaRPr lang="en-US"/>
          </a:p>
        </p:txBody>
      </p:sp>
      <p:sp>
        <p:nvSpPr>
          <p:cNvPr id="951" name="SW Ring"/>
          <p:cNvSpPr/>
          <p:nvPr/>
        </p:nvSpPr>
        <p:spPr>
          <a:xfrm>
            <a:off x="9060000" y="540000"/>
            <a:ext cx="450000" cy="450000"/>
          </a:xfrm>
          <a:prstGeom prst="ellipse">
            <a:avLst/>
          </a:prstGeom>
          <a:noFill/>
          <a:ln w="31750">
            <a:solidFill>
              <a:srgbClr val="FFC96B"/>
            </a:solidFill>
          </a:ln>
        </p:spPr>
        <p:txBody>
          <a:bodyPr/>
          <a:lstStyle/>
          <a:p>
            <a:endParaRPr lang="en-US"/>
          </a:p>
        </p:txBody>
      </p:sp>
      <p:sp>
        <p:nvSpPr>
          <p:cNvPr id="952" name="SW Hand"/>
          <p:cNvSpPr/>
          <p:nvPr/>
        </p:nvSpPr>
        <p:spPr>
          <a:xfrm>
            <a:off x="9285000" y="620000"/>
            <a:ext cx="0" cy="145000"/>
          </a:xfrm>
          <a:prstGeom prst="line">
            <a:avLst/>
          </a:prstGeom>
          <a:noFill/>
          <a:ln w="22225" cap="rnd">
            <a:solidFill>
              <a:srgbClr val="FFC96B"/>
            </a:solidFill>
          </a:ln>
        </p:spPr>
        <p:txBody>
          <a:bodyPr/>
          <a:lstStyle/>
          <a:p>
            <a:endParaRPr lang="en-US"/>
          </a:p>
        </p:txBody>
      </p:sp>
      <p:sp>
        <p:nvSpPr>
          <p:cNvPr id="953" name="SW Time"/>
          <p:cNvSpPr/>
          <p:nvPr/>
        </p:nvSpPr>
        <p:spPr>
          <a:xfrm>
            <a:off x="9640000" y="510000"/>
            <a:ext cx="1900000" cy="500000"/>
          </a:xfrm>
          <a:prstGeom prst="rect">
            <a:avLst/>
          </a:prstGeom>
          <a:noFill/>
          <a:ln/>
        </p:spPr>
        <p:txBody>
          <a:bodyPr wrap="square" rtlCol="0" anchor="ctr"/>
          <a:lstStyle/>
          <a:p>
            <a:pPr marL="0" indent="0" algn="l">
              <a:buNone/>
            </a:pPr>
            <a:r>
              <a:rPr lang="en-US" sz="2400" b="1" dirty="0">
                <a:solidFill>
                  <a:srgbClr val="FFC96B"/>
                </a:solidFill>
                <a:latin typeface="Segoe UI Semibold" pitchFamily="34" charset="0"/>
                <a:ea typeface="Segoe UI Semibold" pitchFamily="34" charset="-122"/>
                <a:cs typeface="Segoe UI Semibold" pitchFamily="34" charset="-120"/>
              </a:rPr>
              <a:t>12:00</a:t>
            </a:r>
          </a:p>
        </p:txBody>
      </p:sp>
    </p:spTree>
    <p:extLst>
      <p:ext uri="{BB962C8B-B14F-4D97-AF65-F5344CB8AC3E}">
        <p14:creationId xmlns:p14="http://schemas.microsoft.com/office/powerpoint/2010/main" val="1354789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WHY IT FITS</a:t>
            </a:r>
            <a:endParaRPr lang="en-US" sz="1200" dirty="0"/>
          </a:p>
        </p:txBody>
      </p:sp>
      <p:sp>
        <p:nvSpPr>
          <p:cNvPr id="4" name="Text 2"/>
          <p:cNvSpPr/>
          <p:nvPr/>
        </p:nvSpPr>
        <p:spPr>
          <a:xfrm>
            <a:off x="566928" y="960120"/>
            <a:ext cx="10515600" cy="731520"/>
          </a:xfrm>
          <a:prstGeom prst="rect">
            <a:avLst/>
          </a:prstGeom>
          <a:noFill/>
          <a:ln/>
        </p:spPr>
        <p:txBody>
          <a:bodyPr wrap="square" rtlCol="0" anchor="ctr"/>
          <a:lstStyle/>
          <a:p>
            <a:pPr marL="0" indent="0">
              <a:buNone/>
            </a:pPr>
            <a:r>
              <a:rPr lang="en-US" sz="2900" b="1" dirty="0">
                <a:solidFill>
                  <a:srgbClr val="F3F6FB"/>
                </a:solidFill>
                <a:latin typeface="Segoe UI Semibold" pitchFamily="34" charset="0"/>
                <a:ea typeface="Segoe UI Semibold" pitchFamily="34" charset="-122"/>
                <a:cs typeface="Segoe UI Semibold" pitchFamily="34" charset="-120"/>
              </a:rPr>
              <a:t>It works with whatever you already run.</a:t>
            </a:r>
            <a:endParaRPr lang="en-US" sz="2900" dirty="0"/>
          </a:p>
        </p:txBody>
      </p:sp>
      <p:sp>
        <p:nvSpPr>
          <p:cNvPr id="5" name="Shape 3"/>
          <p:cNvSpPr/>
          <p:nvPr/>
        </p:nvSpPr>
        <p:spPr>
          <a:xfrm>
            <a:off x="566928" y="2103120"/>
            <a:ext cx="5346040" cy="3154680"/>
          </a:xfrm>
          <a:prstGeom prst="roundRect">
            <a:avLst>
              <a:gd name="adj" fmla="val 2609"/>
            </a:avLst>
          </a:prstGeom>
          <a:solidFill>
            <a:srgbClr val="141A25"/>
          </a:solidFill>
          <a:ln w="13970">
            <a:solidFill>
              <a:srgbClr val="36414F"/>
            </a:solidFill>
            <a:prstDash val="solid"/>
          </a:ln>
        </p:spPr>
        <p:txBody>
          <a:bodyPr/>
          <a:lstStyle/>
          <a:p>
            <a:endParaRPr lang="en-US"/>
          </a:p>
        </p:txBody>
      </p:sp>
      <p:sp>
        <p:nvSpPr>
          <p:cNvPr id="6" name="Shape 4"/>
          <p:cNvSpPr/>
          <p:nvPr/>
        </p:nvSpPr>
        <p:spPr>
          <a:xfrm>
            <a:off x="932688" y="2468880"/>
            <a:ext cx="749808" cy="749808"/>
          </a:xfrm>
          <a:prstGeom prst="roundRect">
            <a:avLst>
              <a:gd name="adj" fmla="val 13415"/>
            </a:avLst>
          </a:prstGeom>
          <a:solidFill>
            <a:srgbClr val="1B2330"/>
          </a:solidFill>
          <a:ln w="15240">
            <a:solidFill>
              <a:srgbClr val="3BE3E0"/>
            </a:solidFill>
            <a:prstDash val="solid"/>
          </a:ln>
        </p:spPr>
        <p:txBody>
          <a:bodyPr/>
          <a:lstStyle/>
          <a:p>
            <a:endParaRPr lang="en-US"/>
          </a:p>
        </p:txBody>
      </p:sp>
      <p:pic>
        <p:nvPicPr>
          <p:cNvPr id="7" name="Image 0" descr="C:/Users/neuma_p1qrsic/Repo/agentic-ops1/.scratch/icons/link.png"/>
          <p:cNvPicPr>
            <a:picLocks noChangeAspect="1"/>
          </p:cNvPicPr>
          <p:nvPr/>
        </p:nvPicPr>
        <p:blipFill>
          <a:blip r:embed="rId3"/>
          <a:stretch>
            <a:fillRect/>
          </a:stretch>
        </p:blipFill>
        <p:spPr>
          <a:xfrm>
            <a:off x="1112642" y="2648834"/>
            <a:ext cx="389900" cy="389900"/>
          </a:xfrm>
          <a:prstGeom prst="rect">
            <a:avLst/>
          </a:prstGeom>
        </p:spPr>
      </p:pic>
      <p:sp>
        <p:nvSpPr>
          <p:cNvPr id="8" name="Text 5"/>
          <p:cNvSpPr/>
          <p:nvPr/>
        </p:nvSpPr>
        <p:spPr>
          <a:xfrm>
            <a:off x="1892808" y="2560320"/>
            <a:ext cx="3745840" cy="594360"/>
          </a:xfrm>
          <a:prstGeom prst="rect">
            <a:avLst/>
          </a:prstGeom>
          <a:noFill/>
          <a:ln/>
        </p:spPr>
        <p:txBody>
          <a:bodyPr wrap="square" rtlCol="0" anchor="ctr"/>
          <a:lstStyle/>
          <a:p>
            <a:pPr marL="0" indent="0">
              <a:buNone/>
            </a:pPr>
            <a:r>
              <a:rPr lang="en-US" sz="2200" b="1" dirty="0">
                <a:solidFill>
                  <a:srgbClr val="F3F6FB"/>
                </a:solidFill>
                <a:latin typeface="Segoe UI Semibold" pitchFamily="34" charset="0"/>
                <a:ea typeface="Segoe UI Semibold" pitchFamily="34" charset="-122"/>
                <a:cs typeface="Segoe UI Semibold" pitchFamily="34" charset="-120"/>
              </a:rPr>
              <a:t>Any venue, in</a:t>
            </a:r>
            <a:endParaRPr lang="en-US" sz="2200" dirty="0"/>
          </a:p>
        </p:txBody>
      </p:sp>
      <p:sp>
        <p:nvSpPr>
          <p:cNvPr id="9" name="Text 6"/>
          <p:cNvSpPr/>
          <p:nvPr/>
        </p:nvSpPr>
        <p:spPr>
          <a:xfrm>
            <a:off x="932688" y="3474720"/>
            <a:ext cx="4614520" cy="822960"/>
          </a:xfrm>
          <a:prstGeom prst="rect">
            <a:avLst/>
          </a:prstGeom>
          <a:noFill/>
          <a:ln/>
        </p:spPr>
        <p:txBody>
          <a:bodyPr wrap="square" rtlCol="0" anchor="t"/>
          <a:lstStyle/>
          <a:p>
            <a:pPr marL="0" indent="0">
              <a:lnSpc>
                <a:spcPct val="124000"/>
              </a:lnSpc>
              <a:buNone/>
            </a:pPr>
            <a:r>
              <a:rPr lang="en-US" sz="1350" dirty="0">
                <a:solidFill>
                  <a:srgbClr val="AAB6C7"/>
                </a:solidFill>
                <a:latin typeface="Segoe UI" pitchFamily="34" charset="0"/>
                <a:ea typeface="Segoe UI" pitchFamily="34" charset="-122"/>
                <a:cs typeface="Segoe UI" pitchFamily="34" charset="-120"/>
              </a:rPr>
              <a:t>Connect any trading platform or exchange; a new venue is a configuration change, not a project. FX, derivatives, investments, securities and OTC commodity swaps.</a:t>
            </a:r>
            <a:endParaRPr lang="en-US" sz="1350" dirty="0"/>
          </a:p>
        </p:txBody>
      </p:sp>
      <p:sp>
        <p:nvSpPr>
          <p:cNvPr id="10" name="Text 7"/>
          <p:cNvSpPr/>
          <p:nvPr/>
        </p:nvSpPr>
        <p:spPr>
          <a:xfrm>
            <a:off x="922680" y="4471416"/>
            <a:ext cx="4614520" cy="237744"/>
          </a:xfrm>
          <a:prstGeom prst="rect">
            <a:avLst/>
          </a:prstGeom>
          <a:noFill/>
          <a:ln/>
        </p:spPr>
        <p:txBody>
          <a:bodyPr wrap="square" rtlCol="0" anchor="ctr"/>
          <a:lstStyle/>
          <a:p>
            <a:pPr marL="0" indent="0">
              <a:buNone/>
            </a:pPr>
            <a:r>
              <a:rPr lang="en-US" sz="1050" b="1" kern="0" spc="200" dirty="0">
                <a:solidFill>
                  <a:srgbClr val="7C8A9B"/>
                </a:solidFill>
                <a:latin typeface="Segoe UI Semibold" pitchFamily="34" charset="0"/>
                <a:ea typeface="Segoe UI Semibold" pitchFamily="34" charset="-122"/>
                <a:cs typeface="Segoe UI Semibold" pitchFamily="34" charset="-120"/>
              </a:rPr>
              <a:t>CONNECTS TO VENUES LIKE</a:t>
            </a:r>
            <a:endParaRPr lang="en-US" sz="1050" dirty="0"/>
          </a:p>
        </p:txBody>
      </p:sp>
      <p:sp>
        <p:nvSpPr>
          <p:cNvPr id="15" name="Text 10"/>
          <p:cNvSpPr/>
          <p:nvPr/>
        </p:nvSpPr>
        <p:spPr>
          <a:xfrm>
            <a:off x="927100" y="4724400"/>
            <a:ext cx="4610100" cy="508000"/>
          </a:xfrm>
          <a:prstGeom prst="rect">
            <a:avLst/>
          </a:prstGeom>
          <a:noFill/>
          <a:ln/>
        </p:spPr>
        <p:txBody>
          <a:bodyPr wrap="square" rtlCol="0" anchor="ctr"/>
          <a:lstStyle/>
          <a:p>
            <a:pPr marL="0" indent="0">
              <a:buNone/>
            </a:pPr>
            <a:r>
              <a:rPr lang="en-US" sz="1150" dirty="0">
                <a:solidFill>
                  <a:srgbClr val="AAB6C7"/>
                </a:solidFill>
                <a:latin typeface="Segoe UI" pitchFamily="34" charset="0"/>
                <a:ea typeface="Segoe UI" pitchFamily="34" charset="-122"/>
                <a:cs typeface="Segoe UI" pitchFamily="34" charset="-120"/>
              </a:rPr>
              <a:t>360T · FXall · Bloomberg FX GO · Citi Pulse · BidFX and more.</a:t>
            </a:r>
            <a:endParaRPr lang="en-US" sz="1150" dirty="0"/>
          </a:p>
        </p:txBody>
      </p:sp>
      <p:sp>
        <p:nvSpPr>
          <p:cNvPr id="16" name="Shape 11"/>
          <p:cNvSpPr/>
          <p:nvPr/>
        </p:nvSpPr>
        <p:spPr>
          <a:xfrm>
            <a:off x="6278728" y="2103120"/>
            <a:ext cx="5346040" cy="3154680"/>
          </a:xfrm>
          <a:prstGeom prst="roundRect">
            <a:avLst>
              <a:gd name="adj" fmla="val 2609"/>
            </a:avLst>
          </a:prstGeom>
          <a:solidFill>
            <a:srgbClr val="141A25"/>
          </a:solidFill>
          <a:ln w="13970">
            <a:solidFill>
              <a:srgbClr val="36414F"/>
            </a:solidFill>
            <a:prstDash val="solid"/>
          </a:ln>
        </p:spPr>
        <p:txBody>
          <a:bodyPr/>
          <a:lstStyle/>
          <a:p>
            <a:endParaRPr lang="en-US"/>
          </a:p>
        </p:txBody>
      </p:sp>
      <p:sp>
        <p:nvSpPr>
          <p:cNvPr id="17" name="Shape 12"/>
          <p:cNvSpPr/>
          <p:nvPr/>
        </p:nvSpPr>
        <p:spPr>
          <a:xfrm>
            <a:off x="6644488" y="2468880"/>
            <a:ext cx="749808" cy="749808"/>
          </a:xfrm>
          <a:prstGeom prst="roundRect">
            <a:avLst>
              <a:gd name="adj" fmla="val 13415"/>
            </a:avLst>
          </a:prstGeom>
          <a:solidFill>
            <a:srgbClr val="1B2330"/>
          </a:solidFill>
          <a:ln w="15240">
            <a:solidFill>
              <a:srgbClr val="3BE3E0"/>
            </a:solidFill>
            <a:prstDash val="solid"/>
          </a:ln>
        </p:spPr>
        <p:txBody>
          <a:bodyPr/>
          <a:lstStyle/>
          <a:p>
            <a:endParaRPr lang="en-US"/>
          </a:p>
        </p:txBody>
      </p:sp>
      <p:pic>
        <p:nvPicPr>
          <p:cNvPr id="18" name="Image 3" descr="C:/Users/neuma_p1qrsic/Repo/agentic-ops1/.scratch/icons/database.png"/>
          <p:cNvPicPr>
            <a:picLocks noChangeAspect="1"/>
          </p:cNvPicPr>
          <p:nvPr/>
        </p:nvPicPr>
        <p:blipFill>
          <a:blip r:embed="rId4"/>
          <a:stretch>
            <a:fillRect/>
          </a:stretch>
        </p:blipFill>
        <p:spPr>
          <a:xfrm>
            <a:off x="6824442" y="2648834"/>
            <a:ext cx="389900" cy="389900"/>
          </a:xfrm>
          <a:prstGeom prst="rect">
            <a:avLst/>
          </a:prstGeom>
        </p:spPr>
      </p:pic>
      <p:sp>
        <p:nvSpPr>
          <p:cNvPr id="19" name="Text 13"/>
          <p:cNvSpPr/>
          <p:nvPr/>
        </p:nvSpPr>
        <p:spPr>
          <a:xfrm>
            <a:off x="7604608" y="2560320"/>
            <a:ext cx="3745840" cy="594360"/>
          </a:xfrm>
          <a:prstGeom prst="rect">
            <a:avLst/>
          </a:prstGeom>
          <a:noFill/>
          <a:ln/>
        </p:spPr>
        <p:txBody>
          <a:bodyPr wrap="square" rtlCol="0" anchor="ctr"/>
          <a:lstStyle/>
          <a:p>
            <a:pPr marL="0" indent="0">
              <a:buNone/>
            </a:pPr>
            <a:r>
              <a:rPr lang="en-US" sz="2200" b="1" dirty="0">
                <a:solidFill>
                  <a:srgbClr val="F3F6FB"/>
                </a:solidFill>
                <a:latin typeface="Segoe UI Semibold" pitchFamily="34" charset="0"/>
                <a:ea typeface="Segoe UI Semibold" pitchFamily="34" charset="-122"/>
                <a:cs typeface="Segoe UI Semibold" pitchFamily="34" charset="-120"/>
              </a:rPr>
              <a:t>Any system, out</a:t>
            </a:r>
            <a:endParaRPr lang="en-US" sz="2200" dirty="0"/>
          </a:p>
        </p:txBody>
      </p:sp>
      <p:sp>
        <p:nvSpPr>
          <p:cNvPr id="20" name="Text 14"/>
          <p:cNvSpPr/>
          <p:nvPr/>
        </p:nvSpPr>
        <p:spPr>
          <a:xfrm>
            <a:off x="6644488" y="3474720"/>
            <a:ext cx="4614520" cy="822960"/>
          </a:xfrm>
          <a:prstGeom prst="rect">
            <a:avLst/>
          </a:prstGeom>
          <a:noFill/>
          <a:ln/>
        </p:spPr>
        <p:txBody>
          <a:bodyPr wrap="square" rtlCol="0" anchor="t"/>
          <a:lstStyle/>
          <a:p>
            <a:pPr marL="0" indent="0">
              <a:lnSpc>
                <a:spcPct val="124000"/>
              </a:lnSpc>
              <a:buNone/>
            </a:pPr>
            <a:r>
              <a:rPr lang="en-US" sz="1350" dirty="0">
                <a:solidFill>
                  <a:srgbClr val="AAB6C7"/>
                </a:solidFill>
                <a:latin typeface="Segoe UI" pitchFamily="34" charset="0"/>
                <a:ea typeface="Segoe UI" pitchFamily="34" charset="-122"/>
                <a:cs typeface="Segoe UI" pitchFamily="34" charset="-120"/>
              </a:rPr>
              <a:t>Send the finished trade into SAP Treasury, or into the treasury system you already use. No lock-in on either end.</a:t>
            </a:r>
            <a:endParaRPr lang="en-US" sz="1350" dirty="0"/>
          </a:p>
        </p:txBody>
      </p:sp>
      <p:sp>
        <p:nvSpPr>
          <p:cNvPr id="21" name="Text 15"/>
          <p:cNvSpPr/>
          <p:nvPr/>
        </p:nvSpPr>
        <p:spPr>
          <a:xfrm>
            <a:off x="6635572" y="4471416"/>
            <a:ext cx="4614520" cy="237744"/>
          </a:xfrm>
          <a:prstGeom prst="rect">
            <a:avLst/>
          </a:prstGeom>
          <a:noFill/>
          <a:ln/>
        </p:spPr>
        <p:txBody>
          <a:bodyPr wrap="square" rtlCol="0" anchor="ctr"/>
          <a:lstStyle/>
          <a:p>
            <a:pPr marL="0" indent="0">
              <a:buNone/>
            </a:pPr>
            <a:r>
              <a:rPr lang="en-US" sz="1050" b="1" kern="0" spc="200" dirty="0">
                <a:solidFill>
                  <a:srgbClr val="7C8A9B"/>
                </a:solidFill>
                <a:latin typeface="Segoe UI Semibold" pitchFamily="34" charset="0"/>
                <a:ea typeface="Segoe UI Semibold" pitchFamily="34" charset="-122"/>
                <a:cs typeface="Segoe UI Semibold" pitchFamily="34" charset="-120"/>
              </a:rPr>
              <a:t>BOOKS STRAIGHT INTO</a:t>
            </a:r>
            <a:endParaRPr lang="en-US" sz="1050" dirty="0"/>
          </a:p>
        </p:txBody>
      </p:sp>
      <p:grpSp>
        <p:nvGrpSpPr>
          <p:cNvPr id="11" name="Group 10">
            <a:extLst>
              <a:ext uri="{FF2B5EF4-FFF2-40B4-BE49-F238E27FC236}">
                <a16:creationId xmlns:a16="http://schemas.microsoft.com/office/drawing/2014/main" id="{B3C6280C-7B66-6DA3-593A-B7ADDCE12D11}"/>
              </a:ext>
            </a:extLst>
          </p:cNvPr>
          <p:cNvGrpSpPr/>
          <p:nvPr/>
        </p:nvGrpSpPr>
        <p:grpSpPr>
          <a:xfrm>
            <a:off x="6644488" y="4709160"/>
            <a:ext cx="1254830" cy="438912"/>
            <a:chOff x="6644488" y="4663440"/>
            <a:chExt cx="1417320" cy="530352"/>
          </a:xfrm>
        </p:grpSpPr>
        <p:sp>
          <p:nvSpPr>
            <p:cNvPr id="22" name="Shape 16"/>
            <p:cNvSpPr/>
            <p:nvPr/>
          </p:nvSpPr>
          <p:spPr>
            <a:xfrm>
              <a:off x="6644488" y="4663440"/>
              <a:ext cx="1417320" cy="530352"/>
            </a:xfrm>
            <a:prstGeom prst="roundRect">
              <a:avLst>
                <a:gd name="adj" fmla="val 24138"/>
              </a:avLst>
            </a:prstGeom>
            <a:solidFill>
              <a:srgbClr val="FFFFFF"/>
            </a:solidFill>
            <a:ln w="9525">
              <a:solidFill>
                <a:srgbClr val="36414F"/>
              </a:solidFill>
              <a:prstDash val="solid"/>
            </a:ln>
          </p:spPr>
          <p:txBody>
            <a:bodyPr/>
            <a:lstStyle/>
            <a:p>
              <a:endParaRPr lang="en-US"/>
            </a:p>
          </p:txBody>
        </p:sp>
        <p:pic>
          <p:nvPicPr>
            <p:cNvPr id="23" name="Image 4" descr="C:/Users/neuma_p1qrsic/Repo/agentic-ops1/.scratch/deckgen/logos/sap.png"/>
            <p:cNvPicPr>
              <a:picLocks noChangeAspect="1"/>
            </p:cNvPicPr>
            <p:nvPr/>
          </p:nvPicPr>
          <p:blipFill>
            <a:blip r:embed="rId5"/>
            <a:stretch>
              <a:fillRect/>
            </a:stretch>
          </p:blipFill>
          <p:spPr>
            <a:xfrm>
              <a:off x="6999803" y="4753600"/>
              <a:ext cx="706690" cy="350032"/>
            </a:xfrm>
            <a:prstGeom prst="rect">
              <a:avLst/>
            </a:prstGeom>
          </p:spPr>
        </p:pic>
      </p:grpSp>
      <p:sp>
        <p:nvSpPr>
          <p:cNvPr id="24" name="Text 17"/>
          <p:cNvSpPr/>
          <p:nvPr/>
        </p:nvSpPr>
        <p:spPr>
          <a:xfrm>
            <a:off x="8198968" y="4663440"/>
            <a:ext cx="3060040" cy="530352"/>
          </a:xfrm>
          <a:prstGeom prst="rect">
            <a:avLst/>
          </a:prstGeom>
          <a:noFill/>
          <a:ln/>
        </p:spPr>
        <p:txBody>
          <a:bodyPr wrap="square" rtlCol="0" anchor="ctr"/>
          <a:lstStyle/>
          <a:p>
            <a:pPr marL="0" indent="0">
              <a:buNone/>
            </a:pPr>
            <a:r>
              <a:rPr lang="en-US" sz="1200" dirty="0">
                <a:solidFill>
                  <a:srgbClr val="AAB6C7"/>
                </a:solidFill>
                <a:latin typeface="Segoe UI" pitchFamily="34" charset="0"/>
                <a:ea typeface="Segoe UI" pitchFamily="34" charset="-122"/>
                <a:cs typeface="Segoe UI" pitchFamily="34" charset="-120"/>
              </a:rPr>
              <a:t>and any other treasury system you use.</a:t>
            </a:r>
            <a:endParaRPr lang="en-US" sz="1200" dirty="0"/>
          </a:p>
        </p:txBody>
      </p:sp>
      <p:sp>
        <p:nvSpPr>
          <p:cNvPr id="25" name="Text 18"/>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xml:space="preserve">   Smart Trading, part of OnePilot</a:t>
            </a:r>
            <a:endParaRPr lang="en-US" sz="900" dirty="0"/>
          </a:p>
        </p:txBody>
      </p:sp>
      <p:sp>
        <p:nvSpPr>
          <p:cNvPr id="26" name="Text 19"/>
          <p:cNvSpPr/>
          <p:nvPr/>
        </p:nvSpPr>
        <p:spPr>
          <a:xfrm>
            <a:off x="10527487" y="6400800"/>
            <a:ext cx="1097280" cy="274320"/>
          </a:xfrm>
          <a:prstGeom prst="rect">
            <a:avLst/>
          </a:prstGeom>
          <a:noFill/>
          <a:ln/>
        </p:spPr>
        <p:txBody>
          <a:bodyPr wrap="square" rtlCol="0" anchor="ctr"/>
          <a:lstStyle/>
          <a:p>
            <a:pPr marL="0" indent="0" algn="r">
              <a:buNone/>
            </a:pPr>
            <a:r>
              <a:rPr lang="en-US" sz="900" dirty="0">
                <a:solidFill>
                  <a:srgbClr val="AAB6C7"/>
                </a:solidFill>
                <a:latin typeface="Segoe UI" pitchFamily="34" charset="0"/>
                <a:ea typeface="Segoe UI" pitchFamily="34" charset="-122"/>
                <a:cs typeface="Segoe UI" pitchFamily="34" charset="-120"/>
              </a:rPr>
              <a:t>06 / 11</a:t>
            </a:r>
            <a:endParaRPr lang="en-US" sz="900" dirty="0"/>
          </a:p>
        </p:txBody>
      </p:sp>
      <p:sp>
        <p:nvSpPr>
          <p:cNvPr id="27" name="Shape 20"/>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extLst>
      <p:ext uri="{BB962C8B-B14F-4D97-AF65-F5344CB8AC3E}">
        <p14:creationId xmlns:p14="http://schemas.microsoft.com/office/powerpoint/2010/main" val="2441269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HOW IT FITS TOGETHER</a:t>
            </a:r>
            <a:endParaRPr lang="en-US" sz="1200" dirty="0"/>
          </a:p>
        </p:txBody>
      </p:sp>
      <p:sp>
        <p:nvSpPr>
          <p:cNvPr id="4" name="Text 2"/>
          <p:cNvSpPr/>
          <p:nvPr/>
        </p:nvSpPr>
        <p:spPr>
          <a:xfrm>
            <a:off x="566928" y="960120"/>
            <a:ext cx="10607040" cy="731520"/>
          </a:xfrm>
          <a:prstGeom prst="rect">
            <a:avLst/>
          </a:prstGeom>
          <a:noFill/>
          <a:ln/>
        </p:spPr>
        <p:txBody>
          <a:bodyPr wrap="square" rtlCol="0" anchor="ctr"/>
          <a:lstStyle/>
          <a:p>
            <a:pPr marL="0" indent="0">
              <a:buNone/>
            </a:pPr>
            <a:r>
              <a:rPr lang="en-US" sz="2800" b="1" dirty="0">
                <a:solidFill>
                  <a:srgbClr val="F3F6FB"/>
                </a:solidFill>
                <a:latin typeface="Segoe UI Semibold" pitchFamily="34" charset="0"/>
                <a:ea typeface="Segoe UI Semibold" pitchFamily="34" charset="-122"/>
                <a:cs typeface="Segoe UI Semibold" pitchFamily="34" charset="-120"/>
              </a:rPr>
              <a:t>One layer between your venues and SAP.</a:t>
            </a:r>
            <a:endParaRPr lang="en-US" sz="2800" dirty="0"/>
          </a:p>
        </p:txBody>
      </p:sp>
      <p:sp>
        <p:nvSpPr>
          <p:cNvPr id="5" name="Shape 3"/>
          <p:cNvSpPr/>
          <p:nvPr/>
        </p:nvSpPr>
        <p:spPr>
          <a:xfrm>
            <a:off x="566928" y="2148840"/>
            <a:ext cx="3063240" cy="2514600"/>
          </a:xfrm>
          <a:prstGeom prst="roundRect">
            <a:avLst>
              <a:gd name="adj" fmla="val 3273"/>
            </a:avLst>
          </a:prstGeom>
          <a:solidFill>
            <a:srgbClr val="141A25"/>
          </a:solidFill>
          <a:ln w="13970">
            <a:solidFill>
              <a:srgbClr val="36414F"/>
            </a:solidFill>
            <a:prstDash val="solid"/>
          </a:ln>
        </p:spPr>
        <p:txBody>
          <a:bodyPr/>
          <a:lstStyle/>
          <a:p>
            <a:endParaRPr lang="en-US"/>
          </a:p>
        </p:txBody>
      </p:sp>
      <p:sp>
        <p:nvSpPr>
          <p:cNvPr id="6" name="Shape 4"/>
          <p:cNvSpPr/>
          <p:nvPr/>
        </p:nvSpPr>
        <p:spPr>
          <a:xfrm>
            <a:off x="841248" y="2423160"/>
            <a:ext cx="548640" cy="548640"/>
          </a:xfrm>
          <a:prstGeom prst="roundRect">
            <a:avLst>
              <a:gd name="adj" fmla="val 18333"/>
            </a:avLst>
          </a:prstGeom>
          <a:solidFill>
            <a:srgbClr val="1B2330"/>
          </a:solidFill>
          <a:ln w="15240">
            <a:solidFill>
              <a:srgbClr val="3BE3E0"/>
            </a:solidFill>
            <a:prstDash val="solid"/>
          </a:ln>
        </p:spPr>
        <p:txBody>
          <a:bodyPr/>
          <a:lstStyle/>
          <a:p>
            <a:endParaRPr lang="en-US"/>
          </a:p>
        </p:txBody>
      </p:sp>
      <p:pic>
        <p:nvPicPr>
          <p:cNvPr id="7" name="Image 0" descr="C:/Users/neuma_p1qrsic/Repo/agentic-ops1/.scratch/icons/venue.png"/>
          <p:cNvPicPr>
            <a:picLocks noChangeAspect="1"/>
          </p:cNvPicPr>
          <p:nvPr/>
        </p:nvPicPr>
        <p:blipFill>
          <a:blip r:embed="rId3"/>
          <a:stretch>
            <a:fillRect/>
          </a:stretch>
        </p:blipFill>
        <p:spPr>
          <a:xfrm>
            <a:off x="972922" y="2554834"/>
            <a:ext cx="285293" cy="285293"/>
          </a:xfrm>
          <a:prstGeom prst="rect">
            <a:avLst/>
          </a:prstGeom>
        </p:spPr>
      </p:pic>
      <p:sp>
        <p:nvSpPr>
          <p:cNvPr id="8" name="Text 5"/>
          <p:cNvSpPr/>
          <p:nvPr/>
        </p:nvSpPr>
        <p:spPr>
          <a:xfrm>
            <a:off x="1527048" y="2423160"/>
            <a:ext cx="1920240" cy="548640"/>
          </a:xfrm>
          <a:prstGeom prst="rect">
            <a:avLst/>
          </a:prstGeom>
          <a:noFill/>
          <a:ln/>
        </p:spPr>
        <p:txBody>
          <a:bodyPr wrap="square" rtlCol="0" anchor="ctr"/>
          <a:lstStyle/>
          <a:p>
            <a:pPr marL="0" indent="0">
              <a:buNone/>
            </a:pPr>
            <a:r>
              <a:rPr lang="en-US" sz="1350" b="1" dirty="0">
                <a:solidFill>
                  <a:srgbClr val="F3F6FB"/>
                </a:solidFill>
                <a:latin typeface="Segoe UI Semibold" pitchFamily="34" charset="0"/>
                <a:ea typeface="Segoe UI Semibold" pitchFamily="34" charset="-122"/>
                <a:cs typeface="Segoe UI Semibold" pitchFamily="34" charset="-120"/>
              </a:rPr>
              <a:t>Trading venues &amp; banks</a:t>
            </a:r>
            <a:endParaRPr lang="en-US" sz="1350" dirty="0"/>
          </a:p>
        </p:txBody>
      </p:sp>
      <p:sp>
        <p:nvSpPr>
          <p:cNvPr id="9" name="Text 6"/>
          <p:cNvSpPr/>
          <p:nvPr/>
        </p:nvSpPr>
        <p:spPr>
          <a:xfrm>
            <a:off x="841248" y="3200400"/>
            <a:ext cx="2606040" cy="1371600"/>
          </a:xfrm>
          <a:prstGeom prst="rect">
            <a:avLst/>
          </a:prstGeom>
          <a:noFill/>
          <a:ln/>
        </p:spPr>
        <p:txBody>
          <a:bodyPr wrap="square" rtlCol="0" anchor="ctr"/>
          <a:lstStyle/>
          <a:p>
            <a:pPr marL="0" indent="0">
              <a:lnSpc>
                <a:spcPct val="125000"/>
              </a:lnSpc>
              <a:buNone/>
            </a:pPr>
            <a:r>
              <a:rPr lang="en-US" sz="1300" dirty="0">
                <a:solidFill>
                  <a:srgbClr val="AAB6C7"/>
                </a:solidFill>
                <a:latin typeface="Segoe UI" pitchFamily="34" charset="0"/>
                <a:ea typeface="Segoe UI" pitchFamily="34" charset="-122"/>
                <a:cs typeface="Segoe UI" pitchFamily="34" charset="-120"/>
              </a:rPr>
              <a:t>The venues you just</a:t>
            </a:r>
            <a:endParaRPr lang="en-US" sz="1300" dirty="0"/>
          </a:p>
          <a:p>
            <a:pPr marL="0" indent="0">
              <a:lnSpc>
                <a:spcPct val="125000"/>
              </a:lnSpc>
              <a:buNone/>
            </a:pPr>
            <a:r>
              <a:rPr lang="en-US" sz="1300" dirty="0">
                <a:solidFill>
                  <a:srgbClr val="AAB6C7"/>
                </a:solidFill>
                <a:latin typeface="Segoe UI" pitchFamily="34" charset="0"/>
                <a:ea typeface="Segoe UI" pitchFamily="34" charset="-122"/>
                <a:cs typeface="Segoe UI" pitchFamily="34" charset="-120"/>
              </a:rPr>
              <a:t>plugged in, plus banks</a:t>
            </a:r>
            <a:endParaRPr lang="en-US" sz="1300" dirty="0"/>
          </a:p>
          <a:p>
            <a:pPr marL="0" indent="0">
              <a:lnSpc>
                <a:spcPct val="125000"/>
              </a:lnSpc>
              <a:buNone/>
            </a:pPr>
            <a:r>
              <a:rPr lang="en-US" sz="1300" dirty="0">
                <a:solidFill>
                  <a:srgbClr val="AAB6C7"/>
                </a:solidFill>
                <a:latin typeface="Segoe UI" pitchFamily="34" charset="0"/>
                <a:ea typeface="Segoe UI" pitchFamily="34" charset="-122"/>
                <a:cs typeface="Segoe UI" pitchFamily="34" charset="-120"/>
              </a:rPr>
              <a:t>and brokers</a:t>
            </a:r>
            <a:endParaRPr lang="en-US" sz="1300" dirty="0"/>
          </a:p>
        </p:txBody>
      </p:sp>
      <p:sp>
        <p:nvSpPr>
          <p:cNvPr id="10" name="Shape 7"/>
          <p:cNvSpPr/>
          <p:nvPr/>
        </p:nvSpPr>
        <p:spPr>
          <a:xfrm>
            <a:off x="4087368" y="2148840"/>
            <a:ext cx="3566160" cy="2514600"/>
          </a:xfrm>
          <a:prstGeom prst="roundRect">
            <a:avLst>
              <a:gd name="adj" fmla="val 3273"/>
            </a:avLst>
          </a:prstGeom>
          <a:solidFill>
            <a:srgbClr val="10222A"/>
          </a:solidFill>
          <a:ln w="19050">
            <a:solidFill>
              <a:srgbClr val="3BE3E0"/>
            </a:solidFill>
            <a:prstDash val="solid"/>
          </a:ln>
        </p:spPr>
        <p:txBody>
          <a:bodyPr/>
          <a:lstStyle/>
          <a:p>
            <a:endParaRPr lang="en-US"/>
          </a:p>
        </p:txBody>
      </p:sp>
      <p:pic>
        <p:nvPicPr>
          <p:cNvPr id="11" name="Image 1" descr="C:/Users/neuma_p1qrsic/Repo/agentic-ops1/.scratch/logo/favicon.png"/>
          <p:cNvPicPr>
            <a:picLocks noChangeAspect="1"/>
          </p:cNvPicPr>
          <p:nvPr/>
        </p:nvPicPr>
        <p:blipFill>
          <a:blip r:embed="rId4"/>
          <a:stretch>
            <a:fillRect/>
          </a:stretch>
        </p:blipFill>
        <p:spPr>
          <a:xfrm>
            <a:off x="5650992" y="2514600"/>
            <a:ext cx="438912" cy="438912"/>
          </a:xfrm>
          <a:prstGeom prst="rect">
            <a:avLst/>
          </a:prstGeom>
        </p:spPr>
      </p:pic>
      <p:sp>
        <p:nvSpPr>
          <p:cNvPr id="12" name="Text 8"/>
          <p:cNvSpPr/>
          <p:nvPr/>
        </p:nvSpPr>
        <p:spPr>
          <a:xfrm>
            <a:off x="4087368" y="3063240"/>
            <a:ext cx="3566160" cy="411480"/>
          </a:xfrm>
          <a:prstGeom prst="rect">
            <a:avLst/>
          </a:prstGeom>
          <a:noFill/>
          <a:ln/>
        </p:spPr>
        <p:txBody>
          <a:bodyPr wrap="square" rtlCol="0" anchor="ctr"/>
          <a:lstStyle/>
          <a:p>
            <a:pPr marL="0" indent="0" algn="ctr">
              <a:buNone/>
            </a:pPr>
            <a:r>
              <a:rPr lang="en-US" sz="2100" b="1" dirty="0">
                <a:solidFill>
                  <a:srgbClr val="F3F6FB"/>
                </a:solidFill>
                <a:latin typeface="Segoe UI Semibold" pitchFamily="34" charset="0"/>
                <a:ea typeface="Segoe UI Semibold" pitchFamily="34" charset="-122"/>
                <a:cs typeface="Segoe UI Semibold" pitchFamily="34" charset="-120"/>
              </a:rPr>
              <a:t>Smart Trading</a:t>
            </a:r>
            <a:endParaRPr lang="en-US" sz="2100" dirty="0"/>
          </a:p>
        </p:txBody>
      </p:sp>
      <p:sp>
        <p:nvSpPr>
          <p:cNvPr id="13" name="Text 9"/>
          <p:cNvSpPr/>
          <p:nvPr/>
        </p:nvSpPr>
        <p:spPr>
          <a:xfrm>
            <a:off x="4087368" y="3447288"/>
            <a:ext cx="3566160" cy="320040"/>
          </a:xfrm>
          <a:prstGeom prst="rect">
            <a:avLst/>
          </a:prstGeom>
          <a:noFill/>
          <a:ln/>
        </p:spPr>
        <p:txBody>
          <a:bodyPr wrap="square" rtlCol="0" anchor="ctr"/>
          <a:lstStyle/>
          <a:p>
            <a:pPr marL="0" indent="0" algn="ctr">
              <a:buNone/>
            </a:pPr>
            <a:r>
              <a:rPr lang="en-US" sz="1350" dirty="0">
                <a:solidFill>
                  <a:srgbClr val="3BE3E0"/>
                </a:solidFill>
                <a:latin typeface="Segoe UI" pitchFamily="34" charset="0"/>
                <a:ea typeface="Segoe UI" pitchFamily="34" charset="-122"/>
                <a:cs typeface="Segoe UI" pitchFamily="34" charset="-120"/>
              </a:rPr>
              <a:t>one app on OnePilot</a:t>
            </a:r>
            <a:endParaRPr lang="en-US" sz="1350" dirty="0"/>
          </a:p>
        </p:txBody>
      </p:sp>
      <p:sp>
        <p:nvSpPr>
          <p:cNvPr id="14" name="Text 10"/>
          <p:cNvSpPr/>
          <p:nvPr/>
        </p:nvSpPr>
        <p:spPr>
          <a:xfrm>
            <a:off x="4087368" y="3813048"/>
            <a:ext cx="3566160" cy="685800"/>
          </a:xfrm>
          <a:prstGeom prst="rect">
            <a:avLst/>
          </a:prstGeom>
          <a:noFill/>
          <a:ln/>
        </p:spPr>
        <p:txBody>
          <a:bodyPr wrap="square" rtlCol="0" anchor="ctr"/>
          <a:lstStyle/>
          <a:p>
            <a:pPr marL="0" indent="0" algn="ctr">
              <a:lnSpc>
                <a:spcPct val="110000"/>
              </a:lnSpc>
              <a:buNone/>
            </a:pPr>
            <a:r>
              <a:rPr lang="en-US" sz="1200" dirty="0">
                <a:solidFill>
                  <a:srgbClr val="AAB6C7"/>
                </a:solidFill>
                <a:latin typeface="Segoe UI" pitchFamily="34" charset="0"/>
                <a:ea typeface="Segoe UI" pitchFamily="34" charset="-122"/>
                <a:cs typeface="Segoe UI" pitchFamily="34" charset="-120"/>
              </a:rPr>
              <a:t>runs on SAP's own cloud,</a:t>
            </a:r>
            <a:endParaRPr lang="en-US" sz="1200" dirty="0"/>
          </a:p>
          <a:p>
            <a:pPr marL="0" indent="0" algn="ctr">
              <a:lnSpc>
                <a:spcPct val="110000"/>
              </a:lnSpc>
              <a:buNone/>
            </a:pPr>
            <a:r>
              <a:rPr lang="en-US" sz="1200" dirty="0">
                <a:solidFill>
                  <a:srgbClr val="AAB6C7"/>
                </a:solidFill>
                <a:latin typeface="Segoe UI" pitchFamily="34" charset="0"/>
                <a:ea typeface="Segoe UI" pitchFamily="34" charset="-122"/>
                <a:cs typeface="Segoe UI" pitchFamily="34" charset="-120"/>
              </a:rPr>
              <a:t>checks and logs every step</a:t>
            </a:r>
            <a:endParaRPr lang="en-US" sz="1200" dirty="0"/>
          </a:p>
        </p:txBody>
      </p:sp>
      <p:sp>
        <p:nvSpPr>
          <p:cNvPr id="15" name="Shape 11"/>
          <p:cNvSpPr/>
          <p:nvPr/>
        </p:nvSpPr>
        <p:spPr>
          <a:xfrm>
            <a:off x="8110728" y="2148840"/>
            <a:ext cx="3514039" cy="2514600"/>
          </a:xfrm>
          <a:prstGeom prst="roundRect">
            <a:avLst>
              <a:gd name="adj" fmla="val 3273"/>
            </a:avLst>
          </a:prstGeom>
          <a:solidFill>
            <a:srgbClr val="141A25"/>
          </a:solidFill>
          <a:ln w="13970">
            <a:solidFill>
              <a:srgbClr val="36414F"/>
            </a:solidFill>
            <a:prstDash val="solid"/>
          </a:ln>
        </p:spPr>
        <p:txBody>
          <a:bodyPr/>
          <a:lstStyle/>
          <a:p>
            <a:endParaRPr lang="en-US"/>
          </a:p>
        </p:txBody>
      </p:sp>
      <p:sp>
        <p:nvSpPr>
          <p:cNvPr id="16" name="Shape 12"/>
          <p:cNvSpPr/>
          <p:nvPr/>
        </p:nvSpPr>
        <p:spPr>
          <a:xfrm>
            <a:off x="8385048" y="2423160"/>
            <a:ext cx="548640" cy="548640"/>
          </a:xfrm>
          <a:prstGeom prst="roundRect">
            <a:avLst>
              <a:gd name="adj" fmla="val 18333"/>
            </a:avLst>
          </a:prstGeom>
          <a:solidFill>
            <a:srgbClr val="1B2330"/>
          </a:solidFill>
          <a:ln w="15240">
            <a:solidFill>
              <a:srgbClr val="3BE3E0"/>
            </a:solidFill>
            <a:prstDash val="solid"/>
          </a:ln>
        </p:spPr>
        <p:txBody>
          <a:bodyPr/>
          <a:lstStyle/>
          <a:p>
            <a:endParaRPr lang="en-US"/>
          </a:p>
        </p:txBody>
      </p:sp>
      <p:pic>
        <p:nvPicPr>
          <p:cNvPr id="17" name="Image 2" descr="C:/Users/neuma_p1qrsic/Repo/agentic-ops1/.scratch/icons/database.png"/>
          <p:cNvPicPr>
            <a:picLocks noChangeAspect="1"/>
          </p:cNvPicPr>
          <p:nvPr/>
        </p:nvPicPr>
        <p:blipFill>
          <a:blip r:embed="rId5"/>
          <a:stretch>
            <a:fillRect/>
          </a:stretch>
        </p:blipFill>
        <p:spPr>
          <a:xfrm>
            <a:off x="8516722" y="2554834"/>
            <a:ext cx="285293" cy="285293"/>
          </a:xfrm>
          <a:prstGeom prst="rect">
            <a:avLst/>
          </a:prstGeom>
        </p:spPr>
      </p:pic>
      <p:sp>
        <p:nvSpPr>
          <p:cNvPr id="18" name="Text 13"/>
          <p:cNvSpPr/>
          <p:nvPr/>
        </p:nvSpPr>
        <p:spPr>
          <a:xfrm>
            <a:off x="9070848" y="2423160"/>
            <a:ext cx="2325319" cy="548640"/>
          </a:xfrm>
          <a:prstGeom prst="rect">
            <a:avLst/>
          </a:prstGeom>
          <a:noFill/>
          <a:ln/>
        </p:spPr>
        <p:txBody>
          <a:bodyPr wrap="square" rtlCol="0" anchor="ctr"/>
          <a:lstStyle/>
          <a:p>
            <a:pPr marL="0" indent="0">
              <a:buNone/>
            </a:pPr>
            <a:r>
              <a:rPr lang="en-US" sz="1350" b="1" dirty="0">
                <a:solidFill>
                  <a:srgbClr val="F3F6FB"/>
                </a:solidFill>
                <a:latin typeface="Segoe UI Semibold" pitchFamily="34" charset="0"/>
                <a:ea typeface="Segoe UI Semibold" pitchFamily="34" charset="-122"/>
                <a:cs typeface="Segoe UI Semibold" pitchFamily="34" charset="-120"/>
              </a:rPr>
              <a:t>SAP &amp; analytics</a:t>
            </a:r>
            <a:endParaRPr lang="en-US" sz="1350" dirty="0"/>
          </a:p>
        </p:txBody>
      </p:sp>
      <p:sp>
        <p:nvSpPr>
          <p:cNvPr id="19" name="Text 14"/>
          <p:cNvSpPr/>
          <p:nvPr/>
        </p:nvSpPr>
        <p:spPr>
          <a:xfrm>
            <a:off x="8385048" y="3200400"/>
            <a:ext cx="3011119" cy="1371600"/>
          </a:xfrm>
          <a:prstGeom prst="rect">
            <a:avLst/>
          </a:prstGeom>
          <a:noFill/>
          <a:ln/>
        </p:spPr>
        <p:txBody>
          <a:bodyPr wrap="square" rtlCol="0" anchor="ctr"/>
          <a:lstStyle/>
          <a:p>
            <a:pPr marL="0" indent="0">
              <a:lnSpc>
                <a:spcPct val="125000"/>
              </a:lnSpc>
              <a:buNone/>
            </a:pPr>
            <a:r>
              <a:rPr lang="en-US" sz="1300" dirty="0">
                <a:solidFill>
                  <a:srgbClr val="AAB6C7"/>
                </a:solidFill>
                <a:latin typeface="Segoe UI" pitchFamily="34" charset="0"/>
                <a:ea typeface="Segoe UI" pitchFamily="34" charset="-122"/>
                <a:cs typeface="Segoe UI" pitchFamily="34" charset="-120"/>
              </a:rPr>
              <a:t>SAP Treasury, accounting,</a:t>
            </a:r>
            <a:endParaRPr lang="en-US" sz="1300" dirty="0"/>
          </a:p>
          <a:p>
            <a:pPr marL="0" indent="0">
              <a:lnSpc>
                <a:spcPct val="125000"/>
              </a:lnSpc>
              <a:buNone/>
            </a:pPr>
            <a:r>
              <a:rPr lang="en-US" sz="1300" dirty="0">
                <a:solidFill>
                  <a:srgbClr val="AAB6C7"/>
                </a:solidFill>
                <a:latin typeface="Segoe UI" pitchFamily="34" charset="0"/>
                <a:ea typeface="Segoe UI" pitchFamily="34" charset="-122"/>
                <a:cs typeface="Segoe UI" pitchFamily="34" charset="-120"/>
              </a:rPr>
              <a:t>S/4HANA, Analytics Cloud,</a:t>
            </a:r>
            <a:endParaRPr lang="en-US" sz="1300" dirty="0"/>
          </a:p>
          <a:p>
            <a:pPr marL="0" indent="0">
              <a:lnSpc>
                <a:spcPct val="125000"/>
              </a:lnSpc>
              <a:buNone/>
            </a:pPr>
            <a:r>
              <a:rPr lang="en-US" sz="1300" dirty="0">
                <a:solidFill>
                  <a:srgbClr val="AAB6C7"/>
                </a:solidFill>
                <a:latin typeface="Segoe UI" pitchFamily="34" charset="0"/>
                <a:ea typeface="Segoe UI" pitchFamily="34" charset="-122"/>
                <a:cs typeface="Segoe UI" pitchFamily="34" charset="-120"/>
              </a:rPr>
              <a:t>your order management</a:t>
            </a:r>
            <a:endParaRPr lang="en-US" sz="1300" dirty="0"/>
          </a:p>
        </p:txBody>
      </p:sp>
      <p:sp>
        <p:nvSpPr>
          <p:cNvPr id="20" name="Shape 15"/>
          <p:cNvSpPr/>
          <p:nvPr/>
        </p:nvSpPr>
        <p:spPr>
          <a:xfrm>
            <a:off x="3630168" y="3406140"/>
            <a:ext cx="457200" cy="0"/>
          </a:xfrm>
          <a:prstGeom prst="line">
            <a:avLst/>
          </a:prstGeom>
          <a:noFill/>
          <a:ln w="19050">
            <a:solidFill>
              <a:srgbClr val="3BE3E0"/>
            </a:solidFill>
            <a:prstDash val="solid"/>
            <a:headEnd type="triangle"/>
            <a:tailEnd type="triangle"/>
          </a:ln>
        </p:spPr>
        <p:txBody>
          <a:bodyPr/>
          <a:lstStyle/>
          <a:p>
            <a:endParaRPr lang="en-US"/>
          </a:p>
        </p:txBody>
      </p:sp>
      <p:sp>
        <p:nvSpPr>
          <p:cNvPr id="21" name="Shape 16"/>
          <p:cNvSpPr/>
          <p:nvPr/>
        </p:nvSpPr>
        <p:spPr>
          <a:xfrm>
            <a:off x="7653528" y="3406140"/>
            <a:ext cx="457200" cy="0"/>
          </a:xfrm>
          <a:prstGeom prst="line">
            <a:avLst/>
          </a:prstGeom>
          <a:noFill/>
          <a:ln w="19050">
            <a:solidFill>
              <a:srgbClr val="3BE3E0"/>
            </a:solidFill>
            <a:prstDash val="solid"/>
            <a:headEnd type="triangle"/>
            <a:tailEnd type="triangle"/>
          </a:ln>
        </p:spPr>
        <p:txBody>
          <a:bodyPr/>
          <a:lstStyle/>
          <a:p>
            <a:endParaRPr lang="en-US"/>
          </a:p>
        </p:txBody>
      </p:sp>
      <p:sp>
        <p:nvSpPr>
          <p:cNvPr id="22" name="Shape 17"/>
          <p:cNvSpPr/>
          <p:nvPr/>
        </p:nvSpPr>
        <p:spPr>
          <a:xfrm>
            <a:off x="566928" y="4956048"/>
            <a:ext cx="11057839" cy="914400"/>
          </a:xfrm>
          <a:prstGeom prst="roundRect">
            <a:avLst>
              <a:gd name="adj" fmla="val 8000"/>
            </a:avLst>
          </a:prstGeom>
          <a:solidFill>
            <a:srgbClr val="141A25"/>
          </a:solidFill>
          <a:ln w="13970">
            <a:solidFill>
              <a:srgbClr val="36414F"/>
            </a:solidFill>
            <a:prstDash val="solid"/>
          </a:ln>
        </p:spPr>
        <p:txBody>
          <a:bodyPr/>
          <a:lstStyle/>
          <a:p>
            <a:endParaRPr lang="en-US"/>
          </a:p>
        </p:txBody>
      </p:sp>
      <p:pic>
        <p:nvPicPr>
          <p:cNvPr id="23" name="Image 3" descr="C:/Users/neuma_p1qrsic/Repo/agentic-ops1/.scratch/icons/shield.png"/>
          <p:cNvPicPr>
            <a:picLocks noChangeAspect="1"/>
          </p:cNvPicPr>
          <p:nvPr/>
        </p:nvPicPr>
        <p:blipFill>
          <a:blip r:embed="rId6"/>
          <a:stretch>
            <a:fillRect/>
          </a:stretch>
        </p:blipFill>
        <p:spPr>
          <a:xfrm>
            <a:off x="841248" y="5212080"/>
            <a:ext cx="402336" cy="402336"/>
          </a:xfrm>
          <a:prstGeom prst="rect">
            <a:avLst/>
          </a:prstGeom>
        </p:spPr>
      </p:pic>
      <p:sp>
        <p:nvSpPr>
          <p:cNvPr id="24" name="Text 18"/>
          <p:cNvSpPr/>
          <p:nvPr/>
        </p:nvSpPr>
        <p:spPr>
          <a:xfrm>
            <a:off x="1435608" y="4956048"/>
            <a:ext cx="9914839" cy="914400"/>
          </a:xfrm>
          <a:prstGeom prst="rect">
            <a:avLst/>
          </a:prstGeom>
          <a:noFill/>
          <a:ln/>
        </p:spPr>
        <p:txBody>
          <a:bodyPr wrap="square" rtlCol="0" anchor="ctr"/>
          <a:lstStyle/>
          <a:p>
            <a:pPr marL="0" indent="0">
              <a:lnSpc>
                <a:spcPct val="110000"/>
              </a:lnSpc>
              <a:buNone/>
            </a:pPr>
            <a:r>
              <a:rPr lang="en-US" sz="1350" dirty="0">
                <a:solidFill>
                  <a:srgbClr val="F3F6FB"/>
                </a:solidFill>
                <a:latin typeface="Segoe UI" pitchFamily="34" charset="0"/>
                <a:ea typeface="Segoe UI" pitchFamily="34" charset="-122"/>
                <a:cs typeface="Segoe UI" pitchFamily="34" charset="-120"/>
              </a:rPr>
              <a:t>Every step through the layer is logged, checked and approved. The next page is the full control set.</a:t>
            </a:r>
            <a:endParaRPr lang="en-US" sz="1350" dirty="0"/>
          </a:p>
        </p:txBody>
      </p:sp>
      <p:sp>
        <p:nvSpPr>
          <p:cNvPr id="25" name="Text 19"/>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xml:space="preserve">   Smart Trading, part of OnePilot</a:t>
            </a:r>
            <a:endParaRPr lang="en-US" sz="900" dirty="0"/>
          </a:p>
        </p:txBody>
      </p:sp>
      <p:sp>
        <p:nvSpPr>
          <p:cNvPr id="26" name="Text 20"/>
          <p:cNvSpPr/>
          <p:nvPr/>
        </p:nvSpPr>
        <p:spPr>
          <a:xfrm>
            <a:off x="10527487" y="6400800"/>
            <a:ext cx="1097280" cy="274320"/>
          </a:xfrm>
          <a:prstGeom prst="rect">
            <a:avLst/>
          </a:prstGeom>
          <a:noFill/>
          <a:ln/>
        </p:spPr>
        <p:txBody>
          <a:bodyPr wrap="square" rtlCol="0" anchor="ctr"/>
          <a:lstStyle/>
          <a:p>
            <a:pPr marL="0" indent="0" algn="r">
              <a:buNone/>
            </a:pPr>
            <a:r>
              <a:rPr lang="en-US" sz="900" dirty="0">
                <a:solidFill>
                  <a:srgbClr val="AAB6C7"/>
                </a:solidFill>
                <a:latin typeface="Segoe UI" pitchFamily="34" charset="0"/>
                <a:ea typeface="Segoe UI" pitchFamily="34" charset="-122"/>
                <a:cs typeface="Segoe UI" pitchFamily="34" charset="-120"/>
              </a:rPr>
              <a:t>07 / 11</a:t>
            </a:r>
            <a:endParaRPr lang="en-US" sz="900" dirty="0"/>
          </a:p>
        </p:txBody>
      </p:sp>
      <p:sp>
        <p:nvSpPr>
          <p:cNvPr id="27" name="Shape 21"/>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21B"/>
        </a:solidFill>
        <a:effectLst/>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TWO CLOCKS, SIDE BY SIDE</a:t>
            </a:r>
            <a:endParaRPr lang="en-US" sz="1200" dirty="0"/>
          </a:p>
        </p:txBody>
      </p:sp>
      <p:sp>
        <p:nvSpPr>
          <p:cNvPr id="4" name="Text 2"/>
          <p:cNvSpPr/>
          <p:nvPr/>
        </p:nvSpPr>
        <p:spPr>
          <a:xfrm>
            <a:off x="566928" y="960120"/>
            <a:ext cx="10881360" cy="731520"/>
          </a:xfrm>
          <a:prstGeom prst="rect">
            <a:avLst/>
          </a:prstGeom>
          <a:noFill/>
          <a:ln/>
        </p:spPr>
        <p:txBody>
          <a:bodyPr wrap="square" rtlCol="0" anchor="ctr"/>
          <a:lstStyle/>
          <a:p>
            <a:pPr marL="0" indent="0">
              <a:buNone/>
            </a:pPr>
            <a:r>
              <a:rPr lang="en-US" sz="2900" b="1" dirty="0">
                <a:solidFill>
                  <a:srgbClr val="F3F6FB"/>
                </a:solidFill>
                <a:latin typeface="Segoe UI Semibold" pitchFamily="34" charset="0"/>
                <a:ea typeface="Segoe UI Semibold" pitchFamily="34" charset="-122"/>
                <a:cs typeface="Segoe UI Semibold" pitchFamily="34" charset="-120"/>
              </a:rPr>
              <a:t>The manual middle, gone.</a:t>
            </a:r>
            <a:endParaRPr lang="en-US" sz="2900" dirty="0"/>
          </a:p>
        </p:txBody>
      </p:sp>
      <p:sp>
        <p:nvSpPr>
          <p:cNvPr id="6" name="Shape 3"/>
          <p:cNvSpPr/>
          <p:nvPr/>
        </p:nvSpPr>
        <p:spPr>
          <a:xfrm>
            <a:off x="7772400" y="2240280"/>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7" name="Image 1" descr="C:/Users/neuma_p1qrsic/Repo/agentic-ops1/.scratch/icons/bolt.png"/>
          <p:cNvPicPr>
            <a:picLocks noChangeAspect="1"/>
          </p:cNvPicPr>
          <p:nvPr/>
        </p:nvPicPr>
        <p:blipFill>
          <a:blip r:embed="rId3"/>
          <a:stretch>
            <a:fillRect/>
          </a:stretch>
        </p:blipFill>
        <p:spPr>
          <a:xfrm>
            <a:off x="7908463" y="2376343"/>
            <a:ext cx="294803" cy="294803"/>
          </a:xfrm>
          <a:prstGeom prst="rect">
            <a:avLst/>
          </a:prstGeom>
        </p:spPr>
      </p:pic>
      <p:sp>
        <p:nvSpPr>
          <p:cNvPr id="8" name="Text 4"/>
          <p:cNvSpPr/>
          <p:nvPr/>
        </p:nvSpPr>
        <p:spPr>
          <a:xfrm>
            <a:off x="8522208" y="2212848"/>
            <a:ext cx="3102559" cy="365760"/>
          </a:xfrm>
          <a:prstGeom prst="rect">
            <a:avLst/>
          </a:prstGeom>
          <a:noFill/>
          <a:ln/>
        </p:spPr>
        <p:txBody>
          <a:bodyPr wrap="square" rtlCol="0" anchor="ctr"/>
          <a:lstStyle/>
          <a:p>
            <a:pPr marL="0" indent="0">
              <a:buNone/>
            </a:pPr>
            <a:r>
              <a:rPr lang="en-US" sz="1550" b="1" dirty="0">
                <a:solidFill>
                  <a:srgbClr val="F3F6FB"/>
                </a:solidFill>
                <a:latin typeface="Segoe UI Semibold" pitchFamily="34" charset="0"/>
                <a:ea typeface="Segoe UI Semibold" pitchFamily="34" charset="-122"/>
                <a:cs typeface="Segoe UI Semibold" pitchFamily="34" charset="-120"/>
              </a:rPr>
              <a:t>Straight to SAP</a:t>
            </a:r>
            <a:endParaRPr lang="en-US" sz="1550" dirty="0"/>
          </a:p>
        </p:txBody>
      </p:sp>
      <p:sp>
        <p:nvSpPr>
          <p:cNvPr id="9" name="Text 5"/>
          <p:cNvSpPr/>
          <p:nvPr/>
        </p:nvSpPr>
        <p:spPr>
          <a:xfrm>
            <a:off x="8522208" y="2578608"/>
            <a:ext cx="3102559" cy="822960"/>
          </a:xfrm>
          <a:prstGeom prst="rect">
            <a:avLst/>
          </a:prstGeom>
          <a:noFill/>
          <a:ln/>
        </p:spPr>
        <p:txBody>
          <a:bodyPr wrap="square" rtlCol="0" anchor="t"/>
          <a:lstStyle/>
          <a:p>
            <a:pPr marL="0" indent="0">
              <a:lnSpc>
                <a:spcPct val="118000"/>
              </a:lnSpc>
              <a:buNone/>
            </a:pPr>
            <a:r>
              <a:rPr lang="en-US" sz="1200" dirty="0">
                <a:solidFill>
                  <a:srgbClr val="AAB6C7"/>
                </a:solidFill>
                <a:latin typeface="Segoe UI" pitchFamily="34" charset="0"/>
                <a:ea typeface="Segoe UI" pitchFamily="34" charset="-122"/>
                <a:cs typeface="Segoe UI" pitchFamily="34" charset="-120"/>
              </a:rPr>
              <a:t>The trade flows from the venue into SAP Treasury on its own, checked and logged.</a:t>
            </a:r>
            <a:endParaRPr lang="en-US" sz="1200" dirty="0"/>
          </a:p>
        </p:txBody>
      </p:sp>
      <p:sp>
        <p:nvSpPr>
          <p:cNvPr id="10" name="Shape 6"/>
          <p:cNvSpPr/>
          <p:nvPr/>
        </p:nvSpPr>
        <p:spPr>
          <a:xfrm>
            <a:off x="7772400" y="3593592"/>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11" name="Image 2" descr="C:/Users/neuma_p1qrsic/Repo/agentic-ops1/.scratch/icons/shield.png"/>
          <p:cNvPicPr>
            <a:picLocks noChangeAspect="1"/>
          </p:cNvPicPr>
          <p:nvPr/>
        </p:nvPicPr>
        <p:blipFill>
          <a:blip r:embed="rId4"/>
          <a:stretch>
            <a:fillRect/>
          </a:stretch>
        </p:blipFill>
        <p:spPr>
          <a:xfrm>
            <a:off x="7908463" y="3729655"/>
            <a:ext cx="294803" cy="294803"/>
          </a:xfrm>
          <a:prstGeom prst="rect">
            <a:avLst/>
          </a:prstGeom>
        </p:spPr>
      </p:pic>
      <p:sp>
        <p:nvSpPr>
          <p:cNvPr id="12" name="Text 7"/>
          <p:cNvSpPr/>
          <p:nvPr/>
        </p:nvSpPr>
        <p:spPr>
          <a:xfrm>
            <a:off x="8522208" y="3566160"/>
            <a:ext cx="3102559" cy="365760"/>
          </a:xfrm>
          <a:prstGeom prst="rect">
            <a:avLst/>
          </a:prstGeom>
          <a:noFill/>
          <a:ln/>
        </p:spPr>
        <p:txBody>
          <a:bodyPr wrap="square" rtlCol="0" anchor="ctr"/>
          <a:lstStyle/>
          <a:p>
            <a:pPr marL="0" indent="0">
              <a:buNone/>
            </a:pPr>
            <a:r>
              <a:rPr lang="en-US" sz="1550" b="1" dirty="0">
                <a:solidFill>
                  <a:srgbClr val="F3F6FB"/>
                </a:solidFill>
                <a:latin typeface="Segoe UI Semibold" pitchFamily="34" charset="0"/>
                <a:ea typeface="Segoe UI Semibold" pitchFamily="34" charset="-122"/>
                <a:cs typeface="Segoe UI Semibold" pitchFamily="34" charset="-120"/>
              </a:rPr>
              <a:t>Approvals, not waiting</a:t>
            </a:r>
            <a:endParaRPr lang="en-US" sz="1550" dirty="0"/>
          </a:p>
        </p:txBody>
      </p:sp>
      <p:sp>
        <p:nvSpPr>
          <p:cNvPr id="13" name="Text 8"/>
          <p:cNvSpPr/>
          <p:nvPr/>
        </p:nvSpPr>
        <p:spPr>
          <a:xfrm>
            <a:off x="8522208" y="3931920"/>
            <a:ext cx="3102559" cy="822960"/>
          </a:xfrm>
          <a:prstGeom prst="rect">
            <a:avLst/>
          </a:prstGeom>
          <a:noFill/>
          <a:ln/>
        </p:spPr>
        <p:txBody>
          <a:bodyPr wrap="square" rtlCol="0" anchor="t"/>
          <a:lstStyle/>
          <a:p>
            <a:pPr marL="0" indent="0">
              <a:lnSpc>
                <a:spcPct val="118000"/>
              </a:lnSpc>
              <a:buNone/>
            </a:pPr>
            <a:r>
              <a:rPr lang="en-US" sz="1200" dirty="0">
                <a:solidFill>
                  <a:srgbClr val="AAB6C7"/>
                </a:solidFill>
                <a:latin typeface="Segoe UI" pitchFamily="34" charset="0"/>
                <a:ea typeface="Segoe UI" pitchFamily="34" charset="-122"/>
                <a:cs typeface="Segoe UI" pitchFamily="34" charset="-120"/>
              </a:rPr>
              <a:t>Sign-off routes to the right person in the tool, so nothing sits in an inbox.</a:t>
            </a:r>
            <a:endParaRPr lang="en-US" sz="1200" dirty="0"/>
          </a:p>
        </p:txBody>
      </p:sp>
      <p:sp>
        <p:nvSpPr>
          <p:cNvPr id="14" name="Shape 9"/>
          <p:cNvSpPr/>
          <p:nvPr/>
        </p:nvSpPr>
        <p:spPr>
          <a:xfrm>
            <a:off x="7772400" y="4946904"/>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15" name="Image 3" descr="C:/Users/neuma_p1qrsic/Repo/agentic-ops1/.scratch/icons/check.png"/>
          <p:cNvPicPr>
            <a:picLocks noChangeAspect="1"/>
          </p:cNvPicPr>
          <p:nvPr/>
        </p:nvPicPr>
        <p:blipFill>
          <a:blip r:embed="rId5"/>
          <a:stretch>
            <a:fillRect/>
          </a:stretch>
        </p:blipFill>
        <p:spPr>
          <a:xfrm>
            <a:off x="7908463" y="5082967"/>
            <a:ext cx="294803" cy="294803"/>
          </a:xfrm>
          <a:prstGeom prst="rect">
            <a:avLst/>
          </a:prstGeom>
        </p:spPr>
      </p:pic>
      <p:sp>
        <p:nvSpPr>
          <p:cNvPr id="16" name="Text 10"/>
          <p:cNvSpPr/>
          <p:nvPr/>
        </p:nvSpPr>
        <p:spPr>
          <a:xfrm>
            <a:off x="8522208" y="4919472"/>
            <a:ext cx="3102559" cy="365760"/>
          </a:xfrm>
          <a:prstGeom prst="rect">
            <a:avLst/>
          </a:prstGeom>
          <a:noFill/>
          <a:ln/>
        </p:spPr>
        <p:txBody>
          <a:bodyPr wrap="square" rtlCol="0" anchor="ctr"/>
          <a:lstStyle/>
          <a:p>
            <a:pPr marL="0" indent="0">
              <a:buNone/>
            </a:pPr>
            <a:r>
              <a:rPr lang="en-US" sz="1550" b="1" dirty="0">
                <a:solidFill>
                  <a:srgbClr val="F3F6FB"/>
                </a:solidFill>
                <a:latin typeface="Segoe UI Semibold" pitchFamily="34" charset="0"/>
                <a:ea typeface="Segoe UI Semibold" pitchFamily="34" charset="-122"/>
                <a:cs typeface="Segoe UI Semibold" pitchFamily="34" charset="-120"/>
              </a:rPr>
              <a:t>Nothing re-typed</a:t>
            </a:r>
            <a:endParaRPr lang="en-US" sz="1550" dirty="0"/>
          </a:p>
        </p:txBody>
      </p:sp>
      <p:sp>
        <p:nvSpPr>
          <p:cNvPr id="17" name="Text 11"/>
          <p:cNvSpPr/>
          <p:nvPr/>
        </p:nvSpPr>
        <p:spPr>
          <a:xfrm>
            <a:off x="8522208" y="5285232"/>
            <a:ext cx="3102559" cy="822960"/>
          </a:xfrm>
          <a:prstGeom prst="rect">
            <a:avLst/>
          </a:prstGeom>
          <a:noFill/>
          <a:ln/>
        </p:spPr>
        <p:txBody>
          <a:bodyPr wrap="square" rtlCol="0" anchor="t"/>
          <a:lstStyle/>
          <a:p>
            <a:pPr marL="0" indent="0">
              <a:lnSpc>
                <a:spcPct val="118000"/>
              </a:lnSpc>
              <a:buNone/>
            </a:pPr>
            <a:r>
              <a:rPr lang="en-US" sz="1200" dirty="0">
                <a:solidFill>
                  <a:srgbClr val="AAB6C7"/>
                </a:solidFill>
                <a:latin typeface="Segoe UI" pitchFamily="34" charset="0"/>
                <a:ea typeface="Segoe UI" pitchFamily="34" charset="-122"/>
                <a:cs typeface="Segoe UI" pitchFamily="34" charset="-120"/>
              </a:rPr>
              <a:t>No re-keying tickets or building deal entries by hand; the busywork is gone.</a:t>
            </a:r>
            <a:endParaRPr lang="en-US" sz="1200" dirty="0"/>
          </a:p>
        </p:txBody>
      </p:sp>
      <p:sp>
        <p:nvSpPr>
          <p:cNvPr id="18" name="Text 12"/>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xml:space="preserve">   Smart Trading, part of OnePilot</a:t>
            </a:r>
            <a:endParaRPr lang="en-US" sz="900" dirty="0"/>
          </a:p>
        </p:txBody>
      </p:sp>
      <p:sp>
        <p:nvSpPr>
          <p:cNvPr id="19" name="Text 13"/>
          <p:cNvSpPr/>
          <p:nvPr/>
        </p:nvSpPr>
        <p:spPr>
          <a:xfrm>
            <a:off x="10527487" y="6400800"/>
            <a:ext cx="1097280" cy="274320"/>
          </a:xfrm>
          <a:prstGeom prst="rect">
            <a:avLst/>
          </a:prstGeom>
          <a:noFill/>
          <a:ln/>
        </p:spPr>
        <p:txBody>
          <a:bodyPr wrap="square" rtlCol="0" anchor="ctr"/>
          <a:lstStyle/>
          <a:p>
            <a:pPr marL="0" indent="0" algn="r">
              <a:buNone/>
            </a:pPr>
            <a:r>
              <a:rPr lang="en-US" sz="900" dirty="0">
                <a:solidFill>
                  <a:srgbClr val="AAB6C7"/>
                </a:solidFill>
                <a:latin typeface="Segoe UI" pitchFamily="34" charset="0"/>
                <a:ea typeface="Segoe UI" pitchFamily="34" charset="-122"/>
                <a:cs typeface="Segoe UI" pitchFamily="34" charset="-120"/>
              </a:rPr>
              <a:t>05 / 11</a:t>
            </a:r>
            <a:endParaRPr lang="en-US" sz="900" dirty="0"/>
          </a:p>
        </p:txBody>
      </p:sp>
      <p:sp>
        <p:nvSpPr>
          <p:cNvPr id="20" name="Shape 14"/>
          <p:cNvSpPr/>
          <p:nvPr/>
        </p:nvSpPr>
        <p:spPr>
          <a:xfrm>
            <a:off x="566928" y="6327648"/>
            <a:ext cx="11057839" cy="0"/>
          </a:xfrm>
          <a:prstGeom prst="line">
            <a:avLst/>
          </a:prstGeom>
          <a:noFill/>
          <a:ln w="9525">
            <a:solidFill>
              <a:srgbClr val="36414F"/>
            </a:solidFill>
            <a:prstDash val="solid"/>
          </a:ln>
        </p:spPr>
        <p:txBody>
          <a:bodyPr/>
          <a:lstStyle/>
          <a:p>
            <a:endParaRPr lang="en-US"/>
          </a:p>
        </p:txBody>
      </p:sp>
      <p:sp>
        <p:nvSpPr>
          <p:cNvPr id="39" name="Rectangle 38">
            <a:extLst>
              <a:ext uri="{FF2B5EF4-FFF2-40B4-BE49-F238E27FC236}">
                <a16:creationId xmlns:a16="http://schemas.microsoft.com/office/drawing/2014/main" id="{8D10D51A-6499-004C-AFC1-348C1AE5726D}"/>
              </a:ext>
            </a:extLst>
          </p:cNvPr>
          <p:cNvSpPr/>
          <p:nvPr/>
        </p:nvSpPr>
        <p:spPr>
          <a:xfrm>
            <a:off x="2095500" y="2667000"/>
            <a:ext cx="4572000" cy="609600"/>
          </a:xfrm>
          <a:prstGeom prst="rect">
            <a:avLst/>
          </a:prstGeom>
          <a:solidFill>
            <a:srgbClr val="FFC9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0" name="Rectangle 39">
            <a:extLst>
              <a:ext uri="{FF2B5EF4-FFF2-40B4-BE49-F238E27FC236}">
                <a16:creationId xmlns:a16="http://schemas.microsoft.com/office/drawing/2014/main" id="{2453F76B-3E00-6B49-BA0C-490A2A4222D6}"/>
              </a:ext>
            </a:extLst>
          </p:cNvPr>
          <p:cNvSpPr/>
          <p:nvPr/>
        </p:nvSpPr>
        <p:spPr>
          <a:xfrm>
            <a:off x="2095500" y="3784600"/>
            <a:ext cx="279400" cy="609600"/>
          </a:xfrm>
          <a:prstGeom prst="rect">
            <a:avLst/>
          </a:prstGeom>
          <a:solidFill>
            <a:srgbClr val="3BE3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1" name="TextBox 40">
            <a:extLst>
              <a:ext uri="{FF2B5EF4-FFF2-40B4-BE49-F238E27FC236}">
                <a16:creationId xmlns:a16="http://schemas.microsoft.com/office/drawing/2014/main" id="{334C61C3-1CD8-4E46-934D-11E98AF00522}"/>
              </a:ext>
            </a:extLst>
          </p:cNvPr>
          <p:cNvSpPr txBox="1"/>
          <p:nvPr/>
        </p:nvSpPr>
        <p:spPr>
          <a:xfrm>
            <a:off x="444500" y="2667000"/>
            <a:ext cx="1587500" cy="609600"/>
          </a:xfrm>
          <a:prstGeom prst="rect">
            <a:avLst/>
          </a:prstGeom>
          <a:noFill/>
        </p:spPr>
        <p:txBody>
          <a:bodyPr vertOverflow="overflow" vert="horz" wrap="none" rtlCol="0" anchor="ctr" anchorCtr="0">
            <a:noAutofit/>
          </a:bodyPr>
          <a:lstStyle/>
          <a:p>
            <a:pPr algn="l"/>
            <a:r>
              <a:rPr lang="en-US" sz="1200">
                <a:solidFill>
                  <a:srgbClr val="F3F6FB"/>
                </a:solidFill>
                <a:latin typeface="Segoe UI"/>
                <a:cs typeface="Segoe UI"/>
              </a:rPr>
              <a:t>Manual today</a:t>
            </a:r>
          </a:p>
        </p:txBody>
      </p:sp>
      <p:sp>
        <p:nvSpPr>
          <p:cNvPr id="42" name="TextBox 41">
            <a:extLst>
              <a:ext uri="{FF2B5EF4-FFF2-40B4-BE49-F238E27FC236}">
                <a16:creationId xmlns:a16="http://schemas.microsoft.com/office/drawing/2014/main" id="{910741B5-B612-A947-ACF8-5A333E06DCA9}"/>
              </a:ext>
            </a:extLst>
          </p:cNvPr>
          <p:cNvSpPr txBox="1"/>
          <p:nvPr/>
        </p:nvSpPr>
        <p:spPr>
          <a:xfrm>
            <a:off x="317500" y="3784600"/>
            <a:ext cx="1714500" cy="609600"/>
          </a:xfrm>
          <a:prstGeom prst="rect">
            <a:avLst/>
          </a:prstGeom>
          <a:noFill/>
        </p:spPr>
        <p:txBody>
          <a:bodyPr vertOverflow="overflow" vert="horz" wrap="none" rtlCol="0" anchor="ctr" anchorCtr="0">
            <a:noAutofit/>
          </a:bodyPr>
          <a:lstStyle/>
          <a:p>
            <a:pPr algn="l"/>
            <a:r>
              <a:rPr lang="en-US" sz="1200">
                <a:solidFill>
                  <a:srgbClr val="F3F6FB"/>
                </a:solidFill>
                <a:latin typeface="Segoe UI"/>
                <a:cs typeface="Segoe UI"/>
              </a:rPr>
              <a:t>With Smart Trading</a:t>
            </a:r>
          </a:p>
        </p:txBody>
      </p:sp>
      <p:sp>
        <p:nvSpPr>
          <p:cNvPr id="43" name="TextBox 42">
            <a:extLst>
              <a:ext uri="{FF2B5EF4-FFF2-40B4-BE49-F238E27FC236}">
                <a16:creationId xmlns:a16="http://schemas.microsoft.com/office/drawing/2014/main" id="{002D66C0-DCE6-A641-BB09-43077EF2D741}"/>
              </a:ext>
            </a:extLst>
          </p:cNvPr>
          <p:cNvSpPr txBox="1"/>
          <p:nvPr/>
        </p:nvSpPr>
        <p:spPr>
          <a:xfrm>
            <a:off x="5587847" y="2685288"/>
            <a:ext cx="1016000" cy="609600"/>
          </a:xfrm>
          <a:prstGeom prst="rect">
            <a:avLst/>
          </a:prstGeom>
          <a:noFill/>
        </p:spPr>
        <p:txBody>
          <a:bodyPr vertOverflow="overflow" vert="horz" wrap="none" rtlCol="0" anchor="ctr" anchorCtr="0">
            <a:noAutofit/>
          </a:bodyPr>
          <a:lstStyle/>
          <a:p>
            <a:pPr algn="l"/>
            <a:r>
              <a:rPr lang="en-US" sz="1400" b="1" dirty="0">
                <a:solidFill>
                  <a:srgbClr val="07222A"/>
                </a:solidFill>
                <a:latin typeface="Segoe UI"/>
                <a:cs typeface="Segoe UI"/>
              </a:rPr>
              <a:t>~12 min</a:t>
            </a:r>
          </a:p>
        </p:txBody>
      </p:sp>
      <p:sp>
        <p:nvSpPr>
          <p:cNvPr id="44" name="TextBox 43">
            <a:extLst>
              <a:ext uri="{FF2B5EF4-FFF2-40B4-BE49-F238E27FC236}">
                <a16:creationId xmlns:a16="http://schemas.microsoft.com/office/drawing/2014/main" id="{BB8F6BBC-0105-2143-A577-9A1263114707}"/>
              </a:ext>
            </a:extLst>
          </p:cNvPr>
          <p:cNvSpPr txBox="1"/>
          <p:nvPr/>
        </p:nvSpPr>
        <p:spPr>
          <a:xfrm>
            <a:off x="2463800" y="3784600"/>
            <a:ext cx="1016000" cy="609600"/>
          </a:xfrm>
          <a:prstGeom prst="rect">
            <a:avLst/>
          </a:prstGeom>
          <a:noFill/>
        </p:spPr>
        <p:txBody>
          <a:bodyPr vertOverflow="overflow" vert="horz" wrap="none" rtlCol="0" anchor="ctr" anchorCtr="0">
            <a:noAutofit/>
          </a:bodyPr>
          <a:lstStyle/>
          <a:p>
            <a:pPr algn="l"/>
            <a:r>
              <a:rPr lang="en-US" sz="1400" b="1">
                <a:solidFill>
                  <a:srgbClr val="F3F6FB"/>
                </a:solidFill>
                <a:latin typeface="Segoe UI"/>
                <a:cs typeface="Segoe UI"/>
              </a:rPr>
              <a:t>&lt;1 min</a:t>
            </a:r>
          </a:p>
        </p:txBody>
      </p:sp>
      <p:sp>
        <p:nvSpPr>
          <p:cNvPr id="45" name="TextBox 44">
            <a:extLst>
              <a:ext uri="{FF2B5EF4-FFF2-40B4-BE49-F238E27FC236}">
                <a16:creationId xmlns:a16="http://schemas.microsoft.com/office/drawing/2014/main" id="{79CFBBA0-6C8D-9746-A759-FA2C4B7E2CC4}"/>
              </a:ext>
            </a:extLst>
          </p:cNvPr>
          <p:cNvSpPr txBox="1"/>
          <p:nvPr/>
        </p:nvSpPr>
        <p:spPr>
          <a:xfrm>
            <a:off x="2095500" y="4826000"/>
            <a:ext cx="5334000" cy="558800"/>
          </a:xfrm>
          <a:prstGeom prst="rect">
            <a:avLst/>
          </a:prstGeom>
          <a:noFill/>
        </p:spPr>
        <p:txBody>
          <a:bodyPr vertOverflow="overflow" vert="horz" wrap="square" rtlCol="0" anchor="t" anchorCtr="0">
            <a:noAutofit/>
          </a:bodyPr>
          <a:lstStyle/>
          <a:p>
            <a:pPr algn="l"/>
            <a:r>
              <a:rPr lang="en-US" sz="1000" i="1">
                <a:solidFill>
                  <a:srgbClr val="AAB6C7"/>
                </a:solidFill>
                <a:latin typeface="Segoe UI"/>
                <a:cs typeface="Segoe UI"/>
              </a:rPr>
              <a:t/>
            </a:r>
          </a:p>
        </p:txBody>
      </p:sp>
    </p:spTree>
    <p:extLst>
      <p:ext uri="{BB962C8B-B14F-4D97-AF65-F5344CB8AC3E}">
        <p14:creationId xmlns:p14="http://schemas.microsoft.com/office/powerpoint/2010/main" val="420379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WHY IT IS SAFE TO LET IT RUN</a:t>
            </a:r>
            <a:endParaRPr lang="en-US" sz="1200" dirty="0"/>
          </a:p>
        </p:txBody>
      </p:sp>
      <p:sp>
        <p:nvSpPr>
          <p:cNvPr id="4" name="Text 2"/>
          <p:cNvSpPr/>
          <p:nvPr/>
        </p:nvSpPr>
        <p:spPr>
          <a:xfrm>
            <a:off x="566928" y="960120"/>
            <a:ext cx="10789920" cy="731520"/>
          </a:xfrm>
          <a:prstGeom prst="rect">
            <a:avLst/>
          </a:prstGeom>
          <a:noFill/>
          <a:ln/>
        </p:spPr>
        <p:txBody>
          <a:bodyPr wrap="square" rtlCol="0" anchor="ctr"/>
          <a:lstStyle/>
          <a:p>
            <a:pPr marL="0" indent="0">
              <a:buNone/>
            </a:pPr>
            <a:r>
              <a:rPr lang="en-US" sz="2800" b="1" dirty="0">
                <a:solidFill>
                  <a:srgbClr val="F3F6FB"/>
                </a:solidFill>
                <a:latin typeface="Segoe UI Semibold" pitchFamily="34" charset="0"/>
                <a:ea typeface="Segoe UI Semibold" pitchFamily="34" charset="-122"/>
                <a:cs typeface="Segoe UI Semibold" pitchFamily="34" charset="-120"/>
              </a:rPr>
              <a:t>The controls are built in, not bolted on.</a:t>
            </a:r>
            <a:endParaRPr lang="en-US" sz="2800" dirty="0"/>
          </a:p>
        </p:txBody>
      </p:sp>
      <p:sp>
        <p:nvSpPr>
          <p:cNvPr id="5" name="Shape 3"/>
          <p:cNvSpPr/>
          <p:nvPr/>
        </p:nvSpPr>
        <p:spPr>
          <a:xfrm>
            <a:off x="566928" y="2194560"/>
            <a:ext cx="5346040" cy="1188720"/>
          </a:xfrm>
          <a:prstGeom prst="roundRect">
            <a:avLst>
              <a:gd name="adj" fmla="val 6154"/>
            </a:avLst>
          </a:prstGeom>
          <a:solidFill>
            <a:srgbClr val="141A25"/>
          </a:solidFill>
          <a:ln w="13970">
            <a:solidFill>
              <a:srgbClr val="36414F"/>
            </a:solidFill>
            <a:prstDash val="solid"/>
          </a:ln>
        </p:spPr>
        <p:txBody>
          <a:bodyPr/>
          <a:lstStyle/>
          <a:p>
            <a:endParaRPr lang="en-US"/>
          </a:p>
        </p:txBody>
      </p:sp>
      <p:sp>
        <p:nvSpPr>
          <p:cNvPr id="6" name="Shape 4"/>
          <p:cNvSpPr/>
          <p:nvPr/>
        </p:nvSpPr>
        <p:spPr>
          <a:xfrm>
            <a:off x="822960" y="2496312"/>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7" name="Image 0" descr="C:/Users/neuma_p1qrsic/Repo/agentic-ops1/.scratch/icons/list.png"/>
          <p:cNvPicPr>
            <a:picLocks noChangeAspect="1"/>
          </p:cNvPicPr>
          <p:nvPr/>
        </p:nvPicPr>
        <p:blipFill>
          <a:blip r:embed="rId3"/>
          <a:stretch>
            <a:fillRect/>
          </a:stretch>
        </p:blipFill>
        <p:spPr>
          <a:xfrm>
            <a:off x="959023" y="2632375"/>
            <a:ext cx="294803" cy="294803"/>
          </a:xfrm>
          <a:prstGeom prst="rect">
            <a:avLst/>
          </a:prstGeom>
        </p:spPr>
      </p:pic>
      <p:sp>
        <p:nvSpPr>
          <p:cNvPr id="8" name="Text 5"/>
          <p:cNvSpPr/>
          <p:nvPr/>
        </p:nvSpPr>
        <p:spPr>
          <a:xfrm>
            <a:off x="1572768" y="2414016"/>
            <a:ext cx="4111600" cy="384048"/>
          </a:xfrm>
          <a:prstGeom prst="rect">
            <a:avLst/>
          </a:prstGeom>
          <a:noFill/>
          <a:ln/>
        </p:spPr>
        <p:txBody>
          <a:bodyPr wrap="square" rtlCol="0" anchor="ctr"/>
          <a:lstStyle/>
          <a:p>
            <a:pPr marL="0" indent="0">
              <a:buNone/>
            </a:pPr>
            <a:r>
              <a:rPr lang="en-US" sz="1650" b="1" dirty="0">
                <a:solidFill>
                  <a:srgbClr val="F3F6FB"/>
                </a:solidFill>
                <a:latin typeface="Segoe UI Semibold" pitchFamily="34" charset="0"/>
                <a:ea typeface="Segoe UI Semibold" pitchFamily="34" charset="-122"/>
                <a:cs typeface="Segoe UI Semibold" pitchFamily="34" charset="-120"/>
              </a:rPr>
              <a:t>A full audit trail</a:t>
            </a:r>
            <a:endParaRPr lang="en-US" sz="1650" dirty="0"/>
          </a:p>
        </p:txBody>
      </p:sp>
      <p:sp>
        <p:nvSpPr>
          <p:cNvPr id="9" name="Text 6"/>
          <p:cNvSpPr/>
          <p:nvPr/>
        </p:nvSpPr>
        <p:spPr>
          <a:xfrm>
            <a:off x="1572768" y="2798064"/>
            <a:ext cx="4111600" cy="45720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Every action is recorded, end to end.</a:t>
            </a:r>
            <a:endParaRPr lang="en-US" sz="1250" dirty="0"/>
          </a:p>
        </p:txBody>
      </p:sp>
      <p:sp>
        <p:nvSpPr>
          <p:cNvPr id="10" name="Shape 7"/>
          <p:cNvSpPr/>
          <p:nvPr/>
        </p:nvSpPr>
        <p:spPr>
          <a:xfrm>
            <a:off x="6278728" y="2194560"/>
            <a:ext cx="5346040" cy="1188720"/>
          </a:xfrm>
          <a:prstGeom prst="roundRect">
            <a:avLst>
              <a:gd name="adj" fmla="val 6154"/>
            </a:avLst>
          </a:prstGeom>
          <a:solidFill>
            <a:srgbClr val="141A25"/>
          </a:solidFill>
          <a:ln w="13970">
            <a:solidFill>
              <a:srgbClr val="36414F"/>
            </a:solidFill>
            <a:prstDash val="solid"/>
          </a:ln>
        </p:spPr>
        <p:txBody>
          <a:bodyPr/>
          <a:lstStyle/>
          <a:p>
            <a:endParaRPr lang="en-US"/>
          </a:p>
        </p:txBody>
      </p:sp>
      <p:sp>
        <p:nvSpPr>
          <p:cNvPr id="11" name="Shape 8"/>
          <p:cNvSpPr/>
          <p:nvPr/>
        </p:nvSpPr>
        <p:spPr>
          <a:xfrm>
            <a:off x="6534760" y="2496312"/>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12" name="Image 1" descr="C:/Users/neuma_p1qrsic/Repo/agentic-ops1/.scratch/icons/shield.png"/>
          <p:cNvPicPr>
            <a:picLocks noChangeAspect="1"/>
          </p:cNvPicPr>
          <p:nvPr/>
        </p:nvPicPr>
        <p:blipFill>
          <a:blip r:embed="rId4"/>
          <a:stretch>
            <a:fillRect/>
          </a:stretch>
        </p:blipFill>
        <p:spPr>
          <a:xfrm>
            <a:off x="6670822" y="2632375"/>
            <a:ext cx="294803" cy="294803"/>
          </a:xfrm>
          <a:prstGeom prst="rect">
            <a:avLst/>
          </a:prstGeom>
        </p:spPr>
      </p:pic>
      <p:sp>
        <p:nvSpPr>
          <p:cNvPr id="13" name="Text 9"/>
          <p:cNvSpPr/>
          <p:nvPr/>
        </p:nvSpPr>
        <p:spPr>
          <a:xfrm>
            <a:off x="7284568" y="2414016"/>
            <a:ext cx="4111600" cy="384048"/>
          </a:xfrm>
          <a:prstGeom prst="rect">
            <a:avLst/>
          </a:prstGeom>
          <a:noFill/>
          <a:ln/>
        </p:spPr>
        <p:txBody>
          <a:bodyPr wrap="square" rtlCol="0" anchor="ctr"/>
          <a:lstStyle/>
          <a:p>
            <a:pPr marL="0" indent="0">
              <a:buNone/>
            </a:pPr>
            <a:r>
              <a:rPr lang="en-US" sz="1650" b="1" dirty="0">
                <a:solidFill>
                  <a:srgbClr val="F3F6FB"/>
                </a:solidFill>
                <a:latin typeface="Segoe UI Semibold" pitchFamily="34" charset="0"/>
                <a:ea typeface="Segoe UI Semibold" pitchFamily="34" charset="-122"/>
                <a:cs typeface="Segoe UI Semibold" pitchFamily="34" charset="-120"/>
              </a:rPr>
              <a:t>Four-eye approval</a:t>
            </a:r>
            <a:endParaRPr lang="en-US" sz="1650" dirty="0"/>
          </a:p>
        </p:txBody>
      </p:sp>
      <p:sp>
        <p:nvSpPr>
          <p:cNvPr id="14" name="Text 10"/>
          <p:cNvSpPr/>
          <p:nvPr/>
        </p:nvSpPr>
        <p:spPr>
          <a:xfrm>
            <a:off x="7284568" y="2798064"/>
            <a:ext cx="4111600" cy="45720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The moves that matter need a second person.</a:t>
            </a:r>
            <a:endParaRPr lang="en-US" sz="1250" dirty="0"/>
          </a:p>
        </p:txBody>
      </p:sp>
      <p:sp>
        <p:nvSpPr>
          <p:cNvPr id="15" name="Shape 11"/>
          <p:cNvSpPr/>
          <p:nvPr/>
        </p:nvSpPr>
        <p:spPr>
          <a:xfrm>
            <a:off x="566928" y="3547872"/>
            <a:ext cx="5346040" cy="1188720"/>
          </a:xfrm>
          <a:prstGeom prst="roundRect">
            <a:avLst>
              <a:gd name="adj" fmla="val 6154"/>
            </a:avLst>
          </a:prstGeom>
          <a:solidFill>
            <a:srgbClr val="141A25"/>
          </a:solidFill>
          <a:ln w="13970">
            <a:solidFill>
              <a:srgbClr val="36414F"/>
            </a:solidFill>
            <a:prstDash val="solid"/>
          </a:ln>
        </p:spPr>
        <p:txBody>
          <a:bodyPr/>
          <a:lstStyle/>
          <a:p>
            <a:endParaRPr lang="en-US"/>
          </a:p>
        </p:txBody>
      </p:sp>
      <p:sp>
        <p:nvSpPr>
          <p:cNvPr id="16" name="Shape 12"/>
          <p:cNvSpPr/>
          <p:nvPr/>
        </p:nvSpPr>
        <p:spPr>
          <a:xfrm>
            <a:off x="822960" y="3849624"/>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17" name="Image 2" descr="C:/Users/neuma_p1qrsic/Repo/agentic-ops1/.scratch/icons/eye.png"/>
          <p:cNvPicPr>
            <a:picLocks noChangeAspect="1"/>
          </p:cNvPicPr>
          <p:nvPr/>
        </p:nvPicPr>
        <p:blipFill>
          <a:blip r:embed="rId5"/>
          <a:stretch>
            <a:fillRect/>
          </a:stretch>
        </p:blipFill>
        <p:spPr>
          <a:xfrm>
            <a:off x="959023" y="3985687"/>
            <a:ext cx="294803" cy="294803"/>
          </a:xfrm>
          <a:prstGeom prst="rect">
            <a:avLst/>
          </a:prstGeom>
        </p:spPr>
      </p:pic>
      <p:sp>
        <p:nvSpPr>
          <p:cNvPr id="18" name="Text 13"/>
          <p:cNvSpPr/>
          <p:nvPr/>
        </p:nvSpPr>
        <p:spPr>
          <a:xfrm>
            <a:off x="1572768" y="3767328"/>
            <a:ext cx="4111600" cy="384048"/>
          </a:xfrm>
          <a:prstGeom prst="rect">
            <a:avLst/>
          </a:prstGeom>
          <a:noFill/>
          <a:ln/>
        </p:spPr>
        <p:txBody>
          <a:bodyPr wrap="square" rtlCol="0" anchor="ctr"/>
          <a:lstStyle/>
          <a:p>
            <a:pPr marL="0" indent="0">
              <a:buNone/>
            </a:pPr>
            <a:r>
              <a:rPr lang="en-US" sz="1650" b="1" dirty="0">
                <a:solidFill>
                  <a:srgbClr val="F3F6FB"/>
                </a:solidFill>
                <a:latin typeface="Segoe UI Semibold" pitchFamily="34" charset="0"/>
                <a:ea typeface="Segoe UI Semibold" pitchFamily="34" charset="-122"/>
                <a:cs typeface="Segoe UI Semibold" pitchFamily="34" charset="-120"/>
              </a:rPr>
              <a:t>Automatic checks</a:t>
            </a:r>
            <a:endParaRPr lang="en-US" sz="1650" dirty="0"/>
          </a:p>
        </p:txBody>
      </p:sp>
      <p:sp>
        <p:nvSpPr>
          <p:cNvPr id="19" name="Text 14"/>
          <p:cNvSpPr/>
          <p:nvPr/>
        </p:nvSpPr>
        <p:spPr>
          <a:xfrm>
            <a:off x="1572768" y="4151376"/>
            <a:ext cx="4111600" cy="45720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Odd or bad data is caught before it reaches SAP.</a:t>
            </a:r>
            <a:endParaRPr lang="en-US" sz="1250" dirty="0"/>
          </a:p>
        </p:txBody>
      </p:sp>
      <p:sp>
        <p:nvSpPr>
          <p:cNvPr id="20" name="Shape 15"/>
          <p:cNvSpPr/>
          <p:nvPr/>
        </p:nvSpPr>
        <p:spPr>
          <a:xfrm>
            <a:off x="6278728" y="3547872"/>
            <a:ext cx="5346040" cy="1188720"/>
          </a:xfrm>
          <a:prstGeom prst="roundRect">
            <a:avLst>
              <a:gd name="adj" fmla="val 6154"/>
            </a:avLst>
          </a:prstGeom>
          <a:solidFill>
            <a:srgbClr val="141A25"/>
          </a:solidFill>
          <a:ln w="13970">
            <a:solidFill>
              <a:srgbClr val="36414F"/>
            </a:solidFill>
            <a:prstDash val="solid"/>
          </a:ln>
        </p:spPr>
        <p:txBody>
          <a:bodyPr/>
          <a:lstStyle/>
          <a:p>
            <a:endParaRPr lang="en-US"/>
          </a:p>
        </p:txBody>
      </p:sp>
      <p:sp>
        <p:nvSpPr>
          <p:cNvPr id="21" name="Shape 16"/>
          <p:cNvSpPr/>
          <p:nvPr/>
        </p:nvSpPr>
        <p:spPr>
          <a:xfrm>
            <a:off x="6534760" y="3849624"/>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22" name="Image 3" descr="C:/Users/neuma_p1qrsic/Repo/agentic-ops1/.scratch/icons/bell.png"/>
          <p:cNvPicPr>
            <a:picLocks noChangeAspect="1"/>
          </p:cNvPicPr>
          <p:nvPr/>
        </p:nvPicPr>
        <p:blipFill>
          <a:blip r:embed="rId6"/>
          <a:stretch>
            <a:fillRect/>
          </a:stretch>
        </p:blipFill>
        <p:spPr>
          <a:xfrm>
            <a:off x="6670822" y="3985687"/>
            <a:ext cx="294803" cy="294803"/>
          </a:xfrm>
          <a:prstGeom prst="rect">
            <a:avLst/>
          </a:prstGeom>
        </p:spPr>
      </p:pic>
      <p:sp>
        <p:nvSpPr>
          <p:cNvPr id="23" name="Text 17"/>
          <p:cNvSpPr/>
          <p:nvPr/>
        </p:nvSpPr>
        <p:spPr>
          <a:xfrm>
            <a:off x="7284568" y="3767328"/>
            <a:ext cx="4111600" cy="384048"/>
          </a:xfrm>
          <a:prstGeom prst="rect">
            <a:avLst/>
          </a:prstGeom>
          <a:noFill/>
          <a:ln/>
        </p:spPr>
        <p:txBody>
          <a:bodyPr wrap="square" rtlCol="0" anchor="ctr"/>
          <a:lstStyle/>
          <a:p>
            <a:pPr marL="0" indent="0">
              <a:buNone/>
            </a:pPr>
            <a:r>
              <a:rPr lang="en-US" sz="1650" b="1" dirty="0">
                <a:solidFill>
                  <a:srgbClr val="F3F6FB"/>
                </a:solidFill>
                <a:latin typeface="Segoe UI Semibold" pitchFamily="34" charset="0"/>
                <a:ea typeface="Segoe UI Semibold" pitchFamily="34" charset="-122"/>
                <a:cs typeface="Segoe UI Semibold" pitchFamily="34" charset="-120"/>
              </a:rPr>
              <a:t>Reconciled to source</a:t>
            </a:r>
            <a:endParaRPr lang="en-US" sz="1650" dirty="0"/>
          </a:p>
        </p:txBody>
      </p:sp>
      <p:sp>
        <p:nvSpPr>
          <p:cNvPr id="24" name="Text 18"/>
          <p:cNvSpPr/>
          <p:nvPr/>
        </p:nvSpPr>
        <p:spPr>
          <a:xfrm>
            <a:off x="7284568" y="4151376"/>
            <a:ext cx="4111600" cy="45720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Every booked deal is matched back to the venue record.</a:t>
            </a:r>
            <a:endParaRPr lang="en-US" sz="1250" dirty="0"/>
          </a:p>
        </p:txBody>
      </p:sp>
      <p:sp>
        <p:nvSpPr>
          <p:cNvPr id="25" name="Shape 19"/>
          <p:cNvSpPr/>
          <p:nvPr/>
        </p:nvSpPr>
        <p:spPr>
          <a:xfrm>
            <a:off x="566928" y="4901184"/>
            <a:ext cx="5346040" cy="1188720"/>
          </a:xfrm>
          <a:prstGeom prst="roundRect">
            <a:avLst>
              <a:gd name="adj" fmla="val 6154"/>
            </a:avLst>
          </a:prstGeom>
          <a:solidFill>
            <a:srgbClr val="141A25"/>
          </a:solidFill>
          <a:ln w="13970">
            <a:solidFill>
              <a:srgbClr val="36414F"/>
            </a:solidFill>
            <a:prstDash val="solid"/>
          </a:ln>
        </p:spPr>
        <p:txBody>
          <a:bodyPr/>
          <a:lstStyle/>
          <a:p>
            <a:endParaRPr lang="en-US"/>
          </a:p>
        </p:txBody>
      </p:sp>
      <p:sp>
        <p:nvSpPr>
          <p:cNvPr id="26" name="Shape 20"/>
          <p:cNvSpPr/>
          <p:nvPr/>
        </p:nvSpPr>
        <p:spPr>
          <a:xfrm>
            <a:off x="822960" y="5202936"/>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27" name="Image 4" descr="C:/Users/neuma_p1qrsic/Repo/agentic-ops1/.scratch/icons/blocks.png"/>
          <p:cNvPicPr>
            <a:picLocks noChangeAspect="1"/>
          </p:cNvPicPr>
          <p:nvPr/>
        </p:nvPicPr>
        <p:blipFill>
          <a:blip r:embed="rId7"/>
          <a:stretch>
            <a:fillRect/>
          </a:stretch>
        </p:blipFill>
        <p:spPr>
          <a:xfrm>
            <a:off x="959023" y="5338999"/>
            <a:ext cx="294803" cy="294803"/>
          </a:xfrm>
          <a:prstGeom prst="rect">
            <a:avLst/>
          </a:prstGeom>
        </p:spPr>
      </p:pic>
      <p:sp>
        <p:nvSpPr>
          <p:cNvPr id="28" name="Text 21"/>
          <p:cNvSpPr/>
          <p:nvPr/>
        </p:nvSpPr>
        <p:spPr>
          <a:xfrm>
            <a:off x="1572768" y="5120640"/>
            <a:ext cx="4111600" cy="384048"/>
          </a:xfrm>
          <a:prstGeom prst="rect">
            <a:avLst/>
          </a:prstGeom>
          <a:noFill/>
          <a:ln/>
        </p:spPr>
        <p:txBody>
          <a:bodyPr wrap="square" rtlCol="0" anchor="ctr"/>
          <a:lstStyle/>
          <a:p>
            <a:pPr marL="0" indent="0">
              <a:buNone/>
            </a:pPr>
            <a:r>
              <a:rPr lang="en-US" sz="1650" b="1" dirty="0">
                <a:solidFill>
                  <a:srgbClr val="F3F6FB"/>
                </a:solidFill>
                <a:latin typeface="Segoe UI Semibold" pitchFamily="34" charset="0"/>
                <a:ea typeface="Segoe UI Semibold" pitchFamily="34" charset="-122"/>
                <a:cs typeface="Segoe UI Semibold" pitchFamily="34" charset="-120"/>
              </a:rPr>
              <a:t>No code to change it</a:t>
            </a:r>
            <a:endParaRPr lang="en-US" sz="1650" dirty="0"/>
          </a:p>
        </p:txBody>
      </p:sp>
      <p:sp>
        <p:nvSpPr>
          <p:cNvPr id="29" name="Text 22"/>
          <p:cNvSpPr/>
          <p:nvPr/>
        </p:nvSpPr>
        <p:spPr>
          <a:xfrm>
            <a:off x="1572768" y="5504688"/>
            <a:ext cx="4111600" cy="45720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Your rules, changed by your team, no IT project.</a:t>
            </a:r>
            <a:endParaRPr lang="en-US" sz="1250" dirty="0"/>
          </a:p>
        </p:txBody>
      </p:sp>
      <p:sp>
        <p:nvSpPr>
          <p:cNvPr id="30" name="Shape 23"/>
          <p:cNvSpPr/>
          <p:nvPr/>
        </p:nvSpPr>
        <p:spPr>
          <a:xfrm>
            <a:off x="6278728" y="4901184"/>
            <a:ext cx="5346040" cy="1188720"/>
          </a:xfrm>
          <a:prstGeom prst="roundRect">
            <a:avLst>
              <a:gd name="adj" fmla="val 6154"/>
            </a:avLst>
          </a:prstGeom>
          <a:solidFill>
            <a:srgbClr val="141A25"/>
          </a:solidFill>
          <a:ln w="13970">
            <a:solidFill>
              <a:srgbClr val="36414F"/>
            </a:solidFill>
            <a:prstDash val="solid"/>
          </a:ln>
        </p:spPr>
        <p:txBody>
          <a:bodyPr/>
          <a:lstStyle/>
          <a:p>
            <a:endParaRPr lang="en-US"/>
          </a:p>
        </p:txBody>
      </p:sp>
      <p:sp>
        <p:nvSpPr>
          <p:cNvPr id="31" name="Shape 24"/>
          <p:cNvSpPr/>
          <p:nvPr/>
        </p:nvSpPr>
        <p:spPr>
          <a:xfrm>
            <a:off x="6534760" y="5202936"/>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32" name="Image 5" descr="C:/Users/neuma_p1qrsic/Repo/agentic-ops1/.scratch/icons/lock.png"/>
          <p:cNvPicPr>
            <a:picLocks noChangeAspect="1"/>
          </p:cNvPicPr>
          <p:nvPr/>
        </p:nvPicPr>
        <p:blipFill>
          <a:blip r:embed="rId8"/>
          <a:stretch>
            <a:fillRect/>
          </a:stretch>
        </p:blipFill>
        <p:spPr>
          <a:xfrm>
            <a:off x="6670822" y="5338999"/>
            <a:ext cx="294803" cy="294803"/>
          </a:xfrm>
          <a:prstGeom prst="rect">
            <a:avLst/>
          </a:prstGeom>
        </p:spPr>
      </p:pic>
      <p:sp>
        <p:nvSpPr>
          <p:cNvPr id="33" name="Text 25"/>
          <p:cNvSpPr/>
          <p:nvPr/>
        </p:nvSpPr>
        <p:spPr>
          <a:xfrm>
            <a:off x="7284568" y="5120640"/>
            <a:ext cx="4111600" cy="384048"/>
          </a:xfrm>
          <a:prstGeom prst="rect">
            <a:avLst/>
          </a:prstGeom>
          <a:noFill/>
          <a:ln/>
        </p:spPr>
        <p:txBody>
          <a:bodyPr wrap="square" rtlCol="0" anchor="ctr"/>
          <a:lstStyle/>
          <a:p>
            <a:pPr marL="0" indent="0">
              <a:buNone/>
            </a:pPr>
            <a:r>
              <a:rPr lang="en-US" sz="1650" b="1" dirty="0">
                <a:solidFill>
                  <a:srgbClr val="F3F6FB"/>
                </a:solidFill>
                <a:latin typeface="Segoe UI Semibold" pitchFamily="34" charset="0"/>
                <a:ea typeface="Segoe UI Semibold" pitchFamily="34" charset="-122"/>
                <a:cs typeface="Segoe UI Semibold" pitchFamily="34" charset="-120"/>
              </a:rPr>
              <a:t>ISO 27001 and SOC 1</a:t>
            </a:r>
            <a:endParaRPr lang="en-US" sz="1650" dirty="0"/>
          </a:p>
        </p:txBody>
      </p:sp>
      <p:sp>
        <p:nvSpPr>
          <p:cNvPr id="34" name="Text 26"/>
          <p:cNvSpPr/>
          <p:nvPr/>
        </p:nvSpPr>
        <p:spPr>
          <a:xfrm>
            <a:off x="7284568" y="5504688"/>
            <a:ext cx="4111600" cy="45720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The security controls your auditors already expect.</a:t>
            </a:r>
            <a:endParaRPr lang="en-US" sz="1250" dirty="0"/>
          </a:p>
        </p:txBody>
      </p:sp>
      <p:sp>
        <p:nvSpPr>
          <p:cNvPr id="35" name="Text 27"/>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xml:space="preserve">   Smart Trading, part of OnePilot</a:t>
            </a:r>
            <a:endParaRPr lang="en-US" sz="900" dirty="0"/>
          </a:p>
        </p:txBody>
      </p:sp>
      <p:sp>
        <p:nvSpPr>
          <p:cNvPr id="36" name="Text 28"/>
          <p:cNvSpPr/>
          <p:nvPr/>
        </p:nvSpPr>
        <p:spPr>
          <a:xfrm>
            <a:off x="10527487" y="6400800"/>
            <a:ext cx="1097280" cy="274320"/>
          </a:xfrm>
          <a:prstGeom prst="rect">
            <a:avLst/>
          </a:prstGeom>
          <a:noFill/>
          <a:ln/>
        </p:spPr>
        <p:txBody>
          <a:bodyPr wrap="square" rtlCol="0" anchor="ctr"/>
          <a:lstStyle/>
          <a:p>
            <a:pPr marL="0" indent="0" algn="r">
              <a:buNone/>
            </a:pPr>
            <a:r>
              <a:rPr lang="en-US" sz="900" dirty="0">
                <a:solidFill>
                  <a:srgbClr val="AAB6C7"/>
                </a:solidFill>
                <a:latin typeface="Segoe UI" pitchFamily="34" charset="0"/>
                <a:ea typeface="Segoe UI" pitchFamily="34" charset="-122"/>
                <a:cs typeface="Segoe UI" pitchFamily="34" charset="-120"/>
              </a:rPr>
              <a:t>08 / 11</a:t>
            </a:r>
            <a:endParaRPr lang="en-US" sz="900" dirty="0"/>
          </a:p>
        </p:txBody>
      </p:sp>
      <p:sp>
        <p:nvSpPr>
          <p:cNvPr id="37" name="Shape 29"/>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21B"/>
        </a:solidFill>
        <a:effectLst/>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WHAT IT RUNS ON</a:t>
            </a:r>
            <a:endParaRPr lang="en-US" sz="1200" dirty="0"/>
          </a:p>
        </p:txBody>
      </p:sp>
      <p:sp>
        <p:nvSpPr>
          <p:cNvPr id="4" name="Text 2"/>
          <p:cNvSpPr/>
          <p:nvPr/>
        </p:nvSpPr>
        <p:spPr>
          <a:xfrm>
            <a:off x="566928" y="960120"/>
            <a:ext cx="10789920" cy="731520"/>
          </a:xfrm>
          <a:prstGeom prst="rect">
            <a:avLst/>
          </a:prstGeom>
          <a:noFill/>
          <a:ln/>
        </p:spPr>
        <p:txBody>
          <a:bodyPr wrap="square" rtlCol="0" anchor="ctr"/>
          <a:lstStyle/>
          <a:p>
            <a:pPr marL="0" indent="0">
              <a:buNone/>
            </a:pPr>
            <a:r>
              <a:rPr lang="en-US" sz="2900" b="1" dirty="0">
                <a:solidFill>
                  <a:srgbClr val="F3F6FB"/>
                </a:solidFill>
                <a:latin typeface="Segoe UI Semibold" pitchFamily="34" charset="0"/>
                <a:ea typeface="Segoe UI Semibold" pitchFamily="34" charset="-122"/>
                <a:cs typeface="Segoe UI Semibold" pitchFamily="34" charset="-120"/>
              </a:rPr>
              <a:t xml:space="preserve">Under the hood, it’s a single app: </a:t>
            </a:r>
            <a:r>
              <a:rPr lang="en-US" sz="2900" b="1" dirty="0">
                <a:solidFill>
                  <a:srgbClr val="3BE3E0"/>
                </a:solidFill>
                <a:latin typeface="Segoe UI Semibold" pitchFamily="34" charset="0"/>
                <a:ea typeface="Segoe UI Semibold" pitchFamily="34" charset="-122"/>
                <a:cs typeface="Segoe UI Semibold" pitchFamily="34" charset="-120"/>
              </a:rPr>
              <a:t>OnePilot</a:t>
            </a:r>
            <a:r>
              <a:rPr lang="en-US" sz="2900" b="1" dirty="0">
                <a:solidFill>
                  <a:srgbClr val="F3F6FB"/>
                </a:solidFill>
                <a:latin typeface="Segoe UI Semibold" pitchFamily="34" charset="0"/>
                <a:ea typeface="Segoe UI Semibold" pitchFamily="34" charset="-122"/>
                <a:cs typeface="Segoe UI Semibold" pitchFamily="34" charset="-120"/>
              </a:rPr>
              <a:t>.</a:t>
            </a:r>
            <a:endParaRPr lang="en-US" sz="2900" dirty="0"/>
          </a:p>
        </p:txBody>
      </p:sp>
      <p:sp>
        <p:nvSpPr>
          <p:cNvPr id="5" name="Text 3"/>
          <p:cNvSpPr/>
          <p:nvPr/>
        </p:nvSpPr>
        <p:spPr>
          <a:xfrm>
            <a:off x="566928" y="1828800"/>
            <a:ext cx="10607040" cy="1051560"/>
          </a:xfrm>
          <a:prstGeom prst="rect">
            <a:avLst/>
          </a:prstGeom>
          <a:noFill/>
          <a:ln/>
        </p:spPr>
        <p:txBody>
          <a:bodyPr wrap="square" rtlCol="0" anchor="ctr"/>
          <a:lstStyle/>
          <a:p>
            <a:pPr marL="0" indent="0">
              <a:lnSpc>
                <a:spcPct val="130000"/>
              </a:lnSpc>
              <a:buNone/>
            </a:pPr>
            <a:r>
              <a:rPr lang="en-US" sz="1600" dirty="0">
                <a:solidFill>
                  <a:srgbClr val="AAB6C7"/>
                </a:solidFill>
                <a:latin typeface="Segoe UI" pitchFamily="34" charset="0"/>
                <a:ea typeface="Segoe UI" pitchFamily="34" charset="-122"/>
                <a:cs typeface="Segoe UI" pitchFamily="34" charset="-120"/>
              </a:rPr>
              <a:t>OnePilot is the layer underneath. It moves your data cleanly between systems, both ways, across SAP and everything else, with the checks and the AI built in. One way to connect to all of it:</a:t>
            </a:r>
            <a:endParaRPr lang="en-US" sz="1600" dirty="0"/>
          </a:p>
        </p:txBody>
      </p:sp>
      <p:sp>
        <p:nvSpPr>
          <p:cNvPr id="6" name="Shape 4"/>
          <p:cNvSpPr/>
          <p:nvPr/>
        </p:nvSpPr>
        <p:spPr>
          <a:xfrm>
            <a:off x="566420" y="3246120"/>
            <a:ext cx="2573972" cy="1554480"/>
          </a:xfrm>
          <a:prstGeom prst="roundRect">
            <a:avLst>
              <a:gd name="adj" fmla="val 5882"/>
            </a:avLst>
          </a:prstGeom>
          <a:solidFill>
            <a:srgbClr val="141A25"/>
          </a:solidFill>
          <a:ln w="13970">
            <a:solidFill>
              <a:srgbClr val="36414F"/>
            </a:solidFill>
            <a:prstDash val="solid"/>
          </a:ln>
        </p:spPr>
        <p:txBody>
          <a:bodyPr/>
          <a:lstStyle/>
          <a:p>
            <a:endParaRPr lang="en-US"/>
          </a:p>
        </p:txBody>
      </p:sp>
      <p:pic>
        <p:nvPicPr>
          <p:cNvPr id="7" name="Image 0" descr="C:/Users/neuma_p1qrsic/Repo/agentic-ops1/.scratch/icons/database.png"/>
          <p:cNvPicPr>
            <a:picLocks noChangeAspect="1"/>
          </p:cNvPicPr>
          <p:nvPr/>
        </p:nvPicPr>
        <p:blipFill>
          <a:blip r:embed="rId3"/>
          <a:stretch>
            <a:fillRect/>
          </a:stretch>
        </p:blipFill>
        <p:spPr>
          <a:xfrm>
            <a:off x="1542256" y="3538728"/>
            <a:ext cx="621792" cy="621792"/>
          </a:xfrm>
          <a:prstGeom prst="rect">
            <a:avLst/>
          </a:prstGeom>
        </p:spPr>
      </p:pic>
      <p:sp>
        <p:nvSpPr>
          <p:cNvPr id="8" name="Text 5"/>
          <p:cNvSpPr/>
          <p:nvPr/>
        </p:nvSpPr>
        <p:spPr>
          <a:xfrm>
            <a:off x="709930" y="4233672"/>
            <a:ext cx="2286952" cy="457200"/>
          </a:xfrm>
          <a:prstGeom prst="rect">
            <a:avLst/>
          </a:prstGeom>
          <a:noFill/>
          <a:ln/>
        </p:spPr>
        <p:txBody>
          <a:bodyPr wrap="square" rtlCol="0" anchor="ctr"/>
          <a:lstStyle/>
          <a:p>
            <a:pPr marL="0" indent="0" algn="ctr">
              <a:buNone/>
            </a:pPr>
            <a:r>
              <a:rPr lang="en-US" sz="1300" dirty="0">
                <a:solidFill>
                  <a:srgbClr val="F3F6FB"/>
                </a:solidFill>
                <a:latin typeface="Segoe UI" pitchFamily="34" charset="0"/>
                <a:ea typeface="Segoe UI" pitchFamily="34" charset="-122"/>
                <a:cs typeface="Segoe UI" pitchFamily="34" charset="-120"/>
              </a:rPr>
              <a:t>SAP systems</a:t>
            </a:r>
            <a:endParaRPr lang="en-US" sz="1300" dirty="0"/>
          </a:p>
        </p:txBody>
      </p:sp>
      <p:sp>
        <p:nvSpPr>
          <p:cNvPr id="9" name="Shape 6"/>
          <p:cNvSpPr/>
          <p:nvPr/>
        </p:nvSpPr>
        <p:spPr>
          <a:xfrm>
            <a:off x="3394392" y="3246120"/>
            <a:ext cx="2573972" cy="1554480"/>
          </a:xfrm>
          <a:prstGeom prst="roundRect">
            <a:avLst>
              <a:gd name="adj" fmla="val 5882"/>
            </a:avLst>
          </a:prstGeom>
          <a:solidFill>
            <a:srgbClr val="141A25"/>
          </a:solidFill>
          <a:ln w="13970">
            <a:solidFill>
              <a:srgbClr val="36414F"/>
            </a:solidFill>
            <a:prstDash val="solid"/>
          </a:ln>
        </p:spPr>
        <p:txBody>
          <a:bodyPr/>
          <a:lstStyle/>
          <a:p>
            <a:endParaRPr lang="en-US"/>
          </a:p>
        </p:txBody>
      </p:sp>
      <p:pic>
        <p:nvPicPr>
          <p:cNvPr id="10" name="Image 1" descr="C:/Users/neuma_p1qrsic/Repo/agentic-ops1/.scratch/icons/sheet.png"/>
          <p:cNvPicPr>
            <a:picLocks noChangeAspect="1"/>
          </p:cNvPicPr>
          <p:nvPr/>
        </p:nvPicPr>
        <p:blipFill>
          <a:blip r:embed="rId4"/>
          <a:stretch>
            <a:fillRect/>
          </a:stretch>
        </p:blipFill>
        <p:spPr>
          <a:xfrm>
            <a:off x="4370228" y="3538728"/>
            <a:ext cx="621792" cy="621792"/>
          </a:xfrm>
          <a:prstGeom prst="rect">
            <a:avLst/>
          </a:prstGeom>
        </p:spPr>
      </p:pic>
      <p:sp>
        <p:nvSpPr>
          <p:cNvPr id="11" name="Text 7"/>
          <p:cNvSpPr/>
          <p:nvPr/>
        </p:nvSpPr>
        <p:spPr>
          <a:xfrm>
            <a:off x="3537902" y="4233672"/>
            <a:ext cx="2286952" cy="457200"/>
          </a:xfrm>
          <a:prstGeom prst="rect">
            <a:avLst/>
          </a:prstGeom>
          <a:noFill/>
          <a:ln/>
        </p:spPr>
        <p:txBody>
          <a:bodyPr wrap="square" rtlCol="0" anchor="ctr"/>
          <a:lstStyle/>
          <a:p>
            <a:pPr marL="0" indent="0" algn="ctr">
              <a:buNone/>
            </a:pPr>
            <a:r>
              <a:rPr lang="en-US" sz="1300" dirty="0">
                <a:solidFill>
                  <a:srgbClr val="F3F6FB"/>
                </a:solidFill>
                <a:latin typeface="Segoe UI" pitchFamily="34" charset="0"/>
                <a:ea typeface="Segoe UI" pitchFamily="34" charset="-122"/>
                <a:cs typeface="Segoe UI" pitchFamily="34" charset="-120"/>
              </a:rPr>
              <a:t>Spreadsheets &amp; files</a:t>
            </a:r>
            <a:endParaRPr lang="en-US" sz="1300" dirty="0"/>
          </a:p>
        </p:txBody>
      </p:sp>
      <p:sp>
        <p:nvSpPr>
          <p:cNvPr id="12" name="Shape 8"/>
          <p:cNvSpPr/>
          <p:nvPr/>
        </p:nvSpPr>
        <p:spPr>
          <a:xfrm>
            <a:off x="6222365" y="3246120"/>
            <a:ext cx="2573972" cy="1554480"/>
          </a:xfrm>
          <a:prstGeom prst="roundRect">
            <a:avLst>
              <a:gd name="adj" fmla="val 5882"/>
            </a:avLst>
          </a:prstGeom>
          <a:solidFill>
            <a:srgbClr val="141A25"/>
          </a:solidFill>
          <a:ln w="13970">
            <a:solidFill>
              <a:srgbClr val="36414F"/>
            </a:solidFill>
            <a:prstDash val="solid"/>
          </a:ln>
        </p:spPr>
        <p:txBody>
          <a:bodyPr/>
          <a:lstStyle/>
          <a:p>
            <a:endParaRPr lang="en-US"/>
          </a:p>
        </p:txBody>
      </p:sp>
      <p:pic>
        <p:nvPicPr>
          <p:cNvPr id="13" name="Image 2" descr="C:/Users/neuma_p1qrsic/Repo/agentic-ops1/.scratch/icons/mail.png"/>
          <p:cNvPicPr>
            <a:picLocks noChangeAspect="1"/>
          </p:cNvPicPr>
          <p:nvPr/>
        </p:nvPicPr>
        <p:blipFill>
          <a:blip r:embed="rId5"/>
          <a:stretch>
            <a:fillRect/>
          </a:stretch>
        </p:blipFill>
        <p:spPr>
          <a:xfrm>
            <a:off x="7198201" y="3538728"/>
            <a:ext cx="621792" cy="621792"/>
          </a:xfrm>
          <a:prstGeom prst="rect">
            <a:avLst/>
          </a:prstGeom>
        </p:spPr>
      </p:pic>
      <p:sp>
        <p:nvSpPr>
          <p:cNvPr id="14" name="Text 9"/>
          <p:cNvSpPr/>
          <p:nvPr/>
        </p:nvSpPr>
        <p:spPr>
          <a:xfrm>
            <a:off x="6365875" y="4233672"/>
            <a:ext cx="2286952" cy="457200"/>
          </a:xfrm>
          <a:prstGeom prst="rect">
            <a:avLst/>
          </a:prstGeom>
          <a:noFill/>
          <a:ln/>
        </p:spPr>
        <p:txBody>
          <a:bodyPr wrap="square" rtlCol="0" anchor="ctr"/>
          <a:lstStyle/>
          <a:p>
            <a:pPr marL="0" indent="0" algn="ctr">
              <a:buNone/>
            </a:pPr>
            <a:r>
              <a:rPr lang="en-US" sz="1300" dirty="0">
                <a:solidFill>
                  <a:srgbClr val="F3F6FB"/>
                </a:solidFill>
                <a:latin typeface="Segoe UI" pitchFamily="34" charset="0"/>
                <a:ea typeface="Segoe UI" pitchFamily="34" charset="-122"/>
                <a:cs typeface="Segoe UI" pitchFamily="34" charset="-120"/>
              </a:rPr>
              <a:t>Email</a:t>
            </a:r>
            <a:endParaRPr lang="en-US" sz="1300" dirty="0"/>
          </a:p>
        </p:txBody>
      </p:sp>
      <p:sp>
        <p:nvSpPr>
          <p:cNvPr id="15" name="Shape 10"/>
          <p:cNvSpPr/>
          <p:nvPr/>
        </p:nvSpPr>
        <p:spPr>
          <a:xfrm>
            <a:off x="9050337" y="3246120"/>
            <a:ext cx="2573972" cy="1554480"/>
          </a:xfrm>
          <a:prstGeom prst="roundRect">
            <a:avLst>
              <a:gd name="adj" fmla="val 5882"/>
            </a:avLst>
          </a:prstGeom>
          <a:solidFill>
            <a:srgbClr val="141A25"/>
          </a:solidFill>
          <a:ln w="13970">
            <a:solidFill>
              <a:srgbClr val="36414F"/>
            </a:solidFill>
            <a:prstDash val="solid"/>
          </a:ln>
        </p:spPr>
        <p:txBody>
          <a:bodyPr/>
          <a:lstStyle/>
          <a:p>
            <a:endParaRPr lang="en-US"/>
          </a:p>
        </p:txBody>
      </p:sp>
      <p:pic>
        <p:nvPicPr>
          <p:cNvPr id="16" name="Image 3" descr="C:/Users/neuma_p1qrsic/Repo/agentic-ops1/.scratch/icons/globe.png"/>
          <p:cNvPicPr>
            <a:picLocks noChangeAspect="1"/>
          </p:cNvPicPr>
          <p:nvPr/>
        </p:nvPicPr>
        <p:blipFill>
          <a:blip r:embed="rId6"/>
          <a:stretch>
            <a:fillRect/>
          </a:stretch>
        </p:blipFill>
        <p:spPr>
          <a:xfrm>
            <a:off x="10026173" y="3538728"/>
            <a:ext cx="621792" cy="621792"/>
          </a:xfrm>
          <a:prstGeom prst="rect">
            <a:avLst/>
          </a:prstGeom>
        </p:spPr>
      </p:pic>
      <p:sp>
        <p:nvSpPr>
          <p:cNvPr id="17" name="Text 11"/>
          <p:cNvSpPr/>
          <p:nvPr/>
        </p:nvSpPr>
        <p:spPr>
          <a:xfrm>
            <a:off x="9193847" y="4233672"/>
            <a:ext cx="2286952" cy="457200"/>
          </a:xfrm>
          <a:prstGeom prst="rect">
            <a:avLst/>
          </a:prstGeom>
          <a:noFill/>
          <a:ln/>
        </p:spPr>
        <p:txBody>
          <a:bodyPr wrap="square" rtlCol="0" anchor="ctr"/>
          <a:lstStyle/>
          <a:p>
            <a:pPr marL="0" indent="0" algn="ctr">
              <a:buNone/>
            </a:pPr>
            <a:r>
              <a:rPr lang="en-US" sz="1300" dirty="0">
                <a:solidFill>
                  <a:srgbClr val="F3F6FB"/>
                </a:solidFill>
                <a:latin typeface="Segoe UI" pitchFamily="34" charset="0"/>
                <a:ea typeface="Segoe UI" pitchFamily="34" charset="-122"/>
                <a:cs typeface="Segoe UI" pitchFamily="34" charset="-120"/>
              </a:rPr>
              <a:t>Web &amp; APIs</a:t>
            </a:r>
            <a:endParaRPr lang="en-US" sz="1300" dirty="0"/>
          </a:p>
        </p:txBody>
      </p:sp>
      <p:sp>
        <p:nvSpPr>
          <p:cNvPr id="21" name="Text 14"/>
          <p:cNvSpPr/>
          <p:nvPr/>
        </p:nvSpPr>
        <p:spPr>
          <a:xfrm>
            <a:off x="566928" y="5166360"/>
            <a:ext cx="11057839" cy="457200"/>
          </a:xfrm>
          <a:prstGeom prst="rect">
            <a:avLst/>
          </a:prstGeom>
          <a:noFill/>
          <a:ln/>
        </p:spPr>
        <p:txBody>
          <a:bodyPr wrap="square" rtlCol="0" anchor="ctr"/>
          <a:lstStyle/>
          <a:p>
            <a:pPr marL="0" indent="0">
              <a:buNone/>
            </a:pPr>
            <a:r>
              <a:rPr lang="en-US" sz="1450" dirty="0">
                <a:solidFill>
                  <a:srgbClr val="3BE3E0"/>
                </a:solidFill>
                <a:latin typeface="Segoe UI" pitchFamily="34" charset="0"/>
                <a:ea typeface="Segoe UI" pitchFamily="34" charset="-122"/>
                <a:cs typeface="Segoe UI" pitchFamily="34" charset="-120"/>
              </a:rPr>
              <a:t>It reads and writes to each of them, so the trade lands where it needs to with nothing re-typed.</a:t>
            </a:r>
            <a:endParaRPr lang="en-US" sz="1450" dirty="0"/>
          </a:p>
        </p:txBody>
      </p:sp>
      <p:sp>
        <p:nvSpPr>
          <p:cNvPr id="22" name="Text 15"/>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xml:space="preserve">   Smart Trading, part of OnePilot</a:t>
            </a:r>
            <a:endParaRPr lang="en-US" sz="900" dirty="0"/>
          </a:p>
        </p:txBody>
      </p:sp>
      <p:sp>
        <p:nvSpPr>
          <p:cNvPr id="23" name="Text 16"/>
          <p:cNvSpPr/>
          <p:nvPr/>
        </p:nvSpPr>
        <p:spPr>
          <a:xfrm>
            <a:off x="10527487" y="6400800"/>
            <a:ext cx="1097280" cy="274320"/>
          </a:xfrm>
          <a:prstGeom prst="rect">
            <a:avLst/>
          </a:prstGeom>
          <a:noFill/>
          <a:ln/>
        </p:spPr>
        <p:txBody>
          <a:bodyPr wrap="square" rtlCol="0" anchor="ctr"/>
          <a:lstStyle/>
          <a:p>
            <a:pPr marL="0" indent="0" algn="r">
              <a:buNone/>
            </a:pPr>
            <a:r>
              <a:rPr lang="en-US" sz="900" dirty="0">
                <a:solidFill>
                  <a:srgbClr val="AAB6C7"/>
                </a:solidFill>
                <a:latin typeface="Segoe UI" pitchFamily="34" charset="0"/>
                <a:ea typeface="Segoe UI" pitchFamily="34" charset="-122"/>
                <a:cs typeface="Segoe UI" pitchFamily="34" charset="-120"/>
              </a:rPr>
              <a:t>09 / 11</a:t>
            </a:r>
            <a:endParaRPr lang="en-US" sz="900" dirty="0"/>
          </a:p>
        </p:txBody>
      </p:sp>
      <p:sp>
        <p:nvSpPr>
          <p:cNvPr id="24" name="Shape 17"/>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extLst>
      <p:ext uri="{BB962C8B-B14F-4D97-AF65-F5344CB8AC3E}">
        <p14:creationId xmlns:p14="http://schemas.microsoft.com/office/powerpoint/2010/main" val="1464484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E14"/>
        </a:solidFill>
        <a:effectLst/>
      </p:bgPr>
    </p:bg>
    <p:spTree>
      <p:nvGrpSpPr>
        <p:cNvPr id="1" name=""/>
        <p:cNvGrpSpPr/>
        <p:nvPr/>
      </p:nvGrpSpPr>
      <p:grpSpPr>
        <a:xfrm>
          <a:off x="0" y="0"/>
          <a:ext cx="0" cy="0"/>
          <a:chOff x="0" y="0"/>
          <a:chExt cx="0" cy="0"/>
        </a:xfrm>
      </p:grpSpPr>
      <p:pic>
        <p:nvPicPr>
          <p:cNvPr id="2" name="Image 0" descr="C:/Users/neuma_p1qrsic/Repo/agentic-ops1/.scratch/logo/favicon.png"/>
          <p:cNvPicPr>
            <a:picLocks noChangeAspect="1"/>
          </p:cNvPicPr>
          <p:nvPr/>
        </p:nvPicPr>
        <p:blipFill>
          <a:blip r:embed="rId3"/>
          <a:stretch>
            <a:fillRect/>
          </a:stretch>
        </p:blipFill>
        <p:spPr>
          <a:xfrm>
            <a:off x="11313871" y="502920"/>
            <a:ext cx="310896" cy="310896"/>
          </a:xfrm>
          <a:prstGeom prst="rect">
            <a:avLst/>
          </a:prstGeom>
        </p:spPr>
      </p:pic>
      <p:sp>
        <p:nvSpPr>
          <p:cNvPr id="3"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4"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WHO WE ARE</a:t>
            </a:r>
            <a:endParaRPr lang="en-US" sz="1200" dirty="0"/>
          </a:p>
        </p:txBody>
      </p:sp>
      <p:sp>
        <p:nvSpPr>
          <p:cNvPr id="5" name="Text 2"/>
          <p:cNvSpPr/>
          <p:nvPr/>
        </p:nvSpPr>
        <p:spPr>
          <a:xfrm>
            <a:off x="566928" y="960120"/>
            <a:ext cx="10607040" cy="822960"/>
          </a:xfrm>
          <a:prstGeom prst="rect">
            <a:avLst/>
          </a:prstGeom>
          <a:noFill/>
          <a:ln/>
        </p:spPr>
        <p:txBody>
          <a:bodyPr wrap="square" rtlCol="0" anchor="ctr"/>
          <a:lstStyle/>
          <a:p>
            <a:pPr marL="0" indent="0">
              <a:buNone/>
            </a:pPr>
            <a:r>
              <a:rPr lang="en-US" sz="3000" b="1" dirty="0">
                <a:solidFill>
                  <a:srgbClr val="F3F6FB"/>
                </a:solidFill>
                <a:latin typeface="Segoe UI Semibold" pitchFamily="34" charset="0"/>
                <a:ea typeface="Segoe UI Semibold" pitchFamily="34" charset="-122"/>
                <a:cs typeface="Segoe UI Semibold" pitchFamily="34" charset="-120"/>
              </a:rPr>
              <a:t>We are the AI layer for SAP treasury.</a:t>
            </a:r>
            <a:endParaRPr lang="en-US" sz="3000" dirty="0"/>
          </a:p>
        </p:txBody>
      </p:sp>
      <p:sp>
        <p:nvSpPr>
          <p:cNvPr id="6" name="Shape 3"/>
          <p:cNvSpPr/>
          <p:nvPr/>
        </p:nvSpPr>
        <p:spPr>
          <a:xfrm>
            <a:off x="566928" y="2148840"/>
            <a:ext cx="3472586" cy="2788920"/>
          </a:xfrm>
          <a:prstGeom prst="roundRect">
            <a:avLst>
              <a:gd name="adj" fmla="val 2951"/>
            </a:avLst>
          </a:prstGeom>
          <a:solidFill>
            <a:srgbClr val="141A25"/>
          </a:solidFill>
          <a:ln w="13970">
            <a:solidFill>
              <a:srgbClr val="36414F"/>
            </a:solidFill>
            <a:prstDash val="solid"/>
          </a:ln>
        </p:spPr>
        <p:txBody>
          <a:bodyPr/>
          <a:lstStyle/>
          <a:p>
            <a:endParaRPr lang="en-US"/>
          </a:p>
        </p:txBody>
      </p:sp>
      <p:sp>
        <p:nvSpPr>
          <p:cNvPr id="7" name="Shape 4"/>
          <p:cNvSpPr/>
          <p:nvPr/>
        </p:nvSpPr>
        <p:spPr>
          <a:xfrm>
            <a:off x="841248" y="2441448"/>
            <a:ext cx="621792" cy="621792"/>
          </a:xfrm>
          <a:prstGeom prst="roundRect">
            <a:avLst>
              <a:gd name="adj" fmla="val 16176"/>
            </a:avLst>
          </a:prstGeom>
          <a:solidFill>
            <a:srgbClr val="1B2330"/>
          </a:solidFill>
          <a:ln w="15240">
            <a:solidFill>
              <a:srgbClr val="3BE3E0"/>
            </a:solidFill>
            <a:prstDash val="solid"/>
          </a:ln>
        </p:spPr>
        <p:txBody>
          <a:bodyPr/>
          <a:lstStyle/>
          <a:p>
            <a:endParaRPr lang="en-US"/>
          </a:p>
        </p:txBody>
      </p:sp>
      <p:pic>
        <p:nvPicPr>
          <p:cNvPr id="8" name="Image 1" descr="C:/Users/neuma_p1qrsic/Repo/agentic-ops1/.scratch/icons/shield.png"/>
          <p:cNvPicPr>
            <a:picLocks noChangeAspect="1"/>
          </p:cNvPicPr>
          <p:nvPr/>
        </p:nvPicPr>
        <p:blipFill>
          <a:blip r:embed="rId4"/>
          <a:stretch>
            <a:fillRect/>
          </a:stretch>
        </p:blipFill>
        <p:spPr>
          <a:xfrm>
            <a:off x="990478" y="2590678"/>
            <a:ext cx="323332" cy="323332"/>
          </a:xfrm>
          <a:prstGeom prst="rect">
            <a:avLst/>
          </a:prstGeom>
        </p:spPr>
      </p:pic>
      <p:sp>
        <p:nvSpPr>
          <p:cNvPr id="9" name="Text 5"/>
          <p:cNvSpPr/>
          <p:nvPr/>
        </p:nvSpPr>
        <p:spPr>
          <a:xfrm>
            <a:off x="841248" y="3191256"/>
            <a:ext cx="2923946" cy="457200"/>
          </a:xfrm>
          <a:prstGeom prst="rect">
            <a:avLst/>
          </a:prstGeom>
          <a:noFill/>
          <a:ln/>
        </p:spPr>
        <p:txBody>
          <a:bodyPr wrap="square" rtlCol="0" anchor="ctr"/>
          <a:lstStyle/>
          <a:p>
            <a:pPr marL="0" indent="0">
              <a:buNone/>
            </a:pPr>
            <a:r>
              <a:rPr lang="en-US" sz="1850" b="1" dirty="0">
                <a:solidFill>
                  <a:srgbClr val="F3F6FB"/>
                </a:solidFill>
                <a:latin typeface="Segoe UI Semibold" pitchFamily="34" charset="0"/>
                <a:ea typeface="Segoe UI Semibold" pitchFamily="34" charset="-122"/>
                <a:cs typeface="Segoe UI Semibold" pitchFamily="34" charset="-120"/>
              </a:rPr>
              <a:t>Built into SAP</a:t>
            </a:r>
            <a:endParaRPr lang="en-US" sz="1850" dirty="0"/>
          </a:p>
        </p:txBody>
      </p:sp>
      <p:sp>
        <p:nvSpPr>
          <p:cNvPr id="10" name="Text 6"/>
          <p:cNvSpPr/>
          <p:nvPr/>
        </p:nvSpPr>
        <p:spPr>
          <a:xfrm>
            <a:off x="841248" y="3630168"/>
            <a:ext cx="2923946" cy="1143000"/>
          </a:xfrm>
          <a:prstGeom prst="rect">
            <a:avLst/>
          </a:prstGeom>
          <a:noFill/>
          <a:ln/>
        </p:spPr>
        <p:txBody>
          <a:bodyPr wrap="square" rtlCol="0" anchor="t"/>
          <a:lstStyle/>
          <a:p>
            <a:pPr marL="0" indent="0">
              <a:lnSpc>
                <a:spcPct val="116000"/>
              </a:lnSpc>
              <a:buNone/>
            </a:pPr>
            <a:r>
              <a:rPr lang="en-US" sz="1300" dirty="0">
                <a:solidFill>
                  <a:srgbClr val="AAB6C7"/>
                </a:solidFill>
                <a:latin typeface="Segoe UI" pitchFamily="34" charset="0"/>
                <a:ea typeface="Segoe UI" pitchFamily="34" charset="-122"/>
                <a:cs typeface="Segoe UI" pitchFamily="34" charset="-120"/>
              </a:rPr>
              <a:t>An SAP co-innovation partner. Smart Trading runs on SAP's own cloud, so it sits inside your landscape, not beside it.</a:t>
            </a:r>
            <a:endParaRPr lang="en-US" sz="1300" dirty="0"/>
          </a:p>
        </p:txBody>
      </p:sp>
      <p:sp>
        <p:nvSpPr>
          <p:cNvPr id="11" name="Shape 7"/>
          <p:cNvSpPr/>
          <p:nvPr/>
        </p:nvSpPr>
        <p:spPr>
          <a:xfrm>
            <a:off x="4359554" y="2148840"/>
            <a:ext cx="3472586" cy="2788920"/>
          </a:xfrm>
          <a:prstGeom prst="roundRect">
            <a:avLst>
              <a:gd name="adj" fmla="val 2951"/>
            </a:avLst>
          </a:prstGeom>
          <a:solidFill>
            <a:srgbClr val="141A25"/>
          </a:solidFill>
          <a:ln w="13970">
            <a:solidFill>
              <a:srgbClr val="36414F"/>
            </a:solidFill>
            <a:prstDash val="solid"/>
          </a:ln>
        </p:spPr>
        <p:txBody>
          <a:bodyPr/>
          <a:lstStyle/>
          <a:p>
            <a:endParaRPr lang="en-US"/>
          </a:p>
        </p:txBody>
      </p:sp>
      <p:sp>
        <p:nvSpPr>
          <p:cNvPr id="12" name="Shape 8"/>
          <p:cNvSpPr/>
          <p:nvPr/>
        </p:nvSpPr>
        <p:spPr>
          <a:xfrm>
            <a:off x="4633874" y="2441448"/>
            <a:ext cx="621792" cy="621792"/>
          </a:xfrm>
          <a:prstGeom prst="roundRect">
            <a:avLst>
              <a:gd name="adj" fmla="val 16176"/>
            </a:avLst>
          </a:prstGeom>
          <a:solidFill>
            <a:srgbClr val="1B2330"/>
          </a:solidFill>
          <a:ln w="15240">
            <a:solidFill>
              <a:srgbClr val="3BE3E0"/>
            </a:solidFill>
            <a:prstDash val="solid"/>
          </a:ln>
        </p:spPr>
        <p:txBody>
          <a:bodyPr/>
          <a:lstStyle/>
          <a:p>
            <a:endParaRPr lang="en-US"/>
          </a:p>
        </p:txBody>
      </p:sp>
      <p:pic>
        <p:nvPicPr>
          <p:cNvPr id="13" name="Image 2" descr="C:/Users/neuma_p1qrsic/Repo/agentic-ops1/.scratch/icons/venue.png"/>
          <p:cNvPicPr>
            <a:picLocks noChangeAspect="1"/>
          </p:cNvPicPr>
          <p:nvPr/>
        </p:nvPicPr>
        <p:blipFill>
          <a:blip r:embed="rId5"/>
          <a:stretch>
            <a:fillRect/>
          </a:stretch>
        </p:blipFill>
        <p:spPr>
          <a:xfrm>
            <a:off x="4783104" y="2590678"/>
            <a:ext cx="323332" cy="323332"/>
          </a:xfrm>
          <a:prstGeom prst="rect">
            <a:avLst/>
          </a:prstGeom>
        </p:spPr>
      </p:pic>
      <p:sp>
        <p:nvSpPr>
          <p:cNvPr id="14" name="Text 9"/>
          <p:cNvSpPr/>
          <p:nvPr/>
        </p:nvSpPr>
        <p:spPr>
          <a:xfrm>
            <a:off x="4633874" y="3191256"/>
            <a:ext cx="2923946" cy="457200"/>
          </a:xfrm>
          <a:prstGeom prst="rect">
            <a:avLst/>
          </a:prstGeom>
          <a:noFill/>
          <a:ln/>
        </p:spPr>
        <p:txBody>
          <a:bodyPr wrap="square" rtlCol="0" anchor="ctr"/>
          <a:lstStyle/>
          <a:p>
            <a:pPr marL="0" indent="0">
              <a:buNone/>
            </a:pPr>
            <a:r>
              <a:rPr lang="en-US" sz="1850" b="1" dirty="0">
                <a:solidFill>
                  <a:srgbClr val="F3F6FB"/>
                </a:solidFill>
                <a:latin typeface="Segoe UI Semibold" pitchFamily="34" charset="0"/>
                <a:ea typeface="Segoe UI Semibold" pitchFamily="34" charset="-122"/>
                <a:cs typeface="Segoe UI Semibold" pitchFamily="34" charset="-120"/>
              </a:rPr>
              <a:t>Every venue you trade</a:t>
            </a:r>
            <a:endParaRPr lang="en-US" sz="1850" dirty="0"/>
          </a:p>
        </p:txBody>
      </p:sp>
      <p:sp>
        <p:nvSpPr>
          <p:cNvPr id="15" name="Text 10"/>
          <p:cNvSpPr/>
          <p:nvPr/>
        </p:nvSpPr>
        <p:spPr>
          <a:xfrm>
            <a:off x="4633874" y="3630168"/>
            <a:ext cx="2923946" cy="1143000"/>
          </a:xfrm>
          <a:prstGeom prst="rect">
            <a:avLst/>
          </a:prstGeom>
          <a:noFill/>
          <a:ln/>
        </p:spPr>
        <p:txBody>
          <a:bodyPr wrap="square" rtlCol="0" anchor="t"/>
          <a:lstStyle/>
          <a:p>
            <a:pPr marL="0" indent="0">
              <a:lnSpc>
                <a:spcPct val="116000"/>
              </a:lnSpc>
              <a:buNone/>
            </a:pPr>
            <a:r>
              <a:rPr lang="en-US" sz="1300" dirty="0">
                <a:solidFill>
                  <a:srgbClr val="AAB6C7"/>
                </a:solidFill>
                <a:latin typeface="Segoe UI" pitchFamily="34" charset="0"/>
                <a:ea typeface="Segoe UI" pitchFamily="34" charset="-122"/>
                <a:cs typeface="Segoe UI" pitchFamily="34" charset="-120"/>
              </a:rPr>
              <a:t>Direct links to the platforms your desk already uses, connected once, nothing rebuilt.</a:t>
            </a:r>
            <a:endParaRPr lang="en-US" sz="1300" dirty="0"/>
          </a:p>
        </p:txBody>
      </p:sp>
      <p:sp>
        <p:nvSpPr>
          <p:cNvPr id="16" name="Shape 11"/>
          <p:cNvSpPr/>
          <p:nvPr/>
        </p:nvSpPr>
        <p:spPr>
          <a:xfrm>
            <a:off x="8152181" y="2148840"/>
            <a:ext cx="3472586" cy="2788920"/>
          </a:xfrm>
          <a:prstGeom prst="roundRect">
            <a:avLst>
              <a:gd name="adj" fmla="val 2951"/>
            </a:avLst>
          </a:prstGeom>
          <a:solidFill>
            <a:srgbClr val="141A25"/>
          </a:solidFill>
          <a:ln w="13970">
            <a:solidFill>
              <a:srgbClr val="36414F"/>
            </a:solidFill>
            <a:prstDash val="solid"/>
          </a:ln>
        </p:spPr>
        <p:txBody>
          <a:bodyPr/>
          <a:lstStyle/>
          <a:p>
            <a:endParaRPr lang="en-US"/>
          </a:p>
        </p:txBody>
      </p:sp>
      <p:sp>
        <p:nvSpPr>
          <p:cNvPr id="17" name="Shape 12"/>
          <p:cNvSpPr/>
          <p:nvPr/>
        </p:nvSpPr>
        <p:spPr>
          <a:xfrm>
            <a:off x="8426501" y="2441448"/>
            <a:ext cx="621792" cy="621792"/>
          </a:xfrm>
          <a:prstGeom prst="roundRect">
            <a:avLst>
              <a:gd name="adj" fmla="val 16176"/>
            </a:avLst>
          </a:prstGeom>
          <a:solidFill>
            <a:srgbClr val="1B2330"/>
          </a:solidFill>
          <a:ln w="15240">
            <a:solidFill>
              <a:srgbClr val="3BE3E0"/>
            </a:solidFill>
            <a:prstDash val="solid"/>
          </a:ln>
        </p:spPr>
        <p:txBody>
          <a:bodyPr/>
          <a:lstStyle/>
          <a:p>
            <a:endParaRPr lang="en-US"/>
          </a:p>
        </p:txBody>
      </p:sp>
      <p:pic>
        <p:nvPicPr>
          <p:cNvPr id="18" name="Image 3" descr="C:/Users/neuma_p1qrsic/Repo/agentic-ops1/.scratch/icons/blocks.png"/>
          <p:cNvPicPr>
            <a:picLocks noChangeAspect="1"/>
          </p:cNvPicPr>
          <p:nvPr/>
        </p:nvPicPr>
        <p:blipFill>
          <a:blip r:embed="rId6"/>
          <a:stretch>
            <a:fillRect/>
          </a:stretch>
        </p:blipFill>
        <p:spPr>
          <a:xfrm>
            <a:off x="8575731" y="2590678"/>
            <a:ext cx="323332" cy="323332"/>
          </a:xfrm>
          <a:prstGeom prst="rect">
            <a:avLst/>
          </a:prstGeom>
        </p:spPr>
      </p:pic>
      <p:sp>
        <p:nvSpPr>
          <p:cNvPr id="19" name="Text 13"/>
          <p:cNvSpPr/>
          <p:nvPr/>
        </p:nvSpPr>
        <p:spPr>
          <a:xfrm>
            <a:off x="8426501" y="3191256"/>
            <a:ext cx="2923946" cy="457200"/>
          </a:xfrm>
          <a:prstGeom prst="rect">
            <a:avLst/>
          </a:prstGeom>
          <a:noFill/>
          <a:ln/>
        </p:spPr>
        <p:txBody>
          <a:bodyPr wrap="square" rtlCol="0" anchor="ctr"/>
          <a:lstStyle/>
          <a:p>
            <a:pPr marL="0" indent="0">
              <a:buNone/>
            </a:pPr>
            <a:r>
              <a:rPr lang="en-US" sz="1850" b="1" dirty="0">
                <a:solidFill>
                  <a:srgbClr val="F3F6FB"/>
                </a:solidFill>
                <a:latin typeface="Segoe UI Semibold" pitchFamily="34" charset="0"/>
                <a:ea typeface="Segoe UI Semibold" pitchFamily="34" charset="-122"/>
                <a:cs typeface="Segoe UI Semibold" pitchFamily="34" charset="-120"/>
              </a:rPr>
              <a:t>Yours to change</a:t>
            </a:r>
            <a:endParaRPr lang="en-US" sz="1850" dirty="0"/>
          </a:p>
        </p:txBody>
      </p:sp>
      <p:sp>
        <p:nvSpPr>
          <p:cNvPr id="20" name="Text 14"/>
          <p:cNvSpPr/>
          <p:nvPr/>
        </p:nvSpPr>
        <p:spPr>
          <a:xfrm>
            <a:off x="8426501" y="3630168"/>
            <a:ext cx="2923946" cy="1143000"/>
          </a:xfrm>
          <a:prstGeom prst="rect">
            <a:avLst/>
          </a:prstGeom>
          <a:noFill/>
          <a:ln/>
        </p:spPr>
        <p:txBody>
          <a:bodyPr wrap="square" rtlCol="0" anchor="t"/>
          <a:lstStyle/>
          <a:p>
            <a:pPr marL="0" indent="0">
              <a:lnSpc>
                <a:spcPct val="116000"/>
              </a:lnSpc>
              <a:buNone/>
            </a:pPr>
            <a:r>
              <a:rPr lang="en-US" sz="1300" dirty="0">
                <a:solidFill>
                  <a:srgbClr val="AAB6C7"/>
                </a:solidFill>
                <a:latin typeface="Segoe UI" pitchFamily="34" charset="0"/>
                <a:ea typeface="Segoe UI" pitchFamily="34" charset="-122"/>
                <a:cs typeface="Segoe UI" pitchFamily="34" charset="-120"/>
              </a:rPr>
              <a:t>No code to run it. Your team keeps it in step with how you trade. Customer teams already build on the platform.</a:t>
            </a:r>
            <a:endParaRPr lang="en-US" sz="1300" dirty="0"/>
          </a:p>
        </p:txBody>
      </p:sp>
      <p:sp>
        <p:nvSpPr>
          <p:cNvPr id="21" name="Text 15"/>
          <p:cNvSpPr/>
          <p:nvPr/>
        </p:nvSpPr>
        <p:spPr>
          <a:xfrm>
            <a:off x="566928" y="5349240"/>
            <a:ext cx="960120" cy="777240"/>
          </a:xfrm>
          <a:prstGeom prst="rect">
            <a:avLst/>
          </a:prstGeom>
          <a:noFill/>
          <a:ln/>
        </p:spPr>
        <p:txBody>
          <a:bodyPr wrap="square" rtlCol="0" anchor="ctr"/>
          <a:lstStyle/>
          <a:p>
            <a:pPr marL="0" indent="0">
              <a:buNone/>
            </a:pPr>
            <a:r>
              <a:rPr lang="en-US" sz="4400" b="1" dirty="0">
                <a:solidFill>
                  <a:srgbClr val="3BE3E0"/>
                </a:solidFill>
                <a:latin typeface="Segoe UI Semibold" pitchFamily="34" charset="0"/>
                <a:ea typeface="Segoe UI Semibold" pitchFamily="34" charset="-122"/>
                <a:cs typeface="Segoe UI Semibold" pitchFamily="34" charset="-120"/>
              </a:rPr>
              <a:t>1</a:t>
            </a:r>
            <a:endParaRPr lang="en-US" sz="4400" dirty="0"/>
          </a:p>
        </p:txBody>
      </p:sp>
      <p:sp>
        <p:nvSpPr>
          <p:cNvPr id="22" name="Text 16"/>
          <p:cNvSpPr/>
          <p:nvPr/>
        </p:nvSpPr>
        <p:spPr>
          <a:xfrm>
            <a:off x="1481328" y="5349240"/>
            <a:ext cx="2558186" cy="77724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platform for every venue</a:t>
            </a:r>
            <a:endParaRPr lang="en-US" sz="1250" dirty="0"/>
          </a:p>
        </p:txBody>
      </p:sp>
      <p:sp>
        <p:nvSpPr>
          <p:cNvPr id="23" name="Text 17"/>
          <p:cNvSpPr/>
          <p:nvPr/>
        </p:nvSpPr>
        <p:spPr>
          <a:xfrm>
            <a:off x="4359554" y="5349240"/>
            <a:ext cx="960120" cy="777240"/>
          </a:xfrm>
          <a:prstGeom prst="rect">
            <a:avLst/>
          </a:prstGeom>
          <a:noFill/>
          <a:ln/>
        </p:spPr>
        <p:txBody>
          <a:bodyPr wrap="square" rtlCol="0" anchor="ctr"/>
          <a:lstStyle/>
          <a:p>
            <a:pPr marL="0" indent="0">
              <a:buNone/>
            </a:pPr>
            <a:r>
              <a:rPr lang="en-US" sz="4400" b="1" dirty="0">
                <a:solidFill>
                  <a:srgbClr val="3BE3E0"/>
                </a:solidFill>
                <a:latin typeface="Segoe UI Semibold" pitchFamily="34" charset="0"/>
                <a:ea typeface="Segoe UI Semibold" pitchFamily="34" charset="-122"/>
                <a:cs typeface="Segoe UI Semibold" pitchFamily="34" charset="-120"/>
              </a:rPr>
              <a:t>5</a:t>
            </a:r>
            <a:endParaRPr lang="en-US" sz="4400" dirty="0"/>
          </a:p>
        </p:txBody>
      </p:sp>
      <p:sp>
        <p:nvSpPr>
          <p:cNvPr id="24" name="Text 18"/>
          <p:cNvSpPr/>
          <p:nvPr/>
        </p:nvSpPr>
        <p:spPr>
          <a:xfrm>
            <a:off x="5273954" y="5349240"/>
            <a:ext cx="2558186" cy="77724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steps, decision to deal</a:t>
            </a:r>
            <a:endParaRPr lang="en-US" sz="1250" dirty="0"/>
          </a:p>
        </p:txBody>
      </p:sp>
      <p:sp>
        <p:nvSpPr>
          <p:cNvPr id="25" name="Text 19"/>
          <p:cNvSpPr/>
          <p:nvPr/>
        </p:nvSpPr>
        <p:spPr>
          <a:xfrm>
            <a:off x="8152181" y="5349240"/>
            <a:ext cx="960120" cy="777240"/>
          </a:xfrm>
          <a:prstGeom prst="rect">
            <a:avLst/>
          </a:prstGeom>
          <a:noFill/>
          <a:ln/>
        </p:spPr>
        <p:txBody>
          <a:bodyPr wrap="square" rtlCol="0" anchor="ctr"/>
          <a:lstStyle/>
          <a:p>
            <a:pPr marL="0" indent="0">
              <a:buNone/>
            </a:pPr>
            <a:r>
              <a:rPr lang="en-US" sz="4400" b="1" dirty="0">
                <a:solidFill>
                  <a:srgbClr val="3BE3E0"/>
                </a:solidFill>
                <a:latin typeface="Segoe UI Semibold" pitchFamily="34" charset="0"/>
                <a:ea typeface="Segoe UI Semibold" pitchFamily="34" charset="-122"/>
                <a:cs typeface="Segoe UI Semibold" pitchFamily="34" charset="-120"/>
              </a:rPr>
              <a:t>0</a:t>
            </a:r>
            <a:endParaRPr lang="en-US" sz="4400" dirty="0"/>
          </a:p>
        </p:txBody>
      </p:sp>
      <p:sp>
        <p:nvSpPr>
          <p:cNvPr id="26" name="Text 20"/>
          <p:cNvSpPr/>
          <p:nvPr/>
        </p:nvSpPr>
        <p:spPr>
          <a:xfrm>
            <a:off x="9066581" y="5349240"/>
            <a:ext cx="2558186" cy="77724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code to set it up</a:t>
            </a:r>
            <a:endParaRPr lang="en-US" sz="1250" dirty="0"/>
          </a:p>
        </p:txBody>
      </p:sp>
      <p:sp>
        <p:nvSpPr>
          <p:cNvPr id="27" name="Text 21"/>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xml:space="preserve">   Smart Trading, part of OnePilot</a:t>
            </a:r>
            <a:endParaRPr lang="en-US" sz="900" dirty="0"/>
          </a:p>
        </p:txBody>
      </p:sp>
      <p:sp>
        <p:nvSpPr>
          <p:cNvPr id="28" name="Text 22"/>
          <p:cNvSpPr/>
          <p:nvPr/>
        </p:nvSpPr>
        <p:spPr>
          <a:xfrm>
            <a:off x="10527487" y="6400800"/>
            <a:ext cx="1097280" cy="274320"/>
          </a:xfrm>
          <a:prstGeom prst="rect">
            <a:avLst/>
          </a:prstGeom>
          <a:noFill/>
          <a:ln/>
        </p:spPr>
        <p:txBody>
          <a:bodyPr wrap="square" rtlCol="0" anchor="ctr"/>
          <a:lstStyle/>
          <a:p>
            <a:pPr marL="0" indent="0" algn="r">
              <a:buNone/>
            </a:pPr>
            <a:r>
              <a:rPr lang="en-US" sz="900" dirty="0">
                <a:solidFill>
                  <a:srgbClr val="AAB6C7"/>
                </a:solidFill>
                <a:latin typeface="Segoe UI" pitchFamily="34" charset="0"/>
                <a:ea typeface="Segoe UI" pitchFamily="34" charset="-122"/>
                <a:cs typeface="Segoe UI" pitchFamily="34" charset="-120"/>
              </a:rPr>
              <a:t>10 / 11</a:t>
            </a:r>
            <a:endParaRPr lang="en-US" sz="900" dirty="0"/>
          </a:p>
        </p:txBody>
      </p:sp>
      <p:sp>
        <p:nvSpPr>
          <p:cNvPr id="29" name="Shape 23"/>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bg>
      <p:bgPr>
        <a:solidFill>
          <a:srgbClr val="0B0E14"/>
        </a:solidFill>
        <a:effectLst/>
      </p:bgPr>
    </p:bg>
    <p:spTree>
      <p:nvGrpSpPr>
        <p:cNvPr id="1" name="">
          <a:extLst>
            <a:ext uri="{FF2B5EF4-FFF2-40B4-BE49-F238E27FC236}">
              <a16:creationId xmlns:a16="http://schemas.microsoft.com/office/drawing/2014/main" id="{416B6F50-CDF6-A4C2-236C-A75FB7AD182D}"/>
            </a:ext>
          </a:extLst>
        </p:cNvPr>
        <p:cNvGrpSpPr/>
        <p:nvPr/>
      </p:nvGrpSpPr>
      <p:grpSpPr>
        <a:xfrm>
          <a:off x="0" y="0"/>
          <a:ext cx="0" cy="0"/>
          <a:chOff x="0" y="0"/>
          <a:chExt cx="0" cy="0"/>
        </a:xfrm>
      </p:grpSpPr>
      <p:sp>
        <p:nvSpPr>
          <p:cNvPr id="30" name="Shape 0">
            <a:extLst>
              <a:ext uri="{FF2B5EF4-FFF2-40B4-BE49-F238E27FC236}">
                <a16:creationId xmlns:a16="http://schemas.microsoft.com/office/drawing/2014/main" id="{019AD514-5530-DF31-9314-26AD84C6F541}"/>
              </a:ext>
            </a:extLst>
          </p:cNvPr>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1" name="Text 1">
            <a:extLst>
              <a:ext uri="{FF2B5EF4-FFF2-40B4-BE49-F238E27FC236}">
                <a16:creationId xmlns:a16="http://schemas.microsoft.com/office/drawing/2014/main" id="{430ED0D0-70B3-19BE-7471-8DED44524411}"/>
              </a:ext>
            </a:extLst>
          </p:cNvPr>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PARTNERS AND CUSTOMERS</a:t>
            </a:r>
            <a:endParaRPr lang="en-US" sz="1200" dirty="0"/>
          </a:p>
        </p:txBody>
      </p:sp>
      <p:sp>
        <p:nvSpPr>
          <p:cNvPr id="32" name="Text 2">
            <a:extLst>
              <a:ext uri="{FF2B5EF4-FFF2-40B4-BE49-F238E27FC236}">
                <a16:creationId xmlns:a16="http://schemas.microsoft.com/office/drawing/2014/main" id="{2484DF32-0A21-6C63-BD7A-D25302576AF1}"/>
              </a:ext>
            </a:extLst>
          </p:cNvPr>
          <p:cNvSpPr/>
          <p:nvPr/>
        </p:nvSpPr>
        <p:spPr>
          <a:xfrm>
            <a:off x="566928" y="960120"/>
            <a:ext cx="10881360" cy="731520"/>
          </a:xfrm>
          <a:prstGeom prst="rect">
            <a:avLst/>
          </a:prstGeom>
          <a:noFill/>
          <a:ln/>
        </p:spPr>
        <p:txBody>
          <a:bodyPr wrap="square" rtlCol="0" anchor="ctr"/>
          <a:lstStyle/>
          <a:p>
            <a:pPr marL="0" indent="0">
              <a:buNone/>
            </a:pPr>
            <a:r>
              <a:rPr lang="en-US" sz="2800" b="1" dirty="0">
                <a:solidFill>
                  <a:srgbClr val="F3F6FB"/>
                </a:solidFill>
                <a:latin typeface="Segoe UI Semibold" pitchFamily="34" charset="0"/>
                <a:ea typeface="Segoe UI Semibold" pitchFamily="34" charset="-122"/>
                <a:cs typeface="Segoe UI Semibold" pitchFamily="34" charset="-120"/>
              </a:rPr>
              <a:t>The data, the platform, and the teams behind it.</a:t>
            </a:r>
            <a:endParaRPr lang="en-US" sz="2800" dirty="0"/>
          </a:p>
        </p:txBody>
      </p:sp>
      <p:sp>
        <p:nvSpPr>
          <p:cNvPr id="33" name="Text 3">
            <a:extLst>
              <a:ext uri="{FF2B5EF4-FFF2-40B4-BE49-F238E27FC236}">
                <a16:creationId xmlns:a16="http://schemas.microsoft.com/office/drawing/2014/main" id="{AF8AF46E-A91D-BD30-E1A5-46E9DB287E48}"/>
              </a:ext>
            </a:extLst>
          </p:cNvPr>
          <p:cNvSpPr/>
          <p:nvPr/>
        </p:nvSpPr>
        <p:spPr>
          <a:xfrm>
            <a:off x="585216" y="2103120"/>
            <a:ext cx="5486400" cy="256032"/>
          </a:xfrm>
          <a:prstGeom prst="rect">
            <a:avLst/>
          </a:prstGeom>
          <a:noFill/>
          <a:ln/>
        </p:spPr>
        <p:txBody>
          <a:bodyPr wrap="square" rtlCol="0" anchor="ctr"/>
          <a:lstStyle/>
          <a:p>
            <a:pPr marL="0" indent="0">
              <a:buNone/>
            </a:pPr>
            <a:r>
              <a:rPr lang="en-US" sz="1050" b="1" kern="0" spc="200" dirty="0">
                <a:solidFill>
                  <a:srgbClr val="7C8A9B"/>
                </a:solidFill>
                <a:latin typeface="Segoe UI Semibold" pitchFamily="34" charset="0"/>
                <a:ea typeface="Segoe UI Semibold" pitchFamily="34" charset="-122"/>
                <a:cs typeface="Segoe UI Semibold" pitchFamily="34" charset="-120"/>
              </a:rPr>
              <a:t>TECHNOLOGY PARTNER</a:t>
            </a:r>
            <a:endParaRPr lang="en-US" sz="1050" dirty="0"/>
          </a:p>
        </p:txBody>
      </p:sp>
      <p:sp>
        <p:nvSpPr>
          <p:cNvPr id="34" name="Shape 4">
            <a:extLst>
              <a:ext uri="{FF2B5EF4-FFF2-40B4-BE49-F238E27FC236}">
                <a16:creationId xmlns:a16="http://schemas.microsoft.com/office/drawing/2014/main" id="{4C080745-EE34-55B1-1546-3E726F271965}"/>
              </a:ext>
            </a:extLst>
          </p:cNvPr>
          <p:cNvSpPr/>
          <p:nvPr/>
        </p:nvSpPr>
        <p:spPr>
          <a:xfrm>
            <a:off x="585216" y="2377440"/>
            <a:ext cx="1828800" cy="731520"/>
          </a:xfrm>
          <a:prstGeom prst="roundRect">
            <a:avLst>
              <a:gd name="adj" fmla="val 17500"/>
            </a:avLst>
          </a:prstGeom>
          <a:solidFill>
            <a:srgbClr val="FFFFFF"/>
          </a:solidFill>
          <a:ln w="9525">
            <a:solidFill>
              <a:srgbClr val="36414F"/>
            </a:solidFill>
            <a:prstDash val="solid"/>
          </a:ln>
        </p:spPr>
        <p:txBody>
          <a:bodyPr/>
          <a:lstStyle/>
          <a:p>
            <a:endParaRPr lang="en-US"/>
          </a:p>
        </p:txBody>
      </p:sp>
      <p:pic>
        <p:nvPicPr>
          <p:cNvPr id="35" name="Image 0" descr="C:/Users/neuma_p1qrsic/Repo/agentic-ops1/.scratch/deckgen/logos/sap.png">
            <a:extLst>
              <a:ext uri="{FF2B5EF4-FFF2-40B4-BE49-F238E27FC236}">
                <a16:creationId xmlns:a16="http://schemas.microsoft.com/office/drawing/2014/main" id="{987BD4BD-2B96-B4C2-4363-35A1B39345D5}"/>
              </a:ext>
            </a:extLst>
          </p:cNvPr>
          <p:cNvPicPr>
            <a:picLocks noChangeAspect="1"/>
          </p:cNvPicPr>
          <p:nvPr/>
        </p:nvPicPr>
        <p:blipFill>
          <a:blip r:embed="rId3"/>
          <a:stretch>
            <a:fillRect/>
          </a:stretch>
        </p:blipFill>
        <p:spPr>
          <a:xfrm>
            <a:off x="1012244" y="2501798"/>
            <a:ext cx="974745" cy="482803"/>
          </a:xfrm>
          <a:prstGeom prst="rect">
            <a:avLst/>
          </a:prstGeom>
        </p:spPr>
      </p:pic>
      <p:sp>
        <p:nvSpPr>
          <p:cNvPr id="36" name="Text 5">
            <a:extLst>
              <a:ext uri="{FF2B5EF4-FFF2-40B4-BE49-F238E27FC236}">
                <a16:creationId xmlns:a16="http://schemas.microsoft.com/office/drawing/2014/main" id="{F6C76210-D22D-2952-4BB6-1749AD1A59A5}"/>
              </a:ext>
            </a:extLst>
          </p:cNvPr>
          <p:cNvSpPr/>
          <p:nvPr/>
        </p:nvSpPr>
        <p:spPr>
          <a:xfrm>
            <a:off x="585216" y="3401568"/>
            <a:ext cx="5486400" cy="256032"/>
          </a:xfrm>
          <a:prstGeom prst="rect">
            <a:avLst/>
          </a:prstGeom>
          <a:noFill/>
          <a:ln/>
        </p:spPr>
        <p:txBody>
          <a:bodyPr wrap="square" rtlCol="0" anchor="ctr"/>
          <a:lstStyle/>
          <a:p>
            <a:pPr marL="0" indent="0">
              <a:buNone/>
            </a:pPr>
            <a:r>
              <a:rPr lang="en-US" sz="1050" b="1" kern="0" spc="200" dirty="0">
                <a:solidFill>
                  <a:srgbClr val="7C8A9B"/>
                </a:solidFill>
                <a:latin typeface="Segoe UI Semibold" pitchFamily="34" charset="0"/>
                <a:ea typeface="Segoe UI Semibold" pitchFamily="34" charset="-122"/>
                <a:cs typeface="Segoe UI Semibold" pitchFamily="34" charset="-120"/>
              </a:rPr>
              <a:t>TRUSTED BY TEAMS AT</a:t>
            </a:r>
            <a:endParaRPr lang="en-US" sz="1050" dirty="0"/>
          </a:p>
        </p:txBody>
      </p:sp>
      <p:sp>
        <p:nvSpPr>
          <p:cNvPr id="37" name="Shape 6">
            <a:extLst>
              <a:ext uri="{FF2B5EF4-FFF2-40B4-BE49-F238E27FC236}">
                <a16:creationId xmlns:a16="http://schemas.microsoft.com/office/drawing/2014/main" id="{26E6731B-71D5-860B-8D05-9D14E01FD93D}"/>
              </a:ext>
            </a:extLst>
          </p:cNvPr>
          <p:cNvSpPr/>
          <p:nvPr/>
        </p:nvSpPr>
        <p:spPr>
          <a:xfrm>
            <a:off x="585216" y="3657600"/>
            <a:ext cx="1999427" cy="749808"/>
          </a:xfrm>
          <a:prstGeom prst="roundRect">
            <a:avLst>
              <a:gd name="adj" fmla="val 17073"/>
            </a:avLst>
          </a:prstGeom>
          <a:solidFill>
            <a:srgbClr val="FFFFFF"/>
          </a:solidFill>
          <a:ln w="9525">
            <a:solidFill>
              <a:srgbClr val="36414F"/>
            </a:solidFill>
            <a:prstDash val="solid"/>
          </a:ln>
        </p:spPr>
        <p:txBody>
          <a:bodyPr/>
          <a:lstStyle/>
          <a:p>
            <a:endParaRPr lang="en-US"/>
          </a:p>
        </p:txBody>
      </p:sp>
      <p:pic>
        <p:nvPicPr>
          <p:cNvPr id="38" name="Image 1" descr="C:/Users/neuma_p1qrsic/Repo/agentic-ops1/.scratch/deckgen/logos/nestle.png">
            <a:extLst>
              <a:ext uri="{FF2B5EF4-FFF2-40B4-BE49-F238E27FC236}">
                <a16:creationId xmlns:a16="http://schemas.microsoft.com/office/drawing/2014/main" id="{D35D8C4B-9487-FE3F-74DA-49955BF99B13}"/>
              </a:ext>
            </a:extLst>
          </p:cNvPr>
          <p:cNvPicPr>
            <a:picLocks noChangeAspect="1"/>
          </p:cNvPicPr>
          <p:nvPr/>
        </p:nvPicPr>
        <p:blipFill>
          <a:blip r:embed="rId4"/>
          <a:stretch>
            <a:fillRect/>
          </a:stretch>
        </p:blipFill>
        <p:spPr>
          <a:xfrm>
            <a:off x="765164" y="3807069"/>
            <a:ext cx="1639530" cy="450871"/>
          </a:xfrm>
          <a:prstGeom prst="rect">
            <a:avLst/>
          </a:prstGeom>
        </p:spPr>
      </p:pic>
      <p:sp>
        <p:nvSpPr>
          <p:cNvPr id="39" name="Shape 7">
            <a:extLst>
              <a:ext uri="{FF2B5EF4-FFF2-40B4-BE49-F238E27FC236}">
                <a16:creationId xmlns:a16="http://schemas.microsoft.com/office/drawing/2014/main" id="{6D4DCE39-F90B-4221-450B-3863D233E57F}"/>
              </a:ext>
            </a:extLst>
          </p:cNvPr>
          <p:cNvSpPr/>
          <p:nvPr/>
        </p:nvSpPr>
        <p:spPr>
          <a:xfrm>
            <a:off x="2840675" y="3657600"/>
            <a:ext cx="1999427" cy="749808"/>
          </a:xfrm>
          <a:prstGeom prst="roundRect">
            <a:avLst>
              <a:gd name="adj" fmla="val 17073"/>
            </a:avLst>
          </a:prstGeom>
          <a:solidFill>
            <a:srgbClr val="FFFFFF"/>
          </a:solidFill>
          <a:ln w="9525">
            <a:solidFill>
              <a:srgbClr val="36414F"/>
            </a:solidFill>
            <a:prstDash val="solid"/>
          </a:ln>
        </p:spPr>
        <p:txBody>
          <a:bodyPr/>
          <a:lstStyle/>
          <a:p>
            <a:endParaRPr lang="en-US"/>
          </a:p>
        </p:txBody>
      </p:sp>
      <p:pic>
        <p:nvPicPr>
          <p:cNvPr id="40" name="Image 2" descr="C:/Users/neuma_p1qrsic/Repo/agentic-ops1/.scratch/deckgen/logos/ford.png">
            <a:extLst>
              <a:ext uri="{FF2B5EF4-FFF2-40B4-BE49-F238E27FC236}">
                <a16:creationId xmlns:a16="http://schemas.microsoft.com/office/drawing/2014/main" id="{5C5D6C8D-9AC9-6AE6-541C-8A823876EFF6}"/>
              </a:ext>
            </a:extLst>
          </p:cNvPr>
          <p:cNvPicPr>
            <a:picLocks noChangeAspect="1"/>
          </p:cNvPicPr>
          <p:nvPr/>
        </p:nvPicPr>
        <p:blipFill>
          <a:blip r:embed="rId5"/>
          <a:stretch>
            <a:fillRect/>
          </a:stretch>
        </p:blipFill>
        <p:spPr>
          <a:xfrm>
            <a:off x="3153363" y="3785067"/>
            <a:ext cx="1374052" cy="494873"/>
          </a:xfrm>
          <a:prstGeom prst="rect">
            <a:avLst/>
          </a:prstGeom>
        </p:spPr>
      </p:pic>
      <p:sp>
        <p:nvSpPr>
          <p:cNvPr id="41" name="Shape 8">
            <a:extLst>
              <a:ext uri="{FF2B5EF4-FFF2-40B4-BE49-F238E27FC236}">
                <a16:creationId xmlns:a16="http://schemas.microsoft.com/office/drawing/2014/main" id="{D7C45F53-5C51-66D4-6E74-701CAB3C0F8C}"/>
              </a:ext>
            </a:extLst>
          </p:cNvPr>
          <p:cNvSpPr/>
          <p:nvPr/>
        </p:nvSpPr>
        <p:spPr>
          <a:xfrm>
            <a:off x="5096134" y="3657600"/>
            <a:ext cx="1999427" cy="749808"/>
          </a:xfrm>
          <a:prstGeom prst="roundRect">
            <a:avLst>
              <a:gd name="adj" fmla="val 17073"/>
            </a:avLst>
          </a:prstGeom>
          <a:solidFill>
            <a:srgbClr val="FFFFFF"/>
          </a:solidFill>
          <a:ln w="9525">
            <a:solidFill>
              <a:srgbClr val="36414F"/>
            </a:solidFill>
            <a:prstDash val="solid"/>
          </a:ln>
        </p:spPr>
        <p:txBody>
          <a:bodyPr/>
          <a:lstStyle/>
          <a:p>
            <a:endParaRPr lang="en-US"/>
          </a:p>
        </p:txBody>
      </p:sp>
      <p:pic>
        <p:nvPicPr>
          <p:cNvPr id="42" name="Image 3" descr="C:/Users/neuma_p1qrsic/Repo/agentic-ops1/.scratch/deckgen/logos/siemens.png">
            <a:extLst>
              <a:ext uri="{FF2B5EF4-FFF2-40B4-BE49-F238E27FC236}">
                <a16:creationId xmlns:a16="http://schemas.microsoft.com/office/drawing/2014/main" id="{9CA6C267-230C-F209-AD6E-D2115CEB298D}"/>
              </a:ext>
            </a:extLst>
          </p:cNvPr>
          <p:cNvPicPr>
            <a:picLocks noChangeAspect="1"/>
          </p:cNvPicPr>
          <p:nvPr/>
        </p:nvPicPr>
        <p:blipFill>
          <a:blip r:embed="rId6"/>
          <a:stretch>
            <a:fillRect/>
          </a:stretch>
        </p:blipFill>
        <p:spPr>
          <a:xfrm>
            <a:off x="5276083" y="3837169"/>
            <a:ext cx="1639530" cy="390669"/>
          </a:xfrm>
          <a:prstGeom prst="rect">
            <a:avLst/>
          </a:prstGeom>
        </p:spPr>
      </p:pic>
      <p:sp>
        <p:nvSpPr>
          <p:cNvPr id="43" name="Shape 9">
            <a:extLst>
              <a:ext uri="{FF2B5EF4-FFF2-40B4-BE49-F238E27FC236}">
                <a16:creationId xmlns:a16="http://schemas.microsoft.com/office/drawing/2014/main" id="{7512A64D-21BE-04ED-E421-41DCED940896}"/>
              </a:ext>
            </a:extLst>
          </p:cNvPr>
          <p:cNvSpPr/>
          <p:nvPr/>
        </p:nvSpPr>
        <p:spPr>
          <a:xfrm>
            <a:off x="7351593" y="3657600"/>
            <a:ext cx="1999427" cy="749808"/>
          </a:xfrm>
          <a:prstGeom prst="roundRect">
            <a:avLst>
              <a:gd name="adj" fmla="val 17073"/>
            </a:avLst>
          </a:prstGeom>
          <a:solidFill>
            <a:srgbClr val="FFFFFF"/>
          </a:solidFill>
          <a:ln w="9525">
            <a:solidFill>
              <a:srgbClr val="36414F"/>
            </a:solidFill>
            <a:prstDash val="solid"/>
          </a:ln>
        </p:spPr>
        <p:txBody>
          <a:bodyPr/>
          <a:lstStyle/>
          <a:p>
            <a:endParaRPr lang="en-US"/>
          </a:p>
        </p:txBody>
      </p:sp>
      <p:pic>
        <p:nvPicPr>
          <p:cNvPr id="44" name="Image 4" descr="C:/Users/neuma_p1qrsic/Repo/agentic-ops1/.scratch/deckgen/logos/yeti.png">
            <a:extLst>
              <a:ext uri="{FF2B5EF4-FFF2-40B4-BE49-F238E27FC236}">
                <a16:creationId xmlns:a16="http://schemas.microsoft.com/office/drawing/2014/main" id="{3FD0467F-B57B-C94C-4290-7B1B8A0CFC07}"/>
              </a:ext>
            </a:extLst>
          </p:cNvPr>
          <p:cNvPicPr>
            <a:picLocks noChangeAspect="1"/>
          </p:cNvPicPr>
          <p:nvPr/>
        </p:nvPicPr>
        <p:blipFill>
          <a:blip r:embed="rId7"/>
          <a:stretch>
            <a:fillRect/>
          </a:stretch>
        </p:blipFill>
        <p:spPr>
          <a:xfrm>
            <a:off x="7531542" y="3807709"/>
            <a:ext cx="1639530" cy="449590"/>
          </a:xfrm>
          <a:prstGeom prst="rect">
            <a:avLst/>
          </a:prstGeom>
        </p:spPr>
      </p:pic>
      <p:sp>
        <p:nvSpPr>
          <p:cNvPr id="45" name="Shape 10">
            <a:extLst>
              <a:ext uri="{FF2B5EF4-FFF2-40B4-BE49-F238E27FC236}">
                <a16:creationId xmlns:a16="http://schemas.microsoft.com/office/drawing/2014/main" id="{A1D84551-B2C1-1588-34B2-9E2C511C2C0B}"/>
              </a:ext>
            </a:extLst>
          </p:cNvPr>
          <p:cNvSpPr/>
          <p:nvPr/>
        </p:nvSpPr>
        <p:spPr>
          <a:xfrm>
            <a:off x="9607052" y="3657600"/>
            <a:ext cx="1999427" cy="749808"/>
          </a:xfrm>
          <a:prstGeom prst="roundRect">
            <a:avLst>
              <a:gd name="adj" fmla="val 17073"/>
            </a:avLst>
          </a:prstGeom>
          <a:solidFill>
            <a:srgbClr val="FFFFFF"/>
          </a:solidFill>
          <a:ln w="9525">
            <a:solidFill>
              <a:srgbClr val="36414F"/>
            </a:solidFill>
            <a:prstDash val="solid"/>
          </a:ln>
        </p:spPr>
        <p:txBody>
          <a:bodyPr/>
          <a:lstStyle/>
          <a:p>
            <a:endParaRPr lang="en-US"/>
          </a:p>
        </p:txBody>
      </p:sp>
      <p:pic>
        <p:nvPicPr>
          <p:cNvPr id="46" name="Image 5" descr="C:/Users/neuma_p1qrsic/Repo/agentic-ops1/.scratch/deckgen/logos/bat.png">
            <a:extLst>
              <a:ext uri="{FF2B5EF4-FFF2-40B4-BE49-F238E27FC236}">
                <a16:creationId xmlns:a16="http://schemas.microsoft.com/office/drawing/2014/main" id="{623B2DFE-2C36-D6A8-BED0-04A01B6E01E4}"/>
              </a:ext>
            </a:extLst>
          </p:cNvPr>
          <p:cNvPicPr>
            <a:picLocks noChangeAspect="1"/>
          </p:cNvPicPr>
          <p:nvPr/>
        </p:nvPicPr>
        <p:blipFill>
          <a:blip r:embed="rId8"/>
          <a:stretch>
            <a:fillRect/>
          </a:stretch>
        </p:blipFill>
        <p:spPr>
          <a:xfrm>
            <a:off x="10025630" y="3785067"/>
            <a:ext cx="1162271" cy="494873"/>
          </a:xfrm>
          <a:prstGeom prst="rect">
            <a:avLst/>
          </a:prstGeom>
        </p:spPr>
      </p:pic>
      <p:sp>
        <p:nvSpPr>
          <p:cNvPr id="47" name="Text 11">
            <a:extLst>
              <a:ext uri="{FF2B5EF4-FFF2-40B4-BE49-F238E27FC236}">
                <a16:creationId xmlns:a16="http://schemas.microsoft.com/office/drawing/2014/main" id="{A6F91C67-39D8-A7C6-AB60-65F89813AA3B}"/>
              </a:ext>
            </a:extLst>
          </p:cNvPr>
          <p:cNvSpPr/>
          <p:nvPr/>
        </p:nvSpPr>
        <p:spPr>
          <a:xfrm>
            <a:off x="585216" y="4754880"/>
            <a:ext cx="5486400" cy="256032"/>
          </a:xfrm>
          <a:prstGeom prst="rect">
            <a:avLst/>
          </a:prstGeom>
          <a:noFill/>
          <a:ln/>
        </p:spPr>
        <p:txBody>
          <a:bodyPr wrap="square" rtlCol="0" anchor="ctr"/>
          <a:lstStyle/>
          <a:p>
            <a:pPr marL="0" indent="0">
              <a:buNone/>
            </a:pPr>
            <a:r>
              <a:rPr lang="en-US" sz="1050" b="1" kern="0" spc="200" dirty="0">
                <a:solidFill>
                  <a:srgbClr val="7C8A9B"/>
                </a:solidFill>
                <a:latin typeface="Segoe UI Semibold" pitchFamily="34" charset="0"/>
                <a:ea typeface="Segoe UI Semibold" pitchFamily="34" charset="-122"/>
                <a:cs typeface="Segoe UI Semibold" pitchFamily="34" charset="-120"/>
              </a:rPr>
              <a:t>MARKET DATA PROVIDERS</a:t>
            </a:r>
            <a:endParaRPr lang="en-US" sz="1050" dirty="0"/>
          </a:p>
        </p:txBody>
      </p:sp>
      <p:sp>
        <p:nvSpPr>
          <p:cNvPr id="48" name="Shape 12">
            <a:extLst>
              <a:ext uri="{FF2B5EF4-FFF2-40B4-BE49-F238E27FC236}">
                <a16:creationId xmlns:a16="http://schemas.microsoft.com/office/drawing/2014/main" id="{D4F88415-0C79-CDA9-1222-14DBD872553B}"/>
              </a:ext>
            </a:extLst>
          </p:cNvPr>
          <p:cNvSpPr/>
          <p:nvPr/>
        </p:nvSpPr>
        <p:spPr>
          <a:xfrm>
            <a:off x="585216" y="5010912"/>
            <a:ext cx="2563292" cy="713232"/>
          </a:xfrm>
          <a:prstGeom prst="roundRect">
            <a:avLst>
              <a:gd name="adj" fmla="val 17949"/>
            </a:avLst>
          </a:prstGeom>
          <a:solidFill>
            <a:srgbClr val="FFFFFF"/>
          </a:solidFill>
          <a:ln w="9525">
            <a:solidFill>
              <a:srgbClr val="36414F"/>
            </a:solidFill>
            <a:prstDash val="solid"/>
          </a:ln>
        </p:spPr>
        <p:txBody>
          <a:bodyPr/>
          <a:lstStyle/>
          <a:p>
            <a:endParaRPr lang="en-US"/>
          </a:p>
        </p:txBody>
      </p:sp>
      <p:pic>
        <p:nvPicPr>
          <p:cNvPr id="49" name="Image 6" descr="C:/Users/neuma_p1qrsic/Repo/agentic-ops1/.scratch/deckgen/logos/bloomberg.png">
            <a:extLst>
              <a:ext uri="{FF2B5EF4-FFF2-40B4-BE49-F238E27FC236}">
                <a16:creationId xmlns:a16="http://schemas.microsoft.com/office/drawing/2014/main" id="{8039228F-CD70-C036-612B-67194D01C5A8}"/>
              </a:ext>
            </a:extLst>
          </p:cNvPr>
          <p:cNvPicPr>
            <a:picLocks noChangeAspect="1"/>
          </p:cNvPicPr>
          <p:nvPr/>
        </p:nvPicPr>
        <p:blipFill>
          <a:blip r:embed="rId9"/>
          <a:stretch>
            <a:fillRect/>
          </a:stretch>
        </p:blipFill>
        <p:spPr>
          <a:xfrm>
            <a:off x="815912" y="5155696"/>
            <a:ext cx="2101899" cy="423664"/>
          </a:xfrm>
          <a:prstGeom prst="rect">
            <a:avLst/>
          </a:prstGeom>
        </p:spPr>
      </p:pic>
      <p:sp>
        <p:nvSpPr>
          <p:cNvPr id="50" name="Shape 13">
            <a:extLst>
              <a:ext uri="{FF2B5EF4-FFF2-40B4-BE49-F238E27FC236}">
                <a16:creationId xmlns:a16="http://schemas.microsoft.com/office/drawing/2014/main" id="{5E011981-3118-6B0B-DD45-3C276F4F1283}"/>
              </a:ext>
            </a:extLst>
          </p:cNvPr>
          <p:cNvSpPr/>
          <p:nvPr/>
        </p:nvSpPr>
        <p:spPr>
          <a:xfrm>
            <a:off x="3404540" y="5010912"/>
            <a:ext cx="2563292" cy="713232"/>
          </a:xfrm>
          <a:prstGeom prst="roundRect">
            <a:avLst>
              <a:gd name="adj" fmla="val 17949"/>
            </a:avLst>
          </a:prstGeom>
          <a:solidFill>
            <a:srgbClr val="FFFFFF"/>
          </a:solidFill>
          <a:ln w="9525">
            <a:solidFill>
              <a:srgbClr val="36414F"/>
            </a:solidFill>
            <a:prstDash val="solid"/>
          </a:ln>
        </p:spPr>
        <p:txBody>
          <a:bodyPr/>
          <a:lstStyle/>
          <a:p>
            <a:endParaRPr lang="en-US"/>
          </a:p>
        </p:txBody>
      </p:sp>
      <p:pic>
        <p:nvPicPr>
          <p:cNvPr id="51" name="Image 7" descr="C:/Users/neuma_p1qrsic/Repo/agentic-ops1/.scratch/deckgen/logos/lseg.png">
            <a:extLst>
              <a:ext uri="{FF2B5EF4-FFF2-40B4-BE49-F238E27FC236}">
                <a16:creationId xmlns:a16="http://schemas.microsoft.com/office/drawing/2014/main" id="{3ADE5641-7EC2-4833-675C-00ABB4307F3D}"/>
              </a:ext>
            </a:extLst>
          </p:cNvPr>
          <p:cNvPicPr>
            <a:picLocks noChangeAspect="1"/>
          </p:cNvPicPr>
          <p:nvPr/>
        </p:nvPicPr>
        <p:blipFill>
          <a:blip r:embed="rId10"/>
          <a:stretch>
            <a:fillRect/>
          </a:stretch>
        </p:blipFill>
        <p:spPr>
          <a:xfrm>
            <a:off x="3791080" y="5132161"/>
            <a:ext cx="1790212" cy="470733"/>
          </a:xfrm>
          <a:prstGeom prst="rect">
            <a:avLst/>
          </a:prstGeom>
        </p:spPr>
      </p:pic>
      <p:sp>
        <p:nvSpPr>
          <p:cNvPr id="52" name="Shape 14">
            <a:extLst>
              <a:ext uri="{FF2B5EF4-FFF2-40B4-BE49-F238E27FC236}">
                <a16:creationId xmlns:a16="http://schemas.microsoft.com/office/drawing/2014/main" id="{83F1125E-D278-B37D-C077-52D341421E16}"/>
              </a:ext>
            </a:extLst>
          </p:cNvPr>
          <p:cNvSpPr/>
          <p:nvPr/>
        </p:nvSpPr>
        <p:spPr>
          <a:xfrm>
            <a:off x="6223864" y="5010912"/>
            <a:ext cx="2563292" cy="713232"/>
          </a:xfrm>
          <a:prstGeom prst="roundRect">
            <a:avLst>
              <a:gd name="adj" fmla="val 17949"/>
            </a:avLst>
          </a:prstGeom>
          <a:solidFill>
            <a:srgbClr val="FFFFFF"/>
          </a:solidFill>
          <a:ln w="9525">
            <a:solidFill>
              <a:srgbClr val="36414F"/>
            </a:solidFill>
            <a:prstDash val="solid"/>
          </a:ln>
        </p:spPr>
        <p:txBody>
          <a:bodyPr/>
          <a:lstStyle/>
          <a:p>
            <a:endParaRPr lang="en-US"/>
          </a:p>
        </p:txBody>
      </p:sp>
      <p:pic>
        <p:nvPicPr>
          <p:cNvPr id="53" name="Image 8" descr="C:/Users/neuma_p1qrsic/Repo/agentic-ops1/.scratch/deckgen/logos/ice.png">
            <a:extLst>
              <a:ext uri="{FF2B5EF4-FFF2-40B4-BE49-F238E27FC236}">
                <a16:creationId xmlns:a16="http://schemas.microsoft.com/office/drawing/2014/main" id="{3426F545-1B6C-A488-0590-E6FA90EB0722}"/>
              </a:ext>
            </a:extLst>
          </p:cNvPr>
          <p:cNvPicPr>
            <a:picLocks noChangeAspect="1"/>
          </p:cNvPicPr>
          <p:nvPr/>
        </p:nvPicPr>
        <p:blipFill>
          <a:blip r:embed="rId11"/>
          <a:stretch>
            <a:fillRect/>
          </a:stretch>
        </p:blipFill>
        <p:spPr>
          <a:xfrm>
            <a:off x="7270143" y="5132161"/>
            <a:ext cx="470733" cy="470733"/>
          </a:xfrm>
          <a:prstGeom prst="rect">
            <a:avLst/>
          </a:prstGeom>
        </p:spPr>
      </p:pic>
      <p:sp>
        <p:nvSpPr>
          <p:cNvPr id="54" name="Shape 15">
            <a:extLst>
              <a:ext uri="{FF2B5EF4-FFF2-40B4-BE49-F238E27FC236}">
                <a16:creationId xmlns:a16="http://schemas.microsoft.com/office/drawing/2014/main" id="{57A8974D-9DB8-F836-E0A1-B424756D09CA}"/>
              </a:ext>
            </a:extLst>
          </p:cNvPr>
          <p:cNvSpPr/>
          <p:nvPr/>
        </p:nvSpPr>
        <p:spPr>
          <a:xfrm>
            <a:off x="9043187" y="5010912"/>
            <a:ext cx="2563292" cy="713232"/>
          </a:xfrm>
          <a:prstGeom prst="roundRect">
            <a:avLst>
              <a:gd name="adj" fmla="val 17949"/>
            </a:avLst>
          </a:prstGeom>
          <a:solidFill>
            <a:srgbClr val="FFFFFF"/>
          </a:solidFill>
          <a:ln w="9525">
            <a:solidFill>
              <a:srgbClr val="36414F"/>
            </a:solidFill>
            <a:prstDash val="solid"/>
          </a:ln>
        </p:spPr>
        <p:txBody>
          <a:bodyPr/>
          <a:lstStyle/>
          <a:p>
            <a:endParaRPr lang="en-US"/>
          </a:p>
        </p:txBody>
      </p:sp>
      <p:pic>
        <p:nvPicPr>
          <p:cNvPr id="55" name="Image 9" descr="C:/Users/neuma_p1qrsic/Repo/agentic-ops1/.scratch/deckgen/logos/cme.png">
            <a:extLst>
              <a:ext uri="{FF2B5EF4-FFF2-40B4-BE49-F238E27FC236}">
                <a16:creationId xmlns:a16="http://schemas.microsoft.com/office/drawing/2014/main" id="{DE294EE8-EDFB-7381-87C8-6D017123E8DF}"/>
              </a:ext>
            </a:extLst>
          </p:cNvPr>
          <p:cNvPicPr>
            <a:picLocks noChangeAspect="1"/>
          </p:cNvPicPr>
          <p:nvPr/>
        </p:nvPicPr>
        <p:blipFill>
          <a:blip r:embed="rId12"/>
          <a:stretch>
            <a:fillRect/>
          </a:stretch>
        </p:blipFill>
        <p:spPr>
          <a:xfrm>
            <a:off x="9273884" y="5205780"/>
            <a:ext cx="2101899" cy="323495"/>
          </a:xfrm>
          <a:prstGeom prst="rect">
            <a:avLst/>
          </a:prstGeom>
        </p:spPr>
      </p:pic>
      <p:sp>
        <p:nvSpPr>
          <p:cNvPr id="56" name="Text 16">
            <a:extLst>
              <a:ext uri="{FF2B5EF4-FFF2-40B4-BE49-F238E27FC236}">
                <a16:creationId xmlns:a16="http://schemas.microsoft.com/office/drawing/2014/main" id="{C49D8418-4500-B577-4B41-5C4762DB4310}"/>
              </a:ext>
            </a:extLst>
          </p:cNvPr>
          <p:cNvSpPr/>
          <p:nvPr/>
        </p:nvSpPr>
        <p:spPr>
          <a:xfrm>
            <a:off x="566928" y="6400800"/>
            <a:ext cx="9144000" cy="274320"/>
          </a:xfrm>
          <a:prstGeom prst="rect">
            <a:avLst/>
          </a:prstGeom>
          <a:noFill/>
          <a:ln/>
        </p:spPr>
        <p:txBody>
          <a:bodyPr wrap="square" rtlCol="0" anchor="ctr"/>
          <a:lstStyle/>
          <a:p>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xml:space="preserve">   Smart Trading, part of OnePilot</a:t>
            </a:r>
            <a:endParaRPr lang="en-US" sz="900" dirty="0"/>
          </a:p>
        </p:txBody>
      </p:sp>
      <p:sp>
        <p:nvSpPr>
          <p:cNvPr id="57" name="Text 17">
            <a:extLst>
              <a:ext uri="{FF2B5EF4-FFF2-40B4-BE49-F238E27FC236}">
                <a16:creationId xmlns:a16="http://schemas.microsoft.com/office/drawing/2014/main" id="{92CDD0B3-4F77-79A5-2293-94A835E4B127}"/>
              </a:ext>
            </a:extLst>
          </p:cNvPr>
          <p:cNvSpPr/>
          <p:nvPr/>
        </p:nvSpPr>
        <p:spPr>
          <a:xfrm>
            <a:off x="10527487" y="6400800"/>
            <a:ext cx="1097280" cy="274320"/>
          </a:xfrm>
          <a:prstGeom prst="rect">
            <a:avLst/>
          </a:prstGeom>
          <a:noFill/>
          <a:ln/>
        </p:spPr>
        <p:txBody>
          <a:bodyPr wrap="square" rtlCol="0" anchor="ctr"/>
          <a:lstStyle/>
          <a:p>
            <a:pPr marL="0" indent="0" algn="r">
              <a:buNone/>
            </a:pPr>
            <a:r>
              <a:rPr lang="en-US" sz="900" dirty="0">
                <a:solidFill>
                  <a:srgbClr val="AAB6C7"/>
                </a:solidFill>
                <a:latin typeface="Segoe UI" pitchFamily="34" charset="0"/>
                <a:ea typeface="Segoe UI" pitchFamily="34" charset="-122"/>
                <a:cs typeface="Segoe UI" pitchFamily="34" charset="-120"/>
              </a:rPr>
              <a:t>12 / 12</a:t>
            </a:r>
            <a:endParaRPr lang="en-US" sz="900" dirty="0"/>
          </a:p>
        </p:txBody>
      </p:sp>
      <p:sp>
        <p:nvSpPr>
          <p:cNvPr id="58" name="Shape 18">
            <a:extLst>
              <a:ext uri="{FF2B5EF4-FFF2-40B4-BE49-F238E27FC236}">
                <a16:creationId xmlns:a16="http://schemas.microsoft.com/office/drawing/2014/main" id="{928E489A-F8C8-6F13-E475-DDC7948539AC}"/>
              </a:ext>
            </a:extLst>
          </p:cNvPr>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extLst>
      <p:ext uri="{BB962C8B-B14F-4D97-AF65-F5344CB8AC3E}">
        <p14:creationId xmlns:p14="http://schemas.microsoft.com/office/powerpoint/2010/main" val="3023201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3072384" y="0"/>
            <a:ext cx="6035040" cy="6035040"/>
          </a:xfrm>
          <a:prstGeom prst="ellipse">
            <a:avLst/>
          </a:prstGeom>
          <a:solidFill>
            <a:srgbClr val="3BE3E0">
              <a:alpha val="7000"/>
            </a:srgbClr>
          </a:solidFill>
          <a:ln w="12700">
            <a:solidFill>
              <a:srgbClr val="333333"/>
            </a:solidFill>
            <a:prstDash val="solid"/>
          </a:ln>
        </p:spPr>
        <p:txBody>
          <a:bodyPr/>
          <a:lstStyle/>
          <a:p>
            <a:endParaRPr lang="en-US"/>
          </a:p>
        </p:txBody>
      </p:sp>
      <p:sp>
        <p:nvSpPr>
          <p:cNvPr id="3" name="Shape 1"/>
          <p:cNvSpPr/>
          <p:nvPr/>
        </p:nvSpPr>
        <p:spPr>
          <a:xfrm>
            <a:off x="4443984" y="1371600"/>
            <a:ext cx="3291840" cy="3291840"/>
          </a:xfrm>
          <a:prstGeom prst="ellipse">
            <a:avLst/>
          </a:prstGeom>
          <a:solidFill>
            <a:srgbClr val="3BE3E0">
              <a:alpha val="12000"/>
            </a:srgbClr>
          </a:solidFill>
          <a:ln w="12700">
            <a:solidFill>
              <a:srgbClr val="333333"/>
            </a:solidFill>
            <a:prstDash val="solid"/>
          </a:ln>
        </p:spPr>
        <p:txBody>
          <a:bodyPr/>
          <a:lstStyle/>
          <a:p>
            <a:endParaRPr lang="en-US"/>
          </a:p>
        </p:txBody>
      </p:sp>
      <p:pic>
        <p:nvPicPr>
          <p:cNvPr id="4" name="Image 0" descr="C:/Users/neuma_p1qrsic/Repo/agentic-ops1/.scratch/brisken-logo-light.png"/>
          <p:cNvPicPr>
            <a:picLocks noChangeAspect="1"/>
          </p:cNvPicPr>
          <p:nvPr/>
        </p:nvPicPr>
        <p:blipFill>
          <a:blip r:embed="rId3"/>
          <a:stretch>
            <a:fillRect/>
          </a:stretch>
        </p:blipFill>
        <p:spPr>
          <a:xfrm>
            <a:off x="5316443" y="1417320"/>
            <a:ext cx="1546921" cy="338328"/>
          </a:xfrm>
          <a:prstGeom prst="rect">
            <a:avLst/>
          </a:prstGeom>
        </p:spPr>
      </p:pic>
      <p:sp>
        <p:nvSpPr>
          <p:cNvPr id="5" name="Text 2"/>
          <p:cNvSpPr/>
          <p:nvPr/>
        </p:nvSpPr>
        <p:spPr>
          <a:xfrm>
            <a:off x="914400" y="2514600"/>
            <a:ext cx="10360152" cy="1005840"/>
          </a:xfrm>
          <a:prstGeom prst="rect">
            <a:avLst/>
          </a:prstGeom>
          <a:noFill/>
          <a:ln/>
        </p:spPr>
        <p:txBody>
          <a:bodyPr wrap="square" rtlCol="0" anchor="ctr"/>
          <a:lstStyle/>
          <a:p>
            <a:pPr marL="0" indent="0" algn="ctr">
              <a:buNone/>
            </a:pPr>
            <a:r>
              <a:rPr lang="en-US" sz="5200" b="1" dirty="0">
                <a:solidFill>
                  <a:srgbClr val="F3F6FB"/>
                </a:solidFill>
                <a:latin typeface="Segoe UI Semibold" pitchFamily="34" charset="0"/>
                <a:ea typeface="Segoe UI Semibold" pitchFamily="34" charset="-122"/>
                <a:cs typeface="Segoe UI Semibold" pitchFamily="34" charset="-120"/>
              </a:rPr>
              <a:t>The trade books itself.</a:t>
            </a:r>
            <a:endParaRPr lang="en-US" sz="5200" dirty="0"/>
          </a:p>
        </p:txBody>
      </p:sp>
      <p:sp>
        <p:nvSpPr>
          <p:cNvPr id="6" name="Text 3"/>
          <p:cNvSpPr/>
          <p:nvPr/>
        </p:nvSpPr>
        <p:spPr>
          <a:xfrm>
            <a:off x="1920240" y="3611880"/>
            <a:ext cx="8348472" cy="1100000"/>
          </a:xfrm>
          <a:prstGeom prst="rect">
            <a:avLst/>
          </a:prstGeom>
          <a:noFill/>
          <a:ln/>
        </p:spPr>
        <p:txBody>
          <a:bodyPr wrap="square" rtlCol="0" anchor="ctr"/>
          <a:lstStyle/>
          <a:p>
            <a:pPr marL="0" indent="0" algn="ctr">
              <a:lnSpc>
                <a:spcPct val="125000"/>
              </a:lnSpc>
              <a:buNone/>
            </a:pPr>
            <a:r>
              <a:rPr lang="en-US" sz="1700" dirty="0">
                <a:solidFill>
                  <a:srgbClr val="C4CEDA"/>
                </a:solidFill>
                <a:latin typeface="Segoe UI" pitchFamily="34" charset="0"/>
                <a:ea typeface="Segoe UI" pitchFamily="34" charset="-122"/>
                <a:cs typeface="Segoe UI" pitchFamily="34" charset="-120"/>
              </a:rPr>
              <a:t>Give us twenty minutes and one trade, and watch the clock go from twelve minutes to under one.</a:t>
            </a:r>
            <a:endParaRPr lang="en-US" sz="1700" dirty="0"/>
          </a:p>
          <a:p>
            <a:pPr marL="0" indent="0" algn="ctr">
              <a:spcBef>
                <a:spcPts val="1000"/>
              </a:spcBef>
              <a:buNone/>
            </a:pPr>
            <a:r>
              <a:rPr lang="en-US" sz="1300" dirty="0">
                <a:solidFill>
                  <a:srgbClr val="AAB6C7"/>
                </a:solidFill>
                <a:latin typeface="Segoe UI" pitchFamily="34" charset="0"/>
                <a:ea typeface="Segoe UI" pitchFamily="34" charset="-122"/>
                <a:cs typeface="Segoe UI" pitchFamily="34" charset="-120"/>
              </a:rPr>
              <a:t>Or start with the Quick Assessment.</a:t>
            </a:r>
            <a:endParaRPr lang="en-US" sz="1300" dirty="0"/>
          </a:p>
        </p:txBody>
      </p:sp>
      <p:sp>
        <p:nvSpPr>
          <p:cNvPr id="7" name="Shape 4">
            <a:hlinkClick r:id="rId4"/>
          </p:cNvPr>
          <p:cNvSpPr/>
          <p:nvPr/>
        </p:nvSpPr>
        <p:spPr>
          <a:xfrm>
            <a:off x="3575304" y="4754880"/>
            <a:ext cx="5029200" cy="658368"/>
          </a:xfrm>
          <a:prstGeom prst="roundRect">
            <a:avLst>
              <a:gd name="adj" fmla="val 50000"/>
            </a:avLst>
          </a:prstGeom>
          <a:solidFill>
            <a:srgbClr val="3BE3E0"/>
          </a:solidFill>
          <a:ln w="12700">
            <a:solidFill>
              <a:srgbClr val="333333"/>
            </a:solidFill>
            <a:prstDash val="solid"/>
          </a:ln>
        </p:spPr>
        <p:txBody>
          <a:bodyPr/>
          <a:lstStyle/>
          <a:p>
            <a:endParaRPr lang="en-US"/>
          </a:p>
        </p:txBody>
      </p:sp>
      <p:sp>
        <p:nvSpPr>
          <p:cNvPr id="8" name="Text 5"/>
          <p:cNvSpPr/>
          <p:nvPr/>
        </p:nvSpPr>
        <p:spPr>
          <a:xfrm>
            <a:off x="3575304" y="4754880"/>
            <a:ext cx="5029200" cy="658368"/>
          </a:xfrm>
          <a:prstGeom prst="rect">
            <a:avLst/>
          </a:prstGeom>
          <a:noFill/>
          <a:ln/>
        </p:spPr>
        <p:txBody>
          <a:bodyPr wrap="square" rtlCol="0" anchor="ctr"/>
          <a:lstStyle/>
          <a:p>
            <a:pPr marL="0" indent="0" algn="ctr">
              <a:buNone/>
            </a:pPr>
            <a:r>
              <a:rPr lang="en-US" sz="1500" b="1" dirty="0">
                <a:solidFill>
                  <a:srgbClr val="07222A"/>
                </a:solidFill>
                <a:latin typeface="Segoe UI" pitchFamily="34" charset="0"/>
                <a:ea typeface="Segoe UI" pitchFamily="34" charset="-122"/>
                <a:cs typeface="Segoe UI" pitchFamily="34" charset="-120"/>
              </a:rPr>
              <a:t>Dirk Neumann   ·   dirk.neumann@brisken.com</a:t>
            </a:r>
            <a:endParaRPr lang="en-US" sz="1500" dirty="0"/>
          </a:p>
        </p:txBody>
      </p:sp>
      <p:sp>
        <p:nvSpPr>
          <p:cNvPr id="9" name="Text 6"/>
          <p:cNvSpPr/>
          <p:nvPr/>
        </p:nvSpPr>
        <p:spPr>
          <a:xfrm>
            <a:off x="914400" y="5623560"/>
            <a:ext cx="10360152" cy="365760"/>
          </a:xfrm>
          <a:prstGeom prst="rect">
            <a:avLst/>
          </a:prstGeom>
          <a:noFill/>
          <a:ln/>
        </p:spPr>
        <p:txBody>
          <a:bodyPr wrap="square" rtlCol="0" anchor="ctr"/>
          <a:lstStyle/>
          <a:p>
            <a:pPr marL="0" indent="0" algn="ctr">
              <a:buNone/>
            </a:pPr>
            <a:r>
              <a:rPr lang="en-US" sz="1150" dirty="0">
                <a:solidFill>
                  <a:srgbClr val="AAB6C7"/>
                </a:solidFill>
                <a:latin typeface="Segoe UI" pitchFamily="34" charset="0"/>
                <a:ea typeface="Segoe UI" pitchFamily="34" charset="-122"/>
                <a:cs typeface="Segoe UI" pitchFamily="34" charset="-120"/>
              </a:rPr>
              <a:t>brisken.com   ·   Houston, TX</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THE AUTOMATED CLOCK</a:t>
            </a:r>
            <a:endParaRPr lang="en-US" sz="1200" dirty="0"/>
          </a:p>
        </p:txBody>
      </p:sp>
      <p:sp>
        <p:nvSpPr>
          <p:cNvPr id="4" name="Text 2"/>
          <p:cNvSpPr/>
          <p:nvPr/>
        </p:nvSpPr>
        <p:spPr>
          <a:xfrm>
            <a:off x="566928" y="960120"/>
            <a:ext cx="10515600" cy="731520"/>
          </a:xfrm>
          <a:prstGeom prst="rect">
            <a:avLst/>
          </a:prstGeom>
          <a:noFill/>
          <a:ln/>
        </p:spPr>
        <p:txBody>
          <a:bodyPr wrap="square" rtlCol="0" anchor="ctr"/>
          <a:lstStyle/>
          <a:p>
            <a:pPr marL="0" indent="0">
              <a:buNone/>
            </a:pPr>
            <a:r>
              <a:rPr lang="en-US" sz="2800" b="1" dirty="0">
                <a:solidFill>
                  <a:srgbClr val="F3F6FB"/>
                </a:solidFill>
                <a:latin typeface="Segoe UI Semibold" pitchFamily="34" charset="0"/>
                <a:ea typeface="Segoe UI Semibold" pitchFamily="34" charset="-122"/>
                <a:cs typeface="Segoe UI Semibold" pitchFamily="34" charset="-120"/>
              </a:rPr>
              <a:t>One FX trade, from the decision to the booked deal.</a:t>
            </a:r>
            <a:endParaRPr lang="en-US" sz="2800" dirty="0"/>
          </a:p>
        </p:txBody>
      </p:sp>
      <p:sp>
        <p:nvSpPr>
          <p:cNvPr id="5" name="Shape 3"/>
          <p:cNvSpPr/>
          <p:nvPr/>
        </p:nvSpPr>
        <p:spPr>
          <a:xfrm>
            <a:off x="566928" y="2468880"/>
            <a:ext cx="2021373" cy="2743200"/>
          </a:xfrm>
          <a:prstGeom prst="roundRect">
            <a:avLst>
              <a:gd name="adj" fmla="val 4071"/>
            </a:avLst>
          </a:prstGeom>
          <a:solidFill>
            <a:srgbClr val="141A25"/>
          </a:solidFill>
          <a:ln w="13970">
            <a:solidFill>
              <a:srgbClr val="36414F"/>
            </a:solidFill>
            <a:prstDash val="solid"/>
          </a:ln>
        </p:spPr>
        <p:txBody>
          <a:bodyPr/>
          <a:lstStyle/>
          <a:p>
            <a:endParaRPr lang="en-US"/>
          </a:p>
        </p:txBody>
      </p:sp>
      <p:pic>
        <p:nvPicPr>
          <p:cNvPr id="6" name="Image 0" descr="icons/gauge.png"/>
          <p:cNvPicPr>
            <a:picLocks noChangeAspect="1"/>
          </p:cNvPicPr>
          <p:nvPr/>
        </p:nvPicPr>
        <p:blipFill>
          <a:blip r:embed="rId3"/>
          <a:stretch>
            <a:fillRect/>
          </a:stretch>
        </p:blipFill>
        <p:spPr>
          <a:xfrm>
            <a:off x="1266718" y="2779776"/>
            <a:ext cx="621792" cy="621792"/>
          </a:xfrm>
          <a:prstGeom prst="rect">
            <a:avLst/>
          </a:prstGeom>
        </p:spPr>
      </p:pic>
      <p:sp>
        <p:nvSpPr>
          <p:cNvPr id="7" name="Text 4"/>
          <p:cNvSpPr/>
          <p:nvPr/>
        </p:nvSpPr>
        <p:spPr>
          <a:xfrm>
            <a:off x="566928" y="3547872"/>
            <a:ext cx="2021373" cy="320040"/>
          </a:xfrm>
          <a:prstGeom prst="rect">
            <a:avLst/>
          </a:prstGeom>
          <a:noFill/>
          <a:ln/>
        </p:spPr>
        <p:txBody>
          <a:bodyPr wrap="square" rtlCol="0" anchor="ctr"/>
          <a:lstStyle/>
          <a:p>
            <a:pPr marL="0" indent="0" algn="ctr">
              <a:buNone/>
            </a:pPr>
            <a:r>
              <a:rPr lang="en-US" sz="1150" b="1" dirty="0">
                <a:solidFill>
                  <a:srgbClr val="3BE3E0"/>
                </a:solidFill>
                <a:latin typeface="Segoe UI" pitchFamily="34" charset="0"/>
                <a:ea typeface="Segoe UI" pitchFamily="34" charset="-122"/>
                <a:cs typeface="Segoe UI" pitchFamily="34" charset="-120"/>
              </a:rPr>
              <a:t>01</a:t>
            </a:r>
            <a:endParaRPr lang="en-US" sz="1150" dirty="0"/>
          </a:p>
        </p:txBody>
      </p:sp>
      <p:sp>
        <p:nvSpPr>
          <p:cNvPr id="8" name="Text 5"/>
          <p:cNvSpPr/>
          <p:nvPr/>
        </p:nvSpPr>
        <p:spPr>
          <a:xfrm>
            <a:off x="676656" y="3840480"/>
            <a:ext cx="1801917" cy="640080"/>
          </a:xfrm>
          <a:prstGeom prst="rect">
            <a:avLst/>
          </a:prstGeom>
          <a:noFill/>
          <a:ln/>
        </p:spPr>
        <p:txBody>
          <a:bodyPr wrap="square" rtlCol="0" anchor="t"/>
          <a:lstStyle/>
          <a:p>
            <a:pPr marL="0" indent="0" algn="ctr">
              <a:lnSpc>
                <a:spcPct val="100000"/>
              </a:lnSpc>
              <a:buNone/>
            </a:pPr>
            <a:r>
              <a:rPr lang="en-US" sz="1350" b="1" dirty="0">
                <a:solidFill>
                  <a:srgbClr val="F3F6FB"/>
                </a:solidFill>
                <a:latin typeface="Segoe UI Semibold" pitchFamily="34" charset="0"/>
                <a:ea typeface="Segoe UI Semibold" pitchFamily="34" charset="-122"/>
                <a:cs typeface="Segoe UI Semibold" pitchFamily="34" charset="-120"/>
              </a:rPr>
              <a:t>Decision</a:t>
            </a:r>
            <a:endParaRPr lang="en-US" sz="1350" dirty="0"/>
          </a:p>
        </p:txBody>
      </p:sp>
      <p:sp>
        <p:nvSpPr>
          <p:cNvPr id="9" name="Text 6"/>
          <p:cNvSpPr/>
          <p:nvPr/>
        </p:nvSpPr>
        <p:spPr>
          <a:xfrm>
            <a:off x="713232" y="4480560"/>
            <a:ext cx="1728765" cy="640080"/>
          </a:xfrm>
          <a:prstGeom prst="rect">
            <a:avLst/>
          </a:prstGeom>
          <a:noFill/>
          <a:ln/>
        </p:spPr>
        <p:txBody>
          <a:bodyPr wrap="square" rtlCol="0" anchor="t"/>
          <a:lstStyle/>
          <a:p>
            <a:pPr marL="0" indent="0" algn="ctr">
              <a:lnSpc>
                <a:spcPct val="112000"/>
              </a:lnSpc>
              <a:buNone/>
            </a:pPr>
            <a:r>
              <a:rPr lang="en-US" sz="1100" dirty="0">
                <a:solidFill>
                  <a:srgbClr val="AAB6C7"/>
                </a:solidFill>
                <a:latin typeface="Segoe UI" pitchFamily="34" charset="0"/>
                <a:ea typeface="Segoe UI" pitchFamily="34" charset="-122"/>
                <a:cs typeface="Segoe UI" pitchFamily="34" charset="-120"/>
              </a:rPr>
              <a:t>starts from your positions in SAP</a:t>
            </a:r>
            <a:endParaRPr lang="en-US" sz="1100" dirty="0"/>
          </a:p>
        </p:txBody>
      </p:sp>
      <p:sp>
        <p:nvSpPr>
          <p:cNvPr id="10" name="Text 7"/>
          <p:cNvSpPr/>
          <p:nvPr/>
        </p:nvSpPr>
        <p:spPr>
          <a:xfrm>
            <a:off x="2560869" y="3566160"/>
            <a:ext cx="292608" cy="548640"/>
          </a:xfrm>
          <a:prstGeom prst="rect">
            <a:avLst/>
          </a:prstGeom>
          <a:noFill/>
          <a:ln/>
        </p:spPr>
        <p:txBody>
          <a:bodyPr wrap="square" rtlCol="0" anchor="ctr"/>
          <a:lstStyle/>
          <a:p>
            <a:pPr marL="0" indent="0" algn="ctr">
              <a:buNone/>
            </a:pPr>
            <a:r>
              <a:rPr lang="en-US" sz="2200" b="1" dirty="0">
                <a:solidFill>
                  <a:srgbClr val="3BE3E0"/>
                </a:solidFill>
                <a:latin typeface="Segoe UI" pitchFamily="34" charset="0"/>
                <a:ea typeface="Segoe UI" pitchFamily="34" charset="-122"/>
                <a:cs typeface="Segoe UI" pitchFamily="34" charset="-120"/>
              </a:rPr>
              <a:t>›</a:t>
            </a:r>
            <a:endParaRPr lang="en-US" sz="2200" dirty="0"/>
          </a:p>
        </p:txBody>
      </p:sp>
      <p:sp>
        <p:nvSpPr>
          <p:cNvPr id="11" name="Shape 8"/>
          <p:cNvSpPr/>
          <p:nvPr/>
        </p:nvSpPr>
        <p:spPr>
          <a:xfrm>
            <a:off x="2826045" y="2468880"/>
            <a:ext cx="2021373" cy="2743200"/>
          </a:xfrm>
          <a:prstGeom prst="roundRect">
            <a:avLst>
              <a:gd name="adj" fmla="val 4071"/>
            </a:avLst>
          </a:prstGeom>
          <a:solidFill>
            <a:srgbClr val="141A25"/>
          </a:solidFill>
          <a:ln w="13970">
            <a:solidFill>
              <a:srgbClr val="36414F"/>
            </a:solidFill>
            <a:prstDash val="solid"/>
          </a:ln>
        </p:spPr>
        <p:txBody>
          <a:bodyPr/>
          <a:lstStyle/>
          <a:p>
            <a:endParaRPr lang="en-US"/>
          </a:p>
        </p:txBody>
      </p:sp>
      <p:pic>
        <p:nvPicPr>
          <p:cNvPr id="12" name="Image 1" descr="icons/mail.png"/>
          <p:cNvPicPr>
            <a:picLocks noChangeAspect="1"/>
          </p:cNvPicPr>
          <p:nvPr/>
        </p:nvPicPr>
        <p:blipFill>
          <a:blip r:embed="rId4"/>
          <a:stretch>
            <a:fillRect/>
          </a:stretch>
        </p:blipFill>
        <p:spPr>
          <a:xfrm>
            <a:off x="3525835" y="2779776"/>
            <a:ext cx="621792" cy="621792"/>
          </a:xfrm>
          <a:prstGeom prst="rect">
            <a:avLst/>
          </a:prstGeom>
        </p:spPr>
      </p:pic>
      <p:sp>
        <p:nvSpPr>
          <p:cNvPr id="13" name="Text 9"/>
          <p:cNvSpPr/>
          <p:nvPr/>
        </p:nvSpPr>
        <p:spPr>
          <a:xfrm>
            <a:off x="2826045" y="3547872"/>
            <a:ext cx="2021373" cy="320040"/>
          </a:xfrm>
          <a:prstGeom prst="rect">
            <a:avLst/>
          </a:prstGeom>
          <a:noFill/>
          <a:ln/>
        </p:spPr>
        <p:txBody>
          <a:bodyPr wrap="square" rtlCol="0" anchor="ctr"/>
          <a:lstStyle/>
          <a:p>
            <a:pPr marL="0" indent="0" algn="ctr">
              <a:buNone/>
            </a:pPr>
            <a:r>
              <a:rPr lang="en-US" sz="1150" b="1" dirty="0">
                <a:solidFill>
                  <a:srgbClr val="3BE3E0"/>
                </a:solidFill>
                <a:latin typeface="Segoe UI" pitchFamily="34" charset="0"/>
                <a:ea typeface="Segoe UI" pitchFamily="34" charset="-122"/>
                <a:cs typeface="Segoe UI" pitchFamily="34" charset="-120"/>
              </a:rPr>
              <a:t>02</a:t>
            </a:r>
            <a:endParaRPr lang="en-US" sz="1150" dirty="0"/>
          </a:p>
        </p:txBody>
      </p:sp>
      <p:sp>
        <p:nvSpPr>
          <p:cNvPr id="14" name="Text 10"/>
          <p:cNvSpPr/>
          <p:nvPr/>
        </p:nvSpPr>
        <p:spPr>
          <a:xfrm>
            <a:off x="2935773" y="3840480"/>
            <a:ext cx="1801917" cy="640080"/>
          </a:xfrm>
          <a:prstGeom prst="rect">
            <a:avLst/>
          </a:prstGeom>
          <a:noFill/>
          <a:ln/>
        </p:spPr>
        <p:txBody>
          <a:bodyPr wrap="square" rtlCol="0" anchor="t"/>
          <a:lstStyle/>
          <a:p>
            <a:pPr marL="0" indent="0" algn="ctr">
              <a:lnSpc>
                <a:spcPct val="100000"/>
              </a:lnSpc>
              <a:buNone/>
            </a:pPr>
            <a:r>
              <a:rPr lang="en-US" sz="1350" b="1" dirty="0">
                <a:solidFill>
                  <a:srgbClr val="F3F6FB"/>
                </a:solidFill>
                <a:latin typeface="Segoe UI Semibold" pitchFamily="34" charset="0"/>
                <a:ea typeface="Segoe UI Semibold" pitchFamily="34" charset="-122"/>
                <a:cs typeface="Segoe UI Semibold" pitchFamily="34" charset="-120"/>
              </a:rPr>
              <a:t>Request</a:t>
            </a:r>
            <a:endParaRPr lang="en-US" sz="1350" dirty="0"/>
          </a:p>
        </p:txBody>
      </p:sp>
      <p:sp>
        <p:nvSpPr>
          <p:cNvPr id="15" name="Text 11"/>
          <p:cNvSpPr/>
          <p:nvPr/>
        </p:nvSpPr>
        <p:spPr>
          <a:xfrm>
            <a:off x="2972349" y="4480560"/>
            <a:ext cx="1728765" cy="640080"/>
          </a:xfrm>
          <a:prstGeom prst="rect">
            <a:avLst/>
          </a:prstGeom>
          <a:noFill/>
          <a:ln/>
        </p:spPr>
        <p:txBody>
          <a:bodyPr wrap="square" rtlCol="0" anchor="t"/>
          <a:lstStyle/>
          <a:p>
            <a:pPr marL="0" indent="0" algn="ctr">
              <a:lnSpc>
                <a:spcPct val="112000"/>
              </a:lnSpc>
              <a:buNone/>
            </a:pPr>
            <a:r>
              <a:rPr lang="en-US" sz="1100" dirty="0">
                <a:solidFill>
                  <a:srgbClr val="AAB6C7"/>
                </a:solidFill>
                <a:latin typeface="Segoe UI" pitchFamily="34" charset="0"/>
                <a:ea typeface="Segoe UI" pitchFamily="34" charset="-122"/>
                <a:cs typeface="Segoe UI" pitchFamily="34" charset="-120"/>
              </a:rPr>
              <a:t>filled in and sent to your venue</a:t>
            </a:r>
            <a:endParaRPr lang="en-US" sz="1100" dirty="0"/>
          </a:p>
        </p:txBody>
      </p:sp>
      <p:sp>
        <p:nvSpPr>
          <p:cNvPr id="16" name="Text 12"/>
          <p:cNvSpPr/>
          <p:nvPr/>
        </p:nvSpPr>
        <p:spPr>
          <a:xfrm>
            <a:off x="4819985" y="3566160"/>
            <a:ext cx="292608" cy="548640"/>
          </a:xfrm>
          <a:prstGeom prst="rect">
            <a:avLst/>
          </a:prstGeom>
          <a:noFill/>
          <a:ln/>
        </p:spPr>
        <p:txBody>
          <a:bodyPr wrap="square" rtlCol="0" anchor="ctr"/>
          <a:lstStyle/>
          <a:p>
            <a:pPr marL="0" indent="0" algn="ctr">
              <a:buNone/>
            </a:pPr>
            <a:r>
              <a:rPr lang="en-US" sz="2200" b="1" dirty="0">
                <a:solidFill>
                  <a:srgbClr val="3BE3E0"/>
                </a:solidFill>
                <a:latin typeface="Segoe UI" pitchFamily="34" charset="0"/>
                <a:ea typeface="Segoe UI" pitchFamily="34" charset="-122"/>
                <a:cs typeface="Segoe UI" pitchFamily="34" charset="-120"/>
              </a:rPr>
              <a:t>›</a:t>
            </a:r>
            <a:endParaRPr lang="en-US" sz="2200" dirty="0"/>
          </a:p>
        </p:txBody>
      </p:sp>
      <p:sp>
        <p:nvSpPr>
          <p:cNvPr id="17" name="Shape 13"/>
          <p:cNvSpPr/>
          <p:nvPr/>
        </p:nvSpPr>
        <p:spPr>
          <a:xfrm>
            <a:off x="5085161" y="2468880"/>
            <a:ext cx="2021373" cy="2743200"/>
          </a:xfrm>
          <a:prstGeom prst="roundRect">
            <a:avLst>
              <a:gd name="adj" fmla="val 4071"/>
            </a:avLst>
          </a:prstGeom>
          <a:solidFill>
            <a:srgbClr val="141A25"/>
          </a:solidFill>
          <a:ln w="13970">
            <a:solidFill>
              <a:srgbClr val="36414F"/>
            </a:solidFill>
            <a:prstDash val="solid"/>
          </a:ln>
        </p:spPr>
        <p:txBody>
          <a:bodyPr/>
          <a:lstStyle/>
          <a:p>
            <a:endParaRPr lang="en-US"/>
          </a:p>
        </p:txBody>
      </p:sp>
      <p:pic>
        <p:nvPicPr>
          <p:cNvPr id="18" name="Image 2" descr="icons/shield.png"/>
          <p:cNvPicPr>
            <a:picLocks noChangeAspect="1"/>
          </p:cNvPicPr>
          <p:nvPr/>
        </p:nvPicPr>
        <p:blipFill>
          <a:blip r:embed="rId5"/>
          <a:stretch>
            <a:fillRect/>
          </a:stretch>
        </p:blipFill>
        <p:spPr>
          <a:xfrm>
            <a:off x="5784952" y="2779776"/>
            <a:ext cx="621792" cy="621792"/>
          </a:xfrm>
          <a:prstGeom prst="rect">
            <a:avLst/>
          </a:prstGeom>
        </p:spPr>
      </p:pic>
      <p:sp>
        <p:nvSpPr>
          <p:cNvPr id="19" name="Text 14"/>
          <p:cNvSpPr/>
          <p:nvPr/>
        </p:nvSpPr>
        <p:spPr>
          <a:xfrm>
            <a:off x="5085161" y="3547872"/>
            <a:ext cx="2021373" cy="320040"/>
          </a:xfrm>
          <a:prstGeom prst="rect">
            <a:avLst/>
          </a:prstGeom>
          <a:noFill/>
          <a:ln/>
        </p:spPr>
        <p:txBody>
          <a:bodyPr wrap="square" rtlCol="0" anchor="ctr"/>
          <a:lstStyle/>
          <a:p>
            <a:pPr marL="0" indent="0" algn="ctr">
              <a:buNone/>
            </a:pPr>
            <a:r>
              <a:rPr lang="en-US" sz="1150" b="1" dirty="0">
                <a:solidFill>
                  <a:srgbClr val="3BE3E0"/>
                </a:solidFill>
                <a:latin typeface="Segoe UI" pitchFamily="34" charset="0"/>
                <a:ea typeface="Segoe UI" pitchFamily="34" charset="-122"/>
                <a:cs typeface="Segoe UI" pitchFamily="34" charset="-120"/>
              </a:rPr>
              <a:t>03</a:t>
            </a:r>
            <a:endParaRPr lang="en-US" sz="1150" dirty="0"/>
          </a:p>
        </p:txBody>
      </p:sp>
      <p:sp>
        <p:nvSpPr>
          <p:cNvPr id="20" name="Text 15"/>
          <p:cNvSpPr/>
          <p:nvPr/>
        </p:nvSpPr>
        <p:spPr>
          <a:xfrm>
            <a:off x="5194889" y="3840480"/>
            <a:ext cx="1801917" cy="640080"/>
          </a:xfrm>
          <a:prstGeom prst="rect">
            <a:avLst/>
          </a:prstGeom>
          <a:noFill/>
          <a:ln/>
        </p:spPr>
        <p:txBody>
          <a:bodyPr wrap="square" rtlCol="0" anchor="t"/>
          <a:lstStyle/>
          <a:p>
            <a:pPr marL="0" indent="0" algn="ctr">
              <a:lnSpc>
                <a:spcPct val="100000"/>
              </a:lnSpc>
              <a:buNone/>
            </a:pPr>
            <a:r>
              <a:rPr lang="en-US" sz="1350" b="1" dirty="0">
                <a:solidFill>
                  <a:srgbClr val="F3F6FB"/>
                </a:solidFill>
                <a:latin typeface="Segoe UI Semibold" pitchFamily="34" charset="0"/>
                <a:ea typeface="Segoe UI Semibold" pitchFamily="34" charset="-122"/>
                <a:cs typeface="Segoe UI Semibold" pitchFamily="34" charset="-120"/>
              </a:rPr>
              <a:t>Approval</a:t>
            </a:r>
            <a:endParaRPr lang="en-US" sz="1350" dirty="0"/>
          </a:p>
        </p:txBody>
      </p:sp>
      <p:sp>
        <p:nvSpPr>
          <p:cNvPr id="21" name="Text 16"/>
          <p:cNvSpPr/>
          <p:nvPr/>
        </p:nvSpPr>
        <p:spPr>
          <a:xfrm>
            <a:off x="5231465" y="4480560"/>
            <a:ext cx="1728765" cy="640080"/>
          </a:xfrm>
          <a:prstGeom prst="rect">
            <a:avLst/>
          </a:prstGeom>
          <a:noFill/>
          <a:ln/>
        </p:spPr>
        <p:txBody>
          <a:bodyPr wrap="square" rtlCol="0" anchor="t"/>
          <a:lstStyle/>
          <a:p>
            <a:pPr marL="0" indent="0" algn="ctr">
              <a:lnSpc>
                <a:spcPct val="112000"/>
              </a:lnSpc>
              <a:buNone/>
            </a:pPr>
            <a:r>
              <a:rPr lang="en-US" sz="1100" dirty="0">
                <a:solidFill>
                  <a:srgbClr val="AAB6C7"/>
                </a:solidFill>
                <a:latin typeface="Segoe UI" pitchFamily="34" charset="0"/>
                <a:ea typeface="Segoe UI" pitchFamily="34" charset="-122"/>
                <a:cs typeface="Segoe UI" pitchFamily="34" charset="-120"/>
              </a:rPr>
              <a:t>routed to the right person, your rules</a:t>
            </a:r>
            <a:endParaRPr lang="en-US" sz="1100" dirty="0"/>
          </a:p>
        </p:txBody>
      </p:sp>
      <p:sp>
        <p:nvSpPr>
          <p:cNvPr id="22" name="Text 17"/>
          <p:cNvSpPr/>
          <p:nvPr/>
        </p:nvSpPr>
        <p:spPr>
          <a:xfrm>
            <a:off x="7079102" y="3566160"/>
            <a:ext cx="292608" cy="548640"/>
          </a:xfrm>
          <a:prstGeom prst="rect">
            <a:avLst/>
          </a:prstGeom>
          <a:noFill/>
          <a:ln/>
        </p:spPr>
        <p:txBody>
          <a:bodyPr wrap="square" rtlCol="0" anchor="ctr"/>
          <a:lstStyle/>
          <a:p>
            <a:pPr marL="0" indent="0" algn="ctr">
              <a:buNone/>
            </a:pPr>
            <a:r>
              <a:rPr lang="en-US" sz="2200" b="1" dirty="0">
                <a:solidFill>
                  <a:srgbClr val="3BE3E0"/>
                </a:solidFill>
                <a:latin typeface="Segoe UI" pitchFamily="34" charset="0"/>
                <a:ea typeface="Segoe UI" pitchFamily="34" charset="-122"/>
                <a:cs typeface="Segoe UI" pitchFamily="34" charset="-120"/>
              </a:rPr>
              <a:t>›</a:t>
            </a:r>
            <a:endParaRPr lang="en-US" sz="2200" dirty="0"/>
          </a:p>
        </p:txBody>
      </p:sp>
      <p:sp>
        <p:nvSpPr>
          <p:cNvPr id="23" name="Shape 18"/>
          <p:cNvSpPr/>
          <p:nvPr/>
        </p:nvSpPr>
        <p:spPr>
          <a:xfrm>
            <a:off x="7344278" y="2468880"/>
            <a:ext cx="2021373" cy="2743200"/>
          </a:xfrm>
          <a:prstGeom prst="roundRect">
            <a:avLst>
              <a:gd name="adj" fmla="val 4071"/>
            </a:avLst>
          </a:prstGeom>
          <a:solidFill>
            <a:srgbClr val="141A25"/>
          </a:solidFill>
          <a:ln w="13970">
            <a:solidFill>
              <a:srgbClr val="36414F"/>
            </a:solidFill>
            <a:prstDash val="solid"/>
          </a:ln>
        </p:spPr>
        <p:txBody>
          <a:bodyPr/>
          <a:lstStyle/>
          <a:p>
            <a:endParaRPr lang="en-US"/>
          </a:p>
        </p:txBody>
      </p:sp>
      <p:pic>
        <p:nvPicPr>
          <p:cNvPr id="24" name="Image 3" descr="icons/bolt.png"/>
          <p:cNvPicPr>
            <a:picLocks noChangeAspect="1"/>
          </p:cNvPicPr>
          <p:nvPr/>
        </p:nvPicPr>
        <p:blipFill>
          <a:blip r:embed="rId6"/>
          <a:stretch>
            <a:fillRect/>
          </a:stretch>
        </p:blipFill>
        <p:spPr>
          <a:xfrm>
            <a:off x="8044068" y="2779776"/>
            <a:ext cx="621792" cy="621792"/>
          </a:xfrm>
          <a:prstGeom prst="rect">
            <a:avLst/>
          </a:prstGeom>
        </p:spPr>
      </p:pic>
      <p:sp>
        <p:nvSpPr>
          <p:cNvPr id="25" name="Text 19"/>
          <p:cNvSpPr/>
          <p:nvPr/>
        </p:nvSpPr>
        <p:spPr>
          <a:xfrm>
            <a:off x="7344278" y="3547872"/>
            <a:ext cx="2021373" cy="320040"/>
          </a:xfrm>
          <a:prstGeom prst="rect">
            <a:avLst/>
          </a:prstGeom>
          <a:noFill/>
          <a:ln/>
        </p:spPr>
        <p:txBody>
          <a:bodyPr wrap="square" rtlCol="0" anchor="ctr"/>
          <a:lstStyle/>
          <a:p>
            <a:pPr marL="0" indent="0" algn="ctr">
              <a:buNone/>
            </a:pPr>
            <a:r>
              <a:rPr lang="en-US" sz="1150" b="1" dirty="0">
                <a:solidFill>
                  <a:srgbClr val="3BE3E0"/>
                </a:solidFill>
                <a:latin typeface="Segoe UI" pitchFamily="34" charset="0"/>
                <a:ea typeface="Segoe UI" pitchFamily="34" charset="-122"/>
                <a:cs typeface="Segoe UI" pitchFamily="34" charset="-120"/>
              </a:rPr>
              <a:t>04</a:t>
            </a:r>
            <a:endParaRPr lang="en-US" sz="1150" dirty="0"/>
          </a:p>
        </p:txBody>
      </p:sp>
      <p:sp>
        <p:nvSpPr>
          <p:cNvPr id="26" name="Text 20"/>
          <p:cNvSpPr/>
          <p:nvPr/>
        </p:nvSpPr>
        <p:spPr>
          <a:xfrm>
            <a:off x="7454006" y="3840480"/>
            <a:ext cx="1801917" cy="640080"/>
          </a:xfrm>
          <a:prstGeom prst="rect">
            <a:avLst/>
          </a:prstGeom>
          <a:noFill/>
          <a:ln/>
        </p:spPr>
        <p:txBody>
          <a:bodyPr wrap="square" rtlCol="0" anchor="t"/>
          <a:lstStyle/>
          <a:p>
            <a:pPr marL="0" indent="0" algn="ctr">
              <a:lnSpc>
                <a:spcPct val="100000"/>
              </a:lnSpc>
              <a:buNone/>
            </a:pPr>
            <a:r>
              <a:rPr lang="en-US" sz="1350" b="1" dirty="0">
                <a:solidFill>
                  <a:srgbClr val="F3F6FB"/>
                </a:solidFill>
                <a:latin typeface="Segoe UI Semibold" pitchFamily="34" charset="0"/>
                <a:ea typeface="Segoe UI Semibold" pitchFamily="34" charset="-122"/>
                <a:cs typeface="Segoe UI Semibold" pitchFamily="34" charset="-120"/>
              </a:rPr>
              <a:t>Executed</a:t>
            </a:r>
            <a:endParaRPr lang="en-US" sz="1350" dirty="0"/>
          </a:p>
        </p:txBody>
      </p:sp>
      <p:sp>
        <p:nvSpPr>
          <p:cNvPr id="27" name="Text 21"/>
          <p:cNvSpPr/>
          <p:nvPr/>
        </p:nvSpPr>
        <p:spPr>
          <a:xfrm>
            <a:off x="7490582" y="4480560"/>
            <a:ext cx="1728765" cy="640080"/>
          </a:xfrm>
          <a:prstGeom prst="rect">
            <a:avLst/>
          </a:prstGeom>
          <a:noFill/>
          <a:ln/>
        </p:spPr>
        <p:txBody>
          <a:bodyPr wrap="square" rtlCol="0" anchor="t"/>
          <a:lstStyle/>
          <a:p>
            <a:pPr marL="0" indent="0" algn="ctr">
              <a:lnSpc>
                <a:spcPct val="112000"/>
              </a:lnSpc>
              <a:buNone/>
            </a:pPr>
            <a:r>
              <a:rPr lang="en-US" sz="1100" dirty="0">
                <a:solidFill>
                  <a:srgbClr val="AAB6C7"/>
                </a:solidFill>
                <a:latin typeface="Segoe UI" pitchFamily="34" charset="0"/>
                <a:ea typeface="Segoe UI" pitchFamily="34" charset="-122"/>
                <a:cs typeface="Segoe UI" pitchFamily="34" charset="-120"/>
              </a:rPr>
              <a:t>on your own trading platform</a:t>
            </a:r>
            <a:endParaRPr lang="en-US" sz="1100" dirty="0"/>
          </a:p>
        </p:txBody>
      </p:sp>
      <p:sp>
        <p:nvSpPr>
          <p:cNvPr id="28" name="Text 22"/>
          <p:cNvSpPr/>
          <p:nvPr/>
        </p:nvSpPr>
        <p:spPr>
          <a:xfrm>
            <a:off x="9338219" y="3566160"/>
            <a:ext cx="292608" cy="548640"/>
          </a:xfrm>
          <a:prstGeom prst="rect">
            <a:avLst/>
          </a:prstGeom>
          <a:noFill/>
          <a:ln/>
        </p:spPr>
        <p:txBody>
          <a:bodyPr wrap="square" rtlCol="0" anchor="ctr"/>
          <a:lstStyle/>
          <a:p>
            <a:pPr marL="0" indent="0" algn="ctr">
              <a:buNone/>
            </a:pPr>
            <a:r>
              <a:rPr lang="en-US" sz="2200" b="1" dirty="0">
                <a:solidFill>
                  <a:srgbClr val="3BE3E0"/>
                </a:solidFill>
                <a:latin typeface="Segoe UI" pitchFamily="34" charset="0"/>
                <a:ea typeface="Segoe UI" pitchFamily="34" charset="-122"/>
                <a:cs typeface="Segoe UI" pitchFamily="34" charset="-120"/>
              </a:rPr>
              <a:t>›</a:t>
            </a:r>
            <a:endParaRPr lang="en-US" sz="2200" dirty="0"/>
          </a:p>
        </p:txBody>
      </p:sp>
      <p:sp>
        <p:nvSpPr>
          <p:cNvPr id="29" name="Shape 23"/>
          <p:cNvSpPr/>
          <p:nvPr/>
        </p:nvSpPr>
        <p:spPr>
          <a:xfrm>
            <a:off x="9603395" y="2468880"/>
            <a:ext cx="2021373" cy="2743200"/>
          </a:xfrm>
          <a:prstGeom prst="roundRect">
            <a:avLst>
              <a:gd name="adj" fmla="val 4071"/>
            </a:avLst>
          </a:prstGeom>
          <a:solidFill>
            <a:srgbClr val="141A25"/>
          </a:solidFill>
          <a:ln w="19050">
            <a:solidFill>
              <a:srgbClr val="46D9A0"/>
            </a:solidFill>
            <a:prstDash val="solid"/>
          </a:ln>
        </p:spPr>
        <p:txBody>
          <a:bodyPr/>
          <a:lstStyle/>
          <a:p>
            <a:endParaRPr lang="en-US"/>
          </a:p>
        </p:txBody>
      </p:sp>
      <p:pic>
        <p:nvPicPr>
          <p:cNvPr id="30" name="Image 4" descr="icons/doc.png"/>
          <p:cNvPicPr>
            <a:picLocks noChangeAspect="1"/>
          </p:cNvPicPr>
          <p:nvPr/>
        </p:nvPicPr>
        <p:blipFill>
          <a:blip r:embed="rId7"/>
          <a:stretch>
            <a:fillRect/>
          </a:stretch>
        </p:blipFill>
        <p:spPr>
          <a:xfrm>
            <a:off x="10303185" y="2779776"/>
            <a:ext cx="621792" cy="621792"/>
          </a:xfrm>
          <a:prstGeom prst="rect">
            <a:avLst/>
          </a:prstGeom>
        </p:spPr>
      </p:pic>
      <p:sp>
        <p:nvSpPr>
          <p:cNvPr id="31" name="Text 24"/>
          <p:cNvSpPr/>
          <p:nvPr/>
        </p:nvSpPr>
        <p:spPr>
          <a:xfrm>
            <a:off x="9603395" y="3547872"/>
            <a:ext cx="2021373" cy="320040"/>
          </a:xfrm>
          <a:prstGeom prst="rect">
            <a:avLst/>
          </a:prstGeom>
          <a:noFill/>
          <a:ln/>
        </p:spPr>
        <p:txBody>
          <a:bodyPr wrap="square" rtlCol="0" anchor="ctr"/>
          <a:lstStyle/>
          <a:p>
            <a:pPr marL="0" indent="0" algn="ctr">
              <a:buNone/>
            </a:pPr>
            <a:r>
              <a:rPr lang="en-US" sz="1150" b="1" dirty="0">
                <a:solidFill>
                  <a:srgbClr val="46D9A0"/>
                </a:solidFill>
                <a:latin typeface="Segoe UI" pitchFamily="34" charset="0"/>
                <a:ea typeface="Segoe UI" pitchFamily="34" charset="-122"/>
                <a:cs typeface="Segoe UI" pitchFamily="34" charset="-120"/>
              </a:rPr>
              <a:t>05</a:t>
            </a:r>
            <a:endParaRPr lang="en-US" sz="1150" dirty="0"/>
          </a:p>
        </p:txBody>
      </p:sp>
      <p:sp>
        <p:nvSpPr>
          <p:cNvPr id="32" name="Text 25"/>
          <p:cNvSpPr/>
          <p:nvPr/>
        </p:nvSpPr>
        <p:spPr>
          <a:xfrm>
            <a:off x="9713123" y="3840480"/>
            <a:ext cx="1801917" cy="640080"/>
          </a:xfrm>
          <a:prstGeom prst="rect">
            <a:avLst/>
          </a:prstGeom>
          <a:noFill/>
          <a:ln/>
        </p:spPr>
        <p:txBody>
          <a:bodyPr wrap="square" rtlCol="0" anchor="t"/>
          <a:lstStyle/>
          <a:p>
            <a:pPr marL="0" indent="0" algn="ctr">
              <a:lnSpc>
                <a:spcPct val="100000"/>
              </a:lnSpc>
              <a:buNone/>
            </a:pPr>
            <a:r>
              <a:rPr lang="en-US" sz="1350" b="1" dirty="0">
                <a:solidFill>
                  <a:srgbClr val="F3F6FB"/>
                </a:solidFill>
                <a:latin typeface="Segoe UI Semibold" pitchFamily="34" charset="0"/>
                <a:ea typeface="Segoe UI Semibold" pitchFamily="34" charset="-122"/>
                <a:cs typeface="Segoe UI Semibold" pitchFamily="34" charset="-120"/>
              </a:rPr>
              <a:t>Booked</a:t>
            </a:r>
            <a:endParaRPr lang="en-US" sz="1350" dirty="0"/>
          </a:p>
        </p:txBody>
      </p:sp>
      <p:sp>
        <p:nvSpPr>
          <p:cNvPr id="33" name="Text 26"/>
          <p:cNvSpPr/>
          <p:nvPr/>
        </p:nvSpPr>
        <p:spPr>
          <a:xfrm>
            <a:off x="9749699" y="4480560"/>
            <a:ext cx="1728765" cy="640080"/>
          </a:xfrm>
          <a:prstGeom prst="rect">
            <a:avLst/>
          </a:prstGeom>
          <a:noFill/>
          <a:ln/>
        </p:spPr>
        <p:txBody>
          <a:bodyPr wrap="square" rtlCol="0" anchor="t"/>
          <a:lstStyle/>
          <a:p>
            <a:pPr marL="0" indent="0" algn="ctr">
              <a:lnSpc>
                <a:spcPct val="112000"/>
              </a:lnSpc>
              <a:buNone/>
            </a:pPr>
            <a:r>
              <a:rPr lang="en-US" sz="1100" dirty="0">
                <a:solidFill>
                  <a:srgbClr val="AAB6C7"/>
                </a:solidFill>
                <a:latin typeface="Segoe UI" pitchFamily="34" charset="0"/>
                <a:ea typeface="Segoe UI" pitchFamily="34" charset="-122"/>
                <a:cs typeface="Segoe UI" pitchFamily="34" charset="-120"/>
              </a:rPr>
              <a:t>in SAP, reconciled to source</a:t>
            </a:r>
            <a:endParaRPr lang="en-US" sz="1100" dirty="0"/>
          </a:p>
        </p:txBody>
      </p:sp>
      <p:sp>
        <p:nvSpPr>
          <p:cNvPr id="34" name="Text 27"/>
          <p:cNvSpPr/>
          <p:nvPr/>
        </p:nvSpPr>
        <p:spPr>
          <a:xfrm>
            <a:off x="566928" y="5532120"/>
            <a:ext cx="11057839" cy="457200"/>
          </a:xfrm>
          <a:prstGeom prst="rect">
            <a:avLst/>
          </a:prstGeom>
          <a:noFill/>
          <a:ln/>
        </p:spPr>
        <p:txBody>
          <a:bodyPr wrap="square" rtlCol="0" anchor="ctr"/>
          <a:lstStyle/>
          <a:p>
            <a:pPr marL="0" indent="0">
              <a:buNone/>
            </a:pPr>
            <a:r>
              <a:rPr lang="en-US" sz="1500" dirty="0">
                <a:solidFill>
                  <a:srgbClr val="3BE3E0"/>
                </a:solidFill>
                <a:latin typeface="Segoe UI" pitchFamily="34" charset="0"/>
                <a:ea typeface="Segoe UI" pitchFamily="34" charset="-122"/>
                <a:cs typeface="Segoe UI" pitchFamily="34" charset="-120"/>
              </a:rPr>
              <a:t>All of it logged, all of it in under a minute. That is Smart Trading (BST).</a:t>
            </a:r>
            <a:endParaRPr lang="en-US" sz="1500" dirty="0"/>
          </a:p>
        </p:txBody>
      </p:sp>
      <p:sp>
        <p:nvSpPr>
          <p:cNvPr id="35" name="Text 28"/>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xml:space="preserve">   Smart Trading, part of OnePilot</a:t>
            </a:r>
            <a:endParaRPr lang="en-US" sz="900" dirty="0"/>
          </a:p>
        </p:txBody>
      </p:sp>
      <p:sp>
        <p:nvSpPr>
          <p:cNvPr id="36" name="Text 29"/>
          <p:cNvSpPr/>
          <p:nvPr/>
        </p:nvSpPr>
        <p:spPr>
          <a:xfrm>
            <a:off x="10527487" y="6400800"/>
            <a:ext cx="1097280" cy="274320"/>
          </a:xfrm>
          <a:prstGeom prst="rect">
            <a:avLst/>
          </a:prstGeom>
          <a:noFill/>
          <a:ln/>
        </p:spPr>
        <p:txBody>
          <a:bodyPr wrap="square" rtlCol="0" anchor="ctr"/>
          <a:lstStyle/>
          <a:p>
            <a:pPr marL="0" indent="0" algn="r">
              <a:buNone/>
            </a:pPr>
            <a:r>
              <a:rPr lang="en-US" sz="900">
                <a:solidFill>
                  <a:srgbClr val="AAB6C7"/>
                </a:solidFill>
                <a:latin typeface="Segoe UI" pitchFamily="34" charset="0"/>
                <a:ea typeface="Segoe UI" pitchFamily="34" charset="-122"/>
                <a:cs typeface="Segoe UI" pitchFamily="34" charset="-120"/>
              </a:rPr>
              <a:t>04 / 11</a:t>
            </a:r>
            <a:endParaRPr lang="en-US" sz="900" dirty="0"/>
          </a:p>
        </p:txBody>
      </p:sp>
      <p:sp>
        <p:nvSpPr>
          <p:cNvPr id="37" name="Shape 30"/>
          <p:cNvSpPr/>
          <p:nvPr/>
        </p:nvSpPr>
        <p:spPr>
          <a:xfrm>
            <a:off x="566928" y="6327648"/>
            <a:ext cx="11057839" cy="0"/>
          </a:xfrm>
          <a:prstGeom prst="line">
            <a:avLst/>
          </a:prstGeom>
          <a:noFill/>
          <a:ln w="9525">
            <a:solidFill>
              <a:srgbClr val="36414F"/>
            </a:solidFill>
            <a:prstDash val="solid"/>
          </a:ln>
        </p:spPr>
        <p:txBody>
          <a:bodyPr/>
          <a:lstStyle/>
          <a:p>
            <a:endParaRPr lang="en-US"/>
          </a:p>
        </p:txBody>
      </p:sp>
      <p:sp>
        <p:nvSpPr>
          <p:cNvPr id="950" name="SW Stem"/>
          <p:cNvSpPr/>
          <p:nvPr/>
        </p:nvSpPr>
        <p:spPr>
          <a:xfrm>
            <a:off x="9240000" y="440000"/>
            <a:ext cx="90000" cy="110000"/>
          </a:xfrm>
          <a:prstGeom prst="rect">
            <a:avLst/>
          </a:prstGeom>
          <a:solidFill>
            <a:srgbClr val="3BE3E0"/>
          </a:solidFill>
          <a:ln/>
        </p:spPr>
        <p:txBody>
          <a:bodyPr/>
          <a:lstStyle/>
          <a:p>
            <a:endParaRPr lang="en-US"/>
          </a:p>
        </p:txBody>
      </p:sp>
      <p:sp>
        <p:nvSpPr>
          <p:cNvPr id="951" name="SW Ring"/>
          <p:cNvSpPr/>
          <p:nvPr/>
        </p:nvSpPr>
        <p:spPr>
          <a:xfrm>
            <a:off x="9060000" y="540000"/>
            <a:ext cx="450000" cy="450000"/>
          </a:xfrm>
          <a:prstGeom prst="ellipse">
            <a:avLst/>
          </a:prstGeom>
          <a:noFill/>
          <a:ln w="31750">
            <a:solidFill>
              <a:srgbClr val="3BE3E0"/>
            </a:solidFill>
          </a:ln>
        </p:spPr>
        <p:txBody>
          <a:bodyPr/>
          <a:lstStyle/>
          <a:p>
            <a:endParaRPr lang="en-US"/>
          </a:p>
        </p:txBody>
      </p:sp>
      <p:sp>
        <p:nvSpPr>
          <p:cNvPr id="952" name="SW Hand"/>
          <p:cNvSpPr/>
          <p:nvPr/>
        </p:nvSpPr>
        <p:spPr>
          <a:xfrm>
            <a:off x="9285000" y="620000"/>
            <a:ext cx="0" cy="145000"/>
          </a:xfrm>
          <a:prstGeom prst="line">
            <a:avLst/>
          </a:prstGeom>
          <a:noFill/>
          <a:ln w="22225" cap="rnd">
            <a:solidFill>
              <a:srgbClr val="3BE3E0"/>
            </a:solidFill>
          </a:ln>
        </p:spPr>
        <p:txBody>
          <a:bodyPr/>
          <a:lstStyle/>
          <a:p>
            <a:endParaRPr lang="en-US"/>
          </a:p>
        </p:txBody>
      </p:sp>
      <p:sp>
        <p:nvSpPr>
          <p:cNvPr id="953" name="SW Time"/>
          <p:cNvSpPr/>
          <p:nvPr/>
        </p:nvSpPr>
        <p:spPr>
          <a:xfrm>
            <a:off x="9640000" y="510000"/>
            <a:ext cx="1900000" cy="500000"/>
          </a:xfrm>
          <a:prstGeom prst="rect">
            <a:avLst/>
          </a:prstGeom>
          <a:noFill/>
          <a:ln/>
        </p:spPr>
        <p:txBody>
          <a:bodyPr wrap="square" rtlCol="0" anchor="ctr"/>
          <a:lstStyle/>
          <a:p>
            <a:pPr marL="0" indent="0" algn="l">
              <a:buNone/>
            </a:pPr>
            <a:r>
              <a:rPr lang="en-US" sz="2400" b="1" dirty="0">
                <a:solidFill>
                  <a:srgbClr val="3BE3E0"/>
                </a:solidFill>
                <a:latin typeface="Segoe UI Semibold" pitchFamily="34" charset="0"/>
                <a:ea typeface="Segoe UI Semibold" pitchFamily="34" charset="-122"/>
                <a:cs typeface="Segoe UI Semibold" pitchFamily="34" charset="-120"/>
              </a:rPr>
              <a:t>0:47</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Intro">
    <p:bg>
      <p:bgPr>
        <a:solidFill>
          <a:srgbClr val="0B0E14"/>
        </a:solidFill>
        <a:effectLst/>
      </p:bgPr>
    </p:bg>
    <p:spTree>
      <p:nvGrpSpPr>
        <p:cNvPr id="1" name=""/>
        <p:cNvGrpSpPr/>
        <p:nvPr/>
      </p:nvGrpSpPr>
      <p:grpSpPr>
        <a:xfrm>
          <a:off x="0" y="0"/>
          <a:ext cx="0" cy="0"/>
          <a:chOff x="0" y="0"/>
          <a:chExt cx="0" cy="0"/>
        </a:xfrm>
      </p:grpSpPr>
      <p:sp>
        <p:nvSpPr>
          <p:cNvPr id="2" name="Shape 2"/>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3"/>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THE SHORT VERSION</a:t>
            </a:r>
          </a:p>
        </p:txBody>
      </p:sp>
      <p:sp>
        <p:nvSpPr>
          <p:cNvPr id="4" name="Text 4"/>
          <p:cNvSpPr/>
          <p:nvPr/>
        </p:nvSpPr>
        <p:spPr>
          <a:xfrm>
            <a:off x="566928" y="960120"/>
            <a:ext cx="10881360" cy="1463040"/>
          </a:xfrm>
          <a:prstGeom prst="rect">
            <a:avLst/>
          </a:prstGeom>
          <a:noFill/>
          <a:ln/>
        </p:spPr>
        <p:txBody>
          <a:bodyPr wrap="square" rtlCol="0" anchor="ctr"/>
          <a:lstStyle/>
          <a:p>
            <a:pPr marL="0" indent="0" algn="l">
              <a:lnSpc>
                <a:spcPct val="105000"/>
              </a:lnSpc>
              <a:buNone/>
            </a:pPr>
            <a:r>
              <a:rPr lang="en-US" sz="3300" b="1" dirty="0">
                <a:solidFill>
                  <a:srgbClr val="F3F6FB"/>
                </a:solidFill>
                <a:latin typeface="Segoe UI Semibold" pitchFamily="34" charset="0"/>
                <a:ea typeface="Segoe UI Semibold" pitchFamily="34" charset="-122"/>
                <a:cs typeface="Segoe UI Semibold" pitchFamily="34" charset="-120"/>
              </a:rPr>
              <a:t>A trade should book itself.
</a:t>
            </a:r>
            <a:r>
              <a:rPr lang="en-US" sz="3300" b="1" dirty="0">
                <a:solidFill>
                  <a:srgbClr val="3BE3E0"/>
                </a:solidFill>
                <a:latin typeface="Segoe UI Semibold" pitchFamily="34" charset="0"/>
                <a:ea typeface="Segoe UI Semibold" pitchFamily="34" charset="-122"/>
                <a:cs typeface="Segoe UI Semibold" pitchFamily="34" charset="-120"/>
              </a:rPr>
              <a:t>Here is what that looks like.</a:t>
            </a:r>
          </a:p>
        </p:txBody>
      </p:sp>
      <p:sp>
        <p:nvSpPr>
          <p:cNvPr id="10" name="Shape 10"/>
          <p:cNvSpPr/>
          <p:nvPr/>
        </p:nvSpPr>
        <p:spPr>
          <a:xfrm>
            <a:off x="566928" y="2590800"/>
            <a:ext cx="11057839" cy="700000"/>
          </a:xfrm>
          <a:prstGeom prst="roundRect">
            <a:avLst>
              <a:gd name="adj" fmla="val 8000"/>
            </a:avLst>
          </a:prstGeom>
          <a:solidFill>
            <a:srgbClr val="141A25"/>
          </a:solidFill>
          <a:ln w="13970">
            <a:solidFill>
              <a:srgbClr val="36414F"/>
            </a:solidFill>
            <a:prstDash val="solid"/>
          </a:ln>
        </p:spPr>
        <p:txBody>
          <a:bodyPr/>
          <a:lstStyle/>
          <a:p>
            <a:endParaRPr lang="en-US"/>
          </a:p>
        </p:txBody>
      </p:sp>
      <p:sp>
        <p:nvSpPr>
          <p:cNvPr id="11" name="Text 11"/>
          <p:cNvSpPr/>
          <p:nvPr/>
        </p:nvSpPr>
        <p:spPr>
          <a:xfrm>
            <a:off x="886928" y="2712200"/>
            <a:ext cx="700000" cy="457200"/>
          </a:xfrm>
          <a:prstGeom prst="rect">
            <a:avLst/>
          </a:prstGeom>
          <a:noFill/>
          <a:ln/>
        </p:spPr>
        <p:txBody>
          <a:bodyPr wrap="square" rtlCol="0" anchor="ctr"/>
          <a:lstStyle/>
          <a:p>
            <a:pPr marL="0" indent="0" algn="l">
              <a:buNone/>
            </a:pPr>
            <a:r>
              <a:rPr lang="en-US" sz="2000" b="1" dirty="0">
                <a:solidFill>
                  <a:srgbClr val="3BE3E0"/>
                </a:solidFill>
                <a:latin typeface="Segoe UI Semibold" pitchFamily="34" charset="0"/>
                <a:ea typeface="Segoe UI Semibold" pitchFamily="34" charset="-122"/>
                <a:cs typeface="Segoe UI Semibold" pitchFamily="34" charset="-120"/>
              </a:rPr>
              <a:t>01</a:t>
            </a:r>
          </a:p>
        </p:txBody>
      </p:sp>
      <p:sp>
        <p:nvSpPr>
          <p:cNvPr id="12" name="Text 12"/>
          <p:cNvSpPr/>
          <p:nvPr/>
        </p:nvSpPr>
        <p:spPr>
          <a:xfrm>
            <a:off x="1686928" y="2636000"/>
            <a:ext cx="2600000" cy="609600"/>
          </a:xfrm>
          <a:prstGeom prst="rect">
            <a:avLst/>
          </a:prstGeom>
          <a:noFill/>
          <a:ln/>
        </p:spPr>
        <p:txBody>
          <a:bodyPr wrap="square" rtlCol="0" anchor="ctr"/>
          <a:lstStyle/>
          <a:p>
            <a:pPr marL="0" indent="0" algn="l">
              <a:buNone/>
            </a:pPr>
            <a:r>
              <a:rPr lang="en-US" sz="1500" b="1" dirty="0">
                <a:solidFill>
                  <a:srgbClr val="F3F6FB"/>
                </a:solidFill>
                <a:latin typeface="Segoe UI Semibold" pitchFamily="34" charset="0"/>
                <a:ea typeface="Segoe UI Semibold" pitchFamily="34" charset="-122"/>
                <a:cs typeface="Segoe UI Semibold" pitchFamily="34" charset="-120"/>
              </a:rPr>
              <a:t>What this is</a:t>
            </a:r>
          </a:p>
        </p:txBody>
      </p:sp>
      <p:sp>
        <p:nvSpPr>
          <p:cNvPr id="13" name="Text 13"/>
          <p:cNvSpPr/>
          <p:nvPr/>
        </p:nvSpPr>
        <p:spPr>
          <a:xfrm>
            <a:off x="4486928" y="2636000"/>
            <a:ext cx="6817839" cy="609600"/>
          </a:xfrm>
          <a:prstGeom prst="rect">
            <a:avLst/>
          </a:prstGeom>
          <a:noFill/>
          <a:ln/>
        </p:spPr>
        <p:txBody>
          <a:bodyPr wrap="square" rtlCol="0" anchor="ctr"/>
          <a:lstStyle/>
          <a:p>
            <a:pPr marL="0" indent="0" algn="l">
              <a:lnSpc>
                <a:spcPct val="115000"/>
              </a:lnSpc>
              <a:buNone/>
            </a:pPr>
            <a:r>
              <a:rPr lang="en-US" sz="1300" dirty="0">
                <a:solidFill>
                  <a:srgbClr val="AAB6C7"/>
                </a:solidFill>
                <a:latin typeface="Segoe UI" pitchFamily="34" charset="0"/>
                <a:ea typeface="Segoe UI" pitchFamily="34" charset="-122"/>
                <a:cs typeface="Segoe UI" pitchFamily="34" charset="-120"/>
              </a:rPr>
              <a:t>Smart Trading (BST): one layer between your trading venues and SAP. Any venue, any treasury system, nothing to rebuild.</a:t>
            </a:r>
          </a:p>
        </p:txBody>
      </p:sp>
      <p:sp>
        <p:nvSpPr>
          <p:cNvPr id="20" name="Shape 20"/>
          <p:cNvSpPr/>
          <p:nvPr/>
        </p:nvSpPr>
        <p:spPr>
          <a:xfrm>
            <a:off x="566928" y="3410800"/>
            <a:ext cx="11057839" cy="700000"/>
          </a:xfrm>
          <a:prstGeom prst="roundRect">
            <a:avLst>
              <a:gd name="adj" fmla="val 8000"/>
            </a:avLst>
          </a:prstGeom>
          <a:solidFill>
            <a:srgbClr val="141A25"/>
          </a:solidFill>
          <a:ln w="13970">
            <a:solidFill>
              <a:srgbClr val="36414F"/>
            </a:solidFill>
            <a:prstDash val="solid"/>
          </a:ln>
        </p:spPr>
        <p:txBody>
          <a:bodyPr/>
          <a:lstStyle/>
          <a:p>
            <a:endParaRPr lang="en-US"/>
          </a:p>
        </p:txBody>
      </p:sp>
      <p:sp>
        <p:nvSpPr>
          <p:cNvPr id="21" name="Text 21"/>
          <p:cNvSpPr/>
          <p:nvPr/>
        </p:nvSpPr>
        <p:spPr>
          <a:xfrm>
            <a:off x="886928" y="3532200"/>
            <a:ext cx="700000" cy="457200"/>
          </a:xfrm>
          <a:prstGeom prst="rect">
            <a:avLst/>
          </a:prstGeom>
          <a:noFill/>
          <a:ln/>
        </p:spPr>
        <p:txBody>
          <a:bodyPr wrap="square" rtlCol="0" anchor="ctr"/>
          <a:lstStyle/>
          <a:p>
            <a:pPr marL="0" indent="0" algn="l">
              <a:buNone/>
            </a:pPr>
            <a:r>
              <a:rPr lang="en-US" sz="2000" b="1" dirty="0">
                <a:solidFill>
                  <a:srgbClr val="3BE3E0"/>
                </a:solidFill>
                <a:latin typeface="Segoe UI Semibold" pitchFamily="34" charset="0"/>
                <a:ea typeface="Segoe UI Semibold" pitchFamily="34" charset="-122"/>
                <a:cs typeface="Segoe UI Semibold" pitchFamily="34" charset="-120"/>
              </a:rPr>
              <a:t>02</a:t>
            </a:r>
          </a:p>
        </p:txBody>
      </p:sp>
      <p:sp>
        <p:nvSpPr>
          <p:cNvPr id="22" name="Text 22"/>
          <p:cNvSpPr/>
          <p:nvPr/>
        </p:nvSpPr>
        <p:spPr>
          <a:xfrm>
            <a:off x="1686928" y="3456000"/>
            <a:ext cx="2600000" cy="609600"/>
          </a:xfrm>
          <a:prstGeom prst="rect">
            <a:avLst/>
          </a:prstGeom>
          <a:noFill/>
          <a:ln/>
        </p:spPr>
        <p:txBody>
          <a:bodyPr wrap="square" rtlCol="0" anchor="ctr"/>
          <a:lstStyle/>
          <a:p>
            <a:pPr marL="0" indent="0" algn="l">
              <a:buNone/>
            </a:pPr>
            <a:r>
              <a:rPr lang="en-US" sz="1500" b="1" dirty="0">
                <a:solidFill>
                  <a:srgbClr val="F3F6FB"/>
                </a:solidFill>
                <a:latin typeface="Segoe UI Semibold" pitchFamily="34" charset="0"/>
                <a:ea typeface="Segoe UI Semibold" pitchFamily="34" charset="-122"/>
                <a:cs typeface="Segoe UI Semibold" pitchFamily="34" charset="-120"/>
              </a:rPr>
              <a:t>What it replaces</a:t>
            </a:r>
          </a:p>
        </p:txBody>
      </p:sp>
      <p:sp>
        <p:nvSpPr>
          <p:cNvPr id="23" name="Text 23"/>
          <p:cNvSpPr/>
          <p:nvPr/>
        </p:nvSpPr>
        <p:spPr>
          <a:xfrm>
            <a:off x="4486928" y="3456000"/>
            <a:ext cx="6817839" cy="609600"/>
          </a:xfrm>
          <a:prstGeom prst="rect">
            <a:avLst/>
          </a:prstGeom>
          <a:noFill/>
          <a:ln/>
        </p:spPr>
        <p:txBody>
          <a:bodyPr wrap="square" rtlCol="0" anchor="ctr"/>
          <a:lstStyle/>
          <a:p>
            <a:pPr marL="0" indent="0" algn="l">
              <a:lnSpc>
                <a:spcPct val="115000"/>
              </a:lnSpc>
              <a:buNone/>
            </a:pPr>
            <a:r>
              <a:rPr lang="en-US" sz="1300" dirty="0">
                <a:solidFill>
                  <a:srgbClr val="AAB6C7"/>
                </a:solidFill>
                <a:latin typeface="Segoe UI" pitchFamily="34" charset="0"/>
                <a:ea typeface="Segoe UI" pitchFamily="34" charset="-122"/>
                <a:cs typeface="Segoe UI" pitchFamily="34" charset="-120"/>
              </a:rPr>
              <a:t>The manual middle: re-keyed tickets, approvals chased through inboxes, deal entries built by hand.</a:t>
            </a:r>
          </a:p>
        </p:txBody>
      </p:sp>
      <p:sp>
        <p:nvSpPr>
          <p:cNvPr id="30" name="Shape 30"/>
          <p:cNvSpPr/>
          <p:nvPr/>
        </p:nvSpPr>
        <p:spPr>
          <a:xfrm>
            <a:off x="566928" y="4230800"/>
            <a:ext cx="11057839" cy="700000"/>
          </a:xfrm>
          <a:prstGeom prst="roundRect">
            <a:avLst>
              <a:gd name="adj" fmla="val 8000"/>
            </a:avLst>
          </a:prstGeom>
          <a:solidFill>
            <a:srgbClr val="141A25"/>
          </a:solidFill>
          <a:ln w="13970">
            <a:solidFill>
              <a:srgbClr val="36414F"/>
            </a:solidFill>
            <a:prstDash val="solid"/>
          </a:ln>
        </p:spPr>
        <p:txBody>
          <a:bodyPr/>
          <a:lstStyle/>
          <a:p>
            <a:endParaRPr lang="en-US"/>
          </a:p>
        </p:txBody>
      </p:sp>
      <p:sp>
        <p:nvSpPr>
          <p:cNvPr id="31" name="Text 31"/>
          <p:cNvSpPr/>
          <p:nvPr/>
        </p:nvSpPr>
        <p:spPr>
          <a:xfrm>
            <a:off x="886928" y="4352200"/>
            <a:ext cx="700000" cy="457200"/>
          </a:xfrm>
          <a:prstGeom prst="rect">
            <a:avLst/>
          </a:prstGeom>
          <a:noFill/>
          <a:ln/>
        </p:spPr>
        <p:txBody>
          <a:bodyPr wrap="square" rtlCol="0" anchor="ctr"/>
          <a:lstStyle/>
          <a:p>
            <a:pPr marL="0" indent="0" algn="l">
              <a:buNone/>
            </a:pPr>
            <a:r>
              <a:rPr lang="en-US" sz="2000" b="1" dirty="0">
                <a:solidFill>
                  <a:srgbClr val="3BE3E0"/>
                </a:solidFill>
                <a:latin typeface="Segoe UI Semibold" pitchFamily="34" charset="0"/>
                <a:ea typeface="Segoe UI Semibold" pitchFamily="34" charset="-122"/>
                <a:cs typeface="Segoe UI Semibold" pitchFamily="34" charset="-120"/>
              </a:rPr>
              <a:t>03</a:t>
            </a:r>
          </a:p>
        </p:txBody>
      </p:sp>
      <p:sp>
        <p:nvSpPr>
          <p:cNvPr id="32" name="Text 32"/>
          <p:cNvSpPr/>
          <p:nvPr/>
        </p:nvSpPr>
        <p:spPr>
          <a:xfrm>
            <a:off x="1686928" y="4276000"/>
            <a:ext cx="2600000" cy="609600"/>
          </a:xfrm>
          <a:prstGeom prst="rect">
            <a:avLst/>
          </a:prstGeom>
          <a:noFill/>
          <a:ln/>
        </p:spPr>
        <p:txBody>
          <a:bodyPr wrap="square" rtlCol="0" anchor="ctr"/>
          <a:lstStyle/>
          <a:p>
            <a:pPr marL="0" indent="0" algn="l">
              <a:buNone/>
            </a:pPr>
            <a:r>
              <a:rPr lang="en-US" sz="1500" b="1" dirty="0">
                <a:solidFill>
                  <a:srgbClr val="F3F6FB"/>
                </a:solidFill>
                <a:latin typeface="Segoe UI Semibold" pitchFamily="34" charset="0"/>
                <a:ea typeface="Segoe UI Semibold" pitchFamily="34" charset="-122"/>
                <a:cs typeface="Segoe UI Semibold" pitchFamily="34" charset="-120"/>
              </a:rPr>
              <a:t>What you get</a:t>
            </a:r>
          </a:p>
        </p:txBody>
      </p:sp>
      <p:sp>
        <p:nvSpPr>
          <p:cNvPr id="33" name="Text 33"/>
          <p:cNvSpPr/>
          <p:nvPr/>
        </p:nvSpPr>
        <p:spPr>
          <a:xfrm>
            <a:off x="4486928" y="4276000"/>
            <a:ext cx="6817839" cy="609600"/>
          </a:xfrm>
          <a:prstGeom prst="rect">
            <a:avLst/>
          </a:prstGeom>
          <a:noFill/>
          <a:ln/>
        </p:spPr>
        <p:txBody>
          <a:bodyPr wrap="square" rtlCol="0" anchor="ctr"/>
          <a:lstStyle/>
          <a:p>
            <a:pPr marL="0" indent="0" algn="l">
              <a:lnSpc>
                <a:spcPct val="115000"/>
              </a:lnSpc>
              <a:buNone/>
            </a:pPr>
            <a:r>
              <a:rPr lang="en-US" sz="1300" dirty="0">
                <a:solidFill>
                  <a:srgbClr val="AAB6C7"/>
                </a:solidFill>
                <a:latin typeface="Segoe UI" pitchFamily="34" charset="0"/>
                <a:ea typeface="Segoe UI" pitchFamily="34" charset="-122"/>
                <a:cs typeface="Segoe UI" pitchFamily="34" charset="-120"/>
              </a:rPr>
              <a:t>Trades booked in SAP in under a minute: four-eye approved, logged, reconciled to source.</a:t>
            </a:r>
          </a:p>
        </p:txBody>
      </p:sp>
      <p:sp>
        <p:nvSpPr>
          <p:cNvPr id="34" name="Shape 30"/>
          <p:cNvSpPr/>
          <p:nvPr/>
        </p:nvSpPr>
        <p:spPr>
          <a:xfrm>
            <a:off x="566928" y="5050800"/>
            <a:ext cx="11057839" cy="700000"/>
          </a:xfrm>
          <a:prstGeom prst="roundRect">
            <a:avLst>
              <a:gd name="adj" fmla="val 8000"/>
            </a:avLst>
          </a:prstGeom>
          <a:solidFill>
            <a:srgbClr val="141A25"/>
          </a:solidFill>
          <a:ln w="13970">
            <a:solidFill>
              <a:srgbClr val="36414F"/>
            </a:solidFill>
            <a:prstDash val="solid"/>
          </a:ln>
        </p:spPr>
        <p:txBody>
          <a:bodyPr/>
          <a:lstStyle/>
          <a:p>
            <a:endParaRPr lang="en-US"/>
          </a:p>
        </p:txBody>
      </p:sp>
      <p:sp>
        <p:nvSpPr>
          <p:cNvPr id="35" name="Text 31"/>
          <p:cNvSpPr/>
          <p:nvPr/>
        </p:nvSpPr>
        <p:spPr>
          <a:xfrm>
            <a:off x="886928" y="5172200"/>
            <a:ext cx="700000" cy="457200"/>
          </a:xfrm>
          <a:prstGeom prst="rect">
            <a:avLst/>
          </a:prstGeom>
          <a:noFill/>
          <a:ln/>
        </p:spPr>
        <p:txBody>
          <a:bodyPr wrap="square" rtlCol="0" anchor="ctr"/>
          <a:lstStyle/>
          <a:p>
            <a:pPr marL="0" indent="0" algn="l">
              <a:buNone/>
            </a:pPr>
            <a:r>
              <a:rPr lang="en-US" sz="2000" b="1" dirty="0">
                <a:solidFill>
                  <a:srgbClr val="3BE3E0"/>
                </a:solidFill>
                <a:latin typeface="Segoe UI Semibold" pitchFamily="34" charset="0"/>
                <a:ea typeface="Segoe UI Semibold" pitchFamily="34" charset="-122"/>
                <a:cs typeface="Segoe UI Semibold" pitchFamily="34" charset="-120"/>
              </a:rPr>
              <a:t>04</a:t>
            </a:r>
          </a:p>
        </p:txBody>
      </p:sp>
      <p:sp>
        <p:nvSpPr>
          <p:cNvPr id="36" name="Text 32"/>
          <p:cNvSpPr/>
          <p:nvPr/>
        </p:nvSpPr>
        <p:spPr>
          <a:xfrm>
            <a:off x="1686928" y="5096000"/>
            <a:ext cx="2600000" cy="609600"/>
          </a:xfrm>
          <a:prstGeom prst="rect">
            <a:avLst/>
          </a:prstGeom>
          <a:noFill/>
          <a:ln/>
        </p:spPr>
        <p:txBody>
          <a:bodyPr wrap="square" rtlCol="0" anchor="ctr"/>
          <a:lstStyle/>
          <a:p>
            <a:pPr marL="0" indent="0" algn="l">
              <a:buNone/>
            </a:pPr>
            <a:r>
              <a:rPr lang="en-US" sz="1500" b="1" dirty="0">
                <a:solidFill>
                  <a:srgbClr val="F3F6FB"/>
                </a:solidFill>
                <a:latin typeface="Segoe UI Semibold" pitchFamily="34" charset="0"/>
                <a:ea typeface="Segoe UI Semibold" pitchFamily="34" charset="-122"/>
                <a:cs typeface="Segoe UI Semibold" pitchFamily="34" charset="-120"/>
              </a:rPr>
              <a:t>Who it is for</a:t>
            </a:r>
          </a:p>
        </p:txBody>
      </p:sp>
      <p:sp>
        <p:nvSpPr>
          <p:cNvPr id="37" name="Text 33"/>
          <p:cNvSpPr/>
          <p:nvPr/>
        </p:nvSpPr>
        <p:spPr>
          <a:xfrm>
            <a:off x="4486928" y="5096000"/>
            <a:ext cx="6817839" cy="609600"/>
          </a:xfrm>
          <a:prstGeom prst="rect">
            <a:avLst/>
          </a:prstGeom>
          <a:noFill/>
          <a:ln/>
        </p:spPr>
        <p:txBody>
          <a:bodyPr wrap="square" rtlCol="0" anchor="ctr"/>
          <a:lstStyle/>
          <a:p>
            <a:pPr marL="0" indent="0" algn="l">
              <a:lnSpc>
                <a:spcPct val="115000"/>
              </a:lnSpc>
              <a:buNone/>
            </a:pPr>
            <a:r>
              <a:rPr lang="en-US" sz="1300" dirty="0">
                <a:solidFill>
                  <a:srgbClr val="AAB6C7"/>
                </a:solidFill>
                <a:latin typeface="Segoe UI" pitchFamily="34" charset="0"/>
                <a:ea typeface="Segoe UI" pitchFamily="34" charset="-122"/>
                <a:cs typeface="Segoe UI" pitchFamily="34" charset="-120"/>
              </a:rPr>
              <a:t>Treasury desks that execute on venues and book in SAP, from FX to OTC commodity swaps.</a:t>
            </a:r>
          </a:p>
        </p:txBody>
      </p:sp>
      <p:sp>
        <p:nvSpPr>
          <p:cNvPr id="40" name="Text 40"/>
          <p:cNvSpPr/>
          <p:nvPr/>
        </p:nvSpPr>
        <p:spPr>
          <a:xfrm>
            <a:off x="566928" y="5871480"/>
            <a:ext cx="11057839" cy="350520"/>
          </a:xfrm>
          <a:prstGeom prst="rect">
            <a:avLst/>
          </a:prstGeom>
          <a:noFill/>
          <a:ln/>
        </p:spPr>
        <p:txBody>
          <a:bodyPr wrap="square" rtlCol="0" anchor="ctr"/>
          <a:lstStyle/>
          <a:p>
            <a:pPr marL="0" indent="0" algn="l">
              <a:buNone/>
            </a:pPr>
            <a:r>
              <a:rPr lang="en-US" sz="1600" dirty="0">
                <a:solidFill>
                  <a:srgbClr val="3BE3E0"/>
                </a:solidFill>
                <a:latin typeface="Segoe UI" pitchFamily="34" charset="0"/>
                <a:ea typeface="Segoe UI" pitchFamily="34" charset="-122"/>
                <a:cs typeface="Segoe UI" pitchFamily="34" charset="-120"/>
              </a:rPr>
              <a:t>The next page is the clock you are running today. Then the same trade on our clock.</a:t>
            </a:r>
          </a:p>
        </p:txBody>
      </p:sp>
      <p:sp>
        <p:nvSpPr>
          <p:cNvPr id="41" name="Text 41"/>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xml:space="preserve">   Smart Trading, part of OnePilot</a:t>
            </a:r>
          </a:p>
        </p:txBody>
      </p:sp>
      <p:sp>
        <p:nvSpPr>
          <p:cNvPr id="42" name="Text 42"/>
          <p:cNvSpPr/>
          <p:nvPr/>
        </p:nvSpPr>
        <p:spPr>
          <a:xfrm>
            <a:off x="10527487" y="6400800"/>
            <a:ext cx="1097280" cy="274320"/>
          </a:xfrm>
          <a:prstGeom prst="rect">
            <a:avLst/>
          </a:prstGeom>
          <a:noFill/>
          <a:ln/>
        </p:spPr>
        <p:txBody>
          <a:bodyPr wrap="square" rtlCol="0" anchor="ctr"/>
          <a:lstStyle/>
          <a:p>
            <a:pPr marL="0" indent="0" algn="r">
              <a:buNone/>
            </a:pPr>
            <a:r>
              <a:rPr lang="en-US" sz="900" dirty="0">
                <a:solidFill>
                  <a:srgbClr val="AAB6C7"/>
                </a:solidFill>
                <a:latin typeface="Segoe UI" pitchFamily="34" charset="0"/>
                <a:ea typeface="Segoe UI" pitchFamily="34" charset="-122"/>
                <a:cs typeface="Segoe UI" pitchFamily="34" charset="-120"/>
              </a:rPr>
              <a:t>02 / 11</a:t>
            </a:r>
          </a:p>
        </p:txBody>
      </p:sp>
      <p:sp>
        <p:nvSpPr>
          <p:cNvPr id="43" name="Shape 43"/>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6A93B5E-D633-6243-B42B-7E640F6F0D78}">
  <we:reference id="f5f369e5-aa35-49d7-ad7b-638152ddb008" version="1.0.0.1" store="EXCatalog" storeType="EXCatalog"/>
  <we:alternateReferences>
    <we:reference id="WA200010001" version="1.0.0.1" store="en-US" storeType="OMEX"/>
  </we:alternateReferences>
  <we:properties>
    <we:property name="claude.fileId" value="&quot;bdc4cd57-04be-4e56-9b61-b1d182e89135&quot;"/>
  </we:properties>
  <we:bindings/>
  <we:snapshot xmlns:r="http://schemas.openxmlformats.org/officeDocument/2006/relationships"/>
</we:webextension>
</file>

<file path=customXml/_rels/item1.xml.rels><?xml version="1.0" encoding="UTF-8"?><Relationships xmlns="http://schemas.openxmlformats.org/package/2006/relationships"><Relationship Id="rId1" Type="http://schemas.openxmlformats.org/officeDocument/2006/relationships/customXmlProps" Target="itemProps1.xml"/></Relationships>
</file>

<file path=customXml/_rels/item2.xml.rels><?xml version="1.0" encoding="UTF-8"?><Relationships xmlns="http://schemas.openxmlformats.org/package/2006/relationships"><Relationship Id="rId1" Type="http://schemas.openxmlformats.org/officeDocument/2006/relationships/customXmlProps" Target="itemProps2.xml"/></Relationships>
</file>

<file path=customXml/_rels/item3.xml.rels><?xml version="1.0" encoding="UTF-8"?><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E36004C6954FC41BFA5A9934AAC0872" ma:contentTypeVersion="24" ma:contentTypeDescription="Create a new document." ma:contentTypeScope="" ma:versionID="1cf73f14b085dc989d6ca704a5f7b696">
  <xsd:schema xmlns:xsd="http://www.w3.org/2001/XMLSchema" xmlns:xs="http://www.w3.org/2001/XMLSchema" xmlns:p="http://schemas.microsoft.com/office/2006/metadata/properties" xmlns:ns1="http://schemas.microsoft.com/sharepoint/v3" xmlns:ns2="f7c12939-211d-4aac-95d7-b8d38b675650" xmlns:ns3="e9089a15-9498-4149-a6f3-b4bc8e4d21ac" targetNamespace="http://schemas.microsoft.com/office/2006/metadata/properties" ma:root="true" ma:fieldsID="d257115e6736aa2126af141fdcd75720" ns1:_="" ns2:_="" ns3:_="">
    <xsd:import namespace="http://schemas.microsoft.com/sharepoint/v3"/>
    <xsd:import namespace="f7c12939-211d-4aac-95d7-b8d38b675650"/>
    <xsd:import namespace="e9089a15-9498-4149-a6f3-b4bc8e4d21a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LengthInSeconds" minOccurs="0"/>
                <xsd:element ref="ns2:MediaServiceLocation" minOccurs="0"/>
                <xsd:element ref="ns3:TaxCatchAll" minOccurs="0"/>
                <xsd:element ref="ns2:lcf76f155ced4ddcb4097134ff3c332f" minOccurs="0"/>
                <xsd:element ref="ns1:_ip_UnifiedCompliancePolicyProperties" minOccurs="0"/>
                <xsd:element ref="ns1:_ip_UnifiedCompliancePolicyUIAc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7c12939-211d-4aac-95d7-b8d38b6756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hidden="true" ma:internalName="MediaServiceKeyPoints" ma:readOnly="true">
      <xsd:simpleType>
        <xsd:restriction base="dms:Note"/>
      </xsd:simpleType>
    </xsd:element>
    <xsd:element name="MediaServiceAutoTags" ma:index="12" nillable="true" ma:displayName="Tags" ma:hidden="true" ma:internalName="MediaServiceAutoTags" ma:readOnly="true">
      <xsd:simpleType>
        <xsd:restriction base="dms:Text"/>
      </xsd:simpleType>
    </xsd:element>
    <xsd:element name="MediaServiceOCR" ma:index="13" nillable="true" ma:displayName="Extracted Text" ma:hidden="true" ma:internalName="MediaServiceOCR"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9" nillable="true" ma:displayName="Length (seconds)" ma:hidden="true" ma:internalName="MediaLengthInSeconds" ma:readOnly="true">
      <xsd:simpleType>
        <xsd:restriction base="dms:Unknown"/>
      </xsd:simpleType>
    </xsd:element>
    <xsd:element name="MediaServiceLocation" ma:index="20" nillable="true" ma:displayName="Location" ma:hidden="true" ma:internalName="MediaServiceLocation"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0fd6ee07-b435-4fc4-a9c7-316946df4b7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9089a15-9498-4149-a6f3-b4bc8e4d21ac" elementFormDefault="qualified">
    <xsd:import namespace="http://schemas.microsoft.com/office/2006/documentManagement/types"/>
    <xsd:import namespace="http://schemas.microsoft.com/office/infopath/2007/PartnerControls"/>
    <xsd:element name="SharedWithUsers" ma:index="17"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hidden="true" ma:internalName="SharedWithDetails" ma:readOnly="true">
      <xsd:simpleType>
        <xsd:restriction base="dms:Note"/>
      </xsd:simpleType>
    </xsd:element>
    <xsd:element name="TaxCatchAll" ma:index="21" nillable="true" ma:displayName="Taxonomy Catch All Column" ma:hidden="true" ma:list="{3ed79911-b83d-417d-9b12-a1fdc4449e3b}" ma:internalName="TaxCatchAll" ma:showField="CatchAllData" ma:web="e9089a15-9498-4149-a6f3-b4bc8e4d21a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f7c12939-211d-4aac-95d7-b8d38b675650">
      <Terms xmlns="http://schemas.microsoft.com/office/infopath/2007/PartnerControls"/>
    </lcf76f155ced4ddcb4097134ff3c332f>
    <TaxCatchAll xmlns="e9089a15-9498-4149-a6f3-b4bc8e4d21ac" xsi:nil="true"/>
  </documentManagement>
</p:properties>
</file>

<file path=customXml/itemProps1.xml><?xml version="1.0" encoding="utf-8"?>
<ds:datastoreItem xmlns:ds="http://schemas.openxmlformats.org/officeDocument/2006/customXml" ds:itemID="{C59AC5C6-F531-4AEB-9E72-774F3C4C9179}">
  <ds:schemaRefs>
    <ds:schemaRef ds:uri="http://schemas.microsoft.com/sharepoint/v3/contenttype/forms"/>
  </ds:schemaRefs>
</ds:datastoreItem>
</file>

<file path=customXml/itemProps2.xml><?xml version="1.0" encoding="utf-8"?>
<ds:datastoreItem xmlns:ds="http://schemas.openxmlformats.org/officeDocument/2006/customXml" ds:itemID="{21EF85BC-52F0-4AC9-80A7-A6A23489CD8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7c12939-211d-4aac-95d7-b8d38b675650"/>
    <ds:schemaRef ds:uri="e9089a15-9498-4149-a6f3-b4bc8e4d21a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7E16F5C-90B0-4C8B-B2A3-487415805437}">
  <ds:schemaRefs>
    <ds:schemaRef ds:uri="f7c12939-211d-4aac-95d7-b8d38b675650"/>
    <ds:schemaRef ds:uri="http://purl.org/dc/terms/"/>
    <ds:schemaRef ds:uri="http://www.w3.org/XML/1998/namespace"/>
    <ds:schemaRef ds:uri="e9089a15-9498-4149-a6f3-b4bc8e4d21ac"/>
    <ds:schemaRef ds:uri="http://purl.org/dc/dcmitype/"/>
    <ds:schemaRef ds:uri="http://schemas.microsoft.com/office/2006/metadata/properties"/>
    <ds:schemaRef ds:uri="http://schemas.microsoft.com/office/infopath/2007/PartnerControls"/>
    <ds:schemaRef ds:uri="http://schemas.microsoft.com/office/2006/documentManagement/types"/>
    <ds:schemaRef ds:uri="http://schemas.openxmlformats.org/package/2006/metadata/core-properties"/>
    <ds:schemaRef ds:uri="http://schemas.microsoft.com/sharepoint/v3"/>
    <ds:schemaRef ds:uri="http://purl.org/dc/elements/1.1/"/>
  </ds:schemaRefs>
</ds:datastoreItem>
</file>

<file path=docMetadata/LabelInfo.xml><?xml version="1.0" encoding="utf-8"?>
<clbl:labelList xmlns:clbl="http://schemas.microsoft.com/office/2020/mipLabelMetadata">
  <clbl:label id="{c5f3e595-28df-4b6d-866e-5db0c24f0139}" enabled="1" method="Standard" siteId="{aa3bd2bf-9c6e-4f49-9c4f-44f878ae9e74}" removed="0"/>
</clbl:labelList>
</file>

<file path=docProps/app.xml><?xml version="1.0" encoding="utf-8"?>
<Properties xmlns="http://schemas.openxmlformats.org/officeDocument/2006/extended-properties" xmlns:vt="http://schemas.openxmlformats.org/officeDocument/2006/docPropsVTypes">
  <TotalTime>233</TotalTime>
  <Words>1027</Words>
  <Application>Microsoft Macintosh PowerPoint</Application>
  <PresentationFormat>Widescreen</PresentationFormat>
  <Paragraphs>158</Paragraphs>
  <Slides>11</Slides>
  <Notes>11</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Brisken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Brisken</dc:creator>
  <cp:lastModifiedBy>Dirk Neumann</cp:lastModifiedBy>
  <cp:revision>2</cp:revision>
  <dcterms:created xsi:type="dcterms:W3CDTF">2026-07-09T00:26:58Z</dcterms:created>
  <dcterms:modified xsi:type="dcterms:W3CDTF">2026-07-09T11:55:54Z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0x0101002E36004C6954FC41BFA5A9934AAC0872</vt:lpwstr>
  </property>
</Properties>
</file>