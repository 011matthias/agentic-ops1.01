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sp>
      <p:pic>
        <p:nvPicPr>
          <p:cNvPr id="6" name="Image 0" descr="C:/Users/neuma_p1qrsic/Repo/agentic-ops1/.scratch/brisken-logo-light.png">    </p:cNvPr>
          <p:cNvPicPr>
            <a:picLocks noChangeAspect="1"/>
          </p:cNvPicPr>
          <p:nvPr/>
        </p:nvPicPr>
        <p:blipFill>
          <a:blip r:embed="rId1"/>
          <a:stretch>
            <a:fillRect/>
          </a:stretch>
        </p:blipFill>
        <p:spPr>
          <a:xfrm>
            <a:off x="566928" y="548640"/>
            <a:ext cx="1417320" cy="310896"/>
          </a:xfrm>
          <a:prstGeom prst="rect">
            <a:avLst/>
          </a:prstGeom>
        </p:spPr>
      </p:pic>
      <p:sp>
        <p:nvSpPr>
          <p:cNvPr id="7" name="Shape 4"/>
          <p:cNvSpPr/>
          <p:nvPr/>
        </p:nvSpPr>
        <p:spPr>
          <a:xfrm>
            <a:off x="566928" y="2441448"/>
            <a:ext cx="45720" cy="219456"/>
          </a:xfrm>
          <a:prstGeom prst="rect">
            <a:avLst/>
          </a:prstGeom>
          <a:solidFill>
            <a:srgbClr val="3BE3E0"/>
          </a:solidFill>
          <a:ln w="12700">
            <a:solidFill>
              <a:srgbClr val="333333"/>
            </a:solidFill>
            <a:prstDash val="solid"/>
          </a:ln>
        </p:spPr>
      </p:sp>
      <p:sp>
        <p:nvSpPr>
          <p:cNvPr id="8" name="Text 5"/>
          <p:cNvSpPr/>
          <p:nvPr/>
        </p:nvSpPr>
        <p:spPr>
          <a:xfrm>
            <a:off x="713232" y="2368296"/>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ONEPILOT USE CASE · MARKET DATA HUB</a:t>
            </a:r>
            <a:endParaRPr lang="en-US" sz="1200" dirty="0"/>
          </a:p>
        </p:txBody>
      </p:sp>
      <p:sp>
        <p:nvSpPr>
          <p:cNvPr id="9" name="Text 6"/>
          <p:cNvSpPr/>
          <p:nvPr/>
        </p:nvSpPr>
        <p:spPr>
          <a:xfrm>
            <a:off x="539496" y="2697480"/>
            <a:ext cx="11338560" cy="1188720"/>
          </a:xfrm>
          <a:prstGeom prst="rect">
            <a:avLst/>
          </a:prstGeom>
          <a:noFill/>
          <a:ln/>
        </p:spPr>
        <p:txBody>
          <a:bodyPr wrap="square" rtlCol="0" anchor="ctr"/>
          <a:lstStyle/>
          <a:p>
            <a:pPr indent="0" marL="0">
              <a:buNone/>
            </a:pPr>
            <a:r>
              <a:rPr lang="en-US" sz="5400" b="1" dirty="0">
                <a:solidFill>
                  <a:srgbClr val="F3F6FB"/>
                </a:solidFill>
                <a:latin typeface="Segoe UI Semibold" pitchFamily="34" charset="0"/>
                <a:ea typeface="Segoe UI Semibold" pitchFamily="34" charset="-122"/>
                <a:cs typeface="Segoe UI Semibold" pitchFamily="34" charset="-120"/>
              </a:rPr>
              <a:t>Market Data Monitor</a:t>
            </a:r>
            <a:endParaRPr lang="en-US" sz="5400" dirty="0"/>
          </a:p>
        </p:txBody>
      </p:sp>
      <p:sp>
        <p:nvSpPr>
          <p:cNvPr id="10" name="Text 7"/>
          <p:cNvSpPr/>
          <p:nvPr/>
        </p:nvSpPr>
        <p:spPr>
          <a:xfrm>
            <a:off x="566928" y="3977640"/>
            <a:ext cx="10607040" cy="868680"/>
          </a:xfrm>
          <a:prstGeom prst="rect">
            <a:avLst/>
          </a:prstGeom>
          <a:noFill/>
          <a:ln/>
        </p:spPr>
        <p:txBody>
          <a:bodyPr wrap="square" rtlCol="0" anchor="t"/>
          <a:lstStyle/>
          <a:p>
            <a:pPr indent="0" marL="0">
              <a:lnSpc>
                <a:spcPct val="115000"/>
              </a:lnSpc>
              <a:buNone/>
            </a:pPr>
            <a:r>
              <a:rPr lang="en-US" sz="1900" dirty="0">
                <a:solidFill>
                  <a:srgbClr val="AAB6C7"/>
                </a:solidFill>
                <a:latin typeface="Segoe UI" pitchFamily="34" charset="0"/>
                <a:ea typeface="Segoe UI" pitchFamily="34" charset="-122"/>
                <a:cs typeface="Segoe UI" pitchFamily="34" charset="-120"/>
              </a:rPr>
              <a:t>Every rate you load, watched on arrival. </a:t>
            </a:r>
            <a:pPr indent="0" marL="0">
              <a:lnSpc>
                <a:spcPct val="115000"/>
              </a:lnSpc>
              <a:buNone/>
            </a:pPr>
            <a:r>
              <a:rPr lang="en-US" sz="1900" dirty="0">
                <a:solidFill>
                  <a:srgbClr val="3BE3E0"/>
                </a:solidFill>
                <a:latin typeface="Segoe UI" pitchFamily="34" charset="0"/>
                <a:ea typeface="Segoe UI" pitchFamily="34" charset="-122"/>
                <a:cs typeface="Segoe UI" pitchFamily="34" charset="-120"/>
              </a:rPr>
              <a:t>Bad values are caught before they reach SAP, and you only hear about the ones that need you.</a:t>
            </a:r>
            <a:endParaRPr lang="en-US" sz="1900" dirty="0"/>
          </a:p>
        </p:txBody>
      </p:sp>
      <p:sp>
        <p:nvSpPr>
          <p:cNvPr id="11" name="Shape 8"/>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sp>
      <p:pic>
        <p:nvPicPr>
          <p:cNvPr id="12" name="Image 1" descr="C:/Users/neuma_p1qrsic/Repo/agentic-ops1/.scratch/icons/venue.png">    </p:cNvPr>
          <p:cNvPicPr>
            <a:picLocks noChangeAspect="1"/>
          </p:cNvPicPr>
          <p:nvPr/>
        </p:nvPicPr>
        <p:blipFill>
          <a:blip r:embed="rId2"/>
          <a:stretch>
            <a:fillRect/>
          </a:stretch>
        </p:blipFill>
        <p:spPr>
          <a:xfrm>
            <a:off x="702991" y="5668183"/>
            <a:ext cx="294803" cy="294803"/>
          </a:xfrm>
          <a:prstGeom prst="rect">
            <a:avLst/>
          </a:prstGeom>
        </p:spPr>
      </p:pic>
      <p:sp>
        <p:nvSpPr>
          <p:cNvPr id="13" name="Text 9"/>
          <p:cNvSpPr/>
          <p:nvPr/>
        </p:nvSpPr>
        <p:spPr>
          <a:xfrm>
            <a:off x="1252728" y="5532120"/>
            <a:ext cx="274320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Your feeds, overnight</a:t>
            </a:r>
            <a:endParaRPr lang="en-US" sz="1300" dirty="0"/>
          </a:p>
        </p:txBody>
      </p:sp>
      <p:sp>
        <p:nvSpPr>
          <p:cNvPr id="14" name="Shape 10"/>
          <p:cNvSpPr/>
          <p:nvPr/>
        </p:nvSpPr>
        <p:spPr>
          <a:xfrm>
            <a:off x="3995928" y="5815584"/>
            <a:ext cx="640080" cy="0"/>
          </a:xfrm>
          <a:prstGeom prst="line">
            <a:avLst/>
          </a:prstGeom>
          <a:noFill/>
          <a:ln w="25400">
            <a:solidFill>
              <a:srgbClr val="3BE3E0"/>
            </a:solidFill>
            <a:prstDash val="solid"/>
            <a:tailEnd type="triangle"/>
          </a:ln>
        </p:spPr>
      </p:sp>
      <p:sp>
        <p:nvSpPr>
          <p:cNvPr id="15" name="Text 11"/>
          <p:cNvSpPr/>
          <p:nvPr/>
        </p:nvSpPr>
        <p:spPr>
          <a:xfrm>
            <a:off x="4681728" y="5532120"/>
            <a:ext cx="1737360" cy="566928"/>
          </a:xfrm>
          <a:prstGeom prst="rect">
            <a:avLst/>
          </a:prstGeom>
          <a:noFill/>
          <a:ln/>
        </p:spPr>
        <p:txBody>
          <a:bodyPr wrap="square" rtlCol="0" anchor="ctr"/>
          <a:lstStyle/>
          <a:p>
            <a:pPr algn="ctr" indent="0" marL="0">
              <a:buNone/>
            </a:pPr>
            <a:r>
              <a:rPr lang="en-US" sz="1200" i="1" dirty="0">
                <a:solidFill>
                  <a:srgbClr val="3BE3E0"/>
                </a:solidFill>
                <a:latin typeface="Segoe UI" pitchFamily="34" charset="0"/>
                <a:ea typeface="Segoe UI" pitchFamily="34" charset="-122"/>
                <a:cs typeface="Segoe UI" pitchFamily="34" charset="-120"/>
              </a:rPr>
              <a:t>The monitor</a:t>
            </a:r>
            <a:endParaRPr lang="en-US" sz="1200" dirty="0"/>
          </a:p>
        </p:txBody>
      </p:sp>
      <p:sp>
        <p:nvSpPr>
          <p:cNvPr id="16" name="Shape 12"/>
          <p:cNvSpPr/>
          <p:nvPr/>
        </p:nvSpPr>
        <p:spPr>
          <a:xfrm>
            <a:off x="6464808" y="5815584"/>
            <a:ext cx="640080" cy="0"/>
          </a:xfrm>
          <a:prstGeom prst="line">
            <a:avLst/>
          </a:prstGeom>
          <a:noFill/>
          <a:ln w="25400">
            <a:solidFill>
              <a:srgbClr val="3BE3E0"/>
            </a:solidFill>
            <a:prstDash val="solid"/>
            <a:tailEnd type="triangle"/>
          </a:ln>
        </p:spPr>
      </p:sp>
      <p:sp>
        <p:nvSpPr>
          <p:cNvPr id="17" name="Shape 13"/>
          <p:cNvSpPr/>
          <p:nvPr/>
        </p:nvSpPr>
        <p:spPr>
          <a:xfrm>
            <a:off x="7242048" y="5532120"/>
            <a:ext cx="566928" cy="566928"/>
          </a:xfrm>
          <a:prstGeom prst="roundRect">
            <a:avLst>
              <a:gd name="adj" fmla="val 17742"/>
            </a:avLst>
          </a:prstGeom>
          <a:solidFill>
            <a:srgbClr val="1B2330"/>
          </a:solidFill>
          <a:ln w="15240">
            <a:solidFill>
              <a:srgbClr val="3BE3E0"/>
            </a:solidFill>
            <a:prstDash val="solid"/>
          </a:ln>
        </p:spPr>
      </p:sp>
      <p:pic>
        <p:nvPicPr>
          <p:cNvPr id="18" name="Image 2" descr="C:/Users/neuma_p1qrsic/Repo/agentic-ops1/.scratch/icons/database.png">    </p:cNvPr>
          <p:cNvPicPr>
            <a:picLocks noChangeAspect="1"/>
          </p:cNvPicPr>
          <p:nvPr/>
        </p:nvPicPr>
        <p:blipFill>
          <a:blip r:embed="rId3"/>
          <a:stretch>
            <a:fillRect/>
          </a:stretch>
        </p:blipFill>
        <p:spPr>
          <a:xfrm>
            <a:off x="7378111" y="5668183"/>
            <a:ext cx="294803" cy="294803"/>
          </a:xfrm>
          <a:prstGeom prst="rect">
            <a:avLst/>
          </a:prstGeom>
        </p:spPr>
      </p:pic>
      <p:sp>
        <p:nvSpPr>
          <p:cNvPr id="19" name="Text 14"/>
          <p:cNvSpPr/>
          <p:nvPr/>
        </p:nvSpPr>
        <p:spPr>
          <a:xfrm>
            <a:off x="7927848" y="5532120"/>
            <a:ext cx="338328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Clean rates in SAP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SCENARIO</a:t>
            </a:r>
            <a:endParaRPr lang="en-US" sz="1200" dirty="0"/>
          </a:p>
        </p:txBody>
      </p:sp>
      <p:sp>
        <p:nvSpPr>
          <p:cNvPr id="4" name="Shape 2"/>
          <p:cNvSpPr/>
          <p:nvPr/>
        </p:nvSpPr>
        <p:spPr>
          <a:xfrm>
            <a:off x="9247327" y="502920"/>
            <a:ext cx="2377440" cy="384048"/>
          </a:xfrm>
          <a:prstGeom prst="roundRect">
            <a:avLst>
              <a:gd name="adj" fmla="val 50000"/>
            </a:avLst>
          </a:prstGeom>
          <a:solidFill>
            <a:srgbClr val="24190E"/>
          </a:solidFill>
          <a:ln w="12700">
            <a:solidFill>
              <a:srgbClr val="FFC96B"/>
            </a:solidFill>
            <a:prstDash val="solid"/>
          </a:ln>
        </p:spPr>
      </p:sp>
      <p:sp>
        <p:nvSpPr>
          <p:cNvPr id="5" name="Text 3"/>
          <p:cNvSpPr/>
          <p:nvPr/>
        </p:nvSpPr>
        <p:spPr>
          <a:xfrm>
            <a:off x="9247327" y="502920"/>
            <a:ext cx="2377440" cy="384048"/>
          </a:xfrm>
          <a:prstGeom prst="rect">
            <a:avLst/>
          </a:prstGeom>
          <a:noFill/>
          <a:ln/>
        </p:spPr>
        <p:txBody>
          <a:bodyPr wrap="square" rtlCol="0" anchor="ctr"/>
          <a:lstStyle/>
          <a:p>
            <a:pPr algn="ctr" indent="0" marL="0">
              <a:buNone/>
            </a:pPr>
            <a:r>
              <a:rPr lang="en-US" sz="950" b="1" spc="150" kern="0" dirty="0">
                <a:solidFill>
                  <a:srgbClr val="FFC96B"/>
                </a:solidFill>
                <a:latin typeface="Segoe UI Semibold" pitchFamily="34" charset="0"/>
                <a:ea typeface="Segoe UI Semibold" pitchFamily="34" charset="-122"/>
                <a:cs typeface="Segoe UI Semibold" pitchFamily="34" charset="-120"/>
              </a:rPr>
              <a:t>ILLUSTRATIVE SCENARIO</a:t>
            </a:r>
            <a:endParaRPr lang="en-US" sz="950" dirty="0"/>
          </a:p>
        </p:txBody>
      </p:sp>
      <p:sp>
        <p:nvSpPr>
          <p:cNvPr id="6" name="Text 4"/>
          <p:cNvSpPr/>
          <p:nvPr/>
        </p:nvSpPr>
        <p:spPr>
          <a:xfrm>
            <a:off x="566928" y="1005840"/>
            <a:ext cx="10881360" cy="1097280"/>
          </a:xfrm>
          <a:prstGeom prst="rect">
            <a:avLst/>
          </a:prstGeom>
          <a:noFill/>
          <a:ln/>
        </p:spPr>
        <p:txBody>
          <a:bodyPr wrap="square" rtlCol="0" anchor="ctr"/>
          <a:lstStyle/>
          <a:p>
            <a:pPr indent="0" marL="0">
              <a:lnSpc>
                <a:spcPct val="105000"/>
              </a:lnSpc>
              <a:buNone/>
            </a:pPr>
            <a:r>
              <a:rPr lang="en-US" sz="3000" b="1" dirty="0">
                <a:solidFill>
                  <a:srgbClr val="F3F6FB"/>
                </a:solidFill>
                <a:latin typeface="Segoe UI Semibold" pitchFamily="34" charset="0"/>
                <a:ea typeface="Segoe UI Semibold" pitchFamily="34" charset="-122"/>
                <a:cs typeface="Segoe UI Semibold" pitchFamily="34" charset="-120"/>
              </a:rPr>
              <a:t>06:00. The overnight rates load while the team sleeps.</a:t>
            </a:r>
            <a:endParaRPr lang="en-US" sz="3000" dirty="0"/>
          </a:p>
        </p:txBody>
      </p:sp>
      <p:sp>
        <p:nvSpPr>
          <p:cNvPr id="7" name="Shape 5"/>
          <p:cNvSpPr/>
          <p:nvPr/>
        </p:nvSpPr>
        <p:spPr>
          <a:xfrm>
            <a:off x="566928" y="2423160"/>
            <a:ext cx="5760720" cy="3291840"/>
          </a:xfrm>
          <a:prstGeom prst="roundRect">
            <a:avLst>
              <a:gd name="adj" fmla="val 2500"/>
            </a:avLst>
          </a:prstGeom>
          <a:solidFill>
            <a:srgbClr val="141A25"/>
          </a:solidFill>
          <a:ln w="13970">
            <a:solidFill>
              <a:srgbClr val="36414F"/>
            </a:solidFill>
            <a:prstDash val="solid"/>
          </a:ln>
        </p:spPr>
      </p:sp>
      <p:sp>
        <p:nvSpPr>
          <p:cNvPr id="8" name="Text 6"/>
          <p:cNvSpPr/>
          <p:nvPr/>
        </p:nvSpPr>
        <p:spPr>
          <a:xfrm>
            <a:off x="886968" y="2679192"/>
            <a:ext cx="5120640" cy="411480"/>
          </a:xfrm>
          <a:prstGeom prst="rect">
            <a:avLst/>
          </a:prstGeom>
          <a:noFill/>
          <a:ln/>
        </p:spPr>
        <p:txBody>
          <a:bodyPr wrap="square" rtlCol="0" anchor="ctr"/>
          <a:lstStyle/>
          <a:p>
            <a:pPr indent="0" marL="0">
              <a:buNone/>
            </a:pPr>
            <a:r>
              <a:rPr lang="en-US" sz="1600" b="1" dirty="0">
                <a:solidFill>
                  <a:srgbClr val="F3F6FB"/>
                </a:solidFill>
                <a:latin typeface="Segoe UI Semibold" pitchFamily="34" charset="0"/>
                <a:ea typeface="Segoe UI Semibold" pitchFamily="34" charset="-122"/>
                <a:cs typeface="Segoe UI Semibold" pitchFamily="34" charset="-120"/>
              </a:rPr>
              <a:t>The load</a:t>
            </a:r>
            <a:endParaRPr lang="en-US" sz="1600" dirty="0"/>
          </a:p>
        </p:txBody>
      </p:sp>
      <p:sp>
        <p:nvSpPr>
          <p:cNvPr id="9" name="Text 7"/>
          <p:cNvSpPr/>
          <p:nvPr/>
        </p:nvSpPr>
        <p:spPr>
          <a:xfrm>
            <a:off x="886968" y="3154680"/>
            <a:ext cx="5120640" cy="1554480"/>
          </a:xfrm>
          <a:prstGeom prst="rect">
            <a:avLst/>
          </a:prstGeom>
          <a:noFill/>
          <a:ln/>
        </p:spPr>
        <p:txBody>
          <a:bodyPr wrap="square" rtlCol="0" anchor="t"/>
          <a:lstStyle/>
          <a:p>
            <a:pPr indent="0" marL="0">
              <a:lnSpc>
                <a:spcPct val="130000"/>
              </a:lnSpc>
              <a:buNone/>
            </a:pPr>
            <a:r>
              <a:rPr lang="en-US" sz="1400" dirty="0">
                <a:solidFill>
                  <a:srgbClr val="AAB6C7"/>
                </a:solidFill>
                <a:latin typeface="Segoe UI" pitchFamily="34" charset="0"/>
                <a:ea typeface="Segoe UI" pitchFamily="34" charset="-122"/>
                <a:cs typeface="Segoe UI" pitchFamily="34" charset="-120"/>
              </a:rPr>
              <a:t>Hundreds of rates and curves from providers, central banks and internal sources, loaded on the scheduler: per instrument group, timezone and daylight-saving aware.</a:t>
            </a:r>
            <a:endParaRPr lang="en-US" sz="1400" dirty="0"/>
          </a:p>
        </p:txBody>
      </p:sp>
      <p:sp>
        <p:nvSpPr>
          <p:cNvPr id="10" name="Shape 8"/>
          <p:cNvSpPr/>
          <p:nvPr/>
        </p:nvSpPr>
        <p:spPr>
          <a:xfrm>
            <a:off x="886968" y="4800600"/>
            <a:ext cx="1615440" cy="548640"/>
          </a:xfrm>
          <a:prstGeom prst="roundRect">
            <a:avLst>
              <a:gd name="adj" fmla="val 23333"/>
            </a:avLst>
          </a:prstGeom>
          <a:solidFill>
            <a:srgbClr val="FFFFFF"/>
          </a:solidFill>
          <a:ln w="9525">
            <a:solidFill>
              <a:srgbClr val="36414F"/>
            </a:solidFill>
            <a:prstDash val="solid"/>
          </a:ln>
        </p:spPr>
      </p:sp>
      <p:pic>
        <p:nvPicPr>
          <p:cNvPr id="11" name="Image 0" descr="C:/Users/neuma_p1qrsic/Repo/agentic-ops1/.scratch/deckgen/logos/bloomberg.png">    </p:cNvPr>
          <p:cNvPicPr>
            <a:picLocks noChangeAspect="1"/>
          </p:cNvPicPr>
          <p:nvPr/>
        </p:nvPicPr>
        <p:blipFill>
          <a:blip r:embed="rId1"/>
          <a:stretch>
            <a:fillRect/>
          </a:stretch>
        </p:blipFill>
        <p:spPr>
          <a:xfrm>
            <a:off x="1032358" y="4941419"/>
            <a:ext cx="1324661" cy="267002"/>
          </a:xfrm>
          <a:prstGeom prst="rect">
            <a:avLst/>
          </a:prstGeom>
        </p:spPr>
      </p:pic>
      <p:sp>
        <p:nvSpPr>
          <p:cNvPr id="12" name="Shape 9"/>
          <p:cNvSpPr/>
          <p:nvPr/>
        </p:nvSpPr>
        <p:spPr>
          <a:xfrm>
            <a:off x="2639568" y="4800600"/>
            <a:ext cx="1615440" cy="548640"/>
          </a:xfrm>
          <a:prstGeom prst="roundRect">
            <a:avLst>
              <a:gd name="adj" fmla="val 23333"/>
            </a:avLst>
          </a:prstGeom>
          <a:solidFill>
            <a:srgbClr val="FFFFFF"/>
          </a:solidFill>
          <a:ln w="9525">
            <a:solidFill>
              <a:srgbClr val="36414F"/>
            </a:solidFill>
            <a:prstDash val="solid"/>
          </a:ln>
        </p:spPr>
      </p:sp>
      <p:pic>
        <p:nvPicPr>
          <p:cNvPr id="13" name="Image 1" descr="C:/Users/neuma_p1qrsic/Repo/agentic-ops1/.scratch/deckgen/logos/lseg.png">    </p:cNvPr>
          <p:cNvPicPr>
            <a:picLocks noChangeAspect="1"/>
          </p:cNvPicPr>
          <p:nvPr/>
        </p:nvPicPr>
        <p:blipFill>
          <a:blip r:embed="rId2"/>
          <a:stretch>
            <a:fillRect/>
          </a:stretch>
        </p:blipFill>
        <p:spPr>
          <a:xfrm>
            <a:off x="2784958" y="4900761"/>
            <a:ext cx="1324661" cy="348317"/>
          </a:xfrm>
          <a:prstGeom prst="rect">
            <a:avLst/>
          </a:prstGeom>
        </p:spPr>
      </p:pic>
      <p:sp>
        <p:nvSpPr>
          <p:cNvPr id="14" name="Shape 10"/>
          <p:cNvSpPr/>
          <p:nvPr/>
        </p:nvSpPr>
        <p:spPr>
          <a:xfrm>
            <a:off x="4392168" y="4800600"/>
            <a:ext cx="1615440" cy="548640"/>
          </a:xfrm>
          <a:prstGeom prst="roundRect">
            <a:avLst>
              <a:gd name="adj" fmla="val 23333"/>
            </a:avLst>
          </a:prstGeom>
          <a:solidFill>
            <a:srgbClr val="FFFFFF"/>
          </a:solidFill>
          <a:ln w="9525">
            <a:solidFill>
              <a:srgbClr val="36414F"/>
            </a:solidFill>
            <a:prstDash val="solid"/>
          </a:ln>
        </p:spPr>
      </p:sp>
      <p:pic>
        <p:nvPicPr>
          <p:cNvPr id="15" name="Image 2" descr="C:/Users/neuma_p1qrsic/Repo/agentic-ops1/.scratch/deckgen/logos/cme.png">    </p:cNvPr>
          <p:cNvPicPr>
            <a:picLocks noChangeAspect="1"/>
          </p:cNvPicPr>
          <p:nvPr/>
        </p:nvPicPr>
        <p:blipFill>
          <a:blip r:embed="rId3"/>
          <a:stretch>
            <a:fillRect/>
          </a:stretch>
        </p:blipFill>
        <p:spPr>
          <a:xfrm>
            <a:off x="4537558" y="4972983"/>
            <a:ext cx="1324661" cy="203874"/>
          </a:xfrm>
          <a:prstGeom prst="rect">
            <a:avLst/>
          </a:prstGeom>
        </p:spPr>
      </p:pic>
      <p:sp>
        <p:nvSpPr>
          <p:cNvPr id="16" name="Text 11"/>
          <p:cNvSpPr/>
          <p:nvPr/>
        </p:nvSpPr>
        <p:spPr>
          <a:xfrm>
            <a:off x="6739128" y="2404872"/>
            <a:ext cx="4885639" cy="411480"/>
          </a:xfrm>
          <a:prstGeom prst="rect">
            <a:avLst/>
          </a:prstGeom>
          <a:noFill/>
          <a:ln/>
        </p:spPr>
        <p:txBody>
          <a:bodyPr wrap="square" rtlCol="0" anchor="ctr"/>
          <a:lstStyle/>
          <a:p>
            <a:pPr indent="0" marL="0">
              <a:buNone/>
            </a:pPr>
            <a:r>
              <a:rPr lang="en-US" sz="1550" b="1" dirty="0">
                <a:solidFill>
                  <a:srgbClr val="FFC96B"/>
                </a:solidFill>
                <a:latin typeface="Segoe UI Semibold" pitchFamily="34" charset="0"/>
                <a:ea typeface="Segoe UI Semibold" pitchFamily="34" charset="-122"/>
                <a:cs typeface="Segoe UI Semibold" pitchFamily="34" charset="-120"/>
              </a:rPr>
              <a:t>This morning, two of them are wrong</a:t>
            </a:r>
            <a:endParaRPr lang="en-US" sz="1550" dirty="0"/>
          </a:p>
        </p:txBody>
      </p:sp>
      <p:sp>
        <p:nvSpPr>
          <p:cNvPr id="17" name="Shape 12"/>
          <p:cNvSpPr/>
          <p:nvPr/>
        </p:nvSpPr>
        <p:spPr>
          <a:xfrm>
            <a:off x="6739128" y="2926080"/>
            <a:ext cx="4885639" cy="1325880"/>
          </a:xfrm>
          <a:prstGeom prst="roundRect">
            <a:avLst>
              <a:gd name="adj" fmla="val 6207"/>
            </a:avLst>
          </a:prstGeom>
          <a:solidFill>
            <a:srgbClr val="24190E"/>
          </a:solidFill>
          <a:ln w="15240">
            <a:solidFill>
              <a:srgbClr val="FFC96B"/>
            </a:solidFill>
            <a:prstDash val="dash"/>
          </a:ln>
        </p:spPr>
      </p:sp>
      <p:sp>
        <p:nvSpPr>
          <p:cNvPr id="18" name="Text 13"/>
          <p:cNvSpPr/>
          <p:nvPr/>
        </p:nvSpPr>
        <p:spPr>
          <a:xfrm>
            <a:off x="6995160" y="3054096"/>
            <a:ext cx="4373575" cy="347472"/>
          </a:xfrm>
          <a:prstGeom prst="rect">
            <a:avLst/>
          </a:prstGeom>
          <a:noFill/>
          <a:ln/>
        </p:spPr>
        <p:txBody>
          <a:bodyPr wrap="square" rtlCol="0" anchor="ctr"/>
          <a:lstStyle/>
          <a:p>
            <a:pPr indent="0" marL="0">
              <a:buNone/>
            </a:pPr>
            <a:r>
              <a:rPr lang="en-US" sz="1350" b="1" dirty="0">
                <a:solidFill>
                  <a:srgbClr val="FFC96B"/>
                </a:solidFill>
                <a:latin typeface="Segoe UI Semibold" pitchFamily="34" charset="0"/>
                <a:ea typeface="Segoe UI Semibold" pitchFamily="34" charset="-122"/>
                <a:cs typeface="Segoe UI Semibold" pitchFamily="34" charset="-120"/>
              </a:rPr>
              <a:t>One FX rate spikes</a:t>
            </a:r>
            <a:endParaRPr lang="en-US" sz="1350" dirty="0"/>
          </a:p>
        </p:txBody>
      </p:sp>
      <p:sp>
        <p:nvSpPr>
          <p:cNvPr id="19" name="Text 14"/>
          <p:cNvSpPr/>
          <p:nvPr/>
        </p:nvSpPr>
        <p:spPr>
          <a:xfrm>
            <a:off x="6995160" y="3401568"/>
            <a:ext cx="4373575" cy="777240"/>
          </a:xfrm>
          <a:prstGeom prst="rect">
            <a:avLst/>
          </a:prstGeom>
          <a:noFill/>
          <a:ln/>
        </p:spPr>
        <p:txBody>
          <a:bodyPr wrap="square" rtlCol="0" anchor="t"/>
          <a:lstStyle/>
          <a:p>
            <a:pPr indent="0" marL="0">
              <a:lnSpc>
                <a:spcPct val="112000"/>
              </a:lnSpc>
              <a:buNone/>
            </a:pPr>
            <a:r>
              <a:rPr lang="en-US" sz="1150" dirty="0">
                <a:solidFill>
                  <a:srgbClr val="F3F6FB"/>
                </a:solidFill>
                <a:latin typeface="Segoe UI" pitchFamily="34" charset="0"/>
                <a:ea typeface="Segoe UI" pitchFamily="34" charset="-122"/>
                <a:cs typeface="Segoe UI" pitchFamily="34" charset="-120"/>
              </a:rPr>
              <a:t>A provider glitch shifts the decimal: 4.31 yesterday, 43.1 today. Ten times off, and headed for SAP.</a:t>
            </a:r>
            <a:endParaRPr lang="en-US" sz="1150" dirty="0"/>
          </a:p>
        </p:txBody>
      </p:sp>
      <p:sp>
        <p:nvSpPr>
          <p:cNvPr id="20" name="Shape 15"/>
          <p:cNvSpPr/>
          <p:nvPr/>
        </p:nvSpPr>
        <p:spPr>
          <a:xfrm>
            <a:off x="6739128" y="4389120"/>
            <a:ext cx="4885639" cy="1325880"/>
          </a:xfrm>
          <a:prstGeom prst="roundRect">
            <a:avLst>
              <a:gd name="adj" fmla="val 6207"/>
            </a:avLst>
          </a:prstGeom>
          <a:solidFill>
            <a:srgbClr val="24190E"/>
          </a:solidFill>
          <a:ln w="15240">
            <a:solidFill>
              <a:srgbClr val="FFC96B"/>
            </a:solidFill>
            <a:prstDash val="dash"/>
          </a:ln>
        </p:spPr>
      </p:sp>
      <p:sp>
        <p:nvSpPr>
          <p:cNvPr id="21" name="Text 16"/>
          <p:cNvSpPr/>
          <p:nvPr/>
        </p:nvSpPr>
        <p:spPr>
          <a:xfrm>
            <a:off x="6995160" y="4517136"/>
            <a:ext cx="4373575" cy="347472"/>
          </a:xfrm>
          <a:prstGeom prst="rect">
            <a:avLst/>
          </a:prstGeom>
          <a:noFill/>
          <a:ln/>
        </p:spPr>
        <p:txBody>
          <a:bodyPr wrap="square" rtlCol="0" anchor="ctr"/>
          <a:lstStyle/>
          <a:p>
            <a:pPr indent="0" marL="0">
              <a:buNone/>
            </a:pPr>
            <a:r>
              <a:rPr lang="en-US" sz="1350" b="1" dirty="0">
                <a:solidFill>
                  <a:srgbClr val="FFC96B"/>
                </a:solidFill>
                <a:latin typeface="Segoe UI Semibold" pitchFamily="34" charset="0"/>
                <a:ea typeface="Segoe UI Semibold" pitchFamily="34" charset="-122"/>
                <a:cs typeface="Segoe UI Semibold" pitchFamily="34" charset="-120"/>
              </a:rPr>
              <a:t>One curve arrives incomplete</a:t>
            </a:r>
            <a:endParaRPr lang="en-US" sz="1350" dirty="0"/>
          </a:p>
        </p:txBody>
      </p:sp>
      <p:sp>
        <p:nvSpPr>
          <p:cNvPr id="22" name="Text 17"/>
          <p:cNvSpPr/>
          <p:nvPr/>
        </p:nvSpPr>
        <p:spPr>
          <a:xfrm>
            <a:off x="6995160" y="4864608"/>
            <a:ext cx="4373575" cy="777240"/>
          </a:xfrm>
          <a:prstGeom prst="rect">
            <a:avLst/>
          </a:prstGeom>
          <a:noFill/>
          <a:ln/>
        </p:spPr>
        <p:txBody>
          <a:bodyPr wrap="square" rtlCol="0" anchor="t"/>
          <a:lstStyle/>
          <a:p>
            <a:pPr indent="0" marL="0">
              <a:lnSpc>
                <a:spcPct val="112000"/>
              </a:lnSpc>
              <a:buNone/>
            </a:pPr>
            <a:r>
              <a:rPr lang="en-US" sz="1150" dirty="0">
                <a:solidFill>
                  <a:srgbClr val="F3F6FB"/>
                </a:solidFill>
                <a:latin typeface="Segoe UI" pitchFamily="34" charset="0"/>
                <a:ea typeface="Segoe UI" pitchFamily="34" charset="-122"/>
                <a:cs typeface="Segoe UI" pitchFamily="34" charset="-120"/>
              </a:rPr>
              <a:t>The yield curve is missing three tenors. Everything downstream would quietly calculate around the hole.</a:t>
            </a:r>
            <a:endParaRPr lang="en-US" sz="1150" dirty="0"/>
          </a:p>
        </p:txBody>
      </p:sp>
      <p:sp>
        <p:nvSpPr>
          <p:cNvPr id="23" name="Text 18"/>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Market Data Monitor, a OnePilot use case</a:t>
            </a:r>
            <a:endParaRPr lang="en-US" sz="900" dirty="0"/>
          </a:p>
        </p:txBody>
      </p:sp>
      <p:sp>
        <p:nvSpPr>
          <p:cNvPr id="24" name="Text 19"/>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02 / 09</a:t>
            </a:r>
            <a:endParaRPr lang="en-US" sz="900" dirty="0"/>
          </a:p>
        </p:txBody>
      </p:sp>
      <p:sp>
        <p:nvSpPr>
          <p:cNvPr id="25" name="Shape 20"/>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914400"/>
          </a:xfrm>
          <a:prstGeom prst="rect">
            <a:avLst/>
          </a:prstGeom>
          <a:noFill/>
          <a:ln/>
        </p:spPr>
        <p:txBody>
          <a:bodyPr wrap="square" rtlCol="0" anchor="ctr"/>
          <a:lstStyle/>
          <a:p>
            <a:pPr indent="0" marL="0">
              <a:lnSpc>
                <a:spcPct val="105000"/>
              </a:lnSpc>
              <a:buNone/>
            </a:pPr>
            <a:r>
              <a:rPr lang="en-US" sz="3100" b="1" dirty="0">
                <a:solidFill>
                  <a:srgbClr val="F3F6FB"/>
                </a:solidFill>
                <a:latin typeface="Segoe UI Semibold" pitchFamily="34" charset="0"/>
                <a:ea typeface="Segoe UI Semibold" pitchFamily="34" charset="-122"/>
                <a:cs typeface="Segoe UI Semibold" pitchFamily="34" charset="-120"/>
              </a:rPr>
              <a:t>A bad rate does not announce itself.</a:t>
            </a:r>
            <a:endParaRPr lang="en-US" sz="3100" dirty="0"/>
          </a:p>
        </p:txBody>
      </p:sp>
      <p:sp>
        <p:nvSpPr>
          <p:cNvPr id="5" name="Shape 3"/>
          <p:cNvSpPr/>
          <p:nvPr/>
        </p:nvSpPr>
        <p:spPr>
          <a:xfrm>
            <a:off x="566928" y="2514600"/>
            <a:ext cx="3246120" cy="2286000"/>
          </a:xfrm>
          <a:prstGeom prst="roundRect">
            <a:avLst>
              <a:gd name="adj" fmla="val 3600"/>
            </a:avLst>
          </a:prstGeom>
          <a:solidFill>
            <a:srgbClr val="141A25"/>
          </a:solidFill>
          <a:ln w="13970">
            <a:solidFill>
              <a:srgbClr val="36414F"/>
            </a:solidFill>
            <a:prstDash val="solid"/>
          </a:ln>
        </p:spPr>
      </p:sp>
      <p:sp>
        <p:nvSpPr>
          <p:cNvPr id="6" name="Shape 4"/>
          <p:cNvSpPr/>
          <p:nvPr/>
        </p:nvSpPr>
        <p:spPr>
          <a:xfrm>
            <a:off x="841248" y="2834640"/>
            <a:ext cx="603504" cy="603504"/>
          </a:xfrm>
          <a:prstGeom prst="roundRect">
            <a:avLst>
              <a:gd name="adj" fmla="val 16667"/>
            </a:avLst>
          </a:prstGeom>
          <a:solidFill>
            <a:srgbClr val="1B2330"/>
          </a:solidFill>
          <a:ln w="15240">
            <a:solidFill>
              <a:srgbClr val="3BE3E0"/>
            </a:solidFill>
            <a:prstDash val="solid"/>
          </a:ln>
        </p:spPr>
      </p:sp>
      <p:pic>
        <p:nvPicPr>
          <p:cNvPr id="7" name="Image 0" descr="C:/Users/neuma_p1qrsic/Repo/agentic-ops1/.scratch/icons/venue.png">    </p:cNvPr>
          <p:cNvPicPr>
            <a:picLocks noChangeAspect="1"/>
          </p:cNvPicPr>
          <p:nvPr/>
        </p:nvPicPr>
        <p:blipFill>
          <a:blip r:embed="rId1"/>
          <a:stretch>
            <a:fillRect/>
          </a:stretch>
        </p:blipFill>
        <p:spPr>
          <a:xfrm>
            <a:off x="986089" y="2979481"/>
            <a:ext cx="313822" cy="313822"/>
          </a:xfrm>
          <a:prstGeom prst="rect">
            <a:avLst/>
          </a:prstGeom>
        </p:spPr>
      </p:pic>
      <p:sp>
        <p:nvSpPr>
          <p:cNvPr id="8" name="Text 5"/>
          <p:cNvSpPr/>
          <p:nvPr/>
        </p:nvSpPr>
        <p:spPr>
          <a:xfrm>
            <a:off x="841248" y="3611880"/>
            <a:ext cx="2697480"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The feeds</a:t>
            </a:r>
            <a:endParaRPr lang="en-US" sz="1500" dirty="0"/>
          </a:p>
        </p:txBody>
      </p:sp>
      <p:sp>
        <p:nvSpPr>
          <p:cNvPr id="9" name="Text 6"/>
          <p:cNvSpPr/>
          <p:nvPr/>
        </p:nvSpPr>
        <p:spPr>
          <a:xfrm>
            <a:off x="841248" y="3959352"/>
            <a:ext cx="2697480" cy="731520"/>
          </a:xfrm>
          <a:prstGeom prst="rect">
            <a:avLst/>
          </a:prstGeom>
          <a:noFill/>
          <a:ln/>
        </p:spPr>
        <p:txBody>
          <a:bodyPr wrap="square" rtlCol="0" anchor="ctr"/>
          <a:lstStyle/>
          <a:p>
            <a:pPr indent="0" marL="0">
              <a:lnSpc>
                <a:spcPct val="110000"/>
              </a:lnSpc>
              <a:buNone/>
            </a:pPr>
            <a:r>
              <a:rPr lang="en-US" sz="1200" dirty="0">
                <a:solidFill>
                  <a:srgbClr val="AAB6C7"/>
                </a:solidFill>
                <a:latin typeface="Segoe UI" pitchFamily="34" charset="0"/>
                <a:ea typeface="Segoe UI" pitchFamily="34" charset="-122"/>
                <a:cs typeface="Segoe UI" pitchFamily="34" charset="-120"/>
              </a:rPr>
              <a:t>Providers, central banks, websites. Formats and conventions shift without notice.</a:t>
            </a:r>
            <a:endParaRPr lang="en-US" sz="1200" dirty="0"/>
          </a:p>
        </p:txBody>
      </p:sp>
      <p:sp>
        <p:nvSpPr>
          <p:cNvPr id="10" name="Shape 7"/>
          <p:cNvSpPr/>
          <p:nvPr/>
        </p:nvSpPr>
        <p:spPr>
          <a:xfrm>
            <a:off x="4270248" y="2514600"/>
            <a:ext cx="3657600" cy="2286000"/>
          </a:xfrm>
          <a:prstGeom prst="roundRect">
            <a:avLst>
              <a:gd name="adj" fmla="val 3600"/>
            </a:avLst>
          </a:prstGeom>
          <a:solidFill>
            <a:srgbClr val="24190E"/>
          </a:solidFill>
          <a:ln w="17780">
            <a:solidFill>
              <a:srgbClr val="FFC96B"/>
            </a:solidFill>
            <a:prstDash val="dash"/>
          </a:ln>
        </p:spPr>
      </p:sp>
      <p:pic>
        <p:nvPicPr>
          <p:cNvPr id="11" name="Image 1" descr="C:/Users/neuma_p1qrsic/Repo/agentic-ops1/.scratch/icons/gap.png">    </p:cNvPr>
          <p:cNvPicPr>
            <a:picLocks noChangeAspect="1"/>
          </p:cNvPicPr>
          <p:nvPr/>
        </p:nvPicPr>
        <p:blipFill>
          <a:blip r:embed="rId2"/>
          <a:stretch>
            <a:fillRect/>
          </a:stretch>
        </p:blipFill>
        <p:spPr>
          <a:xfrm>
            <a:off x="5797296" y="2807208"/>
            <a:ext cx="603504" cy="603504"/>
          </a:xfrm>
          <a:prstGeom prst="rect">
            <a:avLst/>
          </a:prstGeom>
        </p:spPr>
      </p:pic>
      <p:sp>
        <p:nvSpPr>
          <p:cNvPr id="12" name="Text 8"/>
          <p:cNvSpPr/>
          <p:nvPr/>
        </p:nvSpPr>
        <p:spPr>
          <a:xfrm>
            <a:off x="4270248" y="3538728"/>
            <a:ext cx="3657600" cy="365760"/>
          </a:xfrm>
          <a:prstGeom prst="rect">
            <a:avLst/>
          </a:prstGeom>
          <a:noFill/>
          <a:ln/>
        </p:spPr>
        <p:txBody>
          <a:bodyPr wrap="square" rtlCol="0" anchor="ctr"/>
          <a:lstStyle/>
          <a:p>
            <a:pPr algn="ctr" indent="0" marL="0">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3904488"/>
            <a:ext cx="3017520" cy="777240"/>
          </a:xfrm>
          <a:prstGeom prst="rect">
            <a:avLst/>
          </a:prstGeom>
          <a:noFill/>
          <a:ln/>
        </p:spPr>
        <p:txBody>
          <a:bodyPr wrap="square" rtlCol="0" anchor="ctr"/>
          <a:lstStyle/>
          <a:p>
            <a:pPr algn="ctr" indent="0" marL="0">
              <a:lnSpc>
                <a:spcPct val="110000"/>
              </a:lnSpc>
              <a:buNone/>
            </a:pPr>
            <a:r>
              <a:rPr lang="en-US" sz="1200" dirty="0">
                <a:solidFill>
                  <a:srgbClr val="F3F6FB"/>
                </a:solidFill>
                <a:latin typeface="Segoe UI" pitchFamily="34" charset="0"/>
                <a:ea typeface="Segoe UI" pitchFamily="34" charset="-122"/>
                <a:cs typeface="Segoe UI" pitchFamily="34" charset="-120"/>
              </a:rPr>
              <a:t>spot checks, gut feel, a spreadsheet tie-out when there is time</a:t>
            </a:r>
            <a:endParaRPr lang="en-US" sz="1200" dirty="0"/>
          </a:p>
        </p:txBody>
      </p:sp>
      <p:sp>
        <p:nvSpPr>
          <p:cNvPr id="14" name="Shape 10"/>
          <p:cNvSpPr/>
          <p:nvPr/>
        </p:nvSpPr>
        <p:spPr>
          <a:xfrm>
            <a:off x="8385048" y="2514600"/>
            <a:ext cx="3239719" cy="2286000"/>
          </a:xfrm>
          <a:prstGeom prst="roundRect">
            <a:avLst>
              <a:gd name="adj" fmla="val 3600"/>
            </a:avLst>
          </a:prstGeom>
          <a:solidFill>
            <a:srgbClr val="141A25"/>
          </a:solidFill>
          <a:ln w="13970">
            <a:solidFill>
              <a:srgbClr val="36414F"/>
            </a:solidFill>
            <a:prstDash val="solid"/>
          </a:ln>
        </p:spPr>
      </p:sp>
      <p:sp>
        <p:nvSpPr>
          <p:cNvPr id="15" name="Shape 11"/>
          <p:cNvSpPr/>
          <p:nvPr/>
        </p:nvSpPr>
        <p:spPr>
          <a:xfrm>
            <a:off x="8659368" y="2834640"/>
            <a:ext cx="603504" cy="603504"/>
          </a:xfrm>
          <a:prstGeom prst="roundRect">
            <a:avLst>
              <a:gd name="adj" fmla="val 16667"/>
            </a:avLst>
          </a:prstGeom>
          <a:solidFill>
            <a:srgbClr val="1B2330"/>
          </a:solidFill>
          <a:ln w="15240">
            <a:solidFill>
              <a:srgbClr val="3BE3E0"/>
            </a:solidFill>
            <a:prstDash val="solid"/>
          </a:ln>
        </p:spPr>
      </p:sp>
      <p:pic>
        <p:nvPicPr>
          <p:cNvPr id="16" name="Image 2" descr="C:/Users/neuma_p1qrsic/Repo/agentic-ops1/.scratch/icons/database.png">    </p:cNvPr>
          <p:cNvPicPr>
            <a:picLocks noChangeAspect="1"/>
          </p:cNvPicPr>
          <p:nvPr/>
        </p:nvPicPr>
        <p:blipFill>
          <a:blip r:embed="rId3"/>
          <a:stretch>
            <a:fillRect/>
          </a:stretch>
        </p:blipFill>
        <p:spPr>
          <a:xfrm>
            <a:off x="8804209" y="2979481"/>
            <a:ext cx="313822" cy="313822"/>
          </a:xfrm>
          <a:prstGeom prst="rect">
            <a:avLst/>
          </a:prstGeom>
        </p:spPr>
      </p:pic>
      <p:sp>
        <p:nvSpPr>
          <p:cNvPr id="17" name="Text 12"/>
          <p:cNvSpPr/>
          <p:nvPr/>
        </p:nvSpPr>
        <p:spPr>
          <a:xfrm>
            <a:off x="8659368" y="3611880"/>
            <a:ext cx="2691079"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The damage</a:t>
            </a:r>
            <a:endParaRPr lang="en-US" sz="1500" dirty="0"/>
          </a:p>
        </p:txBody>
      </p:sp>
      <p:sp>
        <p:nvSpPr>
          <p:cNvPr id="18" name="Text 13"/>
          <p:cNvSpPr/>
          <p:nvPr/>
        </p:nvSpPr>
        <p:spPr>
          <a:xfrm>
            <a:off x="8659368" y="3959352"/>
            <a:ext cx="2691079" cy="731520"/>
          </a:xfrm>
          <a:prstGeom prst="rect">
            <a:avLst/>
          </a:prstGeom>
          <a:noFill/>
          <a:ln/>
        </p:spPr>
        <p:txBody>
          <a:bodyPr wrap="square" rtlCol="0" anchor="ctr"/>
          <a:lstStyle/>
          <a:p>
            <a:pPr indent="0" marL="0">
              <a:lnSpc>
                <a:spcPct val="110000"/>
              </a:lnSpc>
              <a:buNone/>
            </a:pPr>
            <a:r>
              <a:rPr lang="en-US" sz="1200" dirty="0">
                <a:solidFill>
                  <a:srgbClr val="AAB6C7"/>
                </a:solidFill>
                <a:latin typeface="Segoe UI" pitchFamily="34" charset="0"/>
                <a:ea typeface="Segoe UI" pitchFamily="34" charset="-122"/>
                <a:cs typeface="Segoe UI" pitchFamily="34" charset="-120"/>
              </a:rPr>
              <a:t>A wrong rate reprices positions in SAP and surfaces days later in a report.</a:t>
            </a:r>
            <a:endParaRPr lang="en-US" sz="1200" dirty="0"/>
          </a:p>
        </p:txBody>
      </p:sp>
      <p:sp>
        <p:nvSpPr>
          <p:cNvPr id="19" name="Shape 14"/>
          <p:cNvSpPr/>
          <p:nvPr/>
        </p:nvSpPr>
        <p:spPr>
          <a:xfrm>
            <a:off x="3813048" y="3657600"/>
            <a:ext cx="457200" cy="0"/>
          </a:xfrm>
          <a:prstGeom prst="line">
            <a:avLst/>
          </a:prstGeom>
          <a:noFill/>
          <a:ln w="25400">
            <a:solidFill>
              <a:srgbClr val="FFC96B"/>
            </a:solidFill>
            <a:prstDash val="solid"/>
            <a:tailEnd type="triangle"/>
          </a:ln>
        </p:spPr>
      </p:sp>
      <p:sp>
        <p:nvSpPr>
          <p:cNvPr id="20" name="Shape 15"/>
          <p:cNvSpPr/>
          <p:nvPr/>
        </p:nvSpPr>
        <p:spPr>
          <a:xfrm>
            <a:off x="7927848" y="3657600"/>
            <a:ext cx="457200" cy="0"/>
          </a:xfrm>
          <a:prstGeom prst="line">
            <a:avLst/>
          </a:prstGeom>
          <a:noFill/>
          <a:ln w="25400">
            <a:solidFill>
              <a:srgbClr val="FFC96B"/>
            </a:solidFill>
            <a:prstDash val="solid"/>
            <a:tailEnd type="triangle"/>
          </a:ln>
        </p:spPr>
      </p:sp>
      <p:sp>
        <p:nvSpPr>
          <p:cNvPr id="21" name="Text 16"/>
          <p:cNvSpPr/>
          <p:nvPr/>
        </p:nvSpPr>
        <p:spPr>
          <a:xfrm>
            <a:off x="566928" y="5212080"/>
            <a:ext cx="11057839" cy="548640"/>
          </a:xfrm>
          <a:prstGeom prst="rect">
            <a:avLst/>
          </a:prstGeom>
          <a:noFill/>
          <a:ln/>
        </p:spPr>
        <p:txBody>
          <a:bodyPr wrap="square" rtlCol="0" anchor="ctr"/>
          <a:lstStyle/>
          <a:p>
            <a:pPr indent="0" marL="0">
              <a:buNone/>
            </a:pPr>
            <a:r>
              <a:rPr lang="en-US" sz="1600" dirty="0">
                <a:solidFill>
                  <a:srgbClr val="3BE3E0"/>
                </a:solidFill>
                <a:latin typeface="Segoe UI" pitchFamily="34" charset="0"/>
                <a:ea typeface="Segoe UI" pitchFamily="34" charset="-122"/>
                <a:cs typeface="Segoe UI" pitchFamily="34" charset="-120"/>
              </a:rPr>
              <a:t>Checking everything by hand does not scale. Checking nothing is how month-end gets scary.</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Market Data Monitor, a OnePilot use case</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03 / 09</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FIX</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The hub watches every value. It asks when it needs you.</a:t>
            </a:r>
            <a:endParaRPr lang="en-US" sz="2900" dirty="0"/>
          </a:p>
        </p:txBody>
      </p:sp>
      <p:sp>
        <p:nvSpPr>
          <p:cNvPr id="5" name="Shape 3"/>
          <p:cNvSpPr/>
          <p:nvPr/>
        </p:nvSpPr>
        <p:spPr>
          <a:xfrm>
            <a:off x="566928" y="1965960"/>
            <a:ext cx="3472586" cy="2743200"/>
          </a:xfrm>
          <a:prstGeom prst="roundRect">
            <a:avLst>
              <a:gd name="adj" fmla="val 3000"/>
            </a:avLst>
          </a:prstGeom>
          <a:solidFill>
            <a:srgbClr val="141A25"/>
          </a:solidFill>
          <a:ln w="13970">
            <a:solidFill>
              <a:srgbClr val="36414F"/>
            </a:solidFill>
            <a:prstDash val="solid"/>
          </a:ln>
        </p:spPr>
      </p:sp>
      <p:sp>
        <p:nvSpPr>
          <p:cNvPr id="6" name="Shape 4"/>
          <p:cNvSpPr/>
          <p:nvPr/>
        </p:nvSpPr>
        <p:spPr>
          <a:xfrm>
            <a:off x="841248" y="2258568"/>
            <a:ext cx="621792" cy="621792"/>
          </a:xfrm>
          <a:prstGeom prst="roundRect">
            <a:avLst>
              <a:gd name="adj" fmla="val 16176"/>
            </a:avLst>
          </a:prstGeom>
          <a:solidFill>
            <a:srgbClr val="1B2330"/>
          </a:solidFill>
          <a:ln w="15240">
            <a:solidFill>
              <a:srgbClr val="3BE3E0"/>
            </a:solidFill>
            <a:prstDash val="solid"/>
          </a:ln>
        </p:spPr>
      </p:sp>
      <p:pic>
        <p:nvPicPr>
          <p:cNvPr id="7" name="Image 0" descr="C:/Users/neuma_p1qrsic/Repo/agentic-ops1/.scratch/icons/eye.png">    </p:cNvPr>
          <p:cNvPicPr>
            <a:picLocks noChangeAspect="1"/>
          </p:cNvPicPr>
          <p:nvPr/>
        </p:nvPicPr>
        <p:blipFill>
          <a:blip r:embed="rId1"/>
          <a:stretch>
            <a:fillRect/>
          </a:stretch>
        </p:blipFill>
        <p:spPr>
          <a:xfrm>
            <a:off x="990478" y="2407798"/>
            <a:ext cx="323332" cy="323332"/>
          </a:xfrm>
          <a:prstGeom prst="rect">
            <a:avLst/>
          </a:prstGeom>
        </p:spPr>
      </p:pic>
      <p:sp>
        <p:nvSpPr>
          <p:cNvPr id="8" name="Text 5"/>
          <p:cNvSpPr/>
          <p:nvPr/>
        </p:nvSpPr>
        <p:spPr>
          <a:xfrm>
            <a:off x="841248" y="3008376"/>
            <a:ext cx="2923946" cy="457200"/>
          </a:xfrm>
          <a:prstGeom prst="rect">
            <a:avLst/>
          </a:prstGeom>
          <a:noFill/>
          <a:ln/>
        </p:spPr>
        <p:txBody>
          <a:bodyPr wrap="square" rtlCol="0" anchor="ctr"/>
          <a:lstStyle/>
          <a:p>
            <a:pPr indent="0" marL="0">
              <a:buNone/>
            </a:pPr>
            <a:r>
              <a:rPr lang="en-US" sz="1750" b="1" dirty="0">
                <a:solidFill>
                  <a:srgbClr val="F3F6FB"/>
                </a:solidFill>
                <a:latin typeface="Segoe UI Semibold" pitchFamily="34" charset="0"/>
                <a:ea typeface="Segoe UI Semibold" pitchFamily="34" charset="-122"/>
                <a:cs typeface="Segoe UI Semibold" pitchFamily="34" charset="-120"/>
              </a:rPr>
              <a:t>Anomaly checks on arrival</a:t>
            </a:r>
            <a:endParaRPr lang="en-US" sz="1750" dirty="0"/>
          </a:p>
        </p:txBody>
      </p:sp>
      <p:sp>
        <p:nvSpPr>
          <p:cNvPr id="9" name="Text 6"/>
          <p:cNvSpPr/>
          <p:nvPr/>
        </p:nvSpPr>
        <p:spPr>
          <a:xfrm>
            <a:off x="841248" y="3447288"/>
            <a:ext cx="2923946" cy="1097280"/>
          </a:xfrm>
          <a:prstGeom prst="rect">
            <a:avLst/>
          </a:prstGeom>
          <a:noFill/>
          <a:ln/>
        </p:spPr>
        <p:txBody>
          <a:bodyPr wrap="square" rtlCol="0" anchor="t"/>
          <a:lstStyle/>
          <a:p>
            <a:pPr indent="0" marL="0">
              <a:lnSpc>
                <a:spcPct val="116000"/>
              </a:lnSpc>
              <a:buNone/>
            </a:pPr>
            <a:r>
              <a:rPr lang="en-US" sz="1250" dirty="0">
                <a:solidFill>
                  <a:srgbClr val="AAB6C7"/>
                </a:solidFill>
                <a:latin typeface="Segoe UI" pitchFamily="34" charset="0"/>
                <a:ea typeface="Segoe UI" pitchFamily="34" charset="-122"/>
                <a:cs typeface="Segoe UI" pitchFamily="34" charset="-120"/>
              </a:rPr>
              <a:t>Every value is checked as it lands: spikes against history, staleness, completeness, timeliness. Bad data stops here, not in SAP.</a:t>
            </a:r>
            <a:endParaRPr lang="en-US" sz="1250" dirty="0"/>
          </a:p>
        </p:txBody>
      </p:sp>
      <p:sp>
        <p:nvSpPr>
          <p:cNvPr id="10" name="Shape 7"/>
          <p:cNvSpPr/>
          <p:nvPr/>
        </p:nvSpPr>
        <p:spPr>
          <a:xfrm>
            <a:off x="4359554" y="1965960"/>
            <a:ext cx="3472586" cy="2743200"/>
          </a:xfrm>
          <a:prstGeom prst="roundRect">
            <a:avLst>
              <a:gd name="adj" fmla="val 3000"/>
            </a:avLst>
          </a:prstGeom>
          <a:solidFill>
            <a:srgbClr val="141A25"/>
          </a:solidFill>
          <a:ln w="13970">
            <a:solidFill>
              <a:srgbClr val="36414F"/>
            </a:solidFill>
            <a:prstDash val="solid"/>
          </a:ln>
        </p:spPr>
      </p:sp>
      <p:sp>
        <p:nvSpPr>
          <p:cNvPr id="11" name="Shape 8"/>
          <p:cNvSpPr/>
          <p:nvPr/>
        </p:nvSpPr>
        <p:spPr>
          <a:xfrm>
            <a:off x="4633874" y="2258568"/>
            <a:ext cx="621792" cy="621792"/>
          </a:xfrm>
          <a:prstGeom prst="roundRect">
            <a:avLst>
              <a:gd name="adj" fmla="val 16176"/>
            </a:avLst>
          </a:prstGeom>
          <a:solidFill>
            <a:srgbClr val="1B2330"/>
          </a:solidFill>
          <a:ln w="15240">
            <a:solidFill>
              <a:srgbClr val="3BE3E0"/>
            </a:solidFill>
            <a:prstDash val="solid"/>
          </a:ln>
        </p:spPr>
      </p:sp>
      <p:pic>
        <p:nvPicPr>
          <p:cNvPr id="12" name="Image 1" descr="C:/Users/neuma_p1qrsic/Repo/agentic-ops1/.scratch/icons/bell.png">    </p:cNvPr>
          <p:cNvPicPr>
            <a:picLocks noChangeAspect="1"/>
          </p:cNvPicPr>
          <p:nvPr/>
        </p:nvPicPr>
        <p:blipFill>
          <a:blip r:embed="rId2"/>
          <a:stretch>
            <a:fillRect/>
          </a:stretch>
        </p:blipFill>
        <p:spPr>
          <a:xfrm>
            <a:off x="4783104" y="2407798"/>
            <a:ext cx="323332" cy="323332"/>
          </a:xfrm>
          <a:prstGeom prst="rect">
            <a:avLst/>
          </a:prstGeom>
        </p:spPr>
      </p:pic>
      <p:sp>
        <p:nvSpPr>
          <p:cNvPr id="13" name="Text 9"/>
          <p:cNvSpPr/>
          <p:nvPr/>
        </p:nvSpPr>
        <p:spPr>
          <a:xfrm>
            <a:off x="4633874" y="3008376"/>
            <a:ext cx="2923946" cy="457200"/>
          </a:xfrm>
          <a:prstGeom prst="rect">
            <a:avLst/>
          </a:prstGeom>
          <a:noFill/>
          <a:ln/>
        </p:spPr>
        <p:txBody>
          <a:bodyPr wrap="square" rtlCol="0" anchor="ctr"/>
          <a:lstStyle/>
          <a:p>
            <a:pPr indent="0" marL="0">
              <a:buNone/>
            </a:pPr>
            <a:r>
              <a:rPr lang="en-US" sz="1750" b="1" dirty="0">
                <a:solidFill>
                  <a:srgbClr val="F3F6FB"/>
                </a:solidFill>
                <a:latin typeface="Segoe UI Semibold" pitchFamily="34" charset="0"/>
                <a:ea typeface="Segoe UI Semibold" pitchFamily="34" charset="-122"/>
                <a:cs typeface="Segoe UI Semibold" pitchFamily="34" charset="-120"/>
              </a:rPr>
              <a:t>Manage by exception</a:t>
            </a:r>
            <a:endParaRPr lang="en-US" sz="1750" dirty="0"/>
          </a:p>
        </p:txBody>
      </p:sp>
      <p:sp>
        <p:nvSpPr>
          <p:cNvPr id="14" name="Text 10"/>
          <p:cNvSpPr/>
          <p:nvPr/>
        </p:nvSpPr>
        <p:spPr>
          <a:xfrm>
            <a:off x="4633874" y="3447288"/>
            <a:ext cx="2923946" cy="1097280"/>
          </a:xfrm>
          <a:prstGeom prst="rect">
            <a:avLst/>
          </a:prstGeom>
          <a:noFill/>
          <a:ln/>
        </p:spPr>
        <p:txBody>
          <a:bodyPr wrap="square" rtlCol="0" anchor="t"/>
          <a:lstStyle/>
          <a:p>
            <a:pPr indent="0" marL="0">
              <a:lnSpc>
                <a:spcPct val="116000"/>
              </a:lnSpc>
              <a:buNone/>
            </a:pPr>
            <a:r>
              <a:rPr lang="en-US" sz="1250" dirty="0">
                <a:solidFill>
                  <a:srgbClr val="AAB6C7"/>
                </a:solidFill>
                <a:latin typeface="Segoe UI" pitchFamily="34" charset="0"/>
                <a:ea typeface="Segoe UI" pitchFamily="34" charset="-122"/>
                <a:cs typeface="Segoe UI" pitchFamily="34" charset="-120"/>
              </a:rPr>
              <a:t>Flagged values wait in one queue for an approve or reject decision. The rest flows straight through.</a:t>
            </a:r>
            <a:endParaRPr lang="en-US" sz="1250" dirty="0"/>
          </a:p>
        </p:txBody>
      </p:sp>
      <p:sp>
        <p:nvSpPr>
          <p:cNvPr id="15" name="Shape 11"/>
          <p:cNvSpPr/>
          <p:nvPr/>
        </p:nvSpPr>
        <p:spPr>
          <a:xfrm>
            <a:off x="8152181" y="1965960"/>
            <a:ext cx="3472586" cy="2743200"/>
          </a:xfrm>
          <a:prstGeom prst="roundRect">
            <a:avLst>
              <a:gd name="adj" fmla="val 3000"/>
            </a:avLst>
          </a:prstGeom>
          <a:solidFill>
            <a:srgbClr val="141A25"/>
          </a:solidFill>
          <a:ln w="13970">
            <a:solidFill>
              <a:srgbClr val="36414F"/>
            </a:solidFill>
            <a:prstDash val="solid"/>
          </a:ln>
        </p:spPr>
      </p:sp>
      <p:sp>
        <p:nvSpPr>
          <p:cNvPr id="16" name="Shape 12"/>
          <p:cNvSpPr/>
          <p:nvPr/>
        </p:nvSpPr>
        <p:spPr>
          <a:xfrm>
            <a:off x="8426501" y="2258568"/>
            <a:ext cx="621792" cy="621792"/>
          </a:xfrm>
          <a:prstGeom prst="roundRect">
            <a:avLst>
              <a:gd name="adj" fmla="val 16176"/>
            </a:avLst>
          </a:prstGeom>
          <a:solidFill>
            <a:srgbClr val="1B2330"/>
          </a:solidFill>
          <a:ln w="15240">
            <a:solidFill>
              <a:srgbClr val="3BE3E0"/>
            </a:solidFill>
            <a:prstDash val="solid"/>
          </a:ln>
        </p:spPr>
      </p:sp>
      <p:pic>
        <p:nvPicPr>
          <p:cNvPr id="17" name="Image 2" descr="C:/Users/neuma_p1qrsic/Repo/agentic-ops1/.scratch/icons/mail.png">    </p:cNvPr>
          <p:cNvPicPr>
            <a:picLocks noChangeAspect="1"/>
          </p:cNvPicPr>
          <p:nvPr/>
        </p:nvPicPr>
        <p:blipFill>
          <a:blip r:embed="rId3"/>
          <a:stretch>
            <a:fillRect/>
          </a:stretch>
        </p:blipFill>
        <p:spPr>
          <a:xfrm>
            <a:off x="8575731" y="2407798"/>
            <a:ext cx="323332" cy="323332"/>
          </a:xfrm>
          <a:prstGeom prst="rect">
            <a:avLst/>
          </a:prstGeom>
        </p:spPr>
      </p:pic>
      <p:sp>
        <p:nvSpPr>
          <p:cNvPr id="18" name="Text 13"/>
          <p:cNvSpPr/>
          <p:nvPr/>
        </p:nvSpPr>
        <p:spPr>
          <a:xfrm>
            <a:off x="8426501" y="3008376"/>
            <a:ext cx="2923946" cy="457200"/>
          </a:xfrm>
          <a:prstGeom prst="rect">
            <a:avLst/>
          </a:prstGeom>
          <a:noFill/>
          <a:ln/>
        </p:spPr>
        <p:txBody>
          <a:bodyPr wrap="square" rtlCol="0" anchor="ctr"/>
          <a:lstStyle/>
          <a:p>
            <a:pPr indent="0" marL="0">
              <a:buNone/>
            </a:pPr>
            <a:r>
              <a:rPr lang="en-US" sz="1750" b="1" dirty="0">
                <a:solidFill>
                  <a:srgbClr val="F3F6FB"/>
                </a:solidFill>
                <a:latin typeface="Segoe UI Semibold" pitchFamily="34" charset="0"/>
                <a:ea typeface="Segoe UI Semibold" pitchFamily="34" charset="-122"/>
                <a:cs typeface="Segoe UI Semibold" pitchFamily="34" charset="-120"/>
              </a:rPr>
              <a:t>Alerts where you work</a:t>
            </a:r>
            <a:endParaRPr lang="en-US" sz="1750" dirty="0"/>
          </a:p>
        </p:txBody>
      </p:sp>
      <p:sp>
        <p:nvSpPr>
          <p:cNvPr id="19" name="Text 14"/>
          <p:cNvSpPr/>
          <p:nvPr/>
        </p:nvSpPr>
        <p:spPr>
          <a:xfrm>
            <a:off x="8426501" y="3447288"/>
            <a:ext cx="2923946" cy="1097280"/>
          </a:xfrm>
          <a:prstGeom prst="rect">
            <a:avLst/>
          </a:prstGeom>
          <a:noFill/>
          <a:ln/>
        </p:spPr>
        <p:txBody>
          <a:bodyPr wrap="square" rtlCol="0" anchor="t"/>
          <a:lstStyle/>
          <a:p>
            <a:pPr indent="0" marL="0">
              <a:lnSpc>
                <a:spcPct val="116000"/>
              </a:lnSpc>
              <a:buNone/>
            </a:pPr>
            <a:r>
              <a:rPr lang="en-US" sz="1250" dirty="0">
                <a:solidFill>
                  <a:srgbClr val="AAB6C7"/>
                </a:solidFill>
                <a:latin typeface="Segoe UI" pitchFamily="34" charset="0"/>
                <a:ea typeface="Segoe UI" pitchFamily="34" charset="-122"/>
                <a:cs typeface="Segoe UI" pitchFamily="34" charset="-120"/>
              </a:rPr>
              <a:t>Email alerts and the Notifications Center out of the box. Your ticketing system can be wired in during implementation.</a:t>
            </a:r>
            <a:endParaRPr lang="en-US" sz="1250" dirty="0"/>
          </a:p>
        </p:txBody>
      </p:sp>
      <p:sp>
        <p:nvSpPr>
          <p:cNvPr id="20" name="Text 15"/>
          <p:cNvSpPr/>
          <p:nvPr/>
        </p:nvSpPr>
        <p:spPr>
          <a:xfrm>
            <a:off x="566928" y="5074920"/>
            <a:ext cx="1371600" cy="777240"/>
          </a:xfrm>
          <a:prstGeom prst="rect">
            <a:avLst/>
          </a:prstGeom>
          <a:noFill/>
          <a:ln/>
        </p:spPr>
        <p:txBody>
          <a:bodyPr wrap="square" rtlCol="0" anchor="ctr"/>
          <a:lstStyle/>
          <a:p>
            <a:pPr indent="0" marL="0">
              <a:buNone/>
            </a:pPr>
            <a:r>
              <a:rPr lang="en-US" sz="3100" b="1" dirty="0">
                <a:solidFill>
                  <a:srgbClr val="3BE3E0"/>
                </a:solidFill>
                <a:latin typeface="Segoe UI Semibold" pitchFamily="34" charset="0"/>
                <a:ea typeface="Segoe UI Semibold" pitchFamily="34" charset="-122"/>
                <a:cs typeface="Segoe UI Semibold" pitchFamily="34" charset="-120"/>
              </a:rPr>
              <a:t>100%</a:t>
            </a:r>
            <a:endParaRPr lang="en-US" sz="3100" dirty="0"/>
          </a:p>
        </p:txBody>
      </p:sp>
      <p:sp>
        <p:nvSpPr>
          <p:cNvPr id="21" name="Text 16"/>
          <p:cNvSpPr/>
          <p:nvPr/>
        </p:nvSpPr>
        <p:spPr>
          <a:xfrm>
            <a:off x="1984248" y="5074920"/>
            <a:ext cx="2009546" cy="777240"/>
          </a:xfrm>
          <a:prstGeom prst="rect">
            <a:avLst/>
          </a:prstGeom>
          <a:noFill/>
          <a:ln/>
        </p:spPr>
        <p:txBody>
          <a:bodyPr wrap="square" rtlCol="0" anchor="ctr"/>
          <a:lstStyle/>
          <a:p>
            <a:pPr indent="0" marL="0">
              <a:lnSpc>
                <a:spcPct val="105000"/>
              </a:lnSpc>
              <a:buNone/>
            </a:pPr>
            <a:r>
              <a:rPr lang="en-US" sz="1250" dirty="0">
                <a:solidFill>
                  <a:srgbClr val="AAB6C7"/>
                </a:solidFill>
                <a:latin typeface="Segoe UI" pitchFamily="34" charset="0"/>
                <a:ea typeface="Segoe UI" pitchFamily="34" charset="-122"/>
                <a:cs typeface="Segoe UI" pitchFamily="34" charset="-120"/>
              </a:rPr>
              <a:t>of values checked</a:t>
            </a:r>
            <a:endParaRPr lang="en-US" sz="1250" dirty="0"/>
          </a:p>
        </p:txBody>
      </p:sp>
      <p:sp>
        <p:nvSpPr>
          <p:cNvPr id="22" name="Text 17"/>
          <p:cNvSpPr/>
          <p:nvPr/>
        </p:nvSpPr>
        <p:spPr>
          <a:xfrm>
            <a:off x="4359554" y="5074920"/>
            <a:ext cx="1371600" cy="777240"/>
          </a:xfrm>
          <a:prstGeom prst="rect">
            <a:avLst/>
          </a:prstGeom>
          <a:noFill/>
          <a:ln/>
        </p:spPr>
        <p:txBody>
          <a:bodyPr wrap="square" rtlCol="0" anchor="ctr"/>
          <a:lstStyle/>
          <a:p>
            <a:pPr indent="0" marL="0">
              <a:buNone/>
            </a:pPr>
            <a:r>
              <a:rPr lang="en-US" sz="3100" b="1" dirty="0">
                <a:solidFill>
                  <a:srgbClr val="3BE3E0"/>
                </a:solidFill>
                <a:latin typeface="Segoe UI Semibold" pitchFamily="34" charset="0"/>
                <a:ea typeface="Segoe UI Semibold" pitchFamily="34" charset="-122"/>
                <a:cs typeface="Segoe UI Semibold" pitchFamily="34" charset="-120"/>
              </a:rPr>
              <a:t>1</a:t>
            </a:r>
            <a:endParaRPr lang="en-US" sz="3100" dirty="0"/>
          </a:p>
        </p:txBody>
      </p:sp>
      <p:sp>
        <p:nvSpPr>
          <p:cNvPr id="23" name="Text 18"/>
          <p:cNvSpPr/>
          <p:nvPr/>
        </p:nvSpPr>
        <p:spPr>
          <a:xfrm>
            <a:off x="5776874" y="5074920"/>
            <a:ext cx="2009546" cy="777240"/>
          </a:xfrm>
          <a:prstGeom prst="rect">
            <a:avLst/>
          </a:prstGeom>
          <a:noFill/>
          <a:ln/>
        </p:spPr>
        <p:txBody>
          <a:bodyPr wrap="square" rtlCol="0" anchor="ctr"/>
          <a:lstStyle/>
          <a:p>
            <a:pPr indent="0" marL="0">
              <a:lnSpc>
                <a:spcPct val="105000"/>
              </a:lnSpc>
              <a:buNone/>
            </a:pPr>
            <a:r>
              <a:rPr lang="en-US" sz="1250" dirty="0">
                <a:solidFill>
                  <a:srgbClr val="AAB6C7"/>
                </a:solidFill>
                <a:latin typeface="Segoe UI" pitchFamily="34" charset="0"/>
                <a:ea typeface="Segoe UI" pitchFamily="34" charset="-122"/>
                <a:cs typeface="Segoe UI" pitchFamily="34" charset="-120"/>
              </a:rPr>
              <a:t>exception queue</a:t>
            </a:r>
            <a:endParaRPr lang="en-US" sz="1250" dirty="0"/>
          </a:p>
        </p:txBody>
      </p:sp>
      <p:sp>
        <p:nvSpPr>
          <p:cNvPr id="24" name="Text 19"/>
          <p:cNvSpPr/>
          <p:nvPr/>
        </p:nvSpPr>
        <p:spPr>
          <a:xfrm>
            <a:off x="8152181" y="5074920"/>
            <a:ext cx="1371600" cy="777240"/>
          </a:xfrm>
          <a:prstGeom prst="rect">
            <a:avLst/>
          </a:prstGeom>
          <a:noFill/>
          <a:ln/>
        </p:spPr>
        <p:txBody>
          <a:bodyPr wrap="square" rtlCol="0" anchor="ctr"/>
          <a:lstStyle/>
          <a:p>
            <a:pPr indent="0" marL="0">
              <a:buNone/>
            </a:pPr>
            <a:r>
              <a:rPr lang="en-US" sz="3100" b="1" dirty="0">
                <a:solidFill>
                  <a:srgbClr val="3BE3E0"/>
                </a:solidFill>
                <a:latin typeface="Segoe UI Semibold" pitchFamily="34" charset="0"/>
                <a:ea typeface="Segoe UI Semibold" pitchFamily="34" charset="-122"/>
                <a:cs typeface="Segoe UI Semibold" pitchFamily="34" charset="-120"/>
              </a:rPr>
              <a:t>360°</a:t>
            </a:r>
            <a:endParaRPr lang="en-US" sz="3100" dirty="0"/>
          </a:p>
        </p:txBody>
      </p:sp>
      <p:sp>
        <p:nvSpPr>
          <p:cNvPr id="25" name="Text 20"/>
          <p:cNvSpPr/>
          <p:nvPr/>
        </p:nvSpPr>
        <p:spPr>
          <a:xfrm>
            <a:off x="9569501" y="5074920"/>
            <a:ext cx="2009546" cy="777240"/>
          </a:xfrm>
          <a:prstGeom prst="rect">
            <a:avLst/>
          </a:prstGeom>
          <a:noFill/>
          <a:ln/>
        </p:spPr>
        <p:txBody>
          <a:bodyPr wrap="square" rtlCol="0" anchor="ctr"/>
          <a:lstStyle/>
          <a:p>
            <a:pPr indent="0" marL="0">
              <a:lnSpc>
                <a:spcPct val="105000"/>
              </a:lnSpc>
              <a:buNone/>
            </a:pPr>
            <a:r>
              <a:rPr lang="en-US" sz="1250" dirty="0">
                <a:solidFill>
                  <a:srgbClr val="AAB6C7"/>
                </a:solidFill>
                <a:latin typeface="Segoe UI" pitchFamily="34" charset="0"/>
                <a:ea typeface="Segoe UI" pitchFamily="34" charset="-122"/>
                <a:cs typeface="Segoe UI" pitchFamily="34" charset="-120"/>
              </a:rPr>
              <a:t>audit on every decision</a:t>
            </a:r>
            <a:endParaRPr lang="en-US" sz="1250" dirty="0"/>
          </a:p>
        </p:txBody>
      </p:sp>
      <p:sp>
        <p:nvSpPr>
          <p:cNvPr id="26" name="Text 21"/>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Market Data Monitor, a OnePilot use case</a:t>
            </a:r>
            <a:endParaRPr lang="en-US" sz="900" dirty="0"/>
          </a:p>
        </p:txBody>
      </p:sp>
      <p:sp>
        <p:nvSpPr>
          <p:cNvPr id="27" name="Text 22"/>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04 / 09</a:t>
            </a:r>
            <a:endParaRPr lang="en-US" sz="900" dirty="0"/>
          </a:p>
        </p:txBody>
      </p:sp>
      <p:sp>
        <p:nvSpPr>
          <p:cNvPr id="28" name="Shape 23"/>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HOW IT WORKS</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Six steps, from the feed to a value you can trust.</a:t>
            </a:r>
            <a:endParaRPr lang="en-US" sz="2900" dirty="0"/>
          </a:p>
        </p:txBody>
      </p:sp>
      <p:sp>
        <p:nvSpPr>
          <p:cNvPr id="5" name="Shape 3"/>
          <p:cNvSpPr/>
          <p:nvPr/>
        </p:nvSpPr>
        <p:spPr>
          <a:xfrm>
            <a:off x="566928" y="2286000"/>
            <a:ext cx="1522933" cy="1371600"/>
          </a:xfrm>
          <a:prstGeom prst="roundRect">
            <a:avLst>
              <a:gd name="adj" fmla="val 6000"/>
            </a:avLst>
          </a:prstGeom>
          <a:solidFill>
            <a:srgbClr val="141A25"/>
          </a:solidFill>
          <a:ln w="13970">
            <a:solidFill>
              <a:srgbClr val="36414F"/>
            </a:solidFill>
            <a:prstDash val="solid"/>
          </a:ln>
        </p:spPr>
      </p:sp>
      <p:sp>
        <p:nvSpPr>
          <p:cNvPr id="6" name="Text 4"/>
          <p:cNvSpPr/>
          <p:nvPr/>
        </p:nvSpPr>
        <p:spPr>
          <a:xfrm>
            <a:off x="731520"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01</a:t>
            </a:r>
            <a:endParaRPr lang="en-US" sz="1500" dirty="0"/>
          </a:p>
        </p:txBody>
      </p:sp>
      <p:sp>
        <p:nvSpPr>
          <p:cNvPr id="7" name="Text 5"/>
          <p:cNvSpPr/>
          <p:nvPr/>
        </p:nvSpPr>
        <p:spPr>
          <a:xfrm>
            <a:off x="731520"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Load</a:t>
            </a:r>
            <a:endParaRPr lang="en-US" sz="1250" dirty="0"/>
          </a:p>
        </p:txBody>
      </p:sp>
      <p:sp>
        <p:nvSpPr>
          <p:cNvPr id="8" name="Text 6"/>
          <p:cNvSpPr/>
          <p:nvPr/>
        </p:nvSpPr>
        <p:spPr>
          <a:xfrm>
            <a:off x="2034997"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9" name="Shape 7"/>
          <p:cNvSpPr/>
          <p:nvPr/>
        </p:nvSpPr>
        <p:spPr>
          <a:xfrm>
            <a:off x="2473909" y="2286000"/>
            <a:ext cx="1522933" cy="1371600"/>
          </a:xfrm>
          <a:prstGeom prst="roundRect">
            <a:avLst>
              <a:gd name="adj" fmla="val 6000"/>
            </a:avLst>
          </a:prstGeom>
          <a:solidFill>
            <a:srgbClr val="141A25"/>
          </a:solidFill>
          <a:ln w="13970">
            <a:solidFill>
              <a:srgbClr val="36414F"/>
            </a:solidFill>
            <a:prstDash val="solid"/>
          </a:ln>
        </p:spPr>
      </p:sp>
      <p:sp>
        <p:nvSpPr>
          <p:cNvPr id="10" name="Text 8"/>
          <p:cNvSpPr/>
          <p:nvPr/>
        </p:nvSpPr>
        <p:spPr>
          <a:xfrm>
            <a:off x="2638501"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02</a:t>
            </a:r>
            <a:endParaRPr lang="en-US" sz="1500" dirty="0"/>
          </a:p>
        </p:txBody>
      </p:sp>
      <p:sp>
        <p:nvSpPr>
          <p:cNvPr id="11" name="Text 9"/>
          <p:cNvSpPr/>
          <p:nvPr/>
        </p:nvSpPr>
        <p:spPr>
          <a:xfrm>
            <a:off x="2638501"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Check</a:t>
            </a:r>
            <a:endParaRPr lang="en-US" sz="1250" dirty="0"/>
          </a:p>
        </p:txBody>
      </p:sp>
      <p:sp>
        <p:nvSpPr>
          <p:cNvPr id="12" name="Text 10"/>
          <p:cNvSpPr/>
          <p:nvPr/>
        </p:nvSpPr>
        <p:spPr>
          <a:xfrm>
            <a:off x="3941978"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13" name="Shape 11"/>
          <p:cNvSpPr/>
          <p:nvPr/>
        </p:nvSpPr>
        <p:spPr>
          <a:xfrm>
            <a:off x="4380890" y="2286000"/>
            <a:ext cx="1522933" cy="1371600"/>
          </a:xfrm>
          <a:prstGeom prst="roundRect">
            <a:avLst>
              <a:gd name="adj" fmla="val 6000"/>
            </a:avLst>
          </a:prstGeom>
          <a:solidFill>
            <a:srgbClr val="141A25"/>
          </a:solidFill>
          <a:ln w="13970">
            <a:solidFill>
              <a:srgbClr val="36414F"/>
            </a:solidFill>
            <a:prstDash val="solid"/>
          </a:ln>
        </p:spPr>
      </p:sp>
      <p:sp>
        <p:nvSpPr>
          <p:cNvPr id="14" name="Text 12"/>
          <p:cNvSpPr/>
          <p:nvPr/>
        </p:nvSpPr>
        <p:spPr>
          <a:xfrm>
            <a:off x="4545482"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03</a:t>
            </a:r>
            <a:endParaRPr lang="en-US" sz="1500" dirty="0"/>
          </a:p>
        </p:txBody>
      </p:sp>
      <p:sp>
        <p:nvSpPr>
          <p:cNvPr id="15" name="Text 13"/>
          <p:cNvSpPr/>
          <p:nvPr/>
        </p:nvSpPr>
        <p:spPr>
          <a:xfrm>
            <a:off x="4545482"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Flag</a:t>
            </a:r>
            <a:endParaRPr lang="en-US" sz="1250" dirty="0"/>
          </a:p>
        </p:txBody>
      </p:sp>
      <p:sp>
        <p:nvSpPr>
          <p:cNvPr id="16" name="Text 14"/>
          <p:cNvSpPr/>
          <p:nvPr/>
        </p:nvSpPr>
        <p:spPr>
          <a:xfrm>
            <a:off x="5848960"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17" name="Shape 15"/>
          <p:cNvSpPr/>
          <p:nvPr/>
        </p:nvSpPr>
        <p:spPr>
          <a:xfrm>
            <a:off x="6287872" y="2286000"/>
            <a:ext cx="1522933" cy="1371600"/>
          </a:xfrm>
          <a:prstGeom prst="roundRect">
            <a:avLst>
              <a:gd name="adj" fmla="val 6000"/>
            </a:avLst>
          </a:prstGeom>
          <a:solidFill>
            <a:srgbClr val="141A25"/>
          </a:solidFill>
          <a:ln w="13970">
            <a:solidFill>
              <a:srgbClr val="36414F"/>
            </a:solidFill>
            <a:prstDash val="solid"/>
          </a:ln>
        </p:spPr>
      </p:sp>
      <p:sp>
        <p:nvSpPr>
          <p:cNvPr id="18" name="Text 16"/>
          <p:cNvSpPr/>
          <p:nvPr/>
        </p:nvSpPr>
        <p:spPr>
          <a:xfrm>
            <a:off x="6452464"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04</a:t>
            </a:r>
            <a:endParaRPr lang="en-US" sz="1500" dirty="0"/>
          </a:p>
        </p:txBody>
      </p:sp>
      <p:sp>
        <p:nvSpPr>
          <p:cNvPr id="19" name="Text 17"/>
          <p:cNvSpPr/>
          <p:nvPr/>
        </p:nvSpPr>
        <p:spPr>
          <a:xfrm>
            <a:off x="6452464"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Decide</a:t>
            </a:r>
            <a:endParaRPr lang="en-US" sz="1250" dirty="0"/>
          </a:p>
        </p:txBody>
      </p:sp>
      <p:sp>
        <p:nvSpPr>
          <p:cNvPr id="20" name="Text 18"/>
          <p:cNvSpPr/>
          <p:nvPr/>
        </p:nvSpPr>
        <p:spPr>
          <a:xfrm>
            <a:off x="7755941"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21" name="Shape 19"/>
          <p:cNvSpPr/>
          <p:nvPr/>
        </p:nvSpPr>
        <p:spPr>
          <a:xfrm>
            <a:off x="8194853" y="2286000"/>
            <a:ext cx="1522933" cy="1371600"/>
          </a:xfrm>
          <a:prstGeom prst="roundRect">
            <a:avLst>
              <a:gd name="adj" fmla="val 6000"/>
            </a:avLst>
          </a:prstGeom>
          <a:solidFill>
            <a:srgbClr val="141A25"/>
          </a:solidFill>
          <a:ln w="13970">
            <a:solidFill>
              <a:srgbClr val="36414F"/>
            </a:solidFill>
            <a:prstDash val="solid"/>
          </a:ln>
        </p:spPr>
      </p:sp>
      <p:sp>
        <p:nvSpPr>
          <p:cNvPr id="22" name="Text 20"/>
          <p:cNvSpPr/>
          <p:nvPr/>
        </p:nvSpPr>
        <p:spPr>
          <a:xfrm>
            <a:off x="8359445"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05</a:t>
            </a:r>
            <a:endParaRPr lang="en-US" sz="1500" dirty="0"/>
          </a:p>
        </p:txBody>
      </p:sp>
      <p:sp>
        <p:nvSpPr>
          <p:cNvPr id="23" name="Text 21"/>
          <p:cNvSpPr/>
          <p:nvPr/>
        </p:nvSpPr>
        <p:spPr>
          <a:xfrm>
            <a:off x="8359445"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Release</a:t>
            </a:r>
            <a:endParaRPr lang="en-US" sz="1250" dirty="0"/>
          </a:p>
        </p:txBody>
      </p:sp>
      <p:sp>
        <p:nvSpPr>
          <p:cNvPr id="24" name="Text 22"/>
          <p:cNvSpPr/>
          <p:nvPr/>
        </p:nvSpPr>
        <p:spPr>
          <a:xfrm>
            <a:off x="9662922"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25" name="Shape 23"/>
          <p:cNvSpPr/>
          <p:nvPr/>
        </p:nvSpPr>
        <p:spPr>
          <a:xfrm>
            <a:off x="10101834" y="2286000"/>
            <a:ext cx="1522933" cy="1371600"/>
          </a:xfrm>
          <a:prstGeom prst="roundRect">
            <a:avLst>
              <a:gd name="adj" fmla="val 6000"/>
            </a:avLst>
          </a:prstGeom>
          <a:solidFill>
            <a:srgbClr val="141A25"/>
          </a:solidFill>
          <a:ln w="13970">
            <a:solidFill>
              <a:srgbClr val="36414F"/>
            </a:solidFill>
            <a:prstDash val="solid"/>
          </a:ln>
        </p:spPr>
      </p:sp>
      <p:sp>
        <p:nvSpPr>
          <p:cNvPr id="26" name="Text 24"/>
          <p:cNvSpPr/>
          <p:nvPr/>
        </p:nvSpPr>
        <p:spPr>
          <a:xfrm>
            <a:off x="10266426"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06</a:t>
            </a:r>
            <a:endParaRPr lang="en-US" sz="1500" dirty="0"/>
          </a:p>
        </p:txBody>
      </p:sp>
      <p:sp>
        <p:nvSpPr>
          <p:cNvPr id="27" name="Text 25"/>
          <p:cNvSpPr/>
          <p:nvPr/>
        </p:nvSpPr>
        <p:spPr>
          <a:xfrm>
            <a:off x="10266426"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Notify</a:t>
            </a:r>
            <a:endParaRPr lang="en-US" sz="1250" dirty="0"/>
          </a:p>
        </p:txBody>
      </p:sp>
      <p:sp>
        <p:nvSpPr>
          <p:cNvPr id="28" name="Shape 26"/>
          <p:cNvSpPr/>
          <p:nvPr/>
        </p:nvSpPr>
        <p:spPr>
          <a:xfrm>
            <a:off x="566928" y="3977640"/>
            <a:ext cx="3429914" cy="0"/>
          </a:xfrm>
          <a:prstGeom prst="line">
            <a:avLst/>
          </a:prstGeom>
          <a:noFill/>
          <a:ln w="15240">
            <a:solidFill>
              <a:srgbClr val="3BE3E0"/>
            </a:solidFill>
            <a:prstDash val="solid"/>
          </a:ln>
        </p:spPr>
      </p:sp>
      <p:sp>
        <p:nvSpPr>
          <p:cNvPr id="29" name="Text 27"/>
          <p:cNvSpPr/>
          <p:nvPr/>
        </p:nvSpPr>
        <p:spPr>
          <a:xfrm>
            <a:off x="566928" y="4050792"/>
            <a:ext cx="3429914" cy="320040"/>
          </a:xfrm>
          <a:prstGeom prst="rect">
            <a:avLst/>
          </a:prstGeom>
          <a:noFill/>
          <a:ln/>
        </p:spPr>
        <p:txBody>
          <a:bodyPr wrap="square" rtlCol="0" anchor="ctr"/>
          <a:lstStyle/>
          <a:p>
            <a:pPr algn="ct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WATCH</a:t>
            </a:r>
            <a:endParaRPr lang="en-US" sz="1150" dirty="0"/>
          </a:p>
        </p:txBody>
      </p:sp>
      <p:sp>
        <p:nvSpPr>
          <p:cNvPr id="30" name="Shape 28"/>
          <p:cNvSpPr/>
          <p:nvPr/>
        </p:nvSpPr>
        <p:spPr>
          <a:xfrm>
            <a:off x="4380890" y="3977640"/>
            <a:ext cx="3429914" cy="0"/>
          </a:xfrm>
          <a:prstGeom prst="line">
            <a:avLst/>
          </a:prstGeom>
          <a:noFill/>
          <a:ln w="15240">
            <a:solidFill>
              <a:srgbClr val="3BE3E0"/>
            </a:solidFill>
            <a:prstDash val="solid"/>
          </a:ln>
        </p:spPr>
      </p:sp>
      <p:sp>
        <p:nvSpPr>
          <p:cNvPr id="31" name="Text 29"/>
          <p:cNvSpPr/>
          <p:nvPr/>
        </p:nvSpPr>
        <p:spPr>
          <a:xfrm>
            <a:off x="4380890" y="4050792"/>
            <a:ext cx="3429914" cy="320040"/>
          </a:xfrm>
          <a:prstGeom prst="rect">
            <a:avLst/>
          </a:prstGeom>
          <a:noFill/>
          <a:ln/>
        </p:spPr>
        <p:txBody>
          <a:bodyPr wrap="square" rtlCol="0" anchor="ctr"/>
          <a:lstStyle/>
          <a:p>
            <a:pPr algn="ct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DECIDE</a:t>
            </a:r>
            <a:endParaRPr lang="en-US" sz="1150" dirty="0"/>
          </a:p>
        </p:txBody>
      </p:sp>
      <p:sp>
        <p:nvSpPr>
          <p:cNvPr id="32" name="Shape 30"/>
          <p:cNvSpPr/>
          <p:nvPr/>
        </p:nvSpPr>
        <p:spPr>
          <a:xfrm>
            <a:off x="8194853" y="3977640"/>
            <a:ext cx="3429914" cy="0"/>
          </a:xfrm>
          <a:prstGeom prst="line">
            <a:avLst/>
          </a:prstGeom>
          <a:noFill/>
          <a:ln w="15240">
            <a:solidFill>
              <a:srgbClr val="3BE3E0"/>
            </a:solidFill>
            <a:prstDash val="solid"/>
          </a:ln>
        </p:spPr>
      </p:sp>
      <p:sp>
        <p:nvSpPr>
          <p:cNvPr id="33" name="Text 31"/>
          <p:cNvSpPr/>
          <p:nvPr/>
        </p:nvSpPr>
        <p:spPr>
          <a:xfrm>
            <a:off x="8194853" y="4050792"/>
            <a:ext cx="3429914" cy="320040"/>
          </a:xfrm>
          <a:prstGeom prst="rect">
            <a:avLst/>
          </a:prstGeom>
          <a:noFill/>
          <a:ln/>
        </p:spPr>
        <p:txBody>
          <a:bodyPr wrap="square" rtlCol="0" anchor="ctr"/>
          <a:lstStyle/>
          <a:p>
            <a:pPr algn="ct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RELEASE</a:t>
            </a:r>
            <a:endParaRPr lang="en-US" sz="1150" dirty="0"/>
          </a:p>
        </p:txBody>
      </p:sp>
      <p:sp>
        <p:nvSpPr>
          <p:cNvPr id="34" name="Text 32"/>
          <p:cNvSpPr/>
          <p:nvPr/>
        </p:nvSpPr>
        <p:spPr>
          <a:xfrm>
            <a:off x="566928" y="4754880"/>
            <a:ext cx="11057839" cy="548640"/>
          </a:xfrm>
          <a:prstGeom prst="rect">
            <a:avLst/>
          </a:prstGeom>
          <a:noFill/>
          <a:ln/>
        </p:spPr>
        <p:txBody>
          <a:bodyPr wrap="square" rtlCol="0" anchor="ctr"/>
          <a:lstStyle/>
          <a:p>
            <a:pPr indent="0" marL="0">
              <a:lnSpc>
                <a:spcPct val="115000"/>
              </a:lnSpc>
              <a:buNone/>
            </a:pPr>
            <a:r>
              <a:rPr lang="en-US" sz="1550" dirty="0">
                <a:solidFill>
                  <a:srgbClr val="AAB6C7"/>
                </a:solidFill>
                <a:latin typeface="Segoe UI" pitchFamily="34" charset="0"/>
                <a:ea typeface="Segoe UI" pitchFamily="34" charset="-122"/>
                <a:cs typeface="Segoe UI" pitchFamily="34" charset="-120"/>
              </a:rPr>
              <a:t>Runs on the scheduler, per instrument group, timezone and DST aware. Everything is logged.</a:t>
            </a:r>
            <a:endParaRPr lang="en-US" sz="1550" dirty="0"/>
          </a:p>
        </p:txBody>
      </p:sp>
      <p:sp>
        <p:nvSpPr>
          <p:cNvPr id="35" name="Text 33"/>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Market Data Monitor, a OnePilot use case</a:t>
            </a:r>
            <a:endParaRPr lang="en-US" sz="900" dirty="0"/>
          </a:p>
        </p:txBody>
      </p:sp>
      <p:sp>
        <p:nvSpPr>
          <p:cNvPr id="36" name="Text 34"/>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05 / 09</a:t>
            </a:r>
            <a:endParaRPr lang="en-US" sz="900" dirty="0"/>
          </a:p>
        </p:txBody>
      </p:sp>
      <p:sp>
        <p:nvSpPr>
          <p:cNvPr id="37" name="Shape 35"/>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DECISION MOMENT</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You see the exception. The rest just runs.</a:t>
            </a:r>
            <a:endParaRPr lang="en-US" sz="2900" dirty="0"/>
          </a:p>
        </p:txBody>
      </p:sp>
      <p:sp>
        <p:nvSpPr>
          <p:cNvPr id="5" name="Shape 3"/>
          <p:cNvSpPr/>
          <p:nvPr/>
        </p:nvSpPr>
        <p:spPr>
          <a:xfrm>
            <a:off x="566928" y="2103120"/>
            <a:ext cx="5323180" cy="3108960"/>
          </a:xfrm>
          <a:prstGeom prst="roundRect">
            <a:avLst>
              <a:gd name="adj" fmla="val 2647"/>
            </a:avLst>
          </a:prstGeom>
          <a:solidFill>
            <a:srgbClr val="141A25"/>
          </a:solidFill>
          <a:ln w="13970">
            <a:solidFill>
              <a:srgbClr val="36414F"/>
            </a:solidFill>
            <a:prstDash val="solid"/>
          </a:ln>
        </p:spPr>
      </p:sp>
      <p:sp>
        <p:nvSpPr>
          <p:cNvPr id="6" name="Text 4"/>
          <p:cNvSpPr/>
          <p:nvPr/>
        </p:nvSpPr>
        <p:spPr>
          <a:xfrm>
            <a:off x="886968" y="2395728"/>
            <a:ext cx="4683100" cy="320040"/>
          </a:xfrm>
          <a:prstGeom prst="rect">
            <a:avLst/>
          </a:prstGeom>
          <a:noFill/>
          <a:ln/>
        </p:spPr>
        <p:txBody>
          <a:bodyPr wrap="square" rtlCol="0" anchor="ctr"/>
          <a:lstStyle/>
          <a:p>
            <a:pP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STEP 04 · DECIDE</a:t>
            </a:r>
            <a:endParaRPr lang="en-US" sz="1150" dirty="0"/>
          </a:p>
        </p:txBody>
      </p:sp>
      <p:sp>
        <p:nvSpPr>
          <p:cNvPr id="7" name="Text 5"/>
          <p:cNvSpPr/>
          <p:nvPr/>
        </p:nvSpPr>
        <p:spPr>
          <a:xfrm>
            <a:off x="886968" y="2788920"/>
            <a:ext cx="4683100" cy="685800"/>
          </a:xfrm>
          <a:prstGeom prst="rect">
            <a:avLst/>
          </a:prstGeom>
          <a:noFill/>
          <a:ln/>
        </p:spPr>
        <p:txBody>
          <a:bodyPr wrap="square" rtlCol="0" anchor="ctr"/>
          <a:lstStyle/>
          <a:p>
            <a:pPr indent="0" marL="0">
              <a:lnSpc>
                <a:spcPct val="102000"/>
              </a:lnSpc>
              <a:buNone/>
            </a:pPr>
            <a:r>
              <a:rPr lang="en-US" sz="1900" b="1" dirty="0">
                <a:solidFill>
                  <a:srgbClr val="F3F6FB"/>
                </a:solidFill>
                <a:latin typeface="Segoe UI Semibold" pitchFamily="34" charset="0"/>
                <a:ea typeface="Segoe UI Semibold" pitchFamily="34" charset="-122"/>
                <a:cs typeface="Segoe UI Semibold" pitchFamily="34" charset="-120"/>
              </a:rPr>
              <a:t>The odd value, in context</a:t>
            </a:r>
            <a:endParaRPr lang="en-US" sz="1900" dirty="0"/>
          </a:p>
        </p:txBody>
      </p:sp>
      <p:sp>
        <p:nvSpPr>
          <p:cNvPr id="8" name="Text 6"/>
          <p:cNvSpPr/>
          <p:nvPr/>
        </p:nvSpPr>
        <p:spPr>
          <a:xfrm>
            <a:off x="886968" y="3566160"/>
            <a:ext cx="4683100" cy="1371600"/>
          </a:xfrm>
          <a:prstGeom prst="rect">
            <a:avLst/>
          </a:prstGeom>
          <a:noFill/>
          <a:ln/>
        </p:spPr>
        <p:txBody>
          <a:bodyPr wrap="square" rtlCol="0" anchor="t"/>
          <a:lstStyle/>
          <a:p>
            <a:pPr indent="0" marL="0">
              <a:lnSpc>
                <a:spcPct val="125000"/>
              </a:lnSpc>
              <a:buNone/>
            </a:pPr>
            <a:r>
              <a:rPr lang="en-US" sz="1350" dirty="0">
                <a:solidFill>
                  <a:srgbClr val="AAB6C7"/>
                </a:solidFill>
                <a:latin typeface="Segoe UI" pitchFamily="34" charset="0"/>
                <a:ea typeface="Segoe UI" pitchFamily="34" charset="-122"/>
                <a:cs typeface="Segoe UI" pitchFamily="34" charset="-120"/>
              </a:rPr>
              <a:t>The analyst opens the flagged value and sees the new value, the history it broke from and the source it came from, in one screen. Approve releases it. Reject stops it. Rejected values never reach SAP.</a:t>
            </a:r>
            <a:endParaRPr lang="en-US" sz="1350" dirty="0"/>
          </a:p>
        </p:txBody>
      </p:sp>
      <p:sp>
        <p:nvSpPr>
          <p:cNvPr id="9" name="Shape 7"/>
          <p:cNvSpPr/>
          <p:nvPr/>
        </p:nvSpPr>
        <p:spPr>
          <a:xfrm>
            <a:off x="6301588" y="2103120"/>
            <a:ext cx="5323180" cy="3108960"/>
          </a:xfrm>
          <a:prstGeom prst="roundRect">
            <a:avLst>
              <a:gd name="adj" fmla="val 2647"/>
            </a:avLst>
          </a:prstGeom>
          <a:solidFill>
            <a:srgbClr val="141A25"/>
          </a:solidFill>
          <a:ln w="13970">
            <a:solidFill>
              <a:srgbClr val="36414F"/>
            </a:solidFill>
            <a:prstDash val="solid"/>
          </a:ln>
        </p:spPr>
      </p:sp>
      <p:sp>
        <p:nvSpPr>
          <p:cNvPr id="10" name="Text 8"/>
          <p:cNvSpPr/>
          <p:nvPr/>
        </p:nvSpPr>
        <p:spPr>
          <a:xfrm>
            <a:off x="6621628" y="2395728"/>
            <a:ext cx="4683100" cy="320040"/>
          </a:xfrm>
          <a:prstGeom prst="rect">
            <a:avLst/>
          </a:prstGeom>
          <a:noFill/>
          <a:ln/>
        </p:spPr>
        <p:txBody>
          <a:bodyPr wrap="square" rtlCol="0" anchor="ctr"/>
          <a:lstStyle/>
          <a:p>
            <a:pP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STEP 05-06 · RELEASE &amp; NOTIFY</a:t>
            </a:r>
            <a:endParaRPr lang="en-US" sz="1150" dirty="0"/>
          </a:p>
        </p:txBody>
      </p:sp>
      <p:sp>
        <p:nvSpPr>
          <p:cNvPr id="11" name="Text 9"/>
          <p:cNvSpPr/>
          <p:nvPr/>
        </p:nvSpPr>
        <p:spPr>
          <a:xfrm>
            <a:off x="6621628" y="2788920"/>
            <a:ext cx="4683100" cy="685800"/>
          </a:xfrm>
          <a:prstGeom prst="rect">
            <a:avLst/>
          </a:prstGeom>
          <a:noFill/>
          <a:ln/>
        </p:spPr>
        <p:txBody>
          <a:bodyPr wrap="square" rtlCol="0" anchor="ctr"/>
          <a:lstStyle/>
          <a:p>
            <a:pPr indent="0" marL="0">
              <a:lnSpc>
                <a:spcPct val="102000"/>
              </a:lnSpc>
              <a:buNone/>
            </a:pPr>
            <a:r>
              <a:rPr lang="en-US" sz="1900" b="1" dirty="0">
                <a:solidFill>
                  <a:srgbClr val="F3F6FB"/>
                </a:solidFill>
                <a:latin typeface="Segoe UI Semibold" pitchFamily="34" charset="0"/>
                <a:ea typeface="Segoe UI Semibold" pitchFamily="34" charset="-122"/>
                <a:cs typeface="Segoe UI Semibold" pitchFamily="34" charset="-120"/>
              </a:rPr>
              <a:t>Clean data moves, people hear about it</a:t>
            </a:r>
            <a:endParaRPr lang="en-US" sz="1900" dirty="0"/>
          </a:p>
        </p:txBody>
      </p:sp>
      <p:sp>
        <p:nvSpPr>
          <p:cNvPr id="12" name="Text 10"/>
          <p:cNvSpPr/>
          <p:nvPr/>
        </p:nvSpPr>
        <p:spPr>
          <a:xfrm>
            <a:off x="6621628" y="3566160"/>
            <a:ext cx="4683100" cy="1371600"/>
          </a:xfrm>
          <a:prstGeom prst="rect">
            <a:avLst/>
          </a:prstGeom>
          <a:noFill/>
          <a:ln/>
        </p:spPr>
        <p:txBody>
          <a:bodyPr wrap="square" rtlCol="0" anchor="t"/>
          <a:lstStyle/>
          <a:p>
            <a:pPr indent="0" marL="0">
              <a:lnSpc>
                <a:spcPct val="125000"/>
              </a:lnSpc>
              <a:buNone/>
            </a:pPr>
            <a:r>
              <a:rPr lang="en-US" sz="1350" dirty="0">
                <a:solidFill>
                  <a:srgbClr val="AAB6C7"/>
                </a:solidFill>
                <a:latin typeface="Segoe UI" pitchFamily="34" charset="0"/>
                <a:ea typeface="Segoe UI" pitchFamily="34" charset="-122"/>
                <a:cs typeface="Segoe UI" pitchFamily="34" charset="-120"/>
              </a:rPr>
              <a:t>Approved data distributes to SAP and every downstream system. The decision, the reason and the timing go on the audit trail, and the right people are notified automatically.</a:t>
            </a:r>
            <a:endParaRPr lang="en-US" sz="1350" dirty="0"/>
          </a:p>
        </p:txBody>
      </p:sp>
      <p:sp>
        <p:nvSpPr>
          <p:cNvPr id="13" name="Text 11"/>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Market Data Monitor, a OnePilot use case</a:t>
            </a:r>
            <a:endParaRPr lang="en-US" sz="900" dirty="0"/>
          </a:p>
        </p:txBody>
      </p:sp>
      <p:sp>
        <p:nvSpPr>
          <p:cNvPr id="14" name="Text 12"/>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06 / 09</a:t>
            </a:r>
            <a:endParaRPr lang="en-US" sz="900" dirty="0"/>
          </a:p>
        </p:txBody>
      </p:sp>
      <p:sp>
        <p:nvSpPr>
          <p:cNvPr id="15" name="Shape 13"/>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WHY IT IS SAFE TO AUTOMATE</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48840"/>
            <a:ext cx="5346040" cy="1133856"/>
          </a:xfrm>
          <a:prstGeom prst="roundRect">
            <a:avLst>
              <a:gd name="adj" fmla="val 6452"/>
            </a:avLst>
          </a:prstGeom>
          <a:solidFill>
            <a:srgbClr val="141A25"/>
          </a:solidFill>
          <a:ln w="13970">
            <a:solidFill>
              <a:srgbClr val="36414F"/>
            </a:solidFill>
            <a:prstDash val="solid"/>
          </a:ln>
        </p:spPr>
      </p:sp>
      <p:sp>
        <p:nvSpPr>
          <p:cNvPr id="6" name="Shape 4"/>
          <p:cNvSpPr/>
          <p:nvPr/>
        </p:nvSpPr>
        <p:spPr>
          <a:xfrm>
            <a:off x="822960" y="2450592"/>
            <a:ext cx="566928" cy="566928"/>
          </a:xfrm>
          <a:prstGeom prst="roundRect">
            <a:avLst>
              <a:gd name="adj" fmla="val 17742"/>
            </a:avLst>
          </a:prstGeom>
          <a:solidFill>
            <a:srgbClr val="1B2330"/>
          </a:solidFill>
          <a:ln w="15240">
            <a:solidFill>
              <a:srgbClr val="3BE3E0"/>
            </a:solidFill>
            <a:prstDash val="solid"/>
          </a:ln>
        </p:spPr>
      </p:sp>
      <p:pic>
        <p:nvPicPr>
          <p:cNvPr id="7" name="Image 0" descr="C:/Users/neuma_p1qrsic/Repo/agentic-ops1/.scratch/icons/list.png">    </p:cNvPr>
          <p:cNvPicPr>
            <a:picLocks noChangeAspect="1"/>
          </p:cNvPicPr>
          <p:nvPr/>
        </p:nvPicPr>
        <p:blipFill>
          <a:blip r:embed="rId1"/>
          <a:stretch>
            <a:fillRect/>
          </a:stretch>
        </p:blipFill>
        <p:spPr>
          <a:xfrm>
            <a:off x="959023" y="2586655"/>
            <a:ext cx="294803" cy="294803"/>
          </a:xfrm>
          <a:prstGeom prst="rect">
            <a:avLst/>
          </a:prstGeom>
        </p:spPr>
      </p:pic>
      <p:sp>
        <p:nvSpPr>
          <p:cNvPr id="8" name="Text 5"/>
          <p:cNvSpPr/>
          <p:nvPr/>
        </p:nvSpPr>
        <p:spPr>
          <a:xfrm>
            <a:off x="1572768" y="236829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5234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Every value and every change is recorded, end to end.</a:t>
            </a:r>
            <a:endParaRPr lang="en-US" sz="1250" dirty="0"/>
          </a:p>
        </p:txBody>
      </p:sp>
      <p:sp>
        <p:nvSpPr>
          <p:cNvPr id="10" name="Shape 7"/>
          <p:cNvSpPr/>
          <p:nvPr/>
        </p:nvSpPr>
        <p:spPr>
          <a:xfrm>
            <a:off x="6278728" y="2148840"/>
            <a:ext cx="5346040" cy="1133856"/>
          </a:xfrm>
          <a:prstGeom prst="roundRect">
            <a:avLst>
              <a:gd name="adj" fmla="val 6452"/>
            </a:avLst>
          </a:prstGeom>
          <a:solidFill>
            <a:srgbClr val="141A25"/>
          </a:solidFill>
          <a:ln w="13970">
            <a:solidFill>
              <a:srgbClr val="36414F"/>
            </a:solidFill>
            <a:prstDash val="solid"/>
          </a:ln>
        </p:spPr>
      </p:sp>
      <p:sp>
        <p:nvSpPr>
          <p:cNvPr id="11" name="Shape 8"/>
          <p:cNvSpPr/>
          <p:nvPr/>
        </p:nvSpPr>
        <p:spPr>
          <a:xfrm>
            <a:off x="6534760" y="2450592"/>
            <a:ext cx="566928" cy="566928"/>
          </a:xfrm>
          <a:prstGeom prst="roundRect">
            <a:avLst>
              <a:gd name="adj" fmla="val 17742"/>
            </a:avLst>
          </a:prstGeom>
          <a:solidFill>
            <a:srgbClr val="1B2330"/>
          </a:solidFill>
          <a:ln w="15240">
            <a:solidFill>
              <a:srgbClr val="3BE3E0"/>
            </a:solidFill>
            <a:prstDash val="solid"/>
          </a:ln>
        </p:spPr>
      </p:sp>
      <p:pic>
        <p:nvPicPr>
          <p:cNvPr id="12" name="Image 1" descr="C:/Users/neuma_p1qrsic/Repo/agentic-ops1/.scratch/icons/shield.png">    </p:cNvPr>
          <p:cNvPicPr>
            <a:picLocks noChangeAspect="1"/>
          </p:cNvPicPr>
          <p:nvPr/>
        </p:nvPicPr>
        <p:blipFill>
          <a:blip r:embed="rId2"/>
          <a:stretch>
            <a:fillRect/>
          </a:stretch>
        </p:blipFill>
        <p:spPr>
          <a:xfrm>
            <a:off x="6670822" y="2586655"/>
            <a:ext cx="294803" cy="294803"/>
          </a:xfrm>
          <a:prstGeom prst="rect">
            <a:avLst/>
          </a:prstGeom>
        </p:spPr>
      </p:pic>
      <p:sp>
        <p:nvSpPr>
          <p:cNvPr id="13" name="Text 9"/>
          <p:cNvSpPr/>
          <p:nvPr/>
        </p:nvSpPr>
        <p:spPr>
          <a:xfrm>
            <a:off x="7284568" y="236829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Segregation of duty</a:t>
            </a:r>
            <a:endParaRPr lang="en-US" sz="1650" dirty="0"/>
          </a:p>
        </p:txBody>
      </p:sp>
      <p:sp>
        <p:nvSpPr>
          <p:cNvPr id="14" name="Text 10"/>
          <p:cNvSpPr/>
          <p:nvPr/>
        </p:nvSpPr>
        <p:spPr>
          <a:xfrm>
            <a:off x="7284568" y="275234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changes that matter need a second person.</a:t>
            </a:r>
            <a:endParaRPr lang="en-US" sz="1250" dirty="0"/>
          </a:p>
        </p:txBody>
      </p:sp>
      <p:sp>
        <p:nvSpPr>
          <p:cNvPr id="15" name="Shape 11"/>
          <p:cNvSpPr/>
          <p:nvPr/>
        </p:nvSpPr>
        <p:spPr>
          <a:xfrm>
            <a:off x="566928" y="3429000"/>
            <a:ext cx="5346040" cy="1133856"/>
          </a:xfrm>
          <a:prstGeom prst="roundRect">
            <a:avLst>
              <a:gd name="adj" fmla="val 6452"/>
            </a:avLst>
          </a:prstGeom>
          <a:solidFill>
            <a:srgbClr val="141A25"/>
          </a:solidFill>
          <a:ln w="13970">
            <a:solidFill>
              <a:srgbClr val="36414F"/>
            </a:solidFill>
            <a:prstDash val="solid"/>
          </a:ln>
        </p:spPr>
      </p:sp>
      <p:sp>
        <p:nvSpPr>
          <p:cNvPr id="16" name="Shape 12"/>
          <p:cNvSpPr/>
          <p:nvPr/>
        </p:nvSpPr>
        <p:spPr>
          <a:xfrm>
            <a:off x="822960" y="3730752"/>
            <a:ext cx="566928" cy="566928"/>
          </a:xfrm>
          <a:prstGeom prst="roundRect">
            <a:avLst>
              <a:gd name="adj" fmla="val 17742"/>
            </a:avLst>
          </a:prstGeom>
          <a:solidFill>
            <a:srgbClr val="1B2330"/>
          </a:solidFill>
          <a:ln w="15240">
            <a:solidFill>
              <a:srgbClr val="3BE3E0"/>
            </a:solidFill>
            <a:prstDash val="solid"/>
          </a:ln>
        </p:spPr>
      </p:sp>
      <p:pic>
        <p:nvPicPr>
          <p:cNvPr id="17" name="Image 2" descr="C:/Users/neuma_p1qrsic/Repo/agentic-ops1/.scratch/icons/eye.png">    </p:cNvPr>
          <p:cNvPicPr>
            <a:picLocks noChangeAspect="1"/>
          </p:cNvPicPr>
          <p:nvPr/>
        </p:nvPicPr>
        <p:blipFill>
          <a:blip r:embed="rId3"/>
          <a:stretch>
            <a:fillRect/>
          </a:stretch>
        </p:blipFill>
        <p:spPr>
          <a:xfrm>
            <a:off x="959023" y="3866815"/>
            <a:ext cx="294803" cy="294803"/>
          </a:xfrm>
          <a:prstGeom prst="rect">
            <a:avLst/>
          </a:prstGeom>
        </p:spPr>
      </p:pic>
      <p:sp>
        <p:nvSpPr>
          <p:cNvPr id="18" name="Text 13"/>
          <p:cNvSpPr/>
          <p:nvPr/>
        </p:nvSpPr>
        <p:spPr>
          <a:xfrm>
            <a:off x="1572768" y="364845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03250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429000"/>
            <a:ext cx="5346040" cy="1133856"/>
          </a:xfrm>
          <a:prstGeom prst="roundRect">
            <a:avLst>
              <a:gd name="adj" fmla="val 6452"/>
            </a:avLst>
          </a:prstGeom>
          <a:solidFill>
            <a:srgbClr val="141A25"/>
          </a:solidFill>
          <a:ln w="13970">
            <a:solidFill>
              <a:srgbClr val="36414F"/>
            </a:solidFill>
            <a:prstDash val="solid"/>
          </a:ln>
        </p:spPr>
      </p:sp>
      <p:sp>
        <p:nvSpPr>
          <p:cNvPr id="21" name="Shape 16"/>
          <p:cNvSpPr/>
          <p:nvPr/>
        </p:nvSpPr>
        <p:spPr>
          <a:xfrm>
            <a:off x="6534760" y="3730752"/>
            <a:ext cx="566928" cy="566928"/>
          </a:xfrm>
          <a:prstGeom prst="roundRect">
            <a:avLst>
              <a:gd name="adj" fmla="val 17742"/>
            </a:avLst>
          </a:prstGeom>
          <a:solidFill>
            <a:srgbClr val="1B2330"/>
          </a:solidFill>
          <a:ln w="15240">
            <a:solidFill>
              <a:srgbClr val="3BE3E0"/>
            </a:solidFill>
            <a:prstDash val="solid"/>
          </a:ln>
        </p:spPr>
      </p:sp>
      <p:pic>
        <p:nvPicPr>
          <p:cNvPr id="22" name="Image 3" descr="C:/Users/neuma_p1qrsic/Repo/agentic-ops1/.scratch/icons/bell.png">    </p:cNvPr>
          <p:cNvPicPr>
            <a:picLocks noChangeAspect="1"/>
          </p:cNvPicPr>
          <p:nvPr/>
        </p:nvPicPr>
        <p:blipFill>
          <a:blip r:embed="rId4"/>
          <a:stretch>
            <a:fillRect/>
          </a:stretch>
        </p:blipFill>
        <p:spPr>
          <a:xfrm>
            <a:off x="6670822" y="3866815"/>
            <a:ext cx="294803" cy="294803"/>
          </a:xfrm>
          <a:prstGeom prst="rect">
            <a:avLst/>
          </a:prstGeom>
        </p:spPr>
      </p:pic>
      <p:sp>
        <p:nvSpPr>
          <p:cNvPr id="23" name="Text 17"/>
          <p:cNvSpPr/>
          <p:nvPr/>
        </p:nvSpPr>
        <p:spPr>
          <a:xfrm>
            <a:off x="7284568" y="364845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Alerts on exceptions</a:t>
            </a:r>
            <a:endParaRPr lang="en-US" sz="1650" dirty="0"/>
          </a:p>
        </p:txBody>
      </p:sp>
      <p:sp>
        <p:nvSpPr>
          <p:cNvPr id="24" name="Text 18"/>
          <p:cNvSpPr/>
          <p:nvPr/>
        </p:nvSpPr>
        <p:spPr>
          <a:xfrm>
            <a:off x="7284568" y="403250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709160"/>
            <a:ext cx="5346040" cy="1133856"/>
          </a:xfrm>
          <a:prstGeom prst="roundRect">
            <a:avLst>
              <a:gd name="adj" fmla="val 6452"/>
            </a:avLst>
          </a:prstGeom>
          <a:solidFill>
            <a:srgbClr val="141A25"/>
          </a:solidFill>
          <a:ln w="13970">
            <a:solidFill>
              <a:srgbClr val="36414F"/>
            </a:solidFill>
            <a:prstDash val="solid"/>
          </a:ln>
        </p:spPr>
      </p:sp>
      <p:sp>
        <p:nvSpPr>
          <p:cNvPr id="26" name="Shape 20"/>
          <p:cNvSpPr/>
          <p:nvPr/>
        </p:nvSpPr>
        <p:spPr>
          <a:xfrm>
            <a:off x="822960" y="5010912"/>
            <a:ext cx="566928" cy="566928"/>
          </a:xfrm>
          <a:prstGeom prst="roundRect">
            <a:avLst>
              <a:gd name="adj" fmla="val 17742"/>
            </a:avLst>
          </a:prstGeom>
          <a:solidFill>
            <a:srgbClr val="1B2330"/>
          </a:solidFill>
          <a:ln w="15240">
            <a:solidFill>
              <a:srgbClr val="3BE3E0"/>
            </a:solidFill>
            <a:prstDash val="solid"/>
          </a:ln>
        </p:spPr>
      </p:sp>
      <p:pic>
        <p:nvPicPr>
          <p:cNvPr id="27" name="Image 4" descr="C:/Users/neuma_p1qrsic/Repo/agentic-ops1/.scratch/icons/blocks.png">    </p:cNvPr>
          <p:cNvPicPr>
            <a:picLocks noChangeAspect="1"/>
          </p:cNvPicPr>
          <p:nvPr/>
        </p:nvPicPr>
        <p:blipFill>
          <a:blip r:embed="rId5"/>
          <a:stretch>
            <a:fillRect/>
          </a:stretch>
        </p:blipFill>
        <p:spPr>
          <a:xfrm>
            <a:off x="959023" y="5146975"/>
            <a:ext cx="294803" cy="294803"/>
          </a:xfrm>
          <a:prstGeom prst="rect">
            <a:avLst/>
          </a:prstGeom>
        </p:spPr>
      </p:pic>
      <p:sp>
        <p:nvSpPr>
          <p:cNvPr id="28" name="Text 21"/>
          <p:cNvSpPr/>
          <p:nvPr/>
        </p:nvSpPr>
        <p:spPr>
          <a:xfrm>
            <a:off x="1572768" y="49286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3126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709160"/>
            <a:ext cx="5346040" cy="1133856"/>
          </a:xfrm>
          <a:prstGeom prst="roundRect">
            <a:avLst>
              <a:gd name="adj" fmla="val 6452"/>
            </a:avLst>
          </a:prstGeom>
          <a:solidFill>
            <a:srgbClr val="141A25"/>
          </a:solidFill>
          <a:ln w="13970">
            <a:solidFill>
              <a:srgbClr val="36414F"/>
            </a:solidFill>
            <a:prstDash val="solid"/>
          </a:ln>
        </p:spPr>
      </p:sp>
      <p:sp>
        <p:nvSpPr>
          <p:cNvPr id="31" name="Shape 24"/>
          <p:cNvSpPr/>
          <p:nvPr/>
        </p:nvSpPr>
        <p:spPr>
          <a:xfrm>
            <a:off x="6534760" y="5010912"/>
            <a:ext cx="566928" cy="566928"/>
          </a:xfrm>
          <a:prstGeom prst="roundRect">
            <a:avLst>
              <a:gd name="adj" fmla="val 17742"/>
            </a:avLst>
          </a:prstGeom>
          <a:solidFill>
            <a:srgbClr val="1B2330"/>
          </a:solidFill>
          <a:ln w="15240">
            <a:solidFill>
              <a:srgbClr val="3BE3E0"/>
            </a:solidFill>
            <a:prstDash val="solid"/>
          </a:ln>
        </p:spPr>
      </p:sp>
      <p:pic>
        <p:nvPicPr>
          <p:cNvPr id="32" name="Image 5" descr="C:/Users/neuma_p1qrsic/Repo/agentic-ops1/.scratch/icons/lock.png">    </p:cNvPr>
          <p:cNvPicPr>
            <a:picLocks noChangeAspect="1"/>
          </p:cNvPicPr>
          <p:nvPr/>
        </p:nvPicPr>
        <p:blipFill>
          <a:blip r:embed="rId6"/>
          <a:stretch>
            <a:fillRect/>
          </a:stretch>
        </p:blipFill>
        <p:spPr>
          <a:xfrm>
            <a:off x="6670822" y="5146975"/>
            <a:ext cx="294803" cy="294803"/>
          </a:xfrm>
          <a:prstGeom prst="rect">
            <a:avLst/>
          </a:prstGeom>
        </p:spPr>
      </p:pic>
      <p:sp>
        <p:nvSpPr>
          <p:cNvPr id="33" name="Text 25"/>
          <p:cNvSpPr/>
          <p:nvPr/>
        </p:nvSpPr>
        <p:spPr>
          <a:xfrm>
            <a:off x="7284568" y="49286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3126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Market Data Monitor, a OnePilot use case</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07 / 09</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1B"/>
        </a:solidFill>
      </p:bgPr>
    </p:bg>
    <p:spTree>
      <p:nvGrpSpPr>
        <p:cNvPr id="1" name=""/>
        <p:cNvGrpSpPr/>
        <p:nvPr/>
      </p:nvGrpSpPr>
      <p:grpSpPr>
        <a:xfrm>
          <a:off x="0" y="0"/>
          <a:ext cx="0" cy="0"/>
          <a:chOff x="0" y="0"/>
          <a:chExt cx="0" cy="0"/>
        </a:xfrm>
      </p:grpSpPr>
      <p:pic>
        <p:nvPicPr>
          <p:cNvPr id="2" name="Image 0" descr="C:/Users/neuma_p1qrsic/Repo/agentic-ops1/.scratch/logo/favicon.png">    </p:cNvPr>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PROVEN, AND WHAT IT RUNS ON</a:t>
            </a:r>
            <a:endParaRPr lang="en-US" sz="1200" dirty="0"/>
          </a:p>
        </p:txBody>
      </p:sp>
      <p:sp>
        <p:nvSpPr>
          <p:cNvPr id="5" name="Text 2"/>
          <p:cNvSpPr/>
          <p:nvPr/>
        </p:nvSpPr>
        <p:spPr>
          <a:xfrm>
            <a:off x="566928" y="960120"/>
            <a:ext cx="1088136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The governance layer of Market Data Hub.</a:t>
            </a:r>
            <a:endParaRPr lang="en-US" sz="2800" dirty="0"/>
          </a:p>
        </p:txBody>
      </p:sp>
      <p:sp>
        <p:nvSpPr>
          <p:cNvPr id="6" name="Shape 3"/>
          <p:cNvSpPr/>
          <p:nvPr/>
        </p:nvSpPr>
        <p:spPr>
          <a:xfrm>
            <a:off x="566928" y="1874520"/>
            <a:ext cx="11057839" cy="1051560"/>
          </a:xfrm>
          <a:prstGeom prst="roundRect">
            <a:avLst>
              <a:gd name="adj" fmla="val 7826"/>
            </a:avLst>
          </a:prstGeom>
          <a:solidFill>
            <a:srgbClr val="141A25"/>
          </a:solidFill>
          <a:ln w="13970">
            <a:solidFill>
              <a:srgbClr val="36414F"/>
            </a:solidFill>
            <a:prstDash val="solid"/>
          </a:ln>
        </p:spPr>
      </p:sp>
      <p:pic>
        <p:nvPicPr>
          <p:cNvPr id="7" name="Image 1" descr="C:/Users/neuma_p1qrsic/Repo/agentic-ops1/.scratch/icons/target.png">    </p:cNvPr>
          <p:cNvPicPr>
            <a:picLocks noChangeAspect="1"/>
          </p:cNvPicPr>
          <p:nvPr/>
        </p:nvPicPr>
        <p:blipFill>
          <a:blip r:embed="rId2"/>
          <a:stretch>
            <a:fillRect/>
          </a:stretch>
        </p:blipFill>
        <p:spPr>
          <a:xfrm>
            <a:off x="877824" y="2189988"/>
            <a:ext cx="420624" cy="420624"/>
          </a:xfrm>
          <a:prstGeom prst="rect">
            <a:avLst/>
          </a:prstGeom>
        </p:spPr>
      </p:pic>
      <p:sp>
        <p:nvSpPr>
          <p:cNvPr id="8" name="Text 4"/>
          <p:cNvSpPr/>
          <p:nvPr/>
        </p:nvSpPr>
        <p:spPr>
          <a:xfrm>
            <a:off x="1527048" y="1874520"/>
            <a:ext cx="9823399" cy="1051560"/>
          </a:xfrm>
          <a:prstGeom prst="rect">
            <a:avLst/>
          </a:prstGeom>
          <a:noFill/>
          <a:ln/>
        </p:spPr>
        <p:txBody>
          <a:bodyPr wrap="square" rtlCol="0" anchor="ctr"/>
          <a:lstStyle/>
          <a:p>
            <a:pPr indent="0" marL="0">
              <a:lnSpc>
                <a:spcPct val="118000"/>
              </a:lnSpc>
              <a:buNone/>
            </a:pPr>
            <a:r>
              <a:rPr lang="en-US" sz="1450" dirty="0">
                <a:solidFill>
                  <a:srgbClr val="F3F6FB"/>
                </a:solidFill>
                <a:latin typeface="Segoe UI" pitchFamily="34" charset="0"/>
                <a:ea typeface="Segoe UI" pitchFamily="34" charset="-122"/>
                <a:cs typeface="Segoe UI" pitchFamily="34" charset="-120"/>
              </a:rPr>
              <a:t>The monitor is how Market Data Hub, the flagship OnePilot app, keeps one governed source feeding every system: every value validated, checked for anomalies and logged.</a:t>
            </a:r>
            <a:endParaRPr lang="en-US" sz="1450" dirty="0"/>
          </a:p>
        </p:txBody>
      </p:sp>
      <p:sp>
        <p:nvSpPr>
          <p:cNvPr id="9" name="Shape 5"/>
          <p:cNvSpPr/>
          <p:nvPr/>
        </p:nvSpPr>
        <p:spPr>
          <a:xfrm>
            <a:off x="566928" y="3200400"/>
            <a:ext cx="1524000" cy="548640"/>
          </a:xfrm>
          <a:prstGeom prst="roundRect">
            <a:avLst>
              <a:gd name="adj" fmla="val 23333"/>
            </a:avLst>
          </a:prstGeom>
          <a:solidFill>
            <a:srgbClr val="FFFFFF"/>
          </a:solidFill>
          <a:ln w="9525">
            <a:solidFill>
              <a:srgbClr val="36414F"/>
            </a:solidFill>
            <a:prstDash val="solid"/>
          </a:ln>
        </p:spPr>
      </p:sp>
      <p:pic>
        <p:nvPicPr>
          <p:cNvPr id="10" name="Image 2" descr="C:/Users/neuma_p1qrsic/Repo/agentic-ops1/.scratch/deckgen/logos/bloomberg.png">    </p:cNvPr>
          <p:cNvPicPr>
            <a:picLocks noChangeAspect="1"/>
          </p:cNvPicPr>
          <p:nvPr/>
        </p:nvPicPr>
        <p:blipFill>
          <a:blip r:embed="rId3"/>
          <a:stretch>
            <a:fillRect/>
          </a:stretch>
        </p:blipFill>
        <p:spPr>
          <a:xfrm>
            <a:off x="704088" y="3348776"/>
            <a:ext cx="1249680" cy="251889"/>
          </a:xfrm>
          <a:prstGeom prst="rect">
            <a:avLst/>
          </a:prstGeom>
        </p:spPr>
      </p:pic>
      <p:sp>
        <p:nvSpPr>
          <p:cNvPr id="11" name="Shape 6"/>
          <p:cNvSpPr/>
          <p:nvPr/>
        </p:nvSpPr>
        <p:spPr>
          <a:xfrm>
            <a:off x="2273808" y="3200400"/>
            <a:ext cx="1524000" cy="548640"/>
          </a:xfrm>
          <a:prstGeom prst="roundRect">
            <a:avLst>
              <a:gd name="adj" fmla="val 23333"/>
            </a:avLst>
          </a:prstGeom>
          <a:solidFill>
            <a:srgbClr val="FFFFFF"/>
          </a:solidFill>
          <a:ln w="9525">
            <a:solidFill>
              <a:srgbClr val="36414F"/>
            </a:solidFill>
            <a:prstDash val="solid"/>
          </a:ln>
        </p:spPr>
      </p:sp>
      <p:pic>
        <p:nvPicPr>
          <p:cNvPr id="12" name="Image 3" descr="C:/Users/neuma_p1qrsic/Repo/agentic-ops1/.scratch/deckgen/logos/lseg.png">    </p:cNvPr>
          <p:cNvPicPr>
            <a:picLocks noChangeAspect="1"/>
          </p:cNvPicPr>
          <p:nvPr/>
        </p:nvPicPr>
        <p:blipFill>
          <a:blip r:embed="rId4"/>
          <a:stretch>
            <a:fillRect/>
          </a:stretch>
        </p:blipFill>
        <p:spPr>
          <a:xfrm>
            <a:off x="2410968" y="3310419"/>
            <a:ext cx="1249680" cy="328601"/>
          </a:xfrm>
          <a:prstGeom prst="rect">
            <a:avLst/>
          </a:prstGeom>
        </p:spPr>
      </p:pic>
      <p:sp>
        <p:nvSpPr>
          <p:cNvPr id="13" name="Shape 7"/>
          <p:cNvSpPr/>
          <p:nvPr/>
        </p:nvSpPr>
        <p:spPr>
          <a:xfrm>
            <a:off x="3980688" y="3200400"/>
            <a:ext cx="1524000" cy="548640"/>
          </a:xfrm>
          <a:prstGeom prst="roundRect">
            <a:avLst>
              <a:gd name="adj" fmla="val 23333"/>
            </a:avLst>
          </a:prstGeom>
          <a:solidFill>
            <a:srgbClr val="FFFFFF"/>
          </a:solidFill>
          <a:ln w="9525">
            <a:solidFill>
              <a:srgbClr val="36414F"/>
            </a:solidFill>
            <a:prstDash val="solid"/>
          </a:ln>
        </p:spPr>
      </p:sp>
      <p:pic>
        <p:nvPicPr>
          <p:cNvPr id="14" name="Image 4" descr="C:/Users/neuma_p1qrsic/Repo/agentic-ops1/.scratch/deckgen/logos/cme.png">    </p:cNvPr>
          <p:cNvPicPr>
            <a:picLocks noChangeAspect="1"/>
          </p:cNvPicPr>
          <p:nvPr/>
        </p:nvPicPr>
        <p:blipFill>
          <a:blip r:embed="rId5"/>
          <a:stretch>
            <a:fillRect/>
          </a:stretch>
        </p:blipFill>
        <p:spPr>
          <a:xfrm>
            <a:off x="4117848" y="3378553"/>
            <a:ext cx="1249680" cy="192334"/>
          </a:xfrm>
          <a:prstGeom prst="rect">
            <a:avLst/>
          </a:prstGeom>
        </p:spPr>
      </p:pic>
      <p:sp>
        <p:nvSpPr>
          <p:cNvPr id="15" name="Text 8"/>
          <p:cNvSpPr/>
          <p:nvPr/>
        </p:nvSpPr>
        <p:spPr>
          <a:xfrm>
            <a:off x="5870448" y="3200400"/>
            <a:ext cx="5754319" cy="5486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Watching the feeds you already rely on.</a:t>
            </a:r>
            <a:endParaRPr lang="en-US" sz="1250" dirty="0"/>
          </a:p>
        </p:txBody>
      </p:sp>
      <p:sp>
        <p:nvSpPr>
          <p:cNvPr id="16" name="Text 9"/>
          <p:cNvSpPr/>
          <p:nvPr/>
        </p:nvSpPr>
        <p:spPr>
          <a:xfrm>
            <a:off x="566928" y="3977640"/>
            <a:ext cx="10881360" cy="640080"/>
          </a:xfrm>
          <a:prstGeom prst="rect">
            <a:avLst/>
          </a:prstGeom>
          <a:noFill/>
          <a:ln/>
        </p:spPr>
        <p:txBody>
          <a:bodyPr wrap="square" rtlCol="0" anchor="ctr"/>
          <a:lstStyle/>
          <a:p>
            <a:pPr indent="0" marL="0">
              <a:lnSpc>
                <a:spcPct val="120000"/>
              </a:lnSpc>
              <a:buNone/>
            </a:pPr>
            <a:r>
              <a:rPr lang="en-US" sz="1450" dirty="0">
                <a:solidFill>
                  <a:srgbClr val="AAB6C7"/>
                </a:solidFill>
                <a:latin typeface="Segoe UI" pitchFamily="34" charset="0"/>
                <a:ea typeface="Segoe UI" pitchFamily="34" charset="-122"/>
                <a:cs typeface="Segoe UI" pitchFamily="34" charset="-120"/>
              </a:rPr>
              <a:t>It runs on </a:t>
            </a:r>
            <a:pPr indent="0" marL="0">
              <a:lnSpc>
                <a:spcPct val="120000"/>
              </a:lnSpc>
              <a:buNone/>
            </a:pPr>
            <a:r>
              <a:rPr lang="en-US" sz="1450" b="1" dirty="0">
                <a:solidFill>
                  <a:srgbClr val="3BE3E0"/>
                </a:solidFill>
                <a:latin typeface="Segoe UI" pitchFamily="34" charset="0"/>
                <a:ea typeface="Segoe UI" pitchFamily="34" charset="-122"/>
                <a:cs typeface="Segoe UI" pitchFamily="34" charset="-120"/>
              </a:rPr>
              <a:t>OnePilot</a:t>
            </a:r>
            <a:pPr indent="0" marL="0">
              <a:lnSpc>
                <a:spcPct val="120000"/>
              </a:lnSpc>
              <a:buNone/>
            </a:pPr>
            <a:r>
              <a:rPr lang="en-US" sz="1450" dirty="0">
                <a:solidFill>
                  <a:srgbClr val="AAB6C7"/>
                </a:solidFill>
                <a:latin typeface="Segoe UI" pitchFamily="34" charset="0"/>
                <a:ea typeface="Segoe UI" pitchFamily="34" charset="-122"/>
                <a:cs typeface="Segoe UI" pitchFamily="34" charset="-120"/>
              </a:rPr>
              <a:t>, the same governed layer under Smart Trading and the AI co-workers. One way to connect to all of it:</a:t>
            </a:r>
            <a:endParaRPr lang="en-US" sz="1450" dirty="0"/>
          </a:p>
        </p:txBody>
      </p:sp>
      <p:sp>
        <p:nvSpPr>
          <p:cNvPr id="17" name="Shape 10"/>
          <p:cNvSpPr/>
          <p:nvPr/>
        </p:nvSpPr>
        <p:spPr>
          <a:xfrm>
            <a:off x="566928" y="4690872"/>
            <a:ext cx="1992112" cy="1188720"/>
          </a:xfrm>
          <a:prstGeom prst="roundRect">
            <a:avLst>
              <a:gd name="adj" fmla="val 7692"/>
            </a:avLst>
          </a:prstGeom>
          <a:solidFill>
            <a:srgbClr val="141A25"/>
          </a:solidFill>
          <a:ln w="13970">
            <a:solidFill>
              <a:srgbClr val="36414F"/>
            </a:solidFill>
            <a:prstDash val="solid"/>
          </a:ln>
        </p:spPr>
      </p:sp>
      <p:pic>
        <p:nvPicPr>
          <p:cNvPr id="18" name="Image 5" descr="C:/Users/neuma_p1qrsic/Repo/agentic-ops1/.scratch/icons/database.png">    </p:cNvPr>
          <p:cNvPicPr>
            <a:picLocks noChangeAspect="1"/>
          </p:cNvPicPr>
          <p:nvPr/>
        </p:nvPicPr>
        <p:blipFill>
          <a:blip r:embed="rId6"/>
          <a:stretch>
            <a:fillRect/>
          </a:stretch>
        </p:blipFill>
        <p:spPr>
          <a:xfrm>
            <a:off x="1325240" y="4873752"/>
            <a:ext cx="475488" cy="475488"/>
          </a:xfrm>
          <a:prstGeom prst="rect">
            <a:avLst/>
          </a:prstGeom>
        </p:spPr>
      </p:pic>
      <p:sp>
        <p:nvSpPr>
          <p:cNvPr id="19" name="Text 11"/>
          <p:cNvSpPr/>
          <p:nvPr/>
        </p:nvSpPr>
        <p:spPr>
          <a:xfrm>
            <a:off x="640080" y="5404104"/>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SAP systems</a:t>
            </a:r>
            <a:endParaRPr lang="en-US" sz="1200" dirty="0"/>
          </a:p>
        </p:txBody>
      </p:sp>
      <p:sp>
        <p:nvSpPr>
          <p:cNvPr id="20" name="Shape 12"/>
          <p:cNvSpPr/>
          <p:nvPr/>
        </p:nvSpPr>
        <p:spPr>
          <a:xfrm>
            <a:off x="2833360" y="4690872"/>
            <a:ext cx="1992112" cy="1188720"/>
          </a:xfrm>
          <a:prstGeom prst="roundRect">
            <a:avLst>
              <a:gd name="adj" fmla="val 7692"/>
            </a:avLst>
          </a:prstGeom>
          <a:solidFill>
            <a:srgbClr val="141A25"/>
          </a:solidFill>
          <a:ln w="13970">
            <a:solidFill>
              <a:srgbClr val="36414F"/>
            </a:solidFill>
            <a:prstDash val="solid"/>
          </a:ln>
        </p:spPr>
      </p:sp>
      <p:pic>
        <p:nvPicPr>
          <p:cNvPr id="21" name="Image 6" descr="C:/Users/neuma_p1qrsic/Repo/agentic-ops1/.scratch/icons/sheet.png">    </p:cNvPr>
          <p:cNvPicPr>
            <a:picLocks noChangeAspect="1"/>
          </p:cNvPicPr>
          <p:nvPr/>
        </p:nvPicPr>
        <p:blipFill>
          <a:blip r:embed="rId7"/>
          <a:stretch>
            <a:fillRect/>
          </a:stretch>
        </p:blipFill>
        <p:spPr>
          <a:xfrm>
            <a:off x="3591672" y="4873752"/>
            <a:ext cx="475488" cy="475488"/>
          </a:xfrm>
          <a:prstGeom prst="rect">
            <a:avLst/>
          </a:prstGeom>
        </p:spPr>
      </p:pic>
      <p:sp>
        <p:nvSpPr>
          <p:cNvPr id="22" name="Text 13"/>
          <p:cNvSpPr/>
          <p:nvPr/>
        </p:nvSpPr>
        <p:spPr>
          <a:xfrm>
            <a:off x="2906512" y="5404104"/>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Spreadsheets &amp; files</a:t>
            </a:r>
            <a:endParaRPr lang="en-US" sz="1200" dirty="0"/>
          </a:p>
        </p:txBody>
      </p:sp>
      <p:sp>
        <p:nvSpPr>
          <p:cNvPr id="23" name="Shape 14"/>
          <p:cNvSpPr/>
          <p:nvPr/>
        </p:nvSpPr>
        <p:spPr>
          <a:xfrm>
            <a:off x="5099792" y="4690872"/>
            <a:ext cx="1992112" cy="1188720"/>
          </a:xfrm>
          <a:prstGeom prst="roundRect">
            <a:avLst>
              <a:gd name="adj" fmla="val 7692"/>
            </a:avLst>
          </a:prstGeom>
          <a:solidFill>
            <a:srgbClr val="141A25"/>
          </a:solidFill>
          <a:ln w="13970">
            <a:solidFill>
              <a:srgbClr val="36414F"/>
            </a:solidFill>
            <a:prstDash val="solid"/>
          </a:ln>
        </p:spPr>
      </p:sp>
      <p:pic>
        <p:nvPicPr>
          <p:cNvPr id="24" name="Image 7" descr="C:/Users/neuma_p1qrsic/Repo/agentic-ops1/.scratch/icons/mail.png">    </p:cNvPr>
          <p:cNvPicPr>
            <a:picLocks noChangeAspect="1"/>
          </p:cNvPicPr>
          <p:nvPr/>
        </p:nvPicPr>
        <p:blipFill>
          <a:blip r:embed="rId8"/>
          <a:stretch>
            <a:fillRect/>
          </a:stretch>
        </p:blipFill>
        <p:spPr>
          <a:xfrm>
            <a:off x="5858104" y="4873752"/>
            <a:ext cx="475488" cy="475488"/>
          </a:xfrm>
          <a:prstGeom prst="rect">
            <a:avLst/>
          </a:prstGeom>
        </p:spPr>
      </p:pic>
      <p:sp>
        <p:nvSpPr>
          <p:cNvPr id="25" name="Text 15"/>
          <p:cNvSpPr/>
          <p:nvPr/>
        </p:nvSpPr>
        <p:spPr>
          <a:xfrm>
            <a:off x="5172944" y="5404104"/>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Email</a:t>
            </a:r>
            <a:endParaRPr lang="en-US" sz="1200" dirty="0"/>
          </a:p>
        </p:txBody>
      </p:sp>
      <p:sp>
        <p:nvSpPr>
          <p:cNvPr id="26" name="Shape 16"/>
          <p:cNvSpPr/>
          <p:nvPr/>
        </p:nvSpPr>
        <p:spPr>
          <a:xfrm>
            <a:off x="7366224" y="4690872"/>
            <a:ext cx="1992112" cy="1188720"/>
          </a:xfrm>
          <a:prstGeom prst="roundRect">
            <a:avLst>
              <a:gd name="adj" fmla="val 7692"/>
            </a:avLst>
          </a:prstGeom>
          <a:solidFill>
            <a:srgbClr val="141A25"/>
          </a:solidFill>
          <a:ln w="13970">
            <a:solidFill>
              <a:srgbClr val="36414F"/>
            </a:solidFill>
            <a:prstDash val="solid"/>
          </a:ln>
        </p:spPr>
      </p:sp>
      <p:pic>
        <p:nvPicPr>
          <p:cNvPr id="27" name="Image 8" descr="C:/Users/neuma_p1qrsic/Repo/agentic-ops1/.scratch/icons/globe.png">    </p:cNvPr>
          <p:cNvPicPr>
            <a:picLocks noChangeAspect="1"/>
          </p:cNvPicPr>
          <p:nvPr/>
        </p:nvPicPr>
        <p:blipFill>
          <a:blip r:embed="rId9"/>
          <a:stretch>
            <a:fillRect/>
          </a:stretch>
        </p:blipFill>
        <p:spPr>
          <a:xfrm>
            <a:off x="8124535" y="4873752"/>
            <a:ext cx="475488" cy="475488"/>
          </a:xfrm>
          <a:prstGeom prst="rect">
            <a:avLst/>
          </a:prstGeom>
        </p:spPr>
      </p:pic>
      <p:sp>
        <p:nvSpPr>
          <p:cNvPr id="28" name="Text 17"/>
          <p:cNvSpPr/>
          <p:nvPr/>
        </p:nvSpPr>
        <p:spPr>
          <a:xfrm>
            <a:off x="7439376" y="5404104"/>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Web &amp; APIs</a:t>
            </a:r>
            <a:endParaRPr lang="en-US" sz="1200" dirty="0"/>
          </a:p>
        </p:txBody>
      </p:sp>
      <p:sp>
        <p:nvSpPr>
          <p:cNvPr id="29" name="Shape 18"/>
          <p:cNvSpPr/>
          <p:nvPr/>
        </p:nvSpPr>
        <p:spPr>
          <a:xfrm>
            <a:off x="9632655" y="4690872"/>
            <a:ext cx="1992112" cy="1188720"/>
          </a:xfrm>
          <a:prstGeom prst="roundRect">
            <a:avLst>
              <a:gd name="adj" fmla="val 7692"/>
            </a:avLst>
          </a:prstGeom>
          <a:solidFill>
            <a:srgbClr val="141A25"/>
          </a:solidFill>
          <a:ln w="13970">
            <a:solidFill>
              <a:srgbClr val="36414F"/>
            </a:solidFill>
            <a:prstDash val="solid"/>
          </a:ln>
        </p:spPr>
      </p:sp>
      <p:pic>
        <p:nvPicPr>
          <p:cNvPr id="30" name="Image 9" descr="C:/Users/neuma_p1qrsic/Repo/agentic-ops1/.scratch/icons/spark.png">    </p:cNvPr>
          <p:cNvPicPr>
            <a:picLocks noChangeAspect="1"/>
          </p:cNvPicPr>
          <p:nvPr/>
        </p:nvPicPr>
        <p:blipFill>
          <a:blip r:embed="rId10"/>
          <a:stretch>
            <a:fillRect/>
          </a:stretch>
        </p:blipFill>
        <p:spPr>
          <a:xfrm>
            <a:off x="10390967" y="4873752"/>
            <a:ext cx="475488" cy="475488"/>
          </a:xfrm>
          <a:prstGeom prst="rect">
            <a:avLst/>
          </a:prstGeom>
        </p:spPr>
      </p:pic>
      <p:sp>
        <p:nvSpPr>
          <p:cNvPr id="31" name="Text 19"/>
          <p:cNvSpPr/>
          <p:nvPr/>
        </p:nvSpPr>
        <p:spPr>
          <a:xfrm>
            <a:off x="9705807" y="5404104"/>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AI</a:t>
            </a:r>
            <a:endParaRPr lang="en-US" sz="1200" dirty="0"/>
          </a:p>
        </p:txBody>
      </p:sp>
      <p:sp>
        <p:nvSpPr>
          <p:cNvPr id="32" name="Text 20"/>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Market Data Monitor, a OnePilot use case</a:t>
            </a:r>
            <a:endParaRPr lang="en-US" sz="900" dirty="0"/>
          </a:p>
        </p:txBody>
      </p:sp>
      <p:sp>
        <p:nvSpPr>
          <p:cNvPr id="33" name="Text 21"/>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08 / 09</a:t>
            </a:r>
            <a:endParaRPr lang="en-US" sz="900" dirty="0"/>
          </a:p>
        </p:txBody>
      </p:sp>
      <p:sp>
        <p:nvSpPr>
          <p:cNvPr id="34" name="Shape 22"/>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3072384" y="128016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4443984" y="2651760"/>
            <a:ext cx="3291840" cy="3291840"/>
          </a:xfrm>
          <a:prstGeom prst="ellipse">
            <a:avLst/>
          </a:prstGeom>
          <a:solidFill>
            <a:srgbClr val="3BE3E0">
              <a:alpha val="12000"/>
            </a:srgbClr>
          </a:solidFill>
          <a:ln w="12700">
            <a:solidFill>
              <a:srgbClr val="333333"/>
            </a:solidFill>
            <a:prstDash val="solid"/>
          </a:ln>
        </p:spPr>
      </p:sp>
      <p:pic>
        <p:nvPicPr>
          <p:cNvPr id="4" name="Image 0" descr="C:/Users/neuma_p1qrsic/Repo/agentic-ops1/.scratch/brisken-logo-light.png">    </p:cNvPr>
          <p:cNvPicPr>
            <a:picLocks noChangeAspect="1"/>
          </p:cNvPicPr>
          <p:nvPr/>
        </p:nvPicPr>
        <p:blipFill>
          <a:blip r:embed="rId1"/>
          <a:stretch>
            <a:fillRect/>
          </a:stretch>
        </p:blipFill>
        <p:spPr>
          <a:xfrm>
            <a:off x="5312664" y="1371600"/>
            <a:ext cx="1554480" cy="338328"/>
          </a:xfrm>
          <a:prstGeom prst="rect">
            <a:avLst/>
          </a:prstGeom>
        </p:spPr>
      </p:pic>
      <p:sp>
        <p:nvSpPr>
          <p:cNvPr id="5" name="Text 2"/>
          <p:cNvSpPr/>
          <p:nvPr/>
        </p:nvSpPr>
        <p:spPr>
          <a:xfrm>
            <a:off x="914400" y="2468880"/>
            <a:ext cx="10360152" cy="1005840"/>
          </a:xfrm>
          <a:prstGeom prst="rect">
            <a:avLst/>
          </a:prstGeom>
          <a:noFill/>
          <a:ln/>
        </p:spPr>
        <p:txBody>
          <a:bodyPr wrap="square" rtlCol="0" anchor="ctr"/>
          <a:lstStyle/>
          <a:p>
            <a:pPr algn="ctr" indent="0" marL="0">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645920" y="3566160"/>
            <a:ext cx="8897112" cy="868680"/>
          </a:xfrm>
          <a:prstGeom prst="rect">
            <a:avLst/>
          </a:prstGeom>
          <a:noFill/>
          <a:ln/>
        </p:spPr>
        <p:txBody>
          <a:bodyPr wrap="square" rtlCol="0" anchor="ctr"/>
          <a:lstStyle/>
          <a:p>
            <a:pPr algn="ctr" indent="0" marL="0">
              <a:lnSpc>
                <a:spcPct val="125000"/>
              </a:lnSpc>
              <a:buNone/>
            </a:pPr>
            <a:r>
              <a:rPr lang="en-US" sz="1700" dirty="0">
                <a:solidFill>
                  <a:srgbClr val="C4CEDA"/>
                </a:solidFill>
                <a:latin typeface="Segoe UI" pitchFamily="34" charset="0"/>
                <a:ea typeface="Segoe UI" pitchFamily="34" charset="-122"/>
                <a:cs typeface="Segoe UI" pitchFamily="34" charset="-120"/>
              </a:rPr>
              <a:t>Give us twenty minutes on where your market data comes from, and we will show the monitor catching a bad value before SAP ever sees it.</a:t>
            </a:r>
            <a:endParaRPr lang="en-US" sz="1700" dirty="0"/>
          </a:p>
        </p:txBody>
      </p:sp>
      <p:sp>
        <p:nvSpPr>
          <p:cNvPr id="7" name="Shape 4"/>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sp>
      <p:sp>
        <p:nvSpPr>
          <p:cNvPr id="8" name="Text 5"/>
          <p:cNvSpPr/>
          <p:nvPr/>
        </p:nvSpPr>
        <p:spPr>
          <a:xfrm>
            <a:off x="3575304" y="4754880"/>
            <a:ext cx="5029200" cy="658368"/>
          </a:xfrm>
          <a:prstGeom prst="rect">
            <a:avLst/>
          </a:prstGeom>
          <a:noFill/>
          <a:ln/>
        </p:spPr>
        <p:txBody>
          <a:bodyPr wrap="square" rtlCol="0" anchor="ctr"/>
          <a:lstStyle/>
          <a:p>
            <a:pPr algn="ctr" indent="0" marL="0">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Brisken</cp:lastModifiedBy>
  <cp:revision>1</cp:revision>
  <dcterms:created xsi:type="dcterms:W3CDTF">2026-07-11T18:49:29Z</dcterms:created>
  <dcterms:modified xsi:type="dcterms:W3CDTF">2026-07-11T18:49:29Z</dcterms:modified>
</cp:coreProperties>
</file>