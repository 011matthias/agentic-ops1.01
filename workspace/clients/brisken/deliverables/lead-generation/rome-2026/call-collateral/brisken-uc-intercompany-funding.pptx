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r>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566928" y="2441448"/>
            <a:ext cx="45720" cy="219456"/>
          </a:xfrm>
          <a:prstGeom prst="rect">
            <a:avLst/>
          </a:prstGeom>
          <a:solidFill>
            <a:srgbClr val="3BE3E0"/>
          </a:solidFill>
          <a:ln w="12700">
            <a:solidFill>
              <a:srgbClr val="333333"/>
            </a:solidFill>
            <a:prstDash val="solid"/>
          </a:ln>
        </p:spPr>
      </p:sp>
      <p:sp>
        <p:nvSpPr>
          <p:cNvPr id="8" name="Text 5"/>
          <p:cNvSpPr/>
          <p:nvPr/>
        </p:nvSpPr>
        <p:spPr>
          <a:xfrm>
            <a:off x="713232" y="2368296"/>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ONEPILOT USE CASE · AI AUTOMATION</a:t>
            </a:r>
            <a:endParaRPr lang="en-US" sz="1200" dirty="0"/>
          </a:p>
        </p:txBody>
      </p:sp>
      <p:sp>
        <p:nvSpPr>
          <p:cNvPr id="9" name="Text 6"/>
          <p:cNvSpPr/>
          <p:nvPr/>
        </p:nvSpPr>
        <p:spPr>
          <a:xfrm>
            <a:off x="539496" y="2697480"/>
            <a:ext cx="11338560" cy="1188720"/>
          </a:xfrm>
          <a:prstGeom prst="rect">
            <a:avLst/>
          </a:prstGeom>
          <a:noFill/>
          <a:ln/>
        </p:spPr>
        <p:txBody>
          <a:bodyPr wrap="square" rtlCol="0" anchor="ctr"/>
          <a:lstStyle/>
          <a:p>
            <a:pPr indent="0" marL="0">
              <a:buNone/>
            </a:pPr>
            <a:r>
              <a:rPr lang="en-US" sz="5400" b="1" dirty="0">
                <a:solidFill>
                  <a:srgbClr val="F3F6FB"/>
                </a:solidFill>
                <a:latin typeface="Segoe UI Semibold" pitchFamily="34" charset="0"/>
                <a:ea typeface="Segoe UI Semibold" pitchFamily="34" charset="-122"/>
                <a:cs typeface="Segoe UI Semibold" pitchFamily="34" charset="-120"/>
              </a:rPr>
              <a:t>Intercompany Funding Request</a:t>
            </a:r>
            <a:endParaRPr lang="en-US" sz="5400" dirty="0"/>
          </a:p>
        </p:txBody>
      </p:sp>
      <p:sp>
        <p:nvSpPr>
          <p:cNvPr id="10" name="Text 7"/>
          <p:cNvSpPr/>
          <p:nvPr/>
        </p:nvSpPr>
        <p:spPr>
          <a:xfrm>
            <a:off x="566928" y="3977640"/>
            <a:ext cx="10607040" cy="868680"/>
          </a:xfrm>
          <a:prstGeom prst="rect">
            <a:avLst/>
          </a:prstGeom>
          <a:noFill/>
          <a:ln/>
        </p:spPr>
        <p:txBody>
          <a:bodyPr wrap="square" rtlCol="0" anchor="t"/>
          <a:lstStyle/>
          <a:p>
            <a:pPr indent="0" marL="0">
              <a:lnSpc>
                <a:spcPct val="115000"/>
              </a:lnSpc>
              <a:buNone/>
            </a:pPr>
            <a:r>
              <a:rPr lang="en-US" sz="1900" dirty="0">
                <a:solidFill>
                  <a:srgbClr val="AAB6C7"/>
                </a:solidFill>
                <a:latin typeface="Segoe UI" pitchFamily="34" charset="0"/>
                <a:ea typeface="Segoe UI" pitchFamily="34" charset="-122"/>
                <a:cs typeface="Segoe UI" pitchFamily="34" charset="-120"/>
              </a:rPr>
              <a:t>A subsidiary asks for cash by email. An AI co-worker runs the request in SAP. </a:t>
            </a:r>
            <a:pPr indent="0" marL="0">
              <a:lnSpc>
                <a:spcPct val="115000"/>
              </a:lnSpc>
              <a:buNone/>
            </a:pPr>
            <a:r>
              <a:rPr lang="en-US" sz="1900" dirty="0">
                <a:solidFill>
                  <a:srgbClr val="3BE3E0"/>
                </a:solidFill>
                <a:latin typeface="Segoe UI" pitchFamily="34" charset="0"/>
                <a:ea typeface="Segoe UI" pitchFamily="34" charset="-122"/>
                <a:cs typeface="Segoe UI" pitchFamily="34" charset="-120"/>
              </a:rPr>
              <a:t>A person approves every transfer.</a:t>
            </a:r>
            <a:endParaRPr lang="en-US" sz="1900" dirty="0"/>
          </a:p>
        </p:txBody>
      </p:sp>
      <p:sp>
        <p:nvSpPr>
          <p:cNvPr id="11" name="Shape 8"/>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mail.png">    </p:cNvPr>
          <p:cNvPicPr>
            <a:picLocks noChangeAspect="1"/>
          </p:cNvPicPr>
          <p:nvPr/>
        </p:nvPicPr>
        <p:blipFill>
          <a:blip r:embed="rId2"/>
          <a:stretch>
            <a:fillRect/>
          </a:stretch>
        </p:blipFill>
        <p:spPr>
          <a:xfrm>
            <a:off x="702991" y="5668183"/>
            <a:ext cx="294803" cy="294803"/>
          </a:xfrm>
          <a:prstGeom prst="rect">
            <a:avLst/>
          </a:prstGeom>
        </p:spPr>
      </p:pic>
      <p:sp>
        <p:nvSpPr>
          <p:cNvPr id="13" name="Text 9"/>
          <p:cNvSpPr/>
          <p:nvPr/>
        </p:nvSpPr>
        <p:spPr>
          <a:xfrm>
            <a:off x="1252728" y="5532120"/>
            <a:ext cx="274320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A funding request by email</a:t>
            </a:r>
            <a:endParaRPr lang="en-US" sz="1300" dirty="0"/>
          </a:p>
        </p:txBody>
      </p:sp>
      <p:sp>
        <p:nvSpPr>
          <p:cNvPr id="14" name="Shape 10"/>
          <p:cNvSpPr/>
          <p:nvPr/>
        </p:nvSpPr>
        <p:spPr>
          <a:xfrm>
            <a:off x="3995928" y="5815584"/>
            <a:ext cx="640080" cy="0"/>
          </a:xfrm>
          <a:prstGeom prst="line">
            <a:avLst/>
          </a:prstGeom>
          <a:noFill/>
          <a:ln w="25400">
            <a:solidFill>
              <a:srgbClr val="3BE3E0"/>
            </a:solidFill>
            <a:prstDash val="solid"/>
            <a:tailEnd type="triangle"/>
          </a:ln>
        </p:spPr>
      </p:sp>
      <p:sp>
        <p:nvSpPr>
          <p:cNvPr id="15" name="Text 11"/>
          <p:cNvSpPr/>
          <p:nvPr/>
        </p:nvSpPr>
        <p:spPr>
          <a:xfrm>
            <a:off x="4681728" y="5532120"/>
            <a:ext cx="173736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OnePilot</a:t>
            </a:r>
            <a:endParaRPr lang="en-US" sz="1200" dirty="0"/>
          </a:p>
        </p:txBody>
      </p:sp>
      <p:sp>
        <p:nvSpPr>
          <p:cNvPr id="16" name="Shape 12"/>
          <p:cNvSpPr/>
          <p:nvPr/>
        </p:nvSpPr>
        <p:spPr>
          <a:xfrm>
            <a:off x="6464808" y="5815584"/>
            <a:ext cx="640080" cy="0"/>
          </a:xfrm>
          <a:prstGeom prst="line">
            <a:avLst/>
          </a:prstGeom>
          <a:noFill/>
          <a:ln w="25400">
            <a:solidFill>
              <a:srgbClr val="3BE3E0"/>
            </a:solidFill>
            <a:prstDash val="solid"/>
            <a:tailEnd type="triangle"/>
          </a:ln>
        </p:spPr>
      </p:sp>
      <p:sp>
        <p:nvSpPr>
          <p:cNvPr id="17" name="Shape 13"/>
          <p:cNvSpPr/>
          <p:nvPr/>
        </p:nvSpPr>
        <p:spPr>
          <a:xfrm>
            <a:off x="7242048" y="5532120"/>
            <a:ext cx="566928" cy="566928"/>
          </a:xfrm>
          <a:prstGeom prst="roundRect">
            <a:avLst>
              <a:gd name="adj" fmla="val 17742"/>
            </a:avLst>
          </a:prstGeom>
          <a:solidFill>
            <a:srgbClr val="1B2330"/>
          </a:solidFill>
          <a:ln w="15240">
            <a:solidFill>
              <a:srgbClr val="3BE3E0"/>
            </a:solidFill>
            <a:prstDash val="solid"/>
          </a:ln>
        </p:spPr>
      </p:sp>
      <p:pic>
        <p:nvPicPr>
          <p:cNvPr id="18" name="Image 2" descr="C:/Users/neuma_p1qrsic/Repo/agentic-ops1/.scratch/icons/database.png">    </p:cNvPr>
          <p:cNvPicPr>
            <a:picLocks noChangeAspect="1"/>
          </p:cNvPicPr>
          <p:nvPr/>
        </p:nvPicPr>
        <p:blipFill>
          <a:blip r:embed="rId3"/>
          <a:stretch>
            <a:fillRect/>
          </a:stretch>
        </p:blipFill>
        <p:spPr>
          <a:xfrm>
            <a:off x="7378111" y="5668183"/>
            <a:ext cx="294803" cy="294803"/>
          </a:xfrm>
          <a:prstGeom prst="rect">
            <a:avLst/>
          </a:prstGeom>
        </p:spPr>
      </p:pic>
      <p:sp>
        <p:nvSpPr>
          <p:cNvPr id="19" name="Text 14"/>
          <p:cNvSpPr/>
          <p:nvPr/>
        </p:nvSpPr>
        <p:spPr>
          <a:xfrm>
            <a:off x="7927848" y="5532120"/>
            <a:ext cx="33832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Memo record and transfer in SAP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SCENARIO</a:t>
            </a:r>
            <a:endParaRPr lang="en-US" sz="1200" dirty="0"/>
          </a:p>
        </p:txBody>
      </p:sp>
      <p:sp>
        <p:nvSpPr>
          <p:cNvPr id="4" name="Shape 2"/>
          <p:cNvSpPr/>
          <p:nvPr/>
        </p:nvSpPr>
        <p:spPr>
          <a:xfrm>
            <a:off x="9247327" y="502920"/>
            <a:ext cx="2377440" cy="384048"/>
          </a:xfrm>
          <a:prstGeom prst="roundRect">
            <a:avLst>
              <a:gd name="adj" fmla="val 50000"/>
            </a:avLst>
          </a:prstGeom>
          <a:solidFill>
            <a:srgbClr val="24190E"/>
          </a:solidFill>
          <a:ln w="12700">
            <a:solidFill>
              <a:srgbClr val="FFC96B"/>
            </a:solidFill>
            <a:prstDash val="solid"/>
          </a:ln>
        </p:spPr>
      </p:sp>
      <p:sp>
        <p:nvSpPr>
          <p:cNvPr id="5" name="Text 3"/>
          <p:cNvSpPr/>
          <p:nvPr/>
        </p:nvSpPr>
        <p:spPr>
          <a:xfrm>
            <a:off x="9247327" y="502920"/>
            <a:ext cx="2377440" cy="384048"/>
          </a:xfrm>
          <a:prstGeom prst="rect">
            <a:avLst/>
          </a:prstGeom>
          <a:noFill/>
          <a:ln/>
        </p:spPr>
        <p:txBody>
          <a:bodyPr wrap="square" rtlCol="0" anchor="ctr"/>
          <a:lstStyle/>
          <a:p>
            <a:pPr algn="ctr" indent="0" marL="0">
              <a:buNone/>
            </a:pPr>
            <a:r>
              <a:rPr lang="en-US" sz="950" b="1" spc="150" kern="0" dirty="0">
                <a:solidFill>
                  <a:srgbClr val="FFC96B"/>
                </a:solidFill>
                <a:latin typeface="Segoe UI Semibold" pitchFamily="34" charset="0"/>
                <a:ea typeface="Segoe UI Semibold" pitchFamily="34" charset="-122"/>
                <a:cs typeface="Segoe UI Semibold" pitchFamily="34" charset="-120"/>
              </a:rPr>
              <a:t>ILLUSTRATIVE SCENARIO</a:t>
            </a:r>
            <a:endParaRPr lang="en-US" sz="950" dirty="0"/>
          </a:p>
        </p:txBody>
      </p:sp>
      <p:sp>
        <p:nvSpPr>
          <p:cNvPr id="6" name="Text 4"/>
          <p:cNvSpPr/>
          <p:nvPr/>
        </p:nvSpPr>
        <p:spPr>
          <a:xfrm>
            <a:off x="566928" y="1005840"/>
            <a:ext cx="10881360" cy="1097280"/>
          </a:xfrm>
          <a:prstGeom prst="rect">
            <a:avLst/>
          </a:prstGeom>
          <a:noFill/>
          <a:ln/>
        </p:spPr>
        <p:txBody>
          <a:bodyPr wrap="square" rtlCol="0" anchor="ctr"/>
          <a:lstStyle/>
          <a:p>
            <a:pPr indent="0" marL="0">
              <a:lnSpc>
                <a:spcPct val="105000"/>
              </a:lnSpc>
              <a:buNone/>
            </a:pPr>
            <a:r>
              <a:rPr lang="en-US" sz="3000" b="1" dirty="0">
                <a:solidFill>
                  <a:srgbClr val="F3F6FB"/>
                </a:solidFill>
                <a:latin typeface="Segoe UI Semibold" pitchFamily="34" charset="0"/>
                <a:ea typeface="Segoe UI Semibold" pitchFamily="34" charset="-122"/>
                <a:cs typeface="Segoe UI Semibold" pitchFamily="34" charset="-120"/>
              </a:rPr>
              <a:t>07:58 on a Monday. A funding request lands in the inbox.</a:t>
            </a:r>
            <a:endParaRPr lang="en-US" sz="3000" dirty="0"/>
          </a:p>
        </p:txBody>
      </p:sp>
      <p:sp>
        <p:nvSpPr>
          <p:cNvPr id="7" name="Shape 5"/>
          <p:cNvSpPr/>
          <p:nvPr/>
        </p:nvSpPr>
        <p:spPr>
          <a:xfrm>
            <a:off x="566928" y="2423160"/>
            <a:ext cx="5760720" cy="3291840"/>
          </a:xfrm>
          <a:prstGeom prst="roundRect">
            <a:avLst>
              <a:gd name="adj" fmla="val 2500"/>
            </a:avLst>
          </a:prstGeom>
          <a:solidFill>
            <a:srgbClr val="141A25"/>
          </a:solidFill>
          <a:ln w="13970">
            <a:solidFill>
              <a:srgbClr val="36414F"/>
            </a:solidFill>
            <a:prstDash val="solid"/>
          </a:ln>
        </p:spPr>
      </p:sp>
      <p:sp>
        <p:nvSpPr>
          <p:cNvPr id="8" name="Text 6"/>
          <p:cNvSpPr/>
          <p:nvPr/>
        </p:nvSpPr>
        <p:spPr>
          <a:xfrm>
            <a:off x="886968" y="2697480"/>
            <a:ext cx="1325880" cy="365760"/>
          </a:xfrm>
          <a:prstGeom prst="rect">
            <a:avLst/>
          </a:prstGeom>
          <a:noFill/>
          <a:ln/>
        </p:spPr>
        <p:txBody>
          <a:bodyPr wrap="square" rtlCol="0" anchor="ctr"/>
          <a:lstStyle/>
          <a:p>
            <a:pPr indent="0" marL="0">
              <a:buNone/>
            </a:pPr>
            <a:r>
              <a:rPr lang="en-US" sz="1050" spc="150" kern="0" dirty="0">
                <a:solidFill>
                  <a:srgbClr val="7C8A9B"/>
                </a:solidFill>
                <a:latin typeface="Segoe UI Semibold" pitchFamily="34" charset="0"/>
                <a:ea typeface="Segoe UI Semibold" pitchFamily="34" charset="-122"/>
                <a:cs typeface="Segoe UI Semibold" pitchFamily="34" charset="-120"/>
              </a:rPr>
              <a:t>FROM</a:t>
            </a:r>
            <a:endParaRPr lang="en-US" sz="1050" dirty="0"/>
          </a:p>
        </p:txBody>
      </p:sp>
      <p:sp>
        <p:nvSpPr>
          <p:cNvPr id="9" name="Text 7"/>
          <p:cNvSpPr/>
          <p:nvPr/>
        </p:nvSpPr>
        <p:spPr>
          <a:xfrm>
            <a:off x="2258568" y="2697480"/>
            <a:ext cx="3749040" cy="365760"/>
          </a:xfrm>
          <a:prstGeom prst="rect">
            <a:avLst/>
          </a:prstGeom>
          <a:noFill/>
          <a:ln/>
        </p:spPr>
        <p:txBody>
          <a:bodyPr wrap="square" rtlCol="0" anchor="ctr"/>
          <a:lstStyle/>
          <a:p>
            <a:pPr indent="0" marL="0">
              <a:buNone/>
            </a:pPr>
            <a:r>
              <a:rPr lang="en-US" sz="1350" b="1" dirty="0">
                <a:solidFill>
                  <a:srgbClr val="F3F6FB"/>
                </a:solidFill>
                <a:latin typeface="Segoe UI" pitchFamily="34" charset="0"/>
                <a:ea typeface="Segoe UI" pitchFamily="34" charset="-122"/>
                <a:cs typeface="Segoe UI" pitchFamily="34" charset="-120"/>
              </a:rPr>
              <a:t>Subsidiary treasury, Poland</a:t>
            </a:r>
            <a:endParaRPr lang="en-US" sz="1350" dirty="0"/>
          </a:p>
        </p:txBody>
      </p:sp>
      <p:sp>
        <p:nvSpPr>
          <p:cNvPr id="10" name="Text 8"/>
          <p:cNvSpPr/>
          <p:nvPr/>
        </p:nvSpPr>
        <p:spPr>
          <a:xfrm>
            <a:off x="886968" y="3172968"/>
            <a:ext cx="1325880" cy="365760"/>
          </a:xfrm>
          <a:prstGeom prst="rect">
            <a:avLst/>
          </a:prstGeom>
          <a:noFill/>
          <a:ln/>
        </p:spPr>
        <p:txBody>
          <a:bodyPr wrap="square" rtlCol="0" anchor="ctr"/>
          <a:lstStyle/>
          <a:p>
            <a:pPr indent="0" marL="0">
              <a:buNone/>
            </a:pPr>
            <a:r>
              <a:rPr lang="en-US" sz="1050" spc="150" kern="0" dirty="0">
                <a:solidFill>
                  <a:srgbClr val="7C8A9B"/>
                </a:solidFill>
                <a:latin typeface="Segoe UI Semibold" pitchFamily="34" charset="0"/>
                <a:ea typeface="Segoe UI Semibold" pitchFamily="34" charset="-122"/>
                <a:cs typeface="Segoe UI Semibold" pitchFamily="34" charset="-120"/>
              </a:rPr>
              <a:t>SUBJECT</a:t>
            </a:r>
            <a:endParaRPr lang="en-US" sz="1050" dirty="0"/>
          </a:p>
        </p:txBody>
      </p:sp>
      <p:sp>
        <p:nvSpPr>
          <p:cNvPr id="11" name="Text 9"/>
          <p:cNvSpPr/>
          <p:nvPr/>
        </p:nvSpPr>
        <p:spPr>
          <a:xfrm>
            <a:off x="2258568" y="3172968"/>
            <a:ext cx="3749040" cy="365760"/>
          </a:xfrm>
          <a:prstGeom prst="rect">
            <a:avLst/>
          </a:prstGeom>
          <a:noFill/>
          <a:ln/>
        </p:spPr>
        <p:txBody>
          <a:bodyPr wrap="square" rtlCol="0" anchor="ctr"/>
          <a:lstStyle/>
          <a:p>
            <a:pPr indent="0" marL="0">
              <a:buNone/>
            </a:pPr>
            <a:r>
              <a:rPr lang="en-US" sz="1350" b="1" dirty="0">
                <a:solidFill>
                  <a:srgbClr val="F3F6FB"/>
                </a:solidFill>
                <a:latin typeface="Segoe UI" pitchFamily="34" charset="0"/>
                <a:ea typeface="Segoe UI" pitchFamily="34" charset="-122"/>
                <a:cs typeface="Segoe UI" pitchFamily="34" charset="-120"/>
              </a:rPr>
              <a:t>Funding request, EUR 4.2M, value Thursday</a:t>
            </a:r>
            <a:endParaRPr lang="en-US" sz="1350" dirty="0"/>
          </a:p>
        </p:txBody>
      </p:sp>
      <p:sp>
        <p:nvSpPr>
          <p:cNvPr id="12" name="Shape 10"/>
          <p:cNvSpPr/>
          <p:nvPr/>
        </p:nvSpPr>
        <p:spPr>
          <a:xfrm>
            <a:off x="886968" y="3749040"/>
            <a:ext cx="5120640" cy="0"/>
          </a:xfrm>
          <a:prstGeom prst="line">
            <a:avLst/>
          </a:prstGeom>
          <a:noFill/>
          <a:ln w="9525">
            <a:solidFill>
              <a:srgbClr val="36414F"/>
            </a:solidFill>
            <a:prstDash val="solid"/>
          </a:ln>
        </p:spPr>
      </p:sp>
      <p:sp>
        <p:nvSpPr>
          <p:cNvPr id="13" name="Text 11"/>
          <p:cNvSpPr/>
          <p:nvPr/>
        </p:nvSpPr>
        <p:spPr>
          <a:xfrm>
            <a:off x="886968" y="3931920"/>
            <a:ext cx="5120640" cy="1051560"/>
          </a:xfrm>
          <a:prstGeom prst="rect">
            <a:avLst/>
          </a:prstGeom>
          <a:noFill/>
          <a:ln/>
        </p:spPr>
        <p:txBody>
          <a:bodyPr wrap="square" rtlCol="0" anchor="t"/>
          <a:lstStyle/>
          <a:p>
            <a:pPr indent="0" marL="0">
              <a:lnSpc>
                <a:spcPct val="130000"/>
              </a:lnSpc>
              <a:buNone/>
            </a:pPr>
            <a:r>
              <a:rPr lang="en-US" sz="1500" i="1" dirty="0">
                <a:solidFill>
                  <a:srgbClr val="AAB6C7"/>
                </a:solidFill>
                <a:latin typeface="Segoe UI" pitchFamily="34" charset="0"/>
                <a:ea typeface="Segoe UI" pitchFamily="34" charset="-122"/>
                <a:cs typeface="Segoe UI" pitchFamily="34" charset="-120"/>
              </a:rPr>
              <a:t>“We need EUR 4.2M on Thursday to cover the supplier run and payroll. Breakdown attached.”</a:t>
            </a:r>
            <a:endParaRPr lang="en-US" sz="1500" dirty="0"/>
          </a:p>
        </p:txBody>
      </p:sp>
      <p:sp>
        <p:nvSpPr>
          <p:cNvPr id="14" name="Shape 12"/>
          <p:cNvSpPr/>
          <p:nvPr/>
        </p:nvSpPr>
        <p:spPr>
          <a:xfrm>
            <a:off x="886968" y="5029200"/>
            <a:ext cx="2834640" cy="457200"/>
          </a:xfrm>
          <a:prstGeom prst="roundRect">
            <a:avLst>
              <a:gd name="adj" fmla="val 18000"/>
            </a:avLst>
          </a:prstGeom>
          <a:solidFill>
            <a:srgbClr val="1B2330"/>
          </a:solidFill>
          <a:ln w="12700">
            <a:solidFill>
              <a:srgbClr val="36414F"/>
            </a:solidFill>
            <a:prstDash val="solid"/>
          </a:ln>
        </p:spPr>
      </p:sp>
      <p:pic>
        <p:nvPicPr>
          <p:cNvPr id="15" name="Image 0" descr="C:/Users/neuma_p1qrsic/Repo/agentic-ops1/.scratch/icons/sheet.png">    </p:cNvPr>
          <p:cNvPicPr>
            <a:picLocks noChangeAspect="1"/>
          </p:cNvPicPr>
          <p:nvPr/>
        </p:nvPicPr>
        <p:blipFill>
          <a:blip r:embed="rId1"/>
          <a:stretch>
            <a:fillRect/>
          </a:stretch>
        </p:blipFill>
        <p:spPr>
          <a:xfrm>
            <a:off x="1024128" y="5129784"/>
            <a:ext cx="256032" cy="256032"/>
          </a:xfrm>
          <a:prstGeom prst="rect">
            <a:avLst/>
          </a:prstGeom>
        </p:spPr>
      </p:pic>
      <p:sp>
        <p:nvSpPr>
          <p:cNvPr id="16" name="Text 13"/>
          <p:cNvSpPr/>
          <p:nvPr/>
        </p:nvSpPr>
        <p:spPr>
          <a:xfrm>
            <a:off x="1371600" y="5029200"/>
            <a:ext cx="2286000" cy="457200"/>
          </a:xfrm>
          <a:prstGeom prst="rect">
            <a:avLst/>
          </a:prstGeom>
          <a:noFill/>
          <a:ln/>
        </p:spPr>
        <p:txBody>
          <a:bodyPr wrap="square" rtlCol="0" anchor="ctr"/>
          <a:lstStyle/>
          <a:p>
            <a:pPr indent="0" marL="0">
              <a:buNone/>
            </a:pPr>
            <a:r>
              <a:rPr lang="en-US" sz="1150" dirty="0">
                <a:solidFill>
                  <a:srgbClr val="AAB6C7"/>
                </a:solidFill>
                <a:latin typeface="Segoe UI" pitchFamily="34" charset="0"/>
                <a:ea typeface="Segoe UI" pitchFamily="34" charset="-122"/>
                <a:cs typeface="Segoe UI" pitchFamily="34" charset="-120"/>
              </a:rPr>
              <a:t>funding-breakdown.xlsx</a:t>
            </a:r>
            <a:endParaRPr lang="en-US" sz="1150" dirty="0"/>
          </a:p>
        </p:txBody>
      </p:sp>
      <p:sp>
        <p:nvSpPr>
          <p:cNvPr id="17" name="Text 14"/>
          <p:cNvSpPr/>
          <p:nvPr/>
        </p:nvSpPr>
        <p:spPr>
          <a:xfrm>
            <a:off x="6739128" y="2404872"/>
            <a:ext cx="4885639" cy="411480"/>
          </a:xfrm>
          <a:prstGeom prst="rect">
            <a:avLst/>
          </a:prstGeom>
          <a:noFill/>
          <a:ln/>
        </p:spPr>
        <p:txBody>
          <a:bodyPr wrap="square" rtlCol="0" anchor="ctr"/>
          <a:lstStyle/>
          <a:p>
            <a:pPr indent="0" marL="0">
              <a:buNone/>
            </a:pPr>
            <a:r>
              <a:rPr lang="en-US" sz="1550" b="1" dirty="0">
                <a:solidFill>
                  <a:srgbClr val="3BE3E0"/>
                </a:solidFill>
                <a:latin typeface="Segoe UI Semibold" pitchFamily="34" charset="0"/>
                <a:ea typeface="Segoe UI Semibold" pitchFamily="34" charset="-122"/>
                <a:cs typeface="Segoe UI Semibold" pitchFamily="34" charset="-120"/>
              </a:rPr>
              <a:t>What has to happen now</a:t>
            </a:r>
            <a:endParaRPr lang="en-US" sz="1550" dirty="0"/>
          </a:p>
        </p:txBody>
      </p:sp>
      <p:sp>
        <p:nvSpPr>
          <p:cNvPr id="18" name="Text 15"/>
          <p:cNvSpPr/>
          <p:nvPr/>
        </p:nvSpPr>
        <p:spPr>
          <a:xfrm>
            <a:off x="6739128" y="2926080"/>
            <a:ext cx="457200" cy="457200"/>
          </a:xfrm>
          <a:prstGeom prst="rect">
            <a:avLst/>
          </a:prstGeom>
          <a:noFill/>
          <a:ln/>
        </p:spPr>
        <p:txBody>
          <a:bodyPr wrap="square" rtlCol="0" anchor="ctr"/>
          <a:lstStyle/>
          <a:p>
            <a:pPr indent="0" marL="0">
              <a:buNone/>
            </a:pPr>
            <a:r>
              <a:rPr lang="en-US" sz="1300" b="1" dirty="0">
                <a:solidFill>
                  <a:srgbClr val="3BE3E0"/>
                </a:solidFill>
                <a:latin typeface="Segoe UI Semibold" pitchFamily="34" charset="0"/>
                <a:ea typeface="Segoe UI Semibold" pitchFamily="34" charset="-122"/>
                <a:cs typeface="Segoe UI Semibold" pitchFamily="34" charset="-120"/>
              </a:rPr>
              <a:t>01</a:t>
            </a:r>
            <a:endParaRPr lang="en-US" sz="1300" dirty="0"/>
          </a:p>
        </p:txBody>
      </p:sp>
      <p:sp>
        <p:nvSpPr>
          <p:cNvPr id="19" name="Text 16"/>
          <p:cNvSpPr/>
          <p:nvPr/>
        </p:nvSpPr>
        <p:spPr>
          <a:xfrm>
            <a:off x="7242048" y="2926080"/>
            <a:ext cx="4382719" cy="457200"/>
          </a:xfrm>
          <a:prstGeom prst="rect">
            <a:avLst/>
          </a:prstGeom>
          <a:noFill/>
          <a:ln/>
        </p:spPr>
        <p:txBody>
          <a:bodyPr wrap="square" rtlCol="0" anchor="ctr"/>
          <a:lstStyle/>
          <a:p>
            <a:pPr indent="0" marL="0">
              <a:lnSpc>
                <a:spcPct val="105000"/>
              </a:lnSpc>
              <a:buNone/>
            </a:pPr>
            <a:r>
              <a:rPr lang="en-US" sz="1250" dirty="0">
                <a:solidFill>
                  <a:srgbClr val="F3F6FB"/>
                </a:solidFill>
                <a:latin typeface="Segoe UI" pitchFamily="34" charset="0"/>
                <a:ea typeface="Segoe UI" pitchFamily="34" charset="-122"/>
                <a:cs typeface="Segoe UI" pitchFamily="34" charset="-120"/>
              </a:rPr>
              <a:t>Confirm the amount, the entity and the value date</a:t>
            </a:r>
            <a:endParaRPr lang="en-US" sz="1250" dirty="0"/>
          </a:p>
        </p:txBody>
      </p:sp>
      <p:sp>
        <p:nvSpPr>
          <p:cNvPr id="20" name="Text 17"/>
          <p:cNvSpPr/>
          <p:nvPr/>
        </p:nvSpPr>
        <p:spPr>
          <a:xfrm>
            <a:off x="6739128" y="3493008"/>
            <a:ext cx="457200" cy="457200"/>
          </a:xfrm>
          <a:prstGeom prst="rect">
            <a:avLst/>
          </a:prstGeom>
          <a:noFill/>
          <a:ln/>
        </p:spPr>
        <p:txBody>
          <a:bodyPr wrap="square" rtlCol="0" anchor="ctr"/>
          <a:lstStyle/>
          <a:p>
            <a:pPr indent="0" marL="0">
              <a:buNone/>
            </a:pPr>
            <a:r>
              <a:rPr lang="en-US" sz="1300" b="1" dirty="0">
                <a:solidFill>
                  <a:srgbClr val="3BE3E0"/>
                </a:solidFill>
                <a:latin typeface="Segoe UI Semibold" pitchFamily="34" charset="0"/>
                <a:ea typeface="Segoe UI Semibold" pitchFamily="34" charset="-122"/>
                <a:cs typeface="Segoe UI Semibold" pitchFamily="34" charset="-120"/>
              </a:rPr>
              <a:t>02</a:t>
            </a:r>
            <a:endParaRPr lang="en-US" sz="1300" dirty="0"/>
          </a:p>
        </p:txBody>
      </p:sp>
      <p:sp>
        <p:nvSpPr>
          <p:cNvPr id="21" name="Text 18"/>
          <p:cNvSpPr/>
          <p:nvPr/>
        </p:nvSpPr>
        <p:spPr>
          <a:xfrm>
            <a:off x="7242048" y="3493008"/>
            <a:ext cx="4382719" cy="457200"/>
          </a:xfrm>
          <a:prstGeom prst="rect">
            <a:avLst/>
          </a:prstGeom>
          <a:noFill/>
          <a:ln/>
        </p:spPr>
        <p:txBody>
          <a:bodyPr wrap="square" rtlCol="0" anchor="ctr"/>
          <a:lstStyle/>
          <a:p>
            <a:pPr indent="0" marL="0">
              <a:lnSpc>
                <a:spcPct val="105000"/>
              </a:lnSpc>
              <a:buNone/>
            </a:pPr>
            <a:r>
              <a:rPr lang="en-US" sz="1250" dirty="0">
                <a:solidFill>
                  <a:srgbClr val="F3F6FB"/>
                </a:solidFill>
                <a:latin typeface="Segoe UI" pitchFamily="34" charset="0"/>
                <a:ea typeface="Segoe UI" pitchFamily="34" charset="-122"/>
                <a:cs typeface="Segoe UI" pitchFamily="34" charset="-120"/>
              </a:rPr>
              <a:t>Check the group cash position and the entity's limits</a:t>
            </a:r>
            <a:endParaRPr lang="en-US" sz="1250" dirty="0"/>
          </a:p>
        </p:txBody>
      </p:sp>
      <p:sp>
        <p:nvSpPr>
          <p:cNvPr id="22" name="Text 19"/>
          <p:cNvSpPr/>
          <p:nvPr/>
        </p:nvSpPr>
        <p:spPr>
          <a:xfrm>
            <a:off x="6739128" y="4059936"/>
            <a:ext cx="457200" cy="457200"/>
          </a:xfrm>
          <a:prstGeom prst="rect">
            <a:avLst/>
          </a:prstGeom>
          <a:noFill/>
          <a:ln/>
        </p:spPr>
        <p:txBody>
          <a:bodyPr wrap="square" rtlCol="0" anchor="ctr"/>
          <a:lstStyle/>
          <a:p>
            <a:pPr indent="0" marL="0">
              <a:buNone/>
            </a:pPr>
            <a:r>
              <a:rPr lang="en-US" sz="1300" b="1" dirty="0">
                <a:solidFill>
                  <a:srgbClr val="3BE3E0"/>
                </a:solidFill>
                <a:latin typeface="Segoe UI Semibold" pitchFamily="34" charset="0"/>
                <a:ea typeface="Segoe UI Semibold" pitchFamily="34" charset="-122"/>
                <a:cs typeface="Segoe UI Semibold" pitchFamily="34" charset="-120"/>
              </a:rPr>
              <a:t>03</a:t>
            </a:r>
            <a:endParaRPr lang="en-US" sz="1300" dirty="0"/>
          </a:p>
        </p:txBody>
      </p:sp>
      <p:sp>
        <p:nvSpPr>
          <p:cNvPr id="23" name="Text 20"/>
          <p:cNvSpPr/>
          <p:nvPr/>
        </p:nvSpPr>
        <p:spPr>
          <a:xfrm>
            <a:off x="7242048" y="4059936"/>
            <a:ext cx="4382719" cy="457200"/>
          </a:xfrm>
          <a:prstGeom prst="rect">
            <a:avLst/>
          </a:prstGeom>
          <a:noFill/>
          <a:ln/>
        </p:spPr>
        <p:txBody>
          <a:bodyPr wrap="square" rtlCol="0" anchor="ctr"/>
          <a:lstStyle/>
          <a:p>
            <a:pPr indent="0" marL="0">
              <a:lnSpc>
                <a:spcPct val="105000"/>
              </a:lnSpc>
              <a:buNone/>
            </a:pPr>
            <a:r>
              <a:rPr lang="en-US" sz="1250" dirty="0">
                <a:solidFill>
                  <a:srgbClr val="F3F6FB"/>
                </a:solidFill>
                <a:latin typeface="Segoe UI" pitchFamily="34" charset="0"/>
                <a:ea typeface="Segoe UI" pitchFamily="34" charset="-122"/>
                <a:cs typeface="Segoe UI" pitchFamily="34" charset="-120"/>
              </a:rPr>
              <a:t>Create the memo record in SAP</a:t>
            </a:r>
            <a:endParaRPr lang="en-US" sz="1250" dirty="0"/>
          </a:p>
        </p:txBody>
      </p:sp>
      <p:sp>
        <p:nvSpPr>
          <p:cNvPr id="24" name="Text 21"/>
          <p:cNvSpPr/>
          <p:nvPr/>
        </p:nvSpPr>
        <p:spPr>
          <a:xfrm>
            <a:off x="6739128" y="4626864"/>
            <a:ext cx="457200" cy="457200"/>
          </a:xfrm>
          <a:prstGeom prst="rect">
            <a:avLst/>
          </a:prstGeom>
          <a:noFill/>
          <a:ln/>
        </p:spPr>
        <p:txBody>
          <a:bodyPr wrap="square" rtlCol="0" anchor="ctr"/>
          <a:lstStyle/>
          <a:p>
            <a:pPr indent="0" marL="0">
              <a:buNone/>
            </a:pPr>
            <a:r>
              <a:rPr lang="en-US" sz="1300" b="1" dirty="0">
                <a:solidFill>
                  <a:srgbClr val="3BE3E0"/>
                </a:solidFill>
                <a:latin typeface="Segoe UI Semibold" pitchFamily="34" charset="0"/>
                <a:ea typeface="Segoe UI Semibold" pitchFamily="34" charset="-122"/>
                <a:cs typeface="Segoe UI Semibold" pitchFamily="34" charset="-120"/>
              </a:rPr>
              <a:t>04</a:t>
            </a:r>
            <a:endParaRPr lang="en-US" sz="1300" dirty="0"/>
          </a:p>
        </p:txBody>
      </p:sp>
      <p:sp>
        <p:nvSpPr>
          <p:cNvPr id="25" name="Text 22"/>
          <p:cNvSpPr/>
          <p:nvPr/>
        </p:nvSpPr>
        <p:spPr>
          <a:xfrm>
            <a:off x="7242048" y="4626864"/>
            <a:ext cx="4382719" cy="457200"/>
          </a:xfrm>
          <a:prstGeom prst="rect">
            <a:avLst/>
          </a:prstGeom>
          <a:noFill/>
          <a:ln/>
        </p:spPr>
        <p:txBody>
          <a:bodyPr wrap="square" rtlCol="0" anchor="ctr"/>
          <a:lstStyle/>
          <a:p>
            <a:pPr indent="0" marL="0">
              <a:lnSpc>
                <a:spcPct val="105000"/>
              </a:lnSpc>
              <a:buNone/>
            </a:pPr>
            <a:r>
              <a:rPr lang="en-US" sz="1250" dirty="0">
                <a:solidFill>
                  <a:srgbClr val="F3F6FB"/>
                </a:solidFill>
                <a:latin typeface="Segoe UI" pitchFamily="34" charset="0"/>
                <a:ea typeface="Segoe UI" pitchFamily="34" charset="-122"/>
                <a:cs typeface="Segoe UI" pitchFamily="34" charset="-120"/>
              </a:rPr>
              <a:t>Stage the transfer and get the second approval</a:t>
            </a:r>
            <a:endParaRPr lang="en-US" sz="1250" dirty="0"/>
          </a:p>
        </p:txBody>
      </p:sp>
      <p:sp>
        <p:nvSpPr>
          <p:cNvPr id="26" name="Text 23"/>
          <p:cNvSpPr/>
          <p:nvPr/>
        </p:nvSpPr>
        <p:spPr>
          <a:xfrm>
            <a:off x="6739128" y="5193792"/>
            <a:ext cx="457200" cy="457200"/>
          </a:xfrm>
          <a:prstGeom prst="rect">
            <a:avLst/>
          </a:prstGeom>
          <a:noFill/>
          <a:ln/>
        </p:spPr>
        <p:txBody>
          <a:bodyPr wrap="square" rtlCol="0" anchor="ctr"/>
          <a:lstStyle/>
          <a:p>
            <a:pPr indent="0" marL="0">
              <a:buNone/>
            </a:pPr>
            <a:r>
              <a:rPr lang="en-US" sz="1300" b="1" dirty="0">
                <a:solidFill>
                  <a:srgbClr val="3BE3E0"/>
                </a:solidFill>
                <a:latin typeface="Segoe UI Semibold" pitchFamily="34" charset="0"/>
                <a:ea typeface="Segoe UI Semibold" pitchFamily="34" charset="-122"/>
                <a:cs typeface="Segoe UI Semibold" pitchFamily="34" charset="-120"/>
              </a:rPr>
              <a:t>05</a:t>
            </a:r>
            <a:endParaRPr lang="en-US" sz="1300" dirty="0"/>
          </a:p>
        </p:txBody>
      </p:sp>
      <p:sp>
        <p:nvSpPr>
          <p:cNvPr id="27" name="Text 24"/>
          <p:cNvSpPr/>
          <p:nvPr/>
        </p:nvSpPr>
        <p:spPr>
          <a:xfrm>
            <a:off x="7242048" y="5193792"/>
            <a:ext cx="4382719" cy="457200"/>
          </a:xfrm>
          <a:prstGeom prst="rect">
            <a:avLst/>
          </a:prstGeom>
          <a:noFill/>
          <a:ln/>
        </p:spPr>
        <p:txBody>
          <a:bodyPr wrap="square" rtlCol="0" anchor="ctr"/>
          <a:lstStyle/>
          <a:p>
            <a:pPr indent="0" marL="0">
              <a:lnSpc>
                <a:spcPct val="105000"/>
              </a:lnSpc>
              <a:buNone/>
            </a:pPr>
            <a:r>
              <a:rPr lang="en-US" sz="1250" dirty="0">
                <a:solidFill>
                  <a:srgbClr val="F3F6FB"/>
                </a:solidFill>
                <a:latin typeface="Segoe UI" pitchFamily="34" charset="0"/>
                <a:ea typeface="Segoe UI" pitchFamily="34" charset="-122"/>
                <a:cs typeface="Segoe UI" pitchFamily="34" charset="-120"/>
              </a:rPr>
              <a:t>Confirm back to the subsidiary, then file the trail</a:t>
            </a:r>
            <a:endParaRPr lang="en-US" sz="1250" dirty="0"/>
          </a:p>
        </p:txBody>
      </p:sp>
      <p:sp>
        <p:nvSpPr>
          <p:cNvPr id="28" name="Text 2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29" name="Text 2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02 / 09</a:t>
            </a:r>
            <a:endParaRPr lang="en-US" sz="900" dirty="0"/>
          </a:p>
        </p:txBody>
      </p:sp>
      <p:sp>
        <p:nvSpPr>
          <p:cNvPr id="30" name="Shape 2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914400"/>
          </a:xfrm>
          <a:prstGeom prst="rect">
            <a:avLst/>
          </a:prstGeom>
          <a:noFill/>
          <a:ln/>
        </p:spPr>
        <p:txBody>
          <a:bodyPr wrap="square" rtlCol="0" anchor="ctr"/>
          <a:lstStyle/>
          <a:p>
            <a:pPr indent="0" marL="0">
              <a:lnSpc>
                <a:spcPct val="105000"/>
              </a:lnSpc>
              <a:buNone/>
            </a:pPr>
            <a:r>
              <a:rPr lang="en-US" sz="3100" b="1" dirty="0">
                <a:solidFill>
                  <a:srgbClr val="F3F6FB"/>
                </a:solidFill>
                <a:latin typeface="Segoe UI Semibold" pitchFamily="34" charset="0"/>
                <a:ea typeface="Segoe UI Semibold" pitchFamily="34" charset="-122"/>
                <a:cs typeface="Segoe UI Semibold" pitchFamily="34" charset="-120"/>
              </a:rPr>
              <a:t>Today, a person is the integration.</a:t>
            </a:r>
            <a:endParaRPr lang="en-US" sz="3100" dirty="0"/>
          </a:p>
        </p:txBody>
      </p:sp>
      <p:sp>
        <p:nvSpPr>
          <p:cNvPr id="5" name="Shape 3"/>
          <p:cNvSpPr/>
          <p:nvPr/>
        </p:nvSpPr>
        <p:spPr>
          <a:xfrm>
            <a:off x="566928" y="2514600"/>
            <a:ext cx="3246120" cy="2286000"/>
          </a:xfrm>
          <a:prstGeom prst="roundRect">
            <a:avLst>
              <a:gd name="adj" fmla="val 3600"/>
            </a:avLst>
          </a:prstGeom>
          <a:solidFill>
            <a:srgbClr val="141A25"/>
          </a:solidFill>
          <a:ln w="13970">
            <a:solidFill>
              <a:srgbClr val="36414F"/>
            </a:solidFill>
            <a:prstDash val="solid"/>
          </a:ln>
        </p:spPr>
      </p:sp>
      <p:sp>
        <p:nvSpPr>
          <p:cNvPr id="6" name="Shape 4"/>
          <p:cNvSpPr/>
          <p:nvPr/>
        </p:nvSpPr>
        <p:spPr>
          <a:xfrm>
            <a:off x="841248" y="2834640"/>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mail.png">    </p:cNvPr>
          <p:cNvPicPr>
            <a:picLocks noChangeAspect="1"/>
          </p:cNvPicPr>
          <p:nvPr/>
        </p:nvPicPr>
        <p:blipFill>
          <a:blip r:embed="rId1"/>
          <a:stretch>
            <a:fillRect/>
          </a:stretch>
        </p:blipFill>
        <p:spPr>
          <a:xfrm>
            <a:off x="986089" y="2979481"/>
            <a:ext cx="313822" cy="313822"/>
          </a:xfrm>
          <a:prstGeom prst="rect">
            <a:avLst/>
          </a:prstGeom>
        </p:spPr>
      </p:pic>
      <p:sp>
        <p:nvSpPr>
          <p:cNvPr id="8" name="Text 5"/>
          <p:cNvSpPr/>
          <p:nvPr/>
        </p:nvSpPr>
        <p:spPr>
          <a:xfrm>
            <a:off x="841248" y="3611880"/>
            <a:ext cx="2697480"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The request</a:t>
            </a:r>
            <a:endParaRPr lang="en-US" sz="1500" dirty="0"/>
          </a:p>
        </p:txBody>
      </p:sp>
      <p:sp>
        <p:nvSpPr>
          <p:cNvPr id="9" name="Text 6"/>
          <p:cNvSpPr/>
          <p:nvPr/>
        </p:nvSpPr>
        <p:spPr>
          <a:xfrm>
            <a:off x="841248" y="3959352"/>
            <a:ext cx="2697480" cy="731520"/>
          </a:xfrm>
          <a:prstGeom prst="rect">
            <a:avLst/>
          </a:prstGeom>
          <a:noFill/>
          <a:ln/>
        </p:spPr>
        <p:txBody>
          <a:bodyPr wrap="square" rtlCol="0" anchor="ctr"/>
          <a:lstStyle/>
          <a:p>
            <a:pPr indent="0" marL="0">
              <a:lnSpc>
                <a:spcPct val="110000"/>
              </a:lnSpc>
              <a:buNone/>
            </a:pPr>
            <a:r>
              <a:rPr lang="en-US" sz="1200" dirty="0">
                <a:solidFill>
                  <a:srgbClr val="AAB6C7"/>
                </a:solidFill>
                <a:latin typeface="Segoe UI" pitchFamily="34" charset="0"/>
                <a:ea typeface="Segoe UI" pitchFamily="34" charset="-122"/>
                <a:cs typeface="Segoe UI" pitchFamily="34" charset="-120"/>
              </a:rPr>
              <a:t>Free text plus a spreadsheet. Every entity words it differently.</a:t>
            </a:r>
            <a:endParaRPr lang="en-US" sz="1200" dirty="0"/>
          </a:p>
        </p:txBody>
      </p:sp>
      <p:sp>
        <p:nvSpPr>
          <p:cNvPr id="10" name="Shape 7"/>
          <p:cNvSpPr/>
          <p:nvPr/>
        </p:nvSpPr>
        <p:spPr>
          <a:xfrm>
            <a:off x="4270248" y="2514600"/>
            <a:ext cx="3657600" cy="2286000"/>
          </a:xfrm>
          <a:prstGeom prst="roundRect">
            <a:avLst>
              <a:gd name="adj" fmla="val 3600"/>
            </a:avLst>
          </a:prstGeom>
          <a:solidFill>
            <a:srgbClr val="24190E"/>
          </a:solidFill>
          <a:ln w="17780">
            <a:solidFill>
              <a:srgbClr val="FFC96B"/>
            </a:solidFill>
            <a:prstDash val="dash"/>
          </a:ln>
        </p:spPr>
      </p:sp>
      <p:pic>
        <p:nvPicPr>
          <p:cNvPr id="11" name="Image 1" descr="C:/Users/neuma_p1qrsic/Repo/agentic-ops1/.scratch/icons/gap.png">    </p:cNvPr>
          <p:cNvPicPr>
            <a:picLocks noChangeAspect="1"/>
          </p:cNvPicPr>
          <p:nvPr/>
        </p:nvPicPr>
        <p:blipFill>
          <a:blip r:embed="rId2"/>
          <a:stretch>
            <a:fillRect/>
          </a:stretch>
        </p:blipFill>
        <p:spPr>
          <a:xfrm>
            <a:off x="5797296" y="2807208"/>
            <a:ext cx="603504" cy="603504"/>
          </a:xfrm>
          <a:prstGeom prst="rect">
            <a:avLst/>
          </a:prstGeom>
        </p:spPr>
      </p:pic>
      <p:sp>
        <p:nvSpPr>
          <p:cNvPr id="12" name="Text 8"/>
          <p:cNvSpPr/>
          <p:nvPr/>
        </p:nvSpPr>
        <p:spPr>
          <a:xfrm>
            <a:off x="4270248" y="3538728"/>
            <a:ext cx="3657600" cy="365760"/>
          </a:xfrm>
          <a:prstGeom prst="rect">
            <a:avLst/>
          </a:prstGeom>
          <a:noFill/>
          <a:ln/>
        </p:spPr>
        <p:txBody>
          <a:bodyPr wrap="square" rtlCol="0" anchor="ctr"/>
          <a:lstStyle/>
          <a:p>
            <a:pPr algn="ctr" indent="0" marL="0">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3904488"/>
            <a:ext cx="3017520" cy="777240"/>
          </a:xfrm>
          <a:prstGeom prst="rect">
            <a:avLst/>
          </a:prstGeom>
          <a:noFill/>
          <a:ln/>
        </p:spPr>
        <p:txBody>
          <a:bodyPr wrap="square" rtlCol="0" anchor="ctr"/>
          <a:lstStyle/>
          <a:p>
            <a:pPr algn="ctr" indent="0" marL="0">
              <a:lnSpc>
                <a:spcPct val="110000"/>
              </a:lnSpc>
              <a:buNone/>
            </a:pPr>
            <a:r>
              <a:rPr lang="en-US" sz="1200" dirty="0">
                <a:solidFill>
                  <a:srgbClr val="F3F6FB"/>
                </a:solidFill>
                <a:latin typeface="Segoe UI" pitchFamily="34" charset="0"/>
                <a:ea typeface="Segoe UI" pitchFamily="34" charset="-122"/>
                <a:cs typeface="Segoe UI" pitchFamily="34" charset="-120"/>
              </a:rPr>
              <a:t>read the mail, re-key the numbers, hop between screens, chase approvals</a:t>
            </a:r>
            <a:endParaRPr lang="en-US" sz="1200" dirty="0"/>
          </a:p>
        </p:txBody>
      </p:sp>
      <p:sp>
        <p:nvSpPr>
          <p:cNvPr id="14" name="Shape 10"/>
          <p:cNvSpPr/>
          <p:nvPr/>
        </p:nvSpPr>
        <p:spPr>
          <a:xfrm>
            <a:off x="8385048" y="2514600"/>
            <a:ext cx="3239719" cy="2286000"/>
          </a:xfrm>
          <a:prstGeom prst="roundRect">
            <a:avLst>
              <a:gd name="adj" fmla="val 3600"/>
            </a:avLst>
          </a:prstGeom>
          <a:solidFill>
            <a:srgbClr val="141A25"/>
          </a:solidFill>
          <a:ln w="13970">
            <a:solidFill>
              <a:srgbClr val="36414F"/>
            </a:solidFill>
            <a:prstDash val="solid"/>
          </a:ln>
        </p:spPr>
      </p:sp>
      <p:sp>
        <p:nvSpPr>
          <p:cNvPr id="15" name="Shape 11"/>
          <p:cNvSpPr/>
          <p:nvPr/>
        </p:nvSpPr>
        <p:spPr>
          <a:xfrm>
            <a:off x="8659368" y="2834640"/>
            <a:ext cx="603504" cy="603504"/>
          </a:xfrm>
          <a:prstGeom prst="roundRect">
            <a:avLst>
              <a:gd name="adj" fmla="val 16667"/>
            </a:avLst>
          </a:prstGeom>
          <a:solidFill>
            <a:srgbClr val="1B2330"/>
          </a:solidFill>
          <a:ln w="15240">
            <a:solidFill>
              <a:srgbClr val="3BE3E0"/>
            </a:solidFill>
            <a:prstDash val="solid"/>
          </a:ln>
        </p:spPr>
      </p:sp>
      <p:pic>
        <p:nvPicPr>
          <p:cNvPr id="16" name="Image 2" descr="C:/Users/neuma_p1qrsic/Repo/agentic-ops1/.scratch/icons/database.png">    </p:cNvPr>
          <p:cNvPicPr>
            <a:picLocks noChangeAspect="1"/>
          </p:cNvPicPr>
          <p:nvPr/>
        </p:nvPicPr>
        <p:blipFill>
          <a:blip r:embed="rId3"/>
          <a:stretch>
            <a:fillRect/>
          </a:stretch>
        </p:blipFill>
        <p:spPr>
          <a:xfrm>
            <a:off x="8804209" y="2979481"/>
            <a:ext cx="313822" cy="313822"/>
          </a:xfrm>
          <a:prstGeom prst="rect">
            <a:avLst/>
          </a:prstGeom>
        </p:spPr>
      </p:pic>
      <p:sp>
        <p:nvSpPr>
          <p:cNvPr id="17" name="Text 12"/>
          <p:cNvSpPr/>
          <p:nvPr/>
        </p:nvSpPr>
        <p:spPr>
          <a:xfrm>
            <a:off x="8659368" y="3611880"/>
            <a:ext cx="2691079"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SAP</a:t>
            </a:r>
            <a:endParaRPr lang="en-US" sz="1500" dirty="0"/>
          </a:p>
        </p:txBody>
      </p:sp>
      <p:sp>
        <p:nvSpPr>
          <p:cNvPr id="18" name="Text 13"/>
          <p:cNvSpPr/>
          <p:nvPr/>
        </p:nvSpPr>
        <p:spPr>
          <a:xfrm>
            <a:off x="8659368" y="3959352"/>
            <a:ext cx="2691079" cy="731520"/>
          </a:xfrm>
          <a:prstGeom prst="rect">
            <a:avLst/>
          </a:prstGeom>
          <a:noFill/>
          <a:ln/>
        </p:spPr>
        <p:txBody>
          <a:bodyPr wrap="square" rtlCol="0" anchor="ctr"/>
          <a:lstStyle/>
          <a:p>
            <a:pPr indent="0" marL="0">
              <a:lnSpc>
                <a:spcPct val="110000"/>
              </a:lnSpc>
              <a:buNone/>
            </a:pPr>
            <a:r>
              <a:rPr lang="en-US" sz="1200" dirty="0">
                <a:solidFill>
                  <a:srgbClr val="AAB6C7"/>
                </a:solidFill>
                <a:latin typeface="Segoe UI" pitchFamily="34" charset="0"/>
                <a:ea typeface="Segoe UI" pitchFamily="34" charset="-122"/>
                <a:cs typeface="Segoe UI" pitchFamily="34" charset="-120"/>
              </a:rPr>
              <a:t>Cash position, memo record, payment run, audit trail.</a:t>
            </a:r>
            <a:endParaRPr lang="en-US" sz="1200" dirty="0"/>
          </a:p>
        </p:txBody>
      </p:sp>
      <p:sp>
        <p:nvSpPr>
          <p:cNvPr id="19" name="Shape 14"/>
          <p:cNvSpPr/>
          <p:nvPr/>
        </p:nvSpPr>
        <p:spPr>
          <a:xfrm>
            <a:off x="3813048" y="3657600"/>
            <a:ext cx="457200" cy="0"/>
          </a:xfrm>
          <a:prstGeom prst="line">
            <a:avLst/>
          </a:prstGeom>
          <a:noFill/>
          <a:ln w="25400">
            <a:solidFill>
              <a:srgbClr val="FFC96B"/>
            </a:solidFill>
            <a:prstDash val="solid"/>
            <a:tailEnd type="triangle"/>
          </a:ln>
        </p:spPr>
      </p:sp>
      <p:sp>
        <p:nvSpPr>
          <p:cNvPr id="20" name="Shape 15"/>
          <p:cNvSpPr/>
          <p:nvPr/>
        </p:nvSpPr>
        <p:spPr>
          <a:xfrm>
            <a:off x="7927848" y="3657600"/>
            <a:ext cx="457200" cy="0"/>
          </a:xfrm>
          <a:prstGeom prst="line">
            <a:avLst/>
          </a:prstGeom>
          <a:noFill/>
          <a:ln w="25400">
            <a:solidFill>
              <a:srgbClr val="FFC96B"/>
            </a:solidFill>
            <a:prstDash val="solid"/>
            <a:tailEnd type="triangle"/>
          </a:ln>
        </p:spPr>
      </p:sp>
      <p:sp>
        <p:nvSpPr>
          <p:cNvPr id="21" name="Text 16"/>
          <p:cNvSpPr/>
          <p:nvPr/>
        </p:nvSpPr>
        <p:spPr>
          <a:xfrm>
            <a:off x="566928" y="5212080"/>
            <a:ext cx="11057839" cy="54864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The judgment should stay with the treasurer. The typing should not.</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09</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FIX</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So we built the fix. An AI co-worker on your SAP data.</a:t>
            </a:r>
            <a:endParaRPr lang="en-US" sz="2900" dirty="0"/>
          </a:p>
        </p:txBody>
      </p:sp>
      <p:sp>
        <p:nvSpPr>
          <p:cNvPr id="5" name="Shape 3"/>
          <p:cNvSpPr/>
          <p:nvPr/>
        </p:nvSpPr>
        <p:spPr>
          <a:xfrm>
            <a:off x="566928" y="1965960"/>
            <a:ext cx="3472586" cy="2743200"/>
          </a:xfrm>
          <a:prstGeom prst="roundRect">
            <a:avLst>
              <a:gd name="adj" fmla="val 3000"/>
            </a:avLst>
          </a:prstGeom>
          <a:solidFill>
            <a:srgbClr val="141A25"/>
          </a:solidFill>
          <a:ln w="13970">
            <a:solidFill>
              <a:srgbClr val="36414F"/>
            </a:solidFill>
            <a:prstDash val="solid"/>
          </a:ln>
        </p:spPr>
      </p:sp>
      <p:sp>
        <p:nvSpPr>
          <p:cNvPr id="6" name="Shape 4"/>
          <p:cNvSpPr/>
          <p:nvPr/>
        </p:nvSpPr>
        <p:spPr>
          <a:xfrm>
            <a:off x="841248" y="2258568"/>
            <a:ext cx="621792" cy="621792"/>
          </a:xfrm>
          <a:prstGeom prst="roundRect">
            <a:avLst>
              <a:gd name="adj" fmla="val 16176"/>
            </a:avLst>
          </a:prstGeom>
          <a:solidFill>
            <a:srgbClr val="1B2330"/>
          </a:solidFill>
          <a:ln w="15240">
            <a:solidFill>
              <a:srgbClr val="3BE3E0"/>
            </a:solidFill>
            <a:prstDash val="solid"/>
          </a:ln>
        </p:spPr>
      </p:sp>
      <p:pic>
        <p:nvPicPr>
          <p:cNvPr id="7" name="Image 0" descr="C:/Users/neuma_p1qrsic/Repo/agentic-ops1/.scratch/icons/mail.png">    </p:cNvPr>
          <p:cNvPicPr>
            <a:picLocks noChangeAspect="1"/>
          </p:cNvPicPr>
          <p:nvPr/>
        </p:nvPicPr>
        <p:blipFill>
          <a:blip r:embed="rId1"/>
          <a:stretch>
            <a:fillRect/>
          </a:stretch>
        </p:blipFill>
        <p:spPr>
          <a:xfrm>
            <a:off x="990478" y="2407798"/>
            <a:ext cx="323332" cy="323332"/>
          </a:xfrm>
          <a:prstGeom prst="rect">
            <a:avLst/>
          </a:prstGeom>
        </p:spPr>
      </p:pic>
      <p:sp>
        <p:nvSpPr>
          <p:cNvPr id="8" name="Text 5"/>
          <p:cNvSpPr/>
          <p:nvPr/>
        </p:nvSpPr>
        <p:spPr>
          <a:xfrm>
            <a:off x="841248"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It reads the request</a:t>
            </a:r>
            <a:endParaRPr lang="en-US" sz="1750" dirty="0"/>
          </a:p>
        </p:txBody>
      </p:sp>
      <p:sp>
        <p:nvSpPr>
          <p:cNvPr id="9" name="Text 6"/>
          <p:cNvSpPr/>
          <p:nvPr/>
        </p:nvSpPr>
        <p:spPr>
          <a:xfrm>
            <a:off x="841248"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The LLM reads the email and its attachment: entity, amount, currency, value date, purpose. Any wording, any format.</a:t>
            </a:r>
            <a:endParaRPr lang="en-US" sz="1250" dirty="0"/>
          </a:p>
        </p:txBody>
      </p:sp>
      <p:sp>
        <p:nvSpPr>
          <p:cNvPr id="10" name="Shape 7"/>
          <p:cNvSpPr/>
          <p:nvPr/>
        </p:nvSpPr>
        <p:spPr>
          <a:xfrm>
            <a:off x="4359554" y="1965960"/>
            <a:ext cx="3472586" cy="2743200"/>
          </a:xfrm>
          <a:prstGeom prst="roundRect">
            <a:avLst>
              <a:gd name="adj" fmla="val 3000"/>
            </a:avLst>
          </a:prstGeom>
          <a:solidFill>
            <a:srgbClr val="141A25"/>
          </a:solidFill>
          <a:ln w="13970">
            <a:solidFill>
              <a:srgbClr val="36414F"/>
            </a:solidFill>
            <a:prstDash val="solid"/>
          </a:ln>
        </p:spPr>
      </p:sp>
      <p:sp>
        <p:nvSpPr>
          <p:cNvPr id="11" name="Shape 8"/>
          <p:cNvSpPr/>
          <p:nvPr/>
        </p:nvSpPr>
        <p:spPr>
          <a:xfrm>
            <a:off x="4633874" y="2258568"/>
            <a:ext cx="621792" cy="621792"/>
          </a:xfrm>
          <a:prstGeom prst="roundRect">
            <a:avLst>
              <a:gd name="adj" fmla="val 16176"/>
            </a:avLst>
          </a:prstGeom>
          <a:solidFill>
            <a:srgbClr val="1B2330"/>
          </a:solidFill>
          <a:ln w="15240">
            <a:solidFill>
              <a:srgbClr val="3BE3E0"/>
            </a:solidFill>
            <a:prstDash val="solid"/>
          </a:ln>
        </p:spPr>
      </p:sp>
      <p:pic>
        <p:nvPicPr>
          <p:cNvPr id="12" name="Image 1" descr="C:/Users/neuma_p1qrsic/Repo/agentic-ops1/.scratch/icons/gauge.png">    </p:cNvPr>
          <p:cNvPicPr>
            <a:picLocks noChangeAspect="1"/>
          </p:cNvPicPr>
          <p:nvPr/>
        </p:nvPicPr>
        <p:blipFill>
          <a:blip r:embed="rId2"/>
          <a:stretch>
            <a:fillRect/>
          </a:stretch>
        </p:blipFill>
        <p:spPr>
          <a:xfrm>
            <a:off x="4783104" y="2407798"/>
            <a:ext cx="323332" cy="323332"/>
          </a:xfrm>
          <a:prstGeom prst="rect">
            <a:avLst/>
          </a:prstGeom>
        </p:spPr>
      </p:pic>
      <p:sp>
        <p:nvSpPr>
          <p:cNvPr id="13" name="Text 9"/>
          <p:cNvSpPr/>
          <p:nvPr/>
        </p:nvSpPr>
        <p:spPr>
          <a:xfrm>
            <a:off x="4633874"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It checks the position</a:t>
            </a:r>
            <a:endParaRPr lang="en-US" sz="1750" dirty="0"/>
          </a:p>
        </p:txBody>
      </p:sp>
      <p:sp>
        <p:nvSpPr>
          <p:cNvPr id="14" name="Text 10"/>
          <p:cNvSpPr/>
          <p:nvPr/>
        </p:nvSpPr>
        <p:spPr>
          <a:xfrm>
            <a:off x="4633874"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It fetches the live cash position and the entity's limits straight from SAP before it proposes anything.</a:t>
            </a:r>
            <a:endParaRPr lang="en-US" sz="1250" dirty="0"/>
          </a:p>
        </p:txBody>
      </p:sp>
      <p:sp>
        <p:nvSpPr>
          <p:cNvPr id="15" name="Shape 11"/>
          <p:cNvSpPr/>
          <p:nvPr/>
        </p:nvSpPr>
        <p:spPr>
          <a:xfrm>
            <a:off x="8152181" y="1965960"/>
            <a:ext cx="3472586" cy="2743200"/>
          </a:xfrm>
          <a:prstGeom prst="roundRect">
            <a:avLst>
              <a:gd name="adj" fmla="val 3000"/>
            </a:avLst>
          </a:prstGeom>
          <a:solidFill>
            <a:srgbClr val="141A25"/>
          </a:solidFill>
          <a:ln w="13970">
            <a:solidFill>
              <a:srgbClr val="36414F"/>
            </a:solidFill>
            <a:prstDash val="solid"/>
          </a:ln>
        </p:spPr>
      </p:sp>
      <p:sp>
        <p:nvSpPr>
          <p:cNvPr id="16" name="Shape 12"/>
          <p:cNvSpPr/>
          <p:nvPr/>
        </p:nvSpPr>
        <p:spPr>
          <a:xfrm>
            <a:off x="8426501" y="2258568"/>
            <a:ext cx="621792" cy="621792"/>
          </a:xfrm>
          <a:prstGeom prst="roundRect">
            <a:avLst>
              <a:gd name="adj" fmla="val 16176"/>
            </a:avLst>
          </a:prstGeom>
          <a:solidFill>
            <a:srgbClr val="1B2330"/>
          </a:solidFill>
          <a:ln w="15240">
            <a:solidFill>
              <a:srgbClr val="3BE3E0"/>
            </a:solidFill>
            <a:prstDash val="solid"/>
          </a:ln>
        </p:spPr>
      </p:sp>
      <p:pic>
        <p:nvPicPr>
          <p:cNvPr id="17" name="Image 2" descr="C:/Users/neuma_p1qrsic/Repo/agentic-ops1/.scratch/icons/check.png">    </p:cNvPr>
          <p:cNvPicPr>
            <a:picLocks noChangeAspect="1"/>
          </p:cNvPicPr>
          <p:nvPr/>
        </p:nvPicPr>
        <p:blipFill>
          <a:blip r:embed="rId3"/>
          <a:stretch>
            <a:fillRect/>
          </a:stretch>
        </p:blipFill>
        <p:spPr>
          <a:xfrm>
            <a:off x="8575731" y="2407798"/>
            <a:ext cx="323332" cy="323332"/>
          </a:xfrm>
          <a:prstGeom prst="rect">
            <a:avLst/>
          </a:prstGeom>
        </p:spPr>
      </p:pic>
      <p:sp>
        <p:nvSpPr>
          <p:cNvPr id="18" name="Text 13"/>
          <p:cNvSpPr/>
          <p:nvPr/>
        </p:nvSpPr>
        <p:spPr>
          <a:xfrm>
            <a:off x="8426501" y="3008376"/>
            <a:ext cx="2923946" cy="457200"/>
          </a:xfrm>
          <a:prstGeom prst="rect">
            <a:avLst/>
          </a:prstGeom>
          <a:noFill/>
          <a:ln/>
        </p:spPr>
        <p:txBody>
          <a:bodyPr wrap="square" rtlCol="0" anchor="ctr"/>
          <a:lstStyle/>
          <a:p>
            <a:pPr indent="0" marL="0">
              <a:buNone/>
            </a:pPr>
            <a:r>
              <a:rPr lang="en-US" sz="1750" b="1" dirty="0">
                <a:solidFill>
                  <a:srgbClr val="F3F6FB"/>
                </a:solidFill>
                <a:latin typeface="Segoe UI Semibold" pitchFamily="34" charset="0"/>
                <a:ea typeface="Segoe UI Semibold" pitchFamily="34" charset="-122"/>
                <a:cs typeface="Segoe UI Semibold" pitchFamily="34" charset="-120"/>
              </a:rPr>
              <a:t>It prepares the action</a:t>
            </a:r>
            <a:endParaRPr lang="en-US" sz="1750" dirty="0"/>
          </a:p>
        </p:txBody>
      </p:sp>
      <p:sp>
        <p:nvSpPr>
          <p:cNvPr id="19" name="Text 14"/>
          <p:cNvSpPr/>
          <p:nvPr/>
        </p:nvSpPr>
        <p:spPr>
          <a:xfrm>
            <a:off x="8426501" y="3447288"/>
            <a:ext cx="2923946" cy="1097280"/>
          </a:xfrm>
          <a:prstGeom prst="rect">
            <a:avLst/>
          </a:prstGeom>
          <a:noFill/>
          <a:ln/>
        </p:spPr>
        <p:txBody>
          <a:bodyPr wrap="square" rtlCol="0" anchor="t"/>
          <a:lstStyle/>
          <a:p>
            <a:pPr indent="0" marL="0">
              <a:lnSpc>
                <a:spcPct val="116000"/>
              </a:lnSpc>
              <a:buNone/>
            </a:pPr>
            <a:r>
              <a:rPr lang="en-US" sz="1250" dirty="0">
                <a:solidFill>
                  <a:srgbClr val="AAB6C7"/>
                </a:solidFill>
                <a:latin typeface="Segoe UI" pitchFamily="34" charset="0"/>
                <a:ea typeface="Segoe UI" pitchFamily="34" charset="-122"/>
                <a:cs typeface="Segoe UI" pitchFamily="34" charset="-120"/>
              </a:rPr>
              <a:t>It creates the memo record, stages the transfer and drafts the confirmation email. Then it waits for you.</a:t>
            </a:r>
            <a:endParaRPr lang="en-US" sz="1250" dirty="0"/>
          </a:p>
        </p:txBody>
      </p:sp>
      <p:sp>
        <p:nvSpPr>
          <p:cNvPr id="20" name="Text 15"/>
          <p:cNvSpPr/>
          <p:nvPr/>
        </p:nvSpPr>
        <p:spPr>
          <a:xfrm>
            <a:off x="566928"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1</a:t>
            </a:r>
            <a:endParaRPr lang="en-US" sz="3100" dirty="0"/>
          </a:p>
        </p:txBody>
      </p:sp>
      <p:sp>
        <p:nvSpPr>
          <p:cNvPr id="21" name="Text 16"/>
          <p:cNvSpPr/>
          <p:nvPr/>
        </p:nvSpPr>
        <p:spPr>
          <a:xfrm>
            <a:off x="1984248"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flow, inbox to SAP</a:t>
            </a:r>
            <a:endParaRPr lang="en-US" sz="1250" dirty="0"/>
          </a:p>
        </p:txBody>
      </p:sp>
      <p:sp>
        <p:nvSpPr>
          <p:cNvPr id="22" name="Text 17"/>
          <p:cNvSpPr/>
          <p:nvPr/>
        </p:nvSpPr>
        <p:spPr>
          <a:xfrm>
            <a:off x="4359554"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0</a:t>
            </a:r>
            <a:endParaRPr lang="en-US" sz="3100" dirty="0"/>
          </a:p>
        </p:txBody>
      </p:sp>
      <p:sp>
        <p:nvSpPr>
          <p:cNvPr id="23" name="Text 18"/>
          <p:cNvSpPr/>
          <p:nvPr/>
        </p:nvSpPr>
        <p:spPr>
          <a:xfrm>
            <a:off x="5776874"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values re-keyed</a:t>
            </a:r>
            <a:endParaRPr lang="en-US" sz="1250" dirty="0"/>
          </a:p>
        </p:txBody>
      </p:sp>
      <p:sp>
        <p:nvSpPr>
          <p:cNvPr id="24" name="Text 19"/>
          <p:cNvSpPr/>
          <p:nvPr/>
        </p:nvSpPr>
        <p:spPr>
          <a:xfrm>
            <a:off x="8152181" y="5074920"/>
            <a:ext cx="1371600" cy="777240"/>
          </a:xfrm>
          <a:prstGeom prst="rect">
            <a:avLst/>
          </a:prstGeom>
          <a:noFill/>
          <a:ln/>
        </p:spPr>
        <p:txBody>
          <a:bodyPr wrap="square" rtlCol="0" anchor="ctr"/>
          <a:lstStyle/>
          <a:p>
            <a:pPr indent="0" marL="0">
              <a:buNone/>
            </a:pPr>
            <a:r>
              <a:rPr lang="en-US" sz="3100" b="1" dirty="0">
                <a:solidFill>
                  <a:srgbClr val="3BE3E0"/>
                </a:solidFill>
                <a:latin typeface="Segoe UI Semibold" pitchFamily="34" charset="0"/>
                <a:ea typeface="Segoe UI Semibold" pitchFamily="34" charset="-122"/>
                <a:cs typeface="Segoe UI Semibold" pitchFamily="34" charset="-120"/>
              </a:rPr>
              <a:t>4-eye</a:t>
            </a:r>
            <a:endParaRPr lang="en-US" sz="3100" dirty="0"/>
          </a:p>
        </p:txBody>
      </p:sp>
      <p:sp>
        <p:nvSpPr>
          <p:cNvPr id="25" name="Text 20"/>
          <p:cNvSpPr/>
          <p:nvPr/>
        </p:nvSpPr>
        <p:spPr>
          <a:xfrm>
            <a:off x="9569501" y="5074920"/>
            <a:ext cx="2009546" cy="777240"/>
          </a:xfrm>
          <a:prstGeom prst="rect">
            <a:avLst/>
          </a:prstGeom>
          <a:noFill/>
          <a:ln/>
        </p:spPr>
        <p:txBody>
          <a:bodyPr wrap="square" rtlCol="0" anchor="ctr"/>
          <a:lstStyle/>
          <a:p>
            <a:pPr indent="0" marL="0">
              <a:lnSpc>
                <a:spcPct val="105000"/>
              </a:lnSpc>
              <a:buNone/>
            </a:pPr>
            <a:r>
              <a:rPr lang="en-US" sz="1250" dirty="0">
                <a:solidFill>
                  <a:srgbClr val="AAB6C7"/>
                </a:solidFill>
                <a:latin typeface="Segoe UI" pitchFamily="34" charset="0"/>
                <a:ea typeface="Segoe UI" pitchFamily="34" charset="-122"/>
                <a:cs typeface="Segoe UI" pitchFamily="34" charset="-120"/>
              </a:rPr>
              <a:t>on every transfer</a:t>
            </a:r>
            <a:endParaRPr lang="en-US" sz="1250" dirty="0"/>
          </a:p>
        </p:txBody>
      </p:sp>
      <p:sp>
        <p:nvSpPr>
          <p:cNvPr id="26" name="Text 2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27" name="Text 2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09</a:t>
            </a:r>
            <a:endParaRPr lang="en-US" sz="900" dirty="0"/>
          </a:p>
        </p:txBody>
      </p:sp>
      <p:sp>
        <p:nvSpPr>
          <p:cNvPr id="28" name="Shape 2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WORKS</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Six steps, from the inbox to a governed transfer.</a:t>
            </a:r>
            <a:endParaRPr lang="en-US" sz="2900" dirty="0"/>
          </a:p>
        </p:txBody>
      </p:sp>
      <p:sp>
        <p:nvSpPr>
          <p:cNvPr id="5" name="Shape 3"/>
          <p:cNvSpPr/>
          <p:nvPr/>
        </p:nvSpPr>
        <p:spPr>
          <a:xfrm>
            <a:off x="566928" y="2286000"/>
            <a:ext cx="1522933" cy="1371600"/>
          </a:xfrm>
          <a:prstGeom prst="roundRect">
            <a:avLst>
              <a:gd name="adj" fmla="val 6000"/>
            </a:avLst>
          </a:prstGeom>
          <a:solidFill>
            <a:srgbClr val="141A25"/>
          </a:solidFill>
          <a:ln w="13970">
            <a:solidFill>
              <a:srgbClr val="36414F"/>
            </a:solidFill>
            <a:prstDash val="solid"/>
          </a:ln>
        </p:spPr>
      </p:sp>
      <p:sp>
        <p:nvSpPr>
          <p:cNvPr id="6" name="Text 4"/>
          <p:cNvSpPr/>
          <p:nvPr/>
        </p:nvSpPr>
        <p:spPr>
          <a:xfrm>
            <a:off x="731520"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01</a:t>
            </a:r>
            <a:endParaRPr lang="en-US" sz="1500" dirty="0"/>
          </a:p>
        </p:txBody>
      </p:sp>
      <p:sp>
        <p:nvSpPr>
          <p:cNvPr id="7" name="Text 5"/>
          <p:cNvSpPr/>
          <p:nvPr/>
        </p:nvSpPr>
        <p:spPr>
          <a:xfrm>
            <a:off x="731520"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Read</a:t>
            </a:r>
            <a:endParaRPr lang="en-US" sz="1250" dirty="0"/>
          </a:p>
        </p:txBody>
      </p:sp>
      <p:sp>
        <p:nvSpPr>
          <p:cNvPr id="8" name="Text 6"/>
          <p:cNvSpPr/>
          <p:nvPr/>
        </p:nvSpPr>
        <p:spPr>
          <a:xfrm>
            <a:off x="2034997"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9" name="Shape 7"/>
          <p:cNvSpPr/>
          <p:nvPr/>
        </p:nvSpPr>
        <p:spPr>
          <a:xfrm>
            <a:off x="2473909" y="2286000"/>
            <a:ext cx="1522933" cy="1371600"/>
          </a:xfrm>
          <a:prstGeom prst="roundRect">
            <a:avLst>
              <a:gd name="adj" fmla="val 6000"/>
            </a:avLst>
          </a:prstGeom>
          <a:solidFill>
            <a:srgbClr val="141A25"/>
          </a:solidFill>
          <a:ln w="13970">
            <a:solidFill>
              <a:srgbClr val="36414F"/>
            </a:solidFill>
            <a:prstDash val="solid"/>
          </a:ln>
        </p:spPr>
      </p:sp>
      <p:sp>
        <p:nvSpPr>
          <p:cNvPr id="10" name="Text 8"/>
          <p:cNvSpPr/>
          <p:nvPr/>
        </p:nvSpPr>
        <p:spPr>
          <a:xfrm>
            <a:off x="2638501"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02</a:t>
            </a:r>
            <a:endParaRPr lang="en-US" sz="1500" dirty="0"/>
          </a:p>
        </p:txBody>
      </p:sp>
      <p:sp>
        <p:nvSpPr>
          <p:cNvPr id="11" name="Text 9"/>
          <p:cNvSpPr/>
          <p:nvPr/>
        </p:nvSpPr>
        <p:spPr>
          <a:xfrm>
            <a:off x="2638501"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Extract</a:t>
            </a:r>
            <a:endParaRPr lang="en-US" sz="1250" dirty="0"/>
          </a:p>
        </p:txBody>
      </p:sp>
      <p:sp>
        <p:nvSpPr>
          <p:cNvPr id="12" name="Text 10"/>
          <p:cNvSpPr/>
          <p:nvPr/>
        </p:nvSpPr>
        <p:spPr>
          <a:xfrm>
            <a:off x="3941978"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13" name="Shape 11"/>
          <p:cNvSpPr/>
          <p:nvPr/>
        </p:nvSpPr>
        <p:spPr>
          <a:xfrm>
            <a:off x="4380890" y="2286000"/>
            <a:ext cx="1522933" cy="1371600"/>
          </a:xfrm>
          <a:prstGeom prst="roundRect">
            <a:avLst>
              <a:gd name="adj" fmla="val 6000"/>
            </a:avLst>
          </a:prstGeom>
          <a:solidFill>
            <a:srgbClr val="141A25"/>
          </a:solidFill>
          <a:ln w="13970">
            <a:solidFill>
              <a:srgbClr val="36414F"/>
            </a:solidFill>
            <a:prstDash val="solid"/>
          </a:ln>
        </p:spPr>
      </p:sp>
      <p:sp>
        <p:nvSpPr>
          <p:cNvPr id="14" name="Text 12"/>
          <p:cNvSpPr/>
          <p:nvPr/>
        </p:nvSpPr>
        <p:spPr>
          <a:xfrm>
            <a:off x="4545482"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03</a:t>
            </a:r>
            <a:endParaRPr lang="en-US" sz="1500" dirty="0"/>
          </a:p>
        </p:txBody>
      </p:sp>
      <p:sp>
        <p:nvSpPr>
          <p:cNvPr id="15" name="Text 13"/>
          <p:cNvSpPr/>
          <p:nvPr/>
        </p:nvSpPr>
        <p:spPr>
          <a:xfrm>
            <a:off x="4545482"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Check</a:t>
            </a:r>
            <a:endParaRPr lang="en-US" sz="1250" dirty="0"/>
          </a:p>
        </p:txBody>
      </p:sp>
      <p:sp>
        <p:nvSpPr>
          <p:cNvPr id="16" name="Text 14"/>
          <p:cNvSpPr/>
          <p:nvPr/>
        </p:nvSpPr>
        <p:spPr>
          <a:xfrm>
            <a:off x="5848960"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17" name="Shape 15"/>
          <p:cNvSpPr/>
          <p:nvPr/>
        </p:nvSpPr>
        <p:spPr>
          <a:xfrm>
            <a:off x="6287872" y="2286000"/>
            <a:ext cx="1522933" cy="1371600"/>
          </a:xfrm>
          <a:prstGeom prst="roundRect">
            <a:avLst>
              <a:gd name="adj" fmla="val 6000"/>
            </a:avLst>
          </a:prstGeom>
          <a:solidFill>
            <a:srgbClr val="141A25"/>
          </a:solidFill>
          <a:ln w="13970">
            <a:solidFill>
              <a:srgbClr val="36414F"/>
            </a:solidFill>
            <a:prstDash val="solid"/>
          </a:ln>
        </p:spPr>
      </p:sp>
      <p:sp>
        <p:nvSpPr>
          <p:cNvPr id="18" name="Text 16"/>
          <p:cNvSpPr/>
          <p:nvPr/>
        </p:nvSpPr>
        <p:spPr>
          <a:xfrm>
            <a:off x="6452464"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04</a:t>
            </a:r>
            <a:endParaRPr lang="en-US" sz="1500" dirty="0"/>
          </a:p>
        </p:txBody>
      </p:sp>
      <p:sp>
        <p:nvSpPr>
          <p:cNvPr id="19" name="Text 17"/>
          <p:cNvSpPr/>
          <p:nvPr/>
        </p:nvSpPr>
        <p:spPr>
          <a:xfrm>
            <a:off x="6452464"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Propose</a:t>
            </a:r>
            <a:endParaRPr lang="en-US" sz="1250" dirty="0"/>
          </a:p>
        </p:txBody>
      </p:sp>
      <p:sp>
        <p:nvSpPr>
          <p:cNvPr id="20" name="Text 18"/>
          <p:cNvSpPr/>
          <p:nvPr/>
        </p:nvSpPr>
        <p:spPr>
          <a:xfrm>
            <a:off x="7755941"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21" name="Shape 19"/>
          <p:cNvSpPr/>
          <p:nvPr/>
        </p:nvSpPr>
        <p:spPr>
          <a:xfrm>
            <a:off x="8194853" y="2286000"/>
            <a:ext cx="1522933" cy="1371600"/>
          </a:xfrm>
          <a:prstGeom prst="roundRect">
            <a:avLst>
              <a:gd name="adj" fmla="val 6000"/>
            </a:avLst>
          </a:prstGeom>
          <a:solidFill>
            <a:srgbClr val="141A25"/>
          </a:solidFill>
          <a:ln w="13970">
            <a:solidFill>
              <a:srgbClr val="36414F"/>
            </a:solidFill>
            <a:prstDash val="solid"/>
          </a:ln>
        </p:spPr>
      </p:sp>
      <p:sp>
        <p:nvSpPr>
          <p:cNvPr id="22" name="Text 20"/>
          <p:cNvSpPr/>
          <p:nvPr/>
        </p:nvSpPr>
        <p:spPr>
          <a:xfrm>
            <a:off x="8359445"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05</a:t>
            </a:r>
            <a:endParaRPr lang="en-US" sz="1500" dirty="0"/>
          </a:p>
        </p:txBody>
      </p:sp>
      <p:sp>
        <p:nvSpPr>
          <p:cNvPr id="23" name="Text 21"/>
          <p:cNvSpPr/>
          <p:nvPr/>
        </p:nvSpPr>
        <p:spPr>
          <a:xfrm>
            <a:off x="8359445"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Approve</a:t>
            </a:r>
            <a:endParaRPr lang="en-US" sz="1250" dirty="0"/>
          </a:p>
        </p:txBody>
      </p:sp>
      <p:sp>
        <p:nvSpPr>
          <p:cNvPr id="24" name="Text 22"/>
          <p:cNvSpPr/>
          <p:nvPr/>
        </p:nvSpPr>
        <p:spPr>
          <a:xfrm>
            <a:off x="9662922" y="2697480"/>
            <a:ext cx="493776" cy="548640"/>
          </a:xfrm>
          <a:prstGeom prst="rect">
            <a:avLst/>
          </a:prstGeom>
          <a:noFill/>
          <a:ln/>
        </p:spPr>
        <p:txBody>
          <a:bodyPr wrap="square" rtlCol="0" anchor="ctr"/>
          <a:lstStyle/>
          <a:p>
            <a:pPr algn="ctr" indent="0" marL="0">
              <a:buNone/>
            </a:pPr>
            <a:r>
              <a:rPr lang="en-US" sz="2000" dirty="0">
                <a:solidFill>
                  <a:srgbClr val="3BE3E0"/>
                </a:solidFill>
                <a:latin typeface="Segoe UI Semibold" pitchFamily="34" charset="0"/>
                <a:ea typeface="Segoe UI Semibold" pitchFamily="34" charset="-122"/>
                <a:cs typeface="Segoe UI Semibold" pitchFamily="34" charset="-120"/>
              </a:rPr>
              <a:t>›</a:t>
            </a:r>
            <a:endParaRPr lang="en-US" sz="2000" dirty="0"/>
          </a:p>
        </p:txBody>
      </p:sp>
      <p:sp>
        <p:nvSpPr>
          <p:cNvPr id="25" name="Shape 23"/>
          <p:cNvSpPr/>
          <p:nvPr/>
        </p:nvSpPr>
        <p:spPr>
          <a:xfrm>
            <a:off x="10101834" y="2286000"/>
            <a:ext cx="1522933" cy="1371600"/>
          </a:xfrm>
          <a:prstGeom prst="roundRect">
            <a:avLst>
              <a:gd name="adj" fmla="val 6000"/>
            </a:avLst>
          </a:prstGeom>
          <a:solidFill>
            <a:srgbClr val="141A25"/>
          </a:solidFill>
          <a:ln w="13970">
            <a:solidFill>
              <a:srgbClr val="36414F"/>
            </a:solidFill>
            <a:prstDash val="solid"/>
          </a:ln>
        </p:spPr>
      </p:sp>
      <p:sp>
        <p:nvSpPr>
          <p:cNvPr id="26" name="Text 24"/>
          <p:cNvSpPr/>
          <p:nvPr/>
        </p:nvSpPr>
        <p:spPr>
          <a:xfrm>
            <a:off x="10266426" y="2414016"/>
            <a:ext cx="1193749" cy="365760"/>
          </a:xfrm>
          <a:prstGeom prst="rect">
            <a:avLst/>
          </a:prstGeom>
          <a:noFill/>
          <a:ln/>
        </p:spPr>
        <p:txBody>
          <a:bodyPr wrap="square" rtlCol="0" anchor="ctr"/>
          <a:lstStyle/>
          <a:p>
            <a:pPr indent="0" marL="0">
              <a:buNone/>
            </a:pPr>
            <a:r>
              <a:rPr lang="en-US" sz="1500" b="1" dirty="0">
                <a:solidFill>
                  <a:srgbClr val="3BE3E0"/>
                </a:solidFill>
                <a:latin typeface="Segoe UI Semibold" pitchFamily="34" charset="0"/>
                <a:ea typeface="Segoe UI Semibold" pitchFamily="34" charset="-122"/>
                <a:cs typeface="Segoe UI Semibold" pitchFamily="34" charset="-120"/>
              </a:rPr>
              <a:t>06</a:t>
            </a:r>
            <a:endParaRPr lang="en-US" sz="1500" dirty="0"/>
          </a:p>
        </p:txBody>
      </p:sp>
      <p:sp>
        <p:nvSpPr>
          <p:cNvPr id="27" name="Text 25"/>
          <p:cNvSpPr/>
          <p:nvPr/>
        </p:nvSpPr>
        <p:spPr>
          <a:xfrm>
            <a:off x="10266426" y="2798064"/>
            <a:ext cx="1193749" cy="731520"/>
          </a:xfrm>
          <a:prstGeom prst="rect">
            <a:avLst/>
          </a:prstGeom>
          <a:noFill/>
          <a:ln/>
        </p:spPr>
        <p:txBody>
          <a:bodyPr wrap="square" rtlCol="0" anchor="t"/>
          <a:lstStyle/>
          <a:p>
            <a:pPr indent="0" marL="0">
              <a:lnSpc>
                <a:spcPct val="100000"/>
              </a:lnSpc>
              <a:buNone/>
            </a:pPr>
            <a:r>
              <a:rPr lang="en-US" sz="1250" dirty="0">
                <a:solidFill>
                  <a:srgbClr val="F3F6FB"/>
                </a:solidFill>
                <a:latin typeface="Segoe UI" pitchFamily="34" charset="0"/>
                <a:ea typeface="Segoe UI" pitchFamily="34" charset="-122"/>
                <a:cs typeface="Segoe UI" pitchFamily="34" charset="-120"/>
              </a:rPr>
              <a:t>Post</a:t>
            </a:r>
            <a:endParaRPr lang="en-US" sz="1250" dirty="0"/>
          </a:p>
        </p:txBody>
      </p:sp>
      <p:sp>
        <p:nvSpPr>
          <p:cNvPr id="28" name="Shape 26"/>
          <p:cNvSpPr/>
          <p:nvPr/>
        </p:nvSpPr>
        <p:spPr>
          <a:xfrm>
            <a:off x="566928" y="3977640"/>
            <a:ext cx="3429914" cy="0"/>
          </a:xfrm>
          <a:prstGeom prst="line">
            <a:avLst/>
          </a:prstGeom>
          <a:noFill/>
          <a:ln w="15240">
            <a:solidFill>
              <a:srgbClr val="3BE3E0"/>
            </a:solidFill>
            <a:prstDash val="solid"/>
          </a:ln>
        </p:spPr>
      </p:sp>
      <p:sp>
        <p:nvSpPr>
          <p:cNvPr id="29" name="Text 27"/>
          <p:cNvSpPr/>
          <p:nvPr/>
        </p:nvSpPr>
        <p:spPr>
          <a:xfrm>
            <a:off x="566928"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READ</a:t>
            </a:r>
            <a:endParaRPr lang="en-US" sz="1150" dirty="0"/>
          </a:p>
        </p:txBody>
      </p:sp>
      <p:sp>
        <p:nvSpPr>
          <p:cNvPr id="30" name="Shape 28"/>
          <p:cNvSpPr/>
          <p:nvPr/>
        </p:nvSpPr>
        <p:spPr>
          <a:xfrm>
            <a:off x="4380890" y="3977640"/>
            <a:ext cx="3429914" cy="0"/>
          </a:xfrm>
          <a:prstGeom prst="line">
            <a:avLst/>
          </a:prstGeom>
          <a:noFill/>
          <a:ln w="15240">
            <a:solidFill>
              <a:srgbClr val="3BE3E0"/>
            </a:solidFill>
            <a:prstDash val="solid"/>
          </a:ln>
        </p:spPr>
      </p:sp>
      <p:sp>
        <p:nvSpPr>
          <p:cNvPr id="31" name="Text 29"/>
          <p:cNvSpPr/>
          <p:nvPr/>
        </p:nvSpPr>
        <p:spPr>
          <a:xfrm>
            <a:off x="4380890"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PREPARE</a:t>
            </a:r>
            <a:endParaRPr lang="en-US" sz="1150" dirty="0"/>
          </a:p>
        </p:txBody>
      </p:sp>
      <p:sp>
        <p:nvSpPr>
          <p:cNvPr id="32" name="Shape 30"/>
          <p:cNvSpPr/>
          <p:nvPr/>
        </p:nvSpPr>
        <p:spPr>
          <a:xfrm>
            <a:off x="8194853" y="3977640"/>
            <a:ext cx="3429914" cy="0"/>
          </a:xfrm>
          <a:prstGeom prst="line">
            <a:avLst/>
          </a:prstGeom>
          <a:noFill/>
          <a:ln w="15240">
            <a:solidFill>
              <a:srgbClr val="3BE3E0"/>
            </a:solidFill>
            <a:prstDash val="solid"/>
          </a:ln>
        </p:spPr>
      </p:sp>
      <p:sp>
        <p:nvSpPr>
          <p:cNvPr id="33" name="Text 31"/>
          <p:cNvSpPr/>
          <p:nvPr/>
        </p:nvSpPr>
        <p:spPr>
          <a:xfrm>
            <a:off x="8194853" y="4050792"/>
            <a:ext cx="3429914" cy="320040"/>
          </a:xfrm>
          <a:prstGeom prst="rect">
            <a:avLst/>
          </a:prstGeom>
          <a:noFill/>
          <a:ln/>
        </p:spPr>
        <p:txBody>
          <a:bodyPr wrap="square" rtlCol="0" anchor="ctr"/>
          <a:lstStyle/>
          <a:p>
            <a:pPr algn="ct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DECIDE &amp; POST</a:t>
            </a:r>
            <a:endParaRPr lang="en-US" sz="1150" dirty="0"/>
          </a:p>
        </p:txBody>
      </p:sp>
      <p:sp>
        <p:nvSpPr>
          <p:cNvPr id="34" name="Text 32"/>
          <p:cNvSpPr/>
          <p:nvPr/>
        </p:nvSpPr>
        <p:spPr>
          <a:xfrm>
            <a:off x="566928" y="4754880"/>
            <a:ext cx="11057839" cy="548640"/>
          </a:xfrm>
          <a:prstGeom prst="rect">
            <a:avLst/>
          </a:prstGeom>
          <a:noFill/>
          <a:ln/>
        </p:spPr>
        <p:txBody>
          <a:bodyPr wrap="square" rtlCol="0" anchor="ctr"/>
          <a:lstStyle/>
          <a:p>
            <a:pPr indent="0" marL="0">
              <a:lnSpc>
                <a:spcPct val="115000"/>
              </a:lnSpc>
              <a:buNone/>
            </a:pPr>
            <a:r>
              <a:rPr lang="en-US" sz="1550" dirty="0">
                <a:solidFill>
                  <a:srgbClr val="AAB6C7"/>
                </a:solidFill>
                <a:latin typeface="Segoe UI" pitchFamily="34" charset="0"/>
                <a:ea typeface="Segoe UI" pitchFamily="34" charset="-122"/>
                <a:cs typeface="Segoe UI" pitchFamily="34" charset="-120"/>
              </a:rPr>
              <a:t>The agent does the typing. A person makes the call. Everything is logged.</a:t>
            </a:r>
            <a:endParaRPr lang="en-US" sz="1550" dirty="0"/>
          </a:p>
        </p:txBody>
      </p:sp>
      <p:sp>
        <p:nvSpPr>
          <p:cNvPr id="35" name="Text 33"/>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36" name="Text 34"/>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09</a:t>
            </a:r>
            <a:endParaRPr lang="en-US" sz="900" dirty="0"/>
          </a:p>
        </p:txBody>
      </p:sp>
      <p:sp>
        <p:nvSpPr>
          <p:cNvPr id="37" name="Shape 35"/>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APPROVAL MOMENT</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The agent proposes. Your treasurer decides.</a:t>
            </a:r>
            <a:endParaRPr lang="en-US" sz="2900" dirty="0"/>
          </a:p>
        </p:txBody>
      </p:sp>
      <p:sp>
        <p:nvSpPr>
          <p:cNvPr id="5" name="Shape 3"/>
          <p:cNvSpPr/>
          <p:nvPr/>
        </p:nvSpPr>
        <p:spPr>
          <a:xfrm>
            <a:off x="566928" y="2103120"/>
            <a:ext cx="5323180" cy="3108960"/>
          </a:xfrm>
          <a:prstGeom prst="roundRect">
            <a:avLst>
              <a:gd name="adj" fmla="val 2647"/>
            </a:avLst>
          </a:prstGeom>
          <a:solidFill>
            <a:srgbClr val="141A25"/>
          </a:solidFill>
          <a:ln w="13970">
            <a:solidFill>
              <a:srgbClr val="36414F"/>
            </a:solidFill>
            <a:prstDash val="solid"/>
          </a:ln>
        </p:spPr>
      </p:sp>
      <p:sp>
        <p:nvSpPr>
          <p:cNvPr id="6" name="Text 4"/>
          <p:cNvSpPr/>
          <p:nvPr/>
        </p:nvSpPr>
        <p:spPr>
          <a:xfrm>
            <a:off x="886968" y="2395728"/>
            <a:ext cx="4683100" cy="320040"/>
          </a:xfrm>
          <a:prstGeom prst="rect">
            <a:avLst/>
          </a:prstGeom>
          <a:noFill/>
          <a:ln/>
        </p:spPr>
        <p:txBody>
          <a:bodyPr wrap="square" rtlCol="0" anchor="ctr"/>
          <a:lstStyle/>
          <a:p>
            <a:pP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STEP 05 · APPROVE</a:t>
            </a:r>
            <a:endParaRPr lang="en-US" sz="1150" dirty="0"/>
          </a:p>
        </p:txBody>
      </p:sp>
      <p:sp>
        <p:nvSpPr>
          <p:cNvPr id="7" name="Text 5"/>
          <p:cNvSpPr/>
          <p:nvPr/>
        </p:nvSpPr>
        <p:spPr>
          <a:xfrm>
            <a:off x="886968" y="2788920"/>
            <a:ext cx="4683100" cy="685800"/>
          </a:xfrm>
          <a:prstGeom prst="rect">
            <a:avLst/>
          </a:prstGeom>
          <a:noFill/>
          <a:ln/>
        </p:spPr>
        <p:txBody>
          <a:bodyPr wrap="square" rtlCol="0" anchor="ctr"/>
          <a:lstStyle/>
          <a:p>
            <a:pPr indent="0" marL="0">
              <a:lnSpc>
                <a:spcPct val="102000"/>
              </a:lnSpc>
              <a:buNone/>
            </a:pPr>
            <a:r>
              <a:rPr lang="en-US" sz="1900" b="1" dirty="0">
                <a:solidFill>
                  <a:srgbClr val="F3F6FB"/>
                </a:solidFill>
                <a:latin typeface="Segoe UI Semibold" pitchFamily="34" charset="0"/>
                <a:ea typeface="Segoe UI Semibold" pitchFamily="34" charset="-122"/>
                <a:cs typeface="Segoe UI Semibold" pitchFamily="34" charset="-120"/>
              </a:rPr>
              <a:t>One clean summary, one decision</a:t>
            </a:r>
            <a:endParaRPr lang="en-US" sz="1900" dirty="0"/>
          </a:p>
        </p:txBody>
      </p:sp>
      <p:sp>
        <p:nvSpPr>
          <p:cNvPr id="8" name="Text 6"/>
          <p:cNvSpPr/>
          <p:nvPr/>
        </p:nvSpPr>
        <p:spPr>
          <a:xfrm>
            <a:off x="886968" y="3566160"/>
            <a:ext cx="4683100" cy="1371600"/>
          </a:xfrm>
          <a:prstGeom prst="rect">
            <a:avLst/>
          </a:prstGeom>
          <a:noFill/>
          <a:ln/>
        </p:spPr>
        <p:txBody>
          <a:bodyPr wrap="square" rtlCol="0" anchor="t"/>
          <a:lstStyle/>
          <a:p>
            <a:pPr indent="0" marL="0">
              <a:lnSpc>
                <a:spcPct val="125000"/>
              </a:lnSpc>
              <a:buNone/>
            </a:pPr>
            <a:r>
              <a:rPr lang="en-US" sz="1350" dirty="0">
                <a:solidFill>
                  <a:srgbClr val="AAB6C7"/>
                </a:solidFill>
                <a:latin typeface="Segoe UI" pitchFamily="34" charset="0"/>
                <a:ea typeface="Segoe UI" pitchFamily="34" charset="-122"/>
                <a:cs typeface="Segoe UI" pitchFamily="34" charset="-120"/>
              </a:rPr>
              <a:t>The treasurer sees entity, amount, value date, purpose and the cash impact, next to the live position. One click approves, one click rejects. The second pair of eyes is built in, not chased by email.</a:t>
            </a:r>
            <a:endParaRPr lang="en-US" sz="1350" dirty="0"/>
          </a:p>
        </p:txBody>
      </p:sp>
      <p:sp>
        <p:nvSpPr>
          <p:cNvPr id="9" name="Shape 7"/>
          <p:cNvSpPr/>
          <p:nvPr/>
        </p:nvSpPr>
        <p:spPr>
          <a:xfrm>
            <a:off x="6301588" y="2103120"/>
            <a:ext cx="5323180" cy="3108960"/>
          </a:xfrm>
          <a:prstGeom prst="roundRect">
            <a:avLst>
              <a:gd name="adj" fmla="val 2647"/>
            </a:avLst>
          </a:prstGeom>
          <a:solidFill>
            <a:srgbClr val="141A25"/>
          </a:solidFill>
          <a:ln w="13970">
            <a:solidFill>
              <a:srgbClr val="36414F"/>
            </a:solidFill>
            <a:prstDash val="solid"/>
          </a:ln>
        </p:spPr>
      </p:sp>
      <p:sp>
        <p:nvSpPr>
          <p:cNvPr id="10" name="Text 8"/>
          <p:cNvSpPr/>
          <p:nvPr/>
        </p:nvSpPr>
        <p:spPr>
          <a:xfrm>
            <a:off x="6621628" y="2395728"/>
            <a:ext cx="4683100" cy="320040"/>
          </a:xfrm>
          <a:prstGeom prst="rect">
            <a:avLst/>
          </a:prstGeom>
          <a:noFill/>
          <a:ln/>
        </p:spPr>
        <p:txBody>
          <a:bodyPr wrap="square" rtlCol="0" anchor="ctr"/>
          <a:lstStyle/>
          <a:p>
            <a:pPr indent="0" marL="0">
              <a:buNone/>
            </a:pPr>
            <a:r>
              <a:rPr lang="en-US" sz="1150" b="1" spc="200" kern="0" dirty="0">
                <a:solidFill>
                  <a:srgbClr val="3BE3E0"/>
                </a:solidFill>
                <a:latin typeface="Segoe UI Semibold" pitchFamily="34" charset="0"/>
                <a:ea typeface="Segoe UI Semibold" pitchFamily="34" charset="-122"/>
                <a:cs typeface="Segoe UI Semibold" pitchFamily="34" charset="-120"/>
              </a:rPr>
              <a:t>STEP 06 · POST &amp; CONFIRM</a:t>
            </a:r>
            <a:endParaRPr lang="en-US" sz="1150" dirty="0"/>
          </a:p>
        </p:txBody>
      </p:sp>
      <p:sp>
        <p:nvSpPr>
          <p:cNvPr id="11" name="Text 9"/>
          <p:cNvSpPr/>
          <p:nvPr/>
        </p:nvSpPr>
        <p:spPr>
          <a:xfrm>
            <a:off x="6621628" y="2788920"/>
            <a:ext cx="4683100" cy="685800"/>
          </a:xfrm>
          <a:prstGeom prst="rect">
            <a:avLst/>
          </a:prstGeom>
          <a:noFill/>
          <a:ln/>
        </p:spPr>
        <p:txBody>
          <a:bodyPr wrap="square" rtlCol="0" anchor="ctr"/>
          <a:lstStyle/>
          <a:p>
            <a:pPr indent="0" marL="0">
              <a:lnSpc>
                <a:spcPct val="102000"/>
              </a:lnSpc>
              <a:buNone/>
            </a:pPr>
            <a:r>
              <a:rPr lang="en-US" sz="1900" b="1" dirty="0">
                <a:solidFill>
                  <a:srgbClr val="F3F6FB"/>
                </a:solidFill>
                <a:latin typeface="Segoe UI Semibold" pitchFamily="34" charset="0"/>
                <a:ea typeface="Segoe UI Semibold" pitchFamily="34" charset="-122"/>
                <a:cs typeface="Segoe UI Semibold" pitchFamily="34" charset="-120"/>
              </a:rPr>
              <a:t>SAP updated, the subsidiary hears back</a:t>
            </a:r>
            <a:endParaRPr lang="en-US" sz="1900" dirty="0"/>
          </a:p>
        </p:txBody>
      </p:sp>
      <p:sp>
        <p:nvSpPr>
          <p:cNvPr id="12" name="Text 10"/>
          <p:cNvSpPr/>
          <p:nvPr/>
        </p:nvSpPr>
        <p:spPr>
          <a:xfrm>
            <a:off x="6621628" y="3566160"/>
            <a:ext cx="4683100" cy="1371600"/>
          </a:xfrm>
          <a:prstGeom prst="rect">
            <a:avLst/>
          </a:prstGeom>
          <a:noFill/>
          <a:ln/>
        </p:spPr>
        <p:txBody>
          <a:bodyPr wrap="square" rtlCol="0" anchor="t"/>
          <a:lstStyle/>
          <a:p>
            <a:pPr indent="0" marL="0">
              <a:lnSpc>
                <a:spcPct val="125000"/>
              </a:lnSpc>
              <a:buNone/>
            </a:pPr>
            <a:r>
              <a:rPr lang="en-US" sz="1350" dirty="0">
                <a:solidFill>
                  <a:srgbClr val="AAB6C7"/>
                </a:solidFill>
                <a:latin typeface="Segoe UI" pitchFamily="34" charset="0"/>
                <a:ea typeface="Segoe UI" pitchFamily="34" charset="-122"/>
                <a:cs typeface="Segoe UI" pitchFamily="34" charset="-120"/>
              </a:rPr>
              <a:t>On approval the memo record and the transfer land in SAP, and the confirmation email goes back to the subsidiary. Every step of the chain sits on the audit trail.</a:t>
            </a:r>
            <a:endParaRPr lang="en-US" sz="1350" dirty="0"/>
          </a:p>
        </p:txBody>
      </p:sp>
      <p:sp>
        <p:nvSpPr>
          <p:cNvPr id="13" name="Text 1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14" name="Text 1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09</a:t>
            </a:r>
            <a:endParaRPr lang="en-US" sz="900" dirty="0"/>
          </a:p>
        </p:txBody>
      </p:sp>
      <p:sp>
        <p:nvSpPr>
          <p:cNvPr id="15" name="Shape 1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48840"/>
            <a:ext cx="5346040" cy="1133856"/>
          </a:xfrm>
          <a:prstGeom prst="roundRect">
            <a:avLst>
              <a:gd name="adj" fmla="val 6452"/>
            </a:avLst>
          </a:prstGeom>
          <a:solidFill>
            <a:srgbClr val="141A25"/>
          </a:solidFill>
          <a:ln w="13970">
            <a:solidFill>
              <a:srgbClr val="36414F"/>
            </a:solidFill>
            <a:prstDash val="solid"/>
          </a:ln>
        </p:spPr>
      </p:sp>
      <p:sp>
        <p:nvSpPr>
          <p:cNvPr id="6" name="Shape 4"/>
          <p:cNvSpPr/>
          <p:nvPr/>
        </p:nvSpPr>
        <p:spPr>
          <a:xfrm>
            <a:off x="822960" y="2450592"/>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r>
          <p:cNvPicPr>
            <a:picLocks noChangeAspect="1"/>
          </p:cNvPicPr>
          <p:nvPr/>
        </p:nvPicPr>
        <p:blipFill>
          <a:blip r:embed="rId1"/>
          <a:stretch>
            <a:fillRect/>
          </a:stretch>
        </p:blipFill>
        <p:spPr>
          <a:xfrm>
            <a:off x="959023" y="2586655"/>
            <a:ext cx="294803" cy="294803"/>
          </a:xfrm>
          <a:prstGeom prst="rect">
            <a:avLst/>
          </a:prstGeom>
        </p:spPr>
      </p:pic>
      <p:sp>
        <p:nvSpPr>
          <p:cNvPr id="8" name="Text 5"/>
          <p:cNvSpPr/>
          <p:nvPr/>
        </p:nvSpPr>
        <p:spPr>
          <a:xfrm>
            <a:off x="1572768" y="236829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5234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48840"/>
            <a:ext cx="5346040" cy="1133856"/>
          </a:xfrm>
          <a:prstGeom prst="roundRect">
            <a:avLst>
              <a:gd name="adj" fmla="val 6452"/>
            </a:avLst>
          </a:prstGeom>
          <a:solidFill>
            <a:srgbClr val="141A25"/>
          </a:solidFill>
          <a:ln w="13970">
            <a:solidFill>
              <a:srgbClr val="36414F"/>
            </a:solidFill>
            <a:prstDash val="solid"/>
          </a:ln>
        </p:spPr>
      </p:sp>
      <p:sp>
        <p:nvSpPr>
          <p:cNvPr id="11" name="Shape 8"/>
          <p:cNvSpPr/>
          <p:nvPr/>
        </p:nvSpPr>
        <p:spPr>
          <a:xfrm>
            <a:off x="6534760" y="2450592"/>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r>
          <p:cNvPicPr>
            <a:picLocks noChangeAspect="1"/>
          </p:cNvPicPr>
          <p:nvPr/>
        </p:nvPicPr>
        <p:blipFill>
          <a:blip r:embed="rId2"/>
          <a:stretch>
            <a:fillRect/>
          </a:stretch>
        </p:blipFill>
        <p:spPr>
          <a:xfrm>
            <a:off x="6670822" y="2586655"/>
            <a:ext cx="294803" cy="294803"/>
          </a:xfrm>
          <a:prstGeom prst="rect">
            <a:avLst/>
          </a:prstGeom>
        </p:spPr>
      </p:pic>
      <p:sp>
        <p:nvSpPr>
          <p:cNvPr id="13" name="Text 9"/>
          <p:cNvSpPr/>
          <p:nvPr/>
        </p:nvSpPr>
        <p:spPr>
          <a:xfrm>
            <a:off x="7284568" y="236829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5234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429000"/>
            <a:ext cx="5346040" cy="1133856"/>
          </a:xfrm>
          <a:prstGeom prst="roundRect">
            <a:avLst>
              <a:gd name="adj" fmla="val 6452"/>
            </a:avLst>
          </a:prstGeom>
          <a:solidFill>
            <a:srgbClr val="141A25"/>
          </a:solidFill>
          <a:ln w="13970">
            <a:solidFill>
              <a:srgbClr val="36414F"/>
            </a:solidFill>
            <a:prstDash val="solid"/>
          </a:ln>
        </p:spPr>
      </p:sp>
      <p:sp>
        <p:nvSpPr>
          <p:cNvPr id="16" name="Shape 12"/>
          <p:cNvSpPr/>
          <p:nvPr/>
        </p:nvSpPr>
        <p:spPr>
          <a:xfrm>
            <a:off x="822960" y="3730752"/>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r>
          <p:cNvPicPr>
            <a:picLocks noChangeAspect="1"/>
          </p:cNvPicPr>
          <p:nvPr/>
        </p:nvPicPr>
        <p:blipFill>
          <a:blip r:embed="rId3"/>
          <a:stretch>
            <a:fillRect/>
          </a:stretch>
        </p:blipFill>
        <p:spPr>
          <a:xfrm>
            <a:off x="959023" y="3866815"/>
            <a:ext cx="294803" cy="294803"/>
          </a:xfrm>
          <a:prstGeom prst="rect">
            <a:avLst/>
          </a:prstGeom>
        </p:spPr>
      </p:pic>
      <p:sp>
        <p:nvSpPr>
          <p:cNvPr id="18" name="Text 13"/>
          <p:cNvSpPr/>
          <p:nvPr/>
        </p:nvSpPr>
        <p:spPr>
          <a:xfrm>
            <a:off x="1572768" y="364845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03250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429000"/>
            <a:ext cx="5346040" cy="1133856"/>
          </a:xfrm>
          <a:prstGeom prst="roundRect">
            <a:avLst>
              <a:gd name="adj" fmla="val 6452"/>
            </a:avLst>
          </a:prstGeom>
          <a:solidFill>
            <a:srgbClr val="141A25"/>
          </a:solidFill>
          <a:ln w="13970">
            <a:solidFill>
              <a:srgbClr val="36414F"/>
            </a:solidFill>
            <a:prstDash val="solid"/>
          </a:ln>
        </p:spPr>
      </p:sp>
      <p:sp>
        <p:nvSpPr>
          <p:cNvPr id="21" name="Shape 16"/>
          <p:cNvSpPr/>
          <p:nvPr/>
        </p:nvSpPr>
        <p:spPr>
          <a:xfrm>
            <a:off x="6534760" y="3730752"/>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ell.png">    </p:cNvPr>
          <p:cNvPicPr>
            <a:picLocks noChangeAspect="1"/>
          </p:cNvPicPr>
          <p:nvPr/>
        </p:nvPicPr>
        <p:blipFill>
          <a:blip r:embed="rId4"/>
          <a:stretch>
            <a:fillRect/>
          </a:stretch>
        </p:blipFill>
        <p:spPr>
          <a:xfrm>
            <a:off x="6670822" y="3866815"/>
            <a:ext cx="294803" cy="294803"/>
          </a:xfrm>
          <a:prstGeom prst="rect">
            <a:avLst/>
          </a:prstGeom>
        </p:spPr>
      </p:pic>
      <p:sp>
        <p:nvSpPr>
          <p:cNvPr id="23" name="Text 17"/>
          <p:cNvSpPr/>
          <p:nvPr/>
        </p:nvSpPr>
        <p:spPr>
          <a:xfrm>
            <a:off x="7284568" y="364845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03250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709160"/>
            <a:ext cx="5346040" cy="1133856"/>
          </a:xfrm>
          <a:prstGeom prst="roundRect">
            <a:avLst>
              <a:gd name="adj" fmla="val 6452"/>
            </a:avLst>
          </a:prstGeom>
          <a:solidFill>
            <a:srgbClr val="141A25"/>
          </a:solidFill>
          <a:ln w="13970">
            <a:solidFill>
              <a:srgbClr val="36414F"/>
            </a:solidFill>
            <a:prstDash val="solid"/>
          </a:ln>
        </p:spPr>
      </p:sp>
      <p:sp>
        <p:nvSpPr>
          <p:cNvPr id="26" name="Shape 20"/>
          <p:cNvSpPr/>
          <p:nvPr/>
        </p:nvSpPr>
        <p:spPr>
          <a:xfrm>
            <a:off x="822960" y="5010912"/>
            <a:ext cx="566928" cy="566928"/>
          </a:xfrm>
          <a:prstGeom prst="roundRect">
            <a:avLst>
              <a:gd name="adj" fmla="val 17742"/>
            </a:avLst>
          </a:prstGeom>
          <a:solidFill>
            <a:srgbClr val="1B2330"/>
          </a:solidFill>
          <a:ln w="15240">
            <a:solidFill>
              <a:srgbClr val="3BE3E0"/>
            </a:solidFill>
            <a:prstDash val="solid"/>
          </a:ln>
        </p:spPr>
      </p:sp>
      <p:pic>
        <p:nvPicPr>
          <p:cNvPr id="27" name="Image 4" descr="C:/Users/neuma_p1qrsic/Repo/agentic-ops1/.scratch/icons/blocks.png">    </p:cNvPr>
          <p:cNvPicPr>
            <a:picLocks noChangeAspect="1"/>
          </p:cNvPicPr>
          <p:nvPr/>
        </p:nvPicPr>
        <p:blipFill>
          <a:blip r:embed="rId5"/>
          <a:stretch>
            <a:fillRect/>
          </a:stretch>
        </p:blipFill>
        <p:spPr>
          <a:xfrm>
            <a:off x="959023" y="5146975"/>
            <a:ext cx="294803" cy="294803"/>
          </a:xfrm>
          <a:prstGeom prst="rect">
            <a:avLst/>
          </a:prstGeom>
        </p:spPr>
      </p:pic>
      <p:sp>
        <p:nvSpPr>
          <p:cNvPr id="28" name="Text 21"/>
          <p:cNvSpPr/>
          <p:nvPr/>
        </p:nvSpPr>
        <p:spPr>
          <a:xfrm>
            <a:off x="1572768" y="49286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3126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709160"/>
            <a:ext cx="5346040" cy="1133856"/>
          </a:xfrm>
          <a:prstGeom prst="roundRect">
            <a:avLst>
              <a:gd name="adj" fmla="val 6452"/>
            </a:avLst>
          </a:prstGeom>
          <a:solidFill>
            <a:srgbClr val="141A25"/>
          </a:solidFill>
          <a:ln w="13970">
            <a:solidFill>
              <a:srgbClr val="36414F"/>
            </a:solidFill>
            <a:prstDash val="solid"/>
          </a:ln>
        </p:spPr>
      </p:sp>
      <p:sp>
        <p:nvSpPr>
          <p:cNvPr id="31" name="Shape 24"/>
          <p:cNvSpPr/>
          <p:nvPr/>
        </p:nvSpPr>
        <p:spPr>
          <a:xfrm>
            <a:off x="6534760" y="5010912"/>
            <a:ext cx="566928" cy="566928"/>
          </a:xfrm>
          <a:prstGeom prst="roundRect">
            <a:avLst>
              <a:gd name="adj" fmla="val 17742"/>
            </a:avLst>
          </a:prstGeom>
          <a:solidFill>
            <a:srgbClr val="1B2330"/>
          </a:solidFill>
          <a:ln w="15240">
            <a:solidFill>
              <a:srgbClr val="3BE3E0"/>
            </a:solidFill>
            <a:prstDash val="solid"/>
          </a:ln>
        </p:spPr>
      </p:sp>
      <p:pic>
        <p:nvPicPr>
          <p:cNvPr id="32" name="Image 5" descr="C:/Users/neuma_p1qrsic/Repo/agentic-ops1/.scratch/icons/lock.png">    </p:cNvPr>
          <p:cNvPicPr>
            <a:picLocks noChangeAspect="1"/>
          </p:cNvPicPr>
          <p:nvPr/>
        </p:nvPicPr>
        <p:blipFill>
          <a:blip r:embed="rId6"/>
          <a:stretch>
            <a:fillRect/>
          </a:stretch>
        </p:blipFill>
        <p:spPr>
          <a:xfrm>
            <a:off x="6670822" y="5146975"/>
            <a:ext cx="294803" cy="294803"/>
          </a:xfrm>
          <a:prstGeom prst="rect">
            <a:avLst/>
          </a:prstGeom>
        </p:spPr>
      </p:pic>
      <p:sp>
        <p:nvSpPr>
          <p:cNvPr id="33" name="Text 25"/>
          <p:cNvSpPr/>
          <p:nvPr/>
        </p:nvSpPr>
        <p:spPr>
          <a:xfrm>
            <a:off x="7284568" y="49286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3126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09</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B"/>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PROVEN, AND WHAT IT RUNS ON</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Live with customers today, not on a roadmap.</a:t>
            </a:r>
            <a:endParaRPr lang="en-US" sz="2800" dirty="0"/>
          </a:p>
        </p:txBody>
      </p:sp>
      <p:sp>
        <p:nvSpPr>
          <p:cNvPr id="6" name="Shape 3"/>
          <p:cNvSpPr/>
          <p:nvPr/>
        </p:nvSpPr>
        <p:spPr>
          <a:xfrm>
            <a:off x="566928" y="1874520"/>
            <a:ext cx="11057839" cy="1188720"/>
          </a:xfrm>
          <a:prstGeom prst="roundRect">
            <a:avLst>
              <a:gd name="adj" fmla="val 6923"/>
            </a:avLst>
          </a:prstGeom>
          <a:solidFill>
            <a:srgbClr val="141A25"/>
          </a:solidFill>
          <a:ln w="13970">
            <a:solidFill>
              <a:srgbClr val="36414F"/>
            </a:solidFill>
            <a:prstDash val="solid"/>
          </a:ln>
        </p:spPr>
      </p:sp>
      <p:pic>
        <p:nvPicPr>
          <p:cNvPr id="7" name="Image 1" descr="C:/Users/neuma_p1qrsic/Repo/agentic-ops1/.scratch/icons/target.png">    </p:cNvPr>
          <p:cNvPicPr>
            <a:picLocks noChangeAspect="1"/>
          </p:cNvPicPr>
          <p:nvPr/>
        </p:nvPicPr>
        <p:blipFill>
          <a:blip r:embed="rId2"/>
          <a:stretch>
            <a:fillRect/>
          </a:stretch>
        </p:blipFill>
        <p:spPr>
          <a:xfrm>
            <a:off x="877824" y="2258568"/>
            <a:ext cx="420624" cy="420624"/>
          </a:xfrm>
          <a:prstGeom prst="rect">
            <a:avLst/>
          </a:prstGeom>
        </p:spPr>
      </p:pic>
      <p:sp>
        <p:nvSpPr>
          <p:cNvPr id="8" name="Text 4"/>
          <p:cNvSpPr/>
          <p:nvPr/>
        </p:nvSpPr>
        <p:spPr>
          <a:xfrm>
            <a:off x="1527048" y="1874520"/>
            <a:ext cx="9823399" cy="1188720"/>
          </a:xfrm>
          <a:prstGeom prst="rect">
            <a:avLst/>
          </a:prstGeom>
          <a:noFill/>
          <a:ln/>
        </p:spPr>
        <p:txBody>
          <a:bodyPr wrap="square" rtlCol="0" anchor="ctr"/>
          <a:lstStyle/>
          <a:p>
            <a:pPr indent="0" marL="0">
              <a:lnSpc>
                <a:spcPct val="118000"/>
              </a:lnSpc>
              <a:buNone/>
            </a:pPr>
            <a:r>
              <a:rPr lang="en-US" sz="1450" dirty="0">
                <a:solidFill>
                  <a:srgbClr val="F3F6FB"/>
                </a:solidFill>
                <a:latin typeface="Segoe UI" pitchFamily="34" charset="0"/>
                <a:ea typeface="Segoe UI" pitchFamily="34" charset="-122"/>
                <a:cs typeface="Segoe UI" pitchFamily="34" charset="-120"/>
              </a:rPr>
              <a:t>A chemicals company on SAP S/4HANA runs its funding-request process exactly this way: a complex multi-system integration with SAP, fully automated with AI.</a:t>
            </a:r>
            <a:endParaRPr lang="en-US" sz="1450" dirty="0"/>
          </a:p>
        </p:txBody>
      </p:sp>
      <p:sp>
        <p:nvSpPr>
          <p:cNvPr id="9" name="Text 5"/>
          <p:cNvSpPr/>
          <p:nvPr/>
        </p:nvSpPr>
        <p:spPr>
          <a:xfrm>
            <a:off x="566928" y="3337560"/>
            <a:ext cx="10881360" cy="640080"/>
          </a:xfrm>
          <a:prstGeom prst="rect">
            <a:avLst/>
          </a:prstGeom>
          <a:noFill/>
          <a:ln/>
        </p:spPr>
        <p:txBody>
          <a:bodyPr wrap="square" rtlCol="0" anchor="ctr"/>
          <a:lstStyle/>
          <a:p>
            <a:pPr indent="0" marL="0">
              <a:lnSpc>
                <a:spcPct val="120000"/>
              </a:lnSpc>
              <a:buNone/>
            </a:pPr>
            <a:r>
              <a:rPr lang="en-US" sz="1450" dirty="0">
                <a:solidFill>
                  <a:srgbClr val="AAB6C7"/>
                </a:solidFill>
                <a:latin typeface="Segoe UI" pitchFamily="34" charset="0"/>
                <a:ea typeface="Segoe UI" pitchFamily="34" charset="-122"/>
                <a:cs typeface="Segoe UI" pitchFamily="34" charset="-120"/>
              </a:rPr>
              <a:t>It runs on </a:t>
            </a:r>
            <a:pPr indent="0" marL="0">
              <a:lnSpc>
                <a:spcPct val="120000"/>
              </a:lnSpc>
              <a:buNone/>
            </a:pPr>
            <a:r>
              <a:rPr lang="en-US" sz="1450" b="1" dirty="0">
                <a:solidFill>
                  <a:srgbClr val="3BE3E0"/>
                </a:solidFill>
                <a:latin typeface="Segoe UI" pitchFamily="34" charset="0"/>
                <a:ea typeface="Segoe UI" pitchFamily="34" charset="-122"/>
                <a:cs typeface="Segoe UI" pitchFamily="34" charset="-120"/>
              </a:rPr>
              <a:t>OnePilot</a:t>
            </a:r>
            <a:pPr indent="0" marL="0">
              <a:lnSpc>
                <a:spcPct val="120000"/>
              </a:lnSpc>
              <a:buNone/>
            </a:pPr>
            <a:r>
              <a:rPr lang="en-US" sz="1450" dirty="0">
                <a:solidFill>
                  <a:srgbClr val="AAB6C7"/>
                </a:solidFill>
                <a:latin typeface="Segoe UI" pitchFamily="34" charset="0"/>
                <a:ea typeface="Segoe UI" pitchFamily="34" charset="-122"/>
                <a:cs typeface="Segoe UI" pitchFamily="34" charset="-120"/>
              </a:rPr>
              <a:t>, the same governed layer under Market Data Hub and Smart Trading. One way to connect to all of it:</a:t>
            </a:r>
            <a:endParaRPr lang="en-US" sz="1450" dirty="0"/>
          </a:p>
        </p:txBody>
      </p:sp>
      <p:sp>
        <p:nvSpPr>
          <p:cNvPr id="10" name="Shape 6"/>
          <p:cNvSpPr/>
          <p:nvPr/>
        </p:nvSpPr>
        <p:spPr>
          <a:xfrm>
            <a:off x="566928" y="4114800"/>
            <a:ext cx="1992112" cy="1325880"/>
          </a:xfrm>
          <a:prstGeom prst="roundRect">
            <a:avLst>
              <a:gd name="adj" fmla="val 6897"/>
            </a:avLst>
          </a:prstGeom>
          <a:solidFill>
            <a:srgbClr val="141A25"/>
          </a:solidFill>
          <a:ln w="13970">
            <a:solidFill>
              <a:srgbClr val="36414F"/>
            </a:solidFill>
            <a:prstDash val="solid"/>
          </a:ln>
        </p:spPr>
      </p:sp>
      <p:pic>
        <p:nvPicPr>
          <p:cNvPr id="11" name="Image 2" descr="C:/Users/neuma_p1qrsic/Repo/agentic-ops1/.scratch/icons/database.png">    </p:cNvPr>
          <p:cNvPicPr>
            <a:picLocks noChangeAspect="1"/>
          </p:cNvPicPr>
          <p:nvPr/>
        </p:nvPicPr>
        <p:blipFill>
          <a:blip r:embed="rId3"/>
          <a:stretch>
            <a:fillRect/>
          </a:stretch>
        </p:blipFill>
        <p:spPr>
          <a:xfrm>
            <a:off x="1297808" y="4297680"/>
            <a:ext cx="530352" cy="530352"/>
          </a:xfrm>
          <a:prstGeom prst="rect">
            <a:avLst/>
          </a:prstGeom>
        </p:spPr>
      </p:pic>
      <p:sp>
        <p:nvSpPr>
          <p:cNvPr id="12" name="Text 7"/>
          <p:cNvSpPr/>
          <p:nvPr/>
        </p:nvSpPr>
        <p:spPr>
          <a:xfrm>
            <a:off x="640080" y="4937760"/>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SAP systems</a:t>
            </a:r>
            <a:endParaRPr lang="en-US" sz="1200" dirty="0"/>
          </a:p>
        </p:txBody>
      </p:sp>
      <p:sp>
        <p:nvSpPr>
          <p:cNvPr id="13" name="Shape 8"/>
          <p:cNvSpPr/>
          <p:nvPr/>
        </p:nvSpPr>
        <p:spPr>
          <a:xfrm>
            <a:off x="2833360" y="4114800"/>
            <a:ext cx="1992112" cy="1325880"/>
          </a:xfrm>
          <a:prstGeom prst="roundRect">
            <a:avLst>
              <a:gd name="adj" fmla="val 6897"/>
            </a:avLst>
          </a:prstGeom>
          <a:solidFill>
            <a:srgbClr val="141A25"/>
          </a:solidFill>
          <a:ln w="13970">
            <a:solidFill>
              <a:srgbClr val="36414F"/>
            </a:solidFill>
            <a:prstDash val="solid"/>
          </a:ln>
        </p:spPr>
      </p:sp>
      <p:pic>
        <p:nvPicPr>
          <p:cNvPr id="14" name="Image 3" descr="C:/Users/neuma_p1qrsic/Repo/agentic-ops1/.scratch/icons/sheet.png">    </p:cNvPr>
          <p:cNvPicPr>
            <a:picLocks noChangeAspect="1"/>
          </p:cNvPicPr>
          <p:nvPr/>
        </p:nvPicPr>
        <p:blipFill>
          <a:blip r:embed="rId4"/>
          <a:stretch>
            <a:fillRect/>
          </a:stretch>
        </p:blipFill>
        <p:spPr>
          <a:xfrm>
            <a:off x="3564240" y="4297680"/>
            <a:ext cx="530352" cy="530352"/>
          </a:xfrm>
          <a:prstGeom prst="rect">
            <a:avLst/>
          </a:prstGeom>
        </p:spPr>
      </p:pic>
      <p:sp>
        <p:nvSpPr>
          <p:cNvPr id="15" name="Text 9"/>
          <p:cNvSpPr/>
          <p:nvPr/>
        </p:nvSpPr>
        <p:spPr>
          <a:xfrm>
            <a:off x="2906512" y="4937760"/>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Spreadsheets &amp; files</a:t>
            </a:r>
            <a:endParaRPr lang="en-US" sz="1200" dirty="0"/>
          </a:p>
        </p:txBody>
      </p:sp>
      <p:sp>
        <p:nvSpPr>
          <p:cNvPr id="16" name="Shape 10"/>
          <p:cNvSpPr/>
          <p:nvPr/>
        </p:nvSpPr>
        <p:spPr>
          <a:xfrm>
            <a:off x="5099792" y="4114800"/>
            <a:ext cx="1992112" cy="1325880"/>
          </a:xfrm>
          <a:prstGeom prst="roundRect">
            <a:avLst>
              <a:gd name="adj" fmla="val 6897"/>
            </a:avLst>
          </a:prstGeom>
          <a:solidFill>
            <a:srgbClr val="141A25"/>
          </a:solidFill>
          <a:ln w="13970">
            <a:solidFill>
              <a:srgbClr val="36414F"/>
            </a:solidFill>
            <a:prstDash val="solid"/>
          </a:ln>
        </p:spPr>
      </p:sp>
      <p:pic>
        <p:nvPicPr>
          <p:cNvPr id="17" name="Image 4" descr="C:/Users/neuma_p1qrsic/Repo/agentic-ops1/.scratch/icons/mail.png">    </p:cNvPr>
          <p:cNvPicPr>
            <a:picLocks noChangeAspect="1"/>
          </p:cNvPicPr>
          <p:nvPr/>
        </p:nvPicPr>
        <p:blipFill>
          <a:blip r:embed="rId5"/>
          <a:stretch>
            <a:fillRect/>
          </a:stretch>
        </p:blipFill>
        <p:spPr>
          <a:xfrm>
            <a:off x="5830672" y="4297680"/>
            <a:ext cx="530352" cy="530352"/>
          </a:xfrm>
          <a:prstGeom prst="rect">
            <a:avLst/>
          </a:prstGeom>
        </p:spPr>
      </p:pic>
      <p:sp>
        <p:nvSpPr>
          <p:cNvPr id="18" name="Text 11"/>
          <p:cNvSpPr/>
          <p:nvPr/>
        </p:nvSpPr>
        <p:spPr>
          <a:xfrm>
            <a:off x="5172944" y="4937760"/>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Email</a:t>
            </a:r>
            <a:endParaRPr lang="en-US" sz="1200" dirty="0"/>
          </a:p>
        </p:txBody>
      </p:sp>
      <p:sp>
        <p:nvSpPr>
          <p:cNvPr id="19" name="Shape 12"/>
          <p:cNvSpPr/>
          <p:nvPr/>
        </p:nvSpPr>
        <p:spPr>
          <a:xfrm>
            <a:off x="7366224" y="4114800"/>
            <a:ext cx="1992112" cy="1325880"/>
          </a:xfrm>
          <a:prstGeom prst="roundRect">
            <a:avLst>
              <a:gd name="adj" fmla="val 6897"/>
            </a:avLst>
          </a:prstGeom>
          <a:solidFill>
            <a:srgbClr val="141A25"/>
          </a:solidFill>
          <a:ln w="13970">
            <a:solidFill>
              <a:srgbClr val="36414F"/>
            </a:solidFill>
            <a:prstDash val="solid"/>
          </a:ln>
        </p:spPr>
      </p:sp>
      <p:pic>
        <p:nvPicPr>
          <p:cNvPr id="20" name="Image 5" descr="C:/Users/neuma_p1qrsic/Repo/agentic-ops1/.scratch/icons/globe.png">    </p:cNvPr>
          <p:cNvPicPr>
            <a:picLocks noChangeAspect="1"/>
          </p:cNvPicPr>
          <p:nvPr/>
        </p:nvPicPr>
        <p:blipFill>
          <a:blip r:embed="rId6"/>
          <a:stretch>
            <a:fillRect/>
          </a:stretch>
        </p:blipFill>
        <p:spPr>
          <a:xfrm>
            <a:off x="8097103" y="4297680"/>
            <a:ext cx="530352" cy="530352"/>
          </a:xfrm>
          <a:prstGeom prst="rect">
            <a:avLst/>
          </a:prstGeom>
        </p:spPr>
      </p:pic>
      <p:sp>
        <p:nvSpPr>
          <p:cNvPr id="21" name="Text 13"/>
          <p:cNvSpPr/>
          <p:nvPr/>
        </p:nvSpPr>
        <p:spPr>
          <a:xfrm>
            <a:off x="7439376" y="4937760"/>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Web &amp; APIs</a:t>
            </a:r>
            <a:endParaRPr lang="en-US" sz="1200" dirty="0"/>
          </a:p>
        </p:txBody>
      </p:sp>
      <p:sp>
        <p:nvSpPr>
          <p:cNvPr id="22" name="Shape 14"/>
          <p:cNvSpPr/>
          <p:nvPr/>
        </p:nvSpPr>
        <p:spPr>
          <a:xfrm>
            <a:off x="9632655" y="4114800"/>
            <a:ext cx="1992112" cy="1325880"/>
          </a:xfrm>
          <a:prstGeom prst="roundRect">
            <a:avLst>
              <a:gd name="adj" fmla="val 6897"/>
            </a:avLst>
          </a:prstGeom>
          <a:solidFill>
            <a:srgbClr val="141A25"/>
          </a:solidFill>
          <a:ln w="13970">
            <a:solidFill>
              <a:srgbClr val="36414F"/>
            </a:solidFill>
            <a:prstDash val="solid"/>
          </a:ln>
        </p:spPr>
      </p:sp>
      <p:pic>
        <p:nvPicPr>
          <p:cNvPr id="23" name="Image 6" descr="C:/Users/neuma_p1qrsic/Repo/agentic-ops1/.scratch/icons/spark.png">    </p:cNvPr>
          <p:cNvPicPr>
            <a:picLocks noChangeAspect="1"/>
          </p:cNvPicPr>
          <p:nvPr/>
        </p:nvPicPr>
        <p:blipFill>
          <a:blip r:embed="rId7"/>
          <a:stretch>
            <a:fillRect/>
          </a:stretch>
        </p:blipFill>
        <p:spPr>
          <a:xfrm>
            <a:off x="10363535" y="4297680"/>
            <a:ext cx="530352" cy="530352"/>
          </a:xfrm>
          <a:prstGeom prst="rect">
            <a:avLst/>
          </a:prstGeom>
        </p:spPr>
      </p:pic>
      <p:sp>
        <p:nvSpPr>
          <p:cNvPr id="24" name="Text 15"/>
          <p:cNvSpPr/>
          <p:nvPr/>
        </p:nvSpPr>
        <p:spPr>
          <a:xfrm>
            <a:off x="9705807" y="4937760"/>
            <a:ext cx="1845808" cy="411480"/>
          </a:xfrm>
          <a:prstGeom prst="rect">
            <a:avLst/>
          </a:prstGeom>
          <a:noFill/>
          <a:ln/>
        </p:spPr>
        <p:txBody>
          <a:bodyPr wrap="square" rtlCol="0" anchor="ctr"/>
          <a:lstStyle/>
          <a:p>
            <a:pPr algn="ctr" indent="0" marL="0">
              <a:buNone/>
            </a:pPr>
            <a:r>
              <a:rPr lang="en-US" sz="1200" dirty="0">
                <a:solidFill>
                  <a:srgbClr val="F3F6FB"/>
                </a:solidFill>
                <a:latin typeface="Segoe UI" pitchFamily="34" charset="0"/>
                <a:ea typeface="Segoe UI" pitchFamily="34" charset="-122"/>
                <a:cs typeface="Segoe UI" pitchFamily="34" charset="-120"/>
              </a:rPr>
              <a:t>AI</a:t>
            </a:r>
            <a:endParaRPr lang="en-US" sz="1200" dirty="0"/>
          </a:p>
        </p:txBody>
      </p:sp>
      <p:sp>
        <p:nvSpPr>
          <p:cNvPr id="25" name="Text 16"/>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Intercompany Funding Request, a OnePilot use case</a:t>
            </a:r>
            <a:endParaRPr lang="en-US" sz="900" dirty="0"/>
          </a:p>
        </p:txBody>
      </p:sp>
      <p:sp>
        <p:nvSpPr>
          <p:cNvPr id="26" name="Text 17"/>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09</a:t>
            </a:r>
            <a:endParaRPr lang="en-US" sz="900" dirty="0"/>
          </a:p>
        </p:txBody>
      </p:sp>
      <p:sp>
        <p:nvSpPr>
          <p:cNvPr id="27" name="Shape 18"/>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128016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265176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r>
          <p:cNvPicPr>
            <a:picLocks noChangeAspect="1"/>
          </p:cNvPicPr>
          <p:nvPr/>
        </p:nvPicPr>
        <p:blipFill>
          <a:blip r:embed="rId1"/>
          <a:stretch>
            <a:fillRect/>
          </a:stretch>
        </p:blipFill>
        <p:spPr>
          <a:xfrm>
            <a:off x="5312664" y="1371600"/>
            <a:ext cx="1554480"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and we will show a funding request going from the inbox to a governed transfer in SAP.</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8" name="Text 5"/>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2026-07-11T18:49:29Z</dcterms:created>
  <dcterms:modified xsi:type="dcterms:W3CDTF">2026-07-11T18:49:29Z</dcterms:modified>
</cp:coreProperties>
</file>