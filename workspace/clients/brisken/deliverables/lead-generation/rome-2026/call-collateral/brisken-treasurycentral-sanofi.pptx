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notesSlides/notesSlide10.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6" r:id="rId20"/>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 Id="rId20" Type="http://schemas.openxmlformats.org/officeDocument/2006/relationships/slide" Target="slides/slide11.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6949440" y="-1097280"/>
            <a:ext cx="6035040" cy="6035040"/>
          </a:xfrm>
          <a:prstGeom prst="ellipse">
            <a:avLst/>
          </a:prstGeom>
          <a:solidFill>
            <a:srgbClr val="3BE3E0">
              <a:alpha val="7000"/>
            </a:srgbClr>
          </a:solidFill>
          <a:ln w="12700">
            <a:solidFill>
              <a:srgbClr val="333333"/>
            </a:solidFill>
            <a:prstDash val="solid"/>
          </a:ln>
        </p:spPr>
      </p:sp>
      <p:sp>
        <p:nvSpPr>
          <p:cNvPr id="3" name="Shape 1"/>
          <p:cNvSpPr/>
          <p:nvPr/>
        </p:nvSpPr>
        <p:spPr>
          <a:xfrm>
            <a:off x="8321040" y="274320"/>
            <a:ext cx="3291840" cy="3291840"/>
          </a:xfrm>
          <a:prstGeom prst="ellipse">
            <a:avLst/>
          </a:prstGeom>
          <a:solidFill>
            <a:srgbClr val="3BE3E0">
              <a:alpha val="12000"/>
            </a:srgbClr>
          </a:solidFill>
          <a:ln w="12700">
            <a:solidFill>
              <a:srgbClr val="333333"/>
            </a:solidFill>
            <a:prstDash val="solid"/>
          </a:ln>
        </p:spPr>
      </p:sp>
      <p:sp>
        <p:nvSpPr>
          <p:cNvPr id="4" name="Shape 2"/>
          <p:cNvSpPr/>
          <p:nvPr/>
        </p:nvSpPr>
        <p:spPr>
          <a:xfrm>
            <a:off x="-1737360" y="3017520"/>
            <a:ext cx="6035040" cy="6035040"/>
          </a:xfrm>
          <a:prstGeom prst="ellipse">
            <a:avLst/>
          </a:prstGeom>
          <a:solidFill>
            <a:srgbClr val="5A6BFF">
              <a:alpha val="7000"/>
            </a:srgbClr>
          </a:solidFill>
          <a:ln w="12700">
            <a:solidFill>
              <a:srgbClr val="333333"/>
            </a:solidFill>
            <a:prstDash val="solid"/>
          </a:ln>
        </p:spPr>
      </p:sp>
      <p:sp>
        <p:nvSpPr>
          <p:cNvPr id="5" name="Shape 3"/>
          <p:cNvSpPr/>
          <p:nvPr/>
        </p:nvSpPr>
        <p:spPr>
          <a:xfrm>
            <a:off x="-365760" y="4389120"/>
            <a:ext cx="3291840" cy="3291840"/>
          </a:xfrm>
          <a:prstGeom prst="ellipse">
            <a:avLst/>
          </a:prstGeom>
          <a:solidFill>
            <a:srgbClr val="5A6BFF">
              <a:alpha val="12000"/>
            </a:srgbClr>
          </a:solidFill>
          <a:ln w="12700">
            <a:solidFill>
              <a:srgbClr val="333333"/>
            </a:solidFill>
            <a:prstDash val="solid"/>
          </a:ln>
        </p:spPr>
      </p:sp>
      <p:pic>
        <p:nvPicPr>
          <p:cNvPr id="6" name="Image 0" descr="C:/Users/neuma_p1qrsic/Repo/agentic-ops1/.scratch/brisken-logo-light.png"/>
          <p:cNvPicPr>
            <a:picLocks noChangeAspect="1"/>
          </p:cNvPicPr>
          <p:nvPr/>
        </p:nvPicPr>
        <p:blipFill>
          <a:blip r:embed="rId1"/>
          <a:stretch>
            <a:fillRect/>
          </a:stretch>
        </p:blipFill>
        <p:spPr>
          <a:xfrm>
            <a:off x="566928" y="548640"/>
            <a:ext cx="1417320" cy="310896"/>
          </a:xfrm>
          <a:prstGeom prst="rect">
            <a:avLst/>
          </a:prstGeom>
        </p:spPr>
      </p:pic>
      <p:sp>
        <p:nvSpPr>
          <p:cNvPr id="7" name="Shape 4"/>
          <p:cNvSpPr/>
          <p:nvPr/>
        </p:nvSpPr>
        <p:spPr>
          <a:xfrm>
            <a:off x="8058607" y="502920"/>
            <a:ext cx="3566160" cy="420624"/>
          </a:xfrm>
          <a:prstGeom prst="roundRect">
            <a:avLst>
              <a:gd name="adj" fmla="val 50000"/>
            </a:avLst>
          </a:prstGeom>
          <a:solidFill>
            <a:srgbClr val="141A25"/>
          </a:solidFill>
          <a:ln w="12700">
            <a:solidFill>
              <a:srgbClr val="36414F"/>
            </a:solidFill>
            <a:prstDash val="solid"/>
          </a:ln>
        </p:spPr>
      </p:sp>
      <p:sp>
        <p:nvSpPr>
          <p:cNvPr id="8" name="Text 5"/>
          <p:cNvSpPr/>
          <p:nvPr/>
        </p:nvSpPr>
        <p:spPr>
          <a:xfrm>
            <a:off x="8058607" y="502920"/>
            <a:ext cx="3566160" cy="420624"/>
          </a:xfrm>
          <a:prstGeom prst="rect">
            <a:avLst/>
          </a:prstGeom>
          <a:noFill/>
          <a:ln/>
        </p:spPr>
        <p:txBody>
          <a:bodyPr wrap="square" rtlCol="0" anchor="ctr"/>
          <a:lstStyle/>
          <a:p>
            <a:pPr algn="ctr" indent="0" marL="0">
              <a:buNone/>
            </a:pPr>
            <a:r>
              <a:rPr lang="en-US" sz="1100" dirty="0">
                <a:solidFill>
                  <a:srgbClr val="7C8A9B"/>
                </a:solidFill>
                <a:latin typeface="Segoe UI" pitchFamily="34" charset="0"/>
                <a:ea typeface="Segoe UI" pitchFamily="34" charset="-122"/>
                <a:cs typeface="Segoe UI" pitchFamily="34" charset="-120"/>
              </a:rPr>
              <a:t xml:space="preserve">Prepared for  </a:t>
            </a:r>
            <a:pPr algn="ctr" indent="0" marL="0">
              <a:buNone/>
            </a:pPr>
            <a:r>
              <a:rPr lang="en-US" sz="1100" b="1" dirty="0">
                <a:solidFill>
                  <a:srgbClr val="F3F6FB"/>
                </a:solidFill>
                <a:latin typeface="Segoe UI" pitchFamily="34" charset="0"/>
                <a:ea typeface="Segoe UI" pitchFamily="34" charset="-122"/>
                <a:cs typeface="Segoe UI" pitchFamily="34" charset="-120"/>
              </a:rPr>
              <a:t>Sanofi  ·  Ian Haegemans</a:t>
            </a:r>
            <a:endParaRPr lang="en-US" sz="1100" dirty="0"/>
          </a:p>
        </p:txBody>
      </p:sp>
      <p:sp>
        <p:nvSpPr>
          <p:cNvPr id="9" name="Shape 6"/>
          <p:cNvSpPr/>
          <p:nvPr/>
        </p:nvSpPr>
        <p:spPr>
          <a:xfrm>
            <a:off x="566928" y="2532888"/>
            <a:ext cx="45720" cy="219456"/>
          </a:xfrm>
          <a:prstGeom prst="rect">
            <a:avLst/>
          </a:prstGeom>
          <a:solidFill>
            <a:srgbClr val="3BE3E0"/>
          </a:solidFill>
          <a:ln w="12700">
            <a:solidFill>
              <a:srgbClr val="333333"/>
            </a:solidFill>
            <a:prstDash val="solid"/>
          </a:ln>
        </p:spPr>
      </p:sp>
      <p:sp>
        <p:nvSpPr>
          <p:cNvPr id="10" name="Text 7"/>
          <p:cNvSpPr/>
          <p:nvPr/>
        </p:nvSpPr>
        <p:spPr>
          <a:xfrm>
            <a:off x="713232" y="2459736"/>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ONEPILOT · TREASURYCENTRAL</a:t>
            </a:r>
            <a:endParaRPr lang="en-US" sz="1200" dirty="0"/>
          </a:p>
        </p:txBody>
      </p:sp>
      <p:sp>
        <p:nvSpPr>
          <p:cNvPr id="11" name="Text 8"/>
          <p:cNvSpPr/>
          <p:nvPr/>
        </p:nvSpPr>
        <p:spPr>
          <a:xfrm>
            <a:off x="539496" y="2788920"/>
            <a:ext cx="11338560" cy="1280160"/>
          </a:xfrm>
          <a:prstGeom prst="rect">
            <a:avLst/>
          </a:prstGeom>
          <a:noFill/>
          <a:ln/>
        </p:spPr>
        <p:txBody>
          <a:bodyPr wrap="square" rtlCol="0" anchor="ctr"/>
          <a:lstStyle/>
          <a:p>
            <a:pPr indent="0" marL="0">
              <a:buNone/>
            </a:pPr>
            <a:r>
              <a:rPr lang="en-US" sz="6600" b="1" dirty="0">
                <a:solidFill>
                  <a:srgbClr val="F3F6FB"/>
                </a:solidFill>
                <a:latin typeface="Segoe UI Semibold" pitchFamily="34" charset="0"/>
                <a:ea typeface="Segoe UI Semibold" pitchFamily="34" charset="-122"/>
                <a:cs typeface="Segoe UI Semibold" pitchFamily="34" charset="-120"/>
              </a:rPr>
              <a:t>TreasuryCentral</a:t>
            </a:r>
            <a:endParaRPr lang="en-US" sz="6600" dirty="0"/>
          </a:p>
        </p:txBody>
      </p:sp>
      <p:sp>
        <p:nvSpPr>
          <p:cNvPr id="12" name="Text 9"/>
          <p:cNvSpPr/>
          <p:nvPr/>
        </p:nvSpPr>
        <p:spPr>
          <a:xfrm>
            <a:off x="566928" y="4160520"/>
            <a:ext cx="10424160" cy="822960"/>
          </a:xfrm>
          <a:prstGeom prst="rect">
            <a:avLst/>
          </a:prstGeom>
          <a:noFill/>
          <a:ln/>
        </p:spPr>
        <p:txBody>
          <a:bodyPr wrap="square" rtlCol="0" anchor="t"/>
          <a:lstStyle/>
          <a:p>
            <a:pPr indent="0" marL="0">
              <a:lnSpc>
                <a:spcPct val="115000"/>
              </a:lnSpc>
              <a:buNone/>
            </a:pPr>
            <a:r>
              <a:rPr lang="en-US" sz="2000" dirty="0">
                <a:solidFill>
                  <a:srgbClr val="AAB6C7"/>
                </a:solidFill>
                <a:latin typeface="Segoe UI" pitchFamily="34" charset="0"/>
                <a:ea typeface="Segoe UI" pitchFamily="34" charset="-122"/>
                <a:cs typeface="Segoe UI" pitchFamily="34" charset="-120"/>
              </a:rPr>
              <a:t xml:space="preserve">One cockpit for the whole treasury, on your live SAP data. </a:t>
            </a:r>
            <a:pPr indent="0" marL="0">
              <a:lnSpc>
                <a:spcPct val="115000"/>
              </a:lnSpc>
              <a:buNone/>
            </a:pPr>
            <a:r>
              <a:rPr lang="en-US" sz="2000" dirty="0">
                <a:solidFill>
                  <a:srgbClr val="3BE3E0"/>
                </a:solidFill>
                <a:latin typeface="Segoe UI" pitchFamily="34" charset="0"/>
                <a:ea typeface="Segoe UI" pitchFamily="34" charset="-122"/>
                <a:cs typeface="Segoe UI" pitchFamily="34" charset="-120"/>
              </a:rPr>
              <a:t>Market data, trading and AI, in one governed layer.</a:t>
            </a:r>
            <a:endParaRPr lang="en-US" sz="2000" dirty="0"/>
          </a:p>
        </p:txBody>
      </p:sp>
      <p:sp>
        <p:nvSpPr>
          <p:cNvPr id="13" name="Shape 10"/>
          <p:cNvSpPr/>
          <p:nvPr/>
        </p:nvSpPr>
        <p:spPr>
          <a:xfrm>
            <a:off x="566928" y="5532120"/>
            <a:ext cx="566928" cy="566928"/>
          </a:xfrm>
          <a:prstGeom prst="roundRect">
            <a:avLst>
              <a:gd name="adj" fmla="val 17742"/>
            </a:avLst>
          </a:prstGeom>
          <a:solidFill>
            <a:srgbClr val="1B2330"/>
          </a:solidFill>
          <a:ln w="15240">
            <a:solidFill>
              <a:srgbClr val="3BE3E0"/>
            </a:solidFill>
            <a:prstDash val="solid"/>
          </a:ln>
        </p:spPr>
      </p:sp>
      <p:pic>
        <p:nvPicPr>
          <p:cNvPr id="14" name="Image 1" descr="C:/Users/neuma_p1qrsic/Repo/agentic-ops1/.scratch/icons/database.png"/>
          <p:cNvPicPr>
            <a:picLocks noChangeAspect="1"/>
          </p:cNvPicPr>
          <p:nvPr/>
        </p:nvPicPr>
        <p:blipFill>
          <a:blip r:embed="rId2"/>
          <a:stretch>
            <a:fillRect/>
          </a:stretch>
        </p:blipFill>
        <p:spPr>
          <a:xfrm>
            <a:off x="702991" y="5668183"/>
            <a:ext cx="294803" cy="294803"/>
          </a:xfrm>
          <a:prstGeom prst="rect">
            <a:avLst/>
          </a:prstGeom>
        </p:spPr>
      </p:pic>
      <p:sp>
        <p:nvSpPr>
          <p:cNvPr id="15" name="Text 11"/>
          <p:cNvSpPr/>
          <p:nvPr/>
        </p:nvSpPr>
        <p:spPr>
          <a:xfrm>
            <a:off x="1252728" y="5532120"/>
            <a:ext cx="2468880" cy="566928"/>
          </a:xfrm>
          <a:prstGeom prst="rect">
            <a:avLst/>
          </a:prstGeom>
          <a:noFill/>
          <a:ln/>
        </p:spPr>
        <p:txBody>
          <a:bodyPr wrap="square" rtlCol="0" anchor="ctr"/>
          <a:lstStyle/>
          <a:p>
            <a:pPr indent="0" marL="0">
              <a:buNone/>
            </a:pPr>
            <a:r>
              <a:rPr lang="en-US" sz="1300" dirty="0">
                <a:solidFill>
                  <a:srgbClr val="F3F6FB"/>
                </a:solidFill>
                <a:latin typeface="Segoe UI" pitchFamily="34" charset="0"/>
                <a:ea typeface="Segoe UI" pitchFamily="34" charset="-122"/>
                <a:cs typeface="Segoe UI" pitchFamily="34" charset="-120"/>
              </a:rPr>
              <a:t>Your live SAP data</a:t>
            </a:r>
            <a:endParaRPr lang="en-US" sz="1300" dirty="0"/>
          </a:p>
        </p:txBody>
      </p:sp>
      <p:sp>
        <p:nvSpPr>
          <p:cNvPr id="16" name="Shape 12"/>
          <p:cNvSpPr/>
          <p:nvPr/>
        </p:nvSpPr>
        <p:spPr>
          <a:xfrm>
            <a:off x="3630168" y="5815584"/>
            <a:ext cx="640080" cy="0"/>
          </a:xfrm>
          <a:prstGeom prst="line">
            <a:avLst/>
          </a:prstGeom>
          <a:noFill/>
          <a:ln w="25400">
            <a:solidFill>
              <a:srgbClr val="3BE3E0"/>
            </a:solidFill>
            <a:prstDash val="solid"/>
            <a:tailEnd type="triangle"/>
          </a:ln>
        </p:spPr>
      </p:sp>
      <p:sp>
        <p:nvSpPr>
          <p:cNvPr id="17" name="Text 13"/>
          <p:cNvSpPr/>
          <p:nvPr/>
        </p:nvSpPr>
        <p:spPr>
          <a:xfrm>
            <a:off x="4361688" y="5532120"/>
            <a:ext cx="2103120" cy="566928"/>
          </a:xfrm>
          <a:prstGeom prst="rect">
            <a:avLst/>
          </a:prstGeom>
          <a:noFill/>
          <a:ln/>
        </p:spPr>
        <p:txBody>
          <a:bodyPr wrap="square" rtlCol="0" anchor="ctr"/>
          <a:lstStyle/>
          <a:p>
            <a:pPr algn="ctr" indent="0" marL="0">
              <a:buNone/>
            </a:pPr>
            <a:r>
              <a:rPr lang="en-US" sz="1200" i="1" dirty="0">
                <a:solidFill>
                  <a:srgbClr val="3BE3E0"/>
                </a:solidFill>
                <a:latin typeface="Segoe UI" pitchFamily="34" charset="0"/>
                <a:ea typeface="Segoe UI" pitchFamily="34" charset="-122"/>
                <a:cs typeface="Segoe UI" pitchFamily="34" charset="-120"/>
              </a:rPr>
              <a:t>TreasuryCentral</a:t>
            </a:r>
            <a:endParaRPr lang="en-US" sz="1200" dirty="0"/>
          </a:p>
        </p:txBody>
      </p:sp>
      <p:sp>
        <p:nvSpPr>
          <p:cNvPr id="18" name="Shape 14"/>
          <p:cNvSpPr/>
          <p:nvPr/>
        </p:nvSpPr>
        <p:spPr>
          <a:xfrm>
            <a:off x="6510528" y="5815584"/>
            <a:ext cx="640080" cy="0"/>
          </a:xfrm>
          <a:prstGeom prst="line">
            <a:avLst/>
          </a:prstGeom>
          <a:noFill/>
          <a:ln w="25400">
            <a:solidFill>
              <a:srgbClr val="3BE3E0"/>
            </a:solidFill>
            <a:prstDash val="solid"/>
            <a:tailEnd type="triangle"/>
          </a:ln>
        </p:spPr>
      </p:sp>
      <p:sp>
        <p:nvSpPr>
          <p:cNvPr id="19" name="Shape 15"/>
          <p:cNvSpPr/>
          <p:nvPr/>
        </p:nvSpPr>
        <p:spPr>
          <a:xfrm>
            <a:off x="7287768" y="5532120"/>
            <a:ext cx="566928" cy="566928"/>
          </a:xfrm>
          <a:prstGeom prst="roundRect">
            <a:avLst>
              <a:gd name="adj" fmla="val 17742"/>
            </a:avLst>
          </a:prstGeom>
          <a:solidFill>
            <a:srgbClr val="1B2330"/>
          </a:solidFill>
          <a:ln w="15240">
            <a:solidFill>
              <a:srgbClr val="3BE3E0"/>
            </a:solidFill>
            <a:prstDash val="solid"/>
          </a:ln>
        </p:spPr>
      </p:sp>
      <p:pic>
        <p:nvPicPr>
          <p:cNvPr id="20" name="Image 2" descr="C:/Users/neuma_p1qrsic/Repo/agentic-ops1/.scratch/icons/gauge.png"/>
          <p:cNvPicPr>
            <a:picLocks noChangeAspect="1"/>
          </p:cNvPicPr>
          <p:nvPr/>
        </p:nvPicPr>
        <p:blipFill>
          <a:blip r:embed="rId3"/>
          <a:stretch>
            <a:fillRect/>
          </a:stretch>
        </p:blipFill>
        <p:spPr>
          <a:xfrm>
            <a:off x="7423831" y="5668183"/>
            <a:ext cx="294803" cy="294803"/>
          </a:xfrm>
          <a:prstGeom prst="rect">
            <a:avLst/>
          </a:prstGeom>
        </p:spPr>
      </p:pic>
      <p:sp>
        <p:nvSpPr>
          <p:cNvPr id="21" name="Text 16"/>
          <p:cNvSpPr/>
          <p:nvPr/>
        </p:nvSpPr>
        <p:spPr>
          <a:xfrm>
            <a:off x="7973568" y="5532120"/>
            <a:ext cx="3108960" cy="566928"/>
          </a:xfrm>
          <a:prstGeom prst="rect">
            <a:avLst/>
          </a:prstGeom>
          <a:noFill/>
          <a:ln/>
        </p:spPr>
        <p:txBody>
          <a:bodyPr wrap="square" rtlCol="0" anchor="ctr"/>
          <a:lstStyle/>
          <a:p>
            <a:pPr indent="0" marL="0">
              <a:buNone/>
            </a:pPr>
            <a:r>
              <a:rPr lang="en-US" sz="1300" dirty="0">
                <a:solidFill>
                  <a:srgbClr val="F3F6FB"/>
                </a:solidFill>
                <a:latin typeface="Segoe UI" pitchFamily="34" charset="0"/>
                <a:ea typeface="Segoe UI" pitchFamily="34" charset="-122"/>
                <a:cs typeface="Segoe UI" pitchFamily="34" charset="-120"/>
              </a:rPr>
              <a:t>Every treasury decision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THE PROBLEM</a:t>
            </a:r>
            <a:endParaRPr lang="en-US" sz="1200" dirty="0"/>
          </a:p>
        </p:txBody>
      </p:sp>
      <p:sp>
        <p:nvSpPr>
          <p:cNvPr id="4" name="Text 2"/>
          <p:cNvSpPr/>
          <p:nvPr/>
        </p:nvSpPr>
        <p:spPr>
          <a:xfrm>
            <a:off x="566928" y="960120"/>
            <a:ext cx="10881360" cy="1463040"/>
          </a:xfrm>
          <a:prstGeom prst="rect">
            <a:avLst/>
          </a:prstGeom>
          <a:noFill/>
          <a:ln/>
        </p:spPr>
        <p:txBody>
          <a:bodyPr wrap="square" rtlCol="0" anchor="ctr"/>
          <a:lstStyle/>
          <a:p>
            <a:pPr indent="0" marL="0">
              <a:lnSpc>
                <a:spcPct val="105000"/>
              </a:lnSpc>
              <a:buNone/>
            </a:pPr>
            <a:r>
              <a:rPr lang="en-US" sz="3300" b="1" dirty="0">
                <a:solidFill>
                  <a:srgbClr val="F3F6FB"/>
                </a:solidFill>
                <a:latin typeface="Segoe UI Semibold" pitchFamily="34" charset="0"/>
                <a:ea typeface="Segoe UI Semibold" pitchFamily="34" charset="-122"/>
                <a:cs typeface="Segoe UI Semibold" pitchFamily="34" charset="-120"/>
              </a:rPr>
              <a:t>A global treasury runs one process.
</a:t>
            </a:r>
            <a:pPr indent="0" marL="0">
              <a:lnSpc>
                <a:spcPct val="105000"/>
              </a:lnSpc>
              <a:buNone/>
            </a:pPr>
            <a:r>
              <a:rPr lang="en-US" sz="3300" b="1" dirty="0">
                <a:solidFill>
                  <a:srgbClr val="3BE3E0"/>
                </a:solidFill>
                <a:latin typeface="Segoe UI Semibold" pitchFamily="34" charset="0"/>
                <a:ea typeface="Segoe UI Semibold" pitchFamily="34" charset="-122"/>
                <a:cs typeface="Segoe UI Semibold" pitchFamily="34" charset="-120"/>
              </a:rPr>
              <a:t>The data behind it lives in a dozen places.</a:t>
            </a:r>
            <a:endParaRPr lang="en-US" sz="3300" dirty="0"/>
          </a:p>
        </p:txBody>
      </p:sp>
      <p:sp>
        <p:nvSpPr>
          <p:cNvPr id="5" name="Shape 3"/>
          <p:cNvSpPr/>
          <p:nvPr/>
        </p:nvSpPr>
        <p:spPr>
          <a:xfrm>
            <a:off x="566928" y="3246120"/>
            <a:ext cx="3246120" cy="1874520"/>
          </a:xfrm>
          <a:prstGeom prst="roundRect">
            <a:avLst>
              <a:gd name="adj" fmla="val 4390"/>
            </a:avLst>
          </a:prstGeom>
          <a:solidFill>
            <a:srgbClr val="141A25"/>
          </a:solidFill>
          <a:ln w="13970">
            <a:solidFill>
              <a:srgbClr val="36414F"/>
            </a:solidFill>
            <a:prstDash val="solid"/>
          </a:ln>
        </p:spPr>
      </p:sp>
      <p:sp>
        <p:nvSpPr>
          <p:cNvPr id="6" name="Shape 4"/>
          <p:cNvSpPr/>
          <p:nvPr/>
        </p:nvSpPr>
        <p:spPr>
          <a:xfrm>
            <a:off x="841248" y="3566160"/>
            <a:ext cx="603504" cy="603504"/>
          </a:xfrm>
          <a:prstGeom prst="roundRect">
            <a:avLst>
              <a:gd name="adj" fmla="val 16667"/>
            </a:avLst>
          </a:prstGeom>
          <a:solidFill>
            <a:srgbClr val="1B2330"/>
          </a:solidFill>
          <a:ln w="15240">
            <a:solidFill>
              <a:srgbClr val="3BE3E0"/>
            </a:solidFill>
            <a:prstDash val="solid"/>
          </a:ln>
        </p:spPr>
      </p:sp>
      <p:pic>
        <p:nvPicPr>
          <p:cNvPr id="7" name="Image 0" descr="C:/Users/neuma_p1qrsic/Repo/agentic-ops1/.scratch/icons/venue.png"/>
          <p:cNvPicPr>
            <a:picLocks noChangeAspect="1"/>
          </p:cNvPicPr>
          <p:nvPr/>
        </p:nvPicPr>
        <p:blipFill>
          <a:blip r:embed="rId1"/>
          <a:stretch>
            <a:fillRect/>
          </a:stretch>
        </p:blipFill>
        <p:spPr>
          <a:xfrm>
            <a:off x="986089" y="3711001"/>
            <a:ext cx="313822" cy="313822"/>
          </a:xfrm>
          <a:prstGeom prst="rect">
            <a:avLst/>
          </a:prstGeom>
        </p:spPr>
      </p:pic>
      <p:sp>
        <p:nvSpPr>
          <p:cNvPr id="8" name="Text 5"/>
          <p:cNvSpPr/>
          <p:nvPr/>
        </p:nvSpPr>
        <p:spPr>
          <a:xfrm>
            <a:off x="841248" y="4343400"/>
            <a:ext cx="2697480" cy="365760"/>
          </a:xfrm>
          <a:prstGeom prst="rect">
            <a:avLst/>
          </a:prstGeom>
          <a:noFill/>
          <a:ln/>
        </p:spPr>
        <p:txBody>
          <a:bodyPr wrap="square" rtlCol="0" anchor="ctr"/>
          <a:lstStyle/>
          <a:p>
            <a:pPr indent="0" marL="0">
              <a:buNone/>
            </a:pPr>
            <a:r>
              <a:rPr lang="en-US" sz="1500" b="1" dirty="0">
                <a:solidFill>
                  <a:srgbClr val="F3F6FB"/>
                </a:solidFill>
                <a:latin typeface="Segoe UI Semibold" pitchFamily="34" charset="0"/>
                <a:ea typeface="Segoe UI Semibold" pitchFamily="34" charset="-122"/>
                <a:cs typeface="Segoe UI Semibold" pitchFamily="34" charset="-120"/>
              </a:rPr>
              <a:t>Your sources</a:t>
            </a:r>
            <a:endParaRPr lang="en-US" sz="1500" dirty="0"/>
          </a:p>
        </p:txBody>
      </p:sp>
      <p:sp>
        <p:nvSpPr>
          <p:cNvPr id="9" name="Text 6"/>
          <p:cNvSpPr/>
          <p:nvPr/>
        </p:nvSpPr>
        <p:spPr>
          <a:xfrm>
            <a:off x="841248" y="4663440"/>
            <a:ext cx="2697480" cy="457200"/>
          </a:xfrm>
          <a:prstGeom prst="rect">
            <a:avLst/>
          </a:prstGeom>
          <a:noFill/>
          <a:ln/>
        </p:spPr>
        <p:txBody>
          <a:bodyPr wrap="square" rtlCol="0" anchor="ctr"/>
          <a:lstStyle/>
          <a:p>
            <a:pPr indent="0" marL="0">
              <a:buNone/>
            </a:pPr>
            <a:r>
              <a:rPr lang="en-US" sz="1200" dirty="0">
                <a:solidFill>
                  <a:srgbClr val="AAB6C7"/>
                </a:solidFill>
                <a:latin typeface="Segoe UI" pitchFamily="34" charset="0"/>
                <a:ea typeface="Segoe UI" pitchFamily="34" charset="-122"/>
                <a:cs typeface="Segoe UI" pitchFamily="34" charset="-120"/>
              </a:rPr>
              <a:t>Banks, market data, trading venues, internal systems</a:t>
            </a:r>
            <a:endParaRPr lang="en-US" sz="1200" dirty="0"/>
          </a:p>
        </p:txBody>
      </p:sp>
      <p:sp>
        <p:nvSpPr>
          <p:cNvPr id="10" name="Shape 7"/>
          <p:cNvSpPr/>
          <p:nvPr/>
        </p:nvSpPr>
        <p:spPr>
          <a:xfrm>
            <a:off x="4270248" y="3246120"/>
            <a:ext cx="3657600" cy="1874520"/>
          </a:xfrm>
          <a:prstGeom prst="roundRect">
            <a:avLst>
              <a:gd name="adj" fmla="val 4390"/>
            </a:avLst>
          </a:prstGeom>
          <a:solidFill>
            <a:srgbClr val="24190E"/>
          </a:solidFill>
          <a:ln w="17780">
            <a:solidFill>
              <a:srgbClr val="FFC96B"/>
            </a:solidFill>
            <a:prstDash val="dash"/>
          </a:ln>
        </p:spPr>
      </p:sp>
      <p:pic>
        <p:nvPicPr>
          <p:cNvPr id="11" name="Image 1" descr="C:/Users/neuma_p1qrsic/Repo/agentic-ops1/.scratch/icons/gap.png"/>
          <p:cNvPicPr>
            <a:picLocks noChangeAspect="1"/>
          </p:cNvPicPr>
          <p:nvPr/>
        </p:nvPicPr>
        <p:blipFill>
          <a:blip r:embed="rId2"/>
          <a:stretch>
            <a:fillRect/>
          </a:stretch>
        </p:blipFill>
        <p:spPr>
          <a:xfrm>
            <a:off x="5797296" y="3538728"/>
            <a:ext cx="603504" cy="603504"/>
          </a:xfrm>
          <a:prstGeom prst="rect">
            <a:avLst/>
          </a:prstGeom>
        </p:spPr>
      </p:pic>
      <p:sp>
        <p:nvSpPr>
          <p:cNvPr id="12" name="Text 8"/>
          <p:cNvSpPr/>
          <p:nvPr/>
        </p:nvSpPr>
        <p:spPr>
          <a:xfrm>
            <a:off x="4270248" y="4270248"/>
            <a:ext cx="3657600" cy="365760"/>
          </a:xfrm>
          <a:prstGeom prst="rect">
            <a:avLst/>
          </a:prstGeom>
          <a:noFill/>
          <a:ln/>
        </p:spPr>
        <p:txBody>
          <a:bodyPr wrap="square" rtlCol="0" anchor="ctr"/>
          <a:lstStyle/>
          <a:p>
            <a:pPr algn="ctr" indent="0" marL="0">
              <a:buNone/>
            </a:pPr>
            <a:r>
              <a:rPr lang="en-US" sz="1500" b="1" dirty="0">
                <a:solidFill>
                  <a:srgbClr val="FFC96B"/>
                </a:solidFill>
                <a:latin typeface="Segoe UI Semibold" pitchFamily="34" charset="0"/>
                <a:ea typeface="Segoe UI Semibold" pitchFamily="34" charset="-122"/>
                <a:cs typeface="Segoe UI Semibold" pitchFamily="34" charset="-120"/>
              </a:rPr>
              <a:t>The manual middle</a:t>
            </a:r>
            <a:endParaRPr lang="en-US" sz="1500" dirty="0"/>
          </a:p>
        </p:txBody>
      </p:sp>
      <p:sp>
        <p:nvSpPr>
          <p:cNvPr id="13" name="Text 9"/>
          <p:cNvSpPr/>
          <p:nvPr/>
        </p:nvSpPr>
        <p:spPr>
          <a:xfrm>
            <a:off x="4590288" y="4617720"/>
            <a:ext cx="3017520" cy="457200"/>
          </a:xfrm>
          <a:prstGeom prst="rect">
            <a:avLst/>
          </a:prstGeom>
          <a:noFill/>
          <a:ln/>
        </p:spPr>
        <p:txBody>
          <a:bodyPr wrap="square" rtlCol="0" anchor="ctr"/>
          <a:lstStyle/>
          <a:p>
            <a:pPr algn="ctr" indent="0" marL="0">
              <a:lnSpc>
                <a:spcPct val="105000"/>
              </a:lnSpc>
              <a:buNone/>
            </a:pPr>
            <a:r>
              <a:rPr lang="en-US" sz="1200" dirty="0">
                <a:solidFill>
                  <a:srgbClr val="F3F6FB"/>
                </a:solidFill>
                <a:latin typeface="Segoe UI" pitchFamily="34" charset="0"/>
                <a:ea typeface="Segoe UI" pitchFamily="34" charset="-122"/>
                <a:cs typeface="Segoe UI" pitchFamily="34" charset="-120"/>
              </a:rPr>
              <a:t>re-keying rates, reconciling positions, chasing bad values, posting by hand</a:t>
            </a:r>
            <a:endParaRPr lang="en-US" sz="1200" dirty="0"/>
          </a:p>
        </p:txBody>
      </p:sp>
      <p:sp>
        <p:nvSpPr>
          <p:cNvPr id="14" name="Shape 10"/>
          <p:cNvSpPr/>
          <p:nvPr/>
        </p:nvSpPr>
        <p:spPr>
          <a:xfrm>
            <a:off x="8385048" y="3246120"/>
            <a:ext cx="3239719" cy="1874520"/>
          </a:xfrm>
          <a:prstGeom prst="roundRect">
            <a:avLst>
              <a:gd name="adj" fmla="val 4390"/>
            </a:avLst>
          </a:prstGeom>
          <a:solidFill>
            <a:srgbClr val="141A25"/>
          </a:solidFill>
          <a:ln w="13970">
            <a:solidFill>
              <a:srgbClr val="36414F"/>
            </a:solidFill>
            <a:prstDash val="solid"/>
          </a:ln>
        </p:spPr>
      </p:sp>
      <p:sp>
        <p:nvSpPr>
          <p:cNvPr id="15" name="Shape 11"/>
          <p:cNvSpPr/>
          <p:nvPr/>
        </p:nvSpPr>
        <p:spPr>
          <a:xfrm>
            <a:off x="8659368" y="3566160"/>
            <a:ext cx="603504" cy="603504"/>
          </a:xfrm>
          <a:prstGeom prst="roundRect">
            <a:avLst>
              <a:gd name="adj" fmla="val 16667"/>
            </a:avLst>
          </a:prstGeom>
          <a:solidFill>
            <a:srgbClr val="1B2330"/>
          </a:solidFill>
          <a:ln w="15240">
            <a:solidFill>
              <a:srgbClr val="3BE3E0"/>
            </a:solidFill>
            <a:prstDash val="solid"/>
          </a:ln>
        </p:spPr>
      </p:sp>
      <p:pic>
        <p:nvPicPr>
          <p:cNvPr id="16" name="Image 2" descr="C:/Users/neuma_p1qrsic/Repo/agentic-ops1/.scratch/icons/database.png"/>
          <p:cNvPicPr>
            <a:picLocks noChangeAspect="1"/>
          </p:cNvPicPr>
          <p:nvPr/>
        </p:nvPicPr>
        <p:blipFill>
          <a:blip r:embed="rId3"/>
          <a:stretch>
            <a:fillRect/>
          </a:stretch>
        </p:blipFill>
        <p:spPr>
          <a:xfrm>
            <a:off x="8804209" y="3711001"/>
            <a:ext cx="313822" cy="313822"/>
          </a:xfrm>
          <a:prstGeom prst="rect">
            <a:avLst/>
          </a:prstGeom>
        </p:spPr>
      </p:pic>
      <p:sp>
        <p:nvSpPr>
          <p:cNvPr id="17" name="Text 12"/>
          <p:cNvSpPr/>
          <p:nvPr/>
        </p:nvSpPr>
        <p:spPr>
          <a:xfrm>
            <a:off x="8659368" y="4343400"/>
            <a:ext cx="2691079" cy="365760"/>
          </a:xfrm>
          <a:prstGeom prst="rect">
            <a:avLst/>
          </a:prstGeom>
          <a:noFill/>
          <a:ln/>
        </p:spPr>
        <p:txBody>
          <a:bodyPr wrap="square" rtlCol="0" anchor="ctr"/>
          <a:lstStyle/>
          <a:p>
            <a:pPr indent="0" marL="0">
              <a:buNone/>
            </a:pPr>
            <a:r>
              <a:rPr lang="en-US" sz="1500" b="1" dirty="0">
                <a:solidFill>
                  <a:srgbClr val="F3F6FB"/>
                </a:solidFill>
                <a:latin typeface="Segoe UI Semibold" pitchFamily="34" charset="0"/>
                <a:ea typeface="Segoe UI Semibold" pitchFamily="34" charset="-122"/>
                <a:cs typeface="Segoe UI Semibold" pitchFamily="34" charset="-120"/>
              </a:rPr>
              <a:t>Your systems</a:t>
            </a:r>
            <a:endParaRPr lang="en-US" sz="1500" dirty="0"/>
          </a:p>
        </p:txBody>
      </p:sp>
      <p:sp>
        <p:nvSpPr>
          <p:cNvPr id="18" name="Text 13"/>
          <p:cNvSpPr/>
          <p:nvPr/>
        </p:nvSpPr>
        <p:spPr>
          <a:xfrm>
            <a:off x="8659368" y="4663440"/>
            <a:ext cx="2691079" cy="457200"/>
          </a:xfrm>
          <a:prstGeom prst="rect">
            <a:avLst/>
          </a:prstGeom>
          <a:noFill/>
          <a:ln/>
        </p:spPr>
        <p:txBody>
          <a:bodyPr wrap="square" rtlCol="0" anchor="ctr"/>
          <a:lstStyle/>
          <a:p>
            <a:pPr indent="0" marL="0">
              <a:buNone/>
            </a:pPr>
            <a:r>
              <a:rPr lang="en-US" sz="1200" dirty="0">
                <a:solidFill>
                  <a:srgbClr val="AAB6C7"/>
                </a:solidFill>
                <a:latin typeface="Segoe UI" pitchFamily="34" charset="0"/>
                <a:ea typeface="Segoe UI" pitchFamily="34" charset="-122"/>
                <a:cs typeface="Segoe UI" pitchFamily="34" charset="-120"/>
              </a:rPr>
              <a:t>SAP S/4HANA, TRM, analytics, non-SAP apps</a:t>
            </a:r>
            <a:endParaRPr lang="en-US" sz="1200" dirty="0"/>
          </a:p>
        </p:txBody>
      </p:sp>
      <p:sp>
        <p:nvSpPr>
          <p:cNvPr id="19" name="Shape 14"/>
          <p:cNvSpPr/>
          <p:nvPr/>
        </p:nvSpPr>
        <p:spPr>
          <a:xfrm>
            <a:off x="3813048" y="4183380"/>
            <a:ext cx="457200" cy="0"/>
          </a:xfrm>
          <a:prstGeom prst="line">
            <a:avLst/>
          </a:prstGeom>
          <a:noFill/>
          <a:ln w="25400">
            <a:solidFill>
              <a:srgbClr val="FFC96B"/>
            </a:solidFill>
            <a:prstDash val="solid"/>
            <a:tailEnd type="triangle"/>
          </a:ln>
        </p:spPr>
      </p:sp>
      <p:sp>
        <p:nvSpPr>
          <p:cNvPr id="20" name="Shape 15"/>
          <p:cNvSpPr/>
          <p:nvPr/>
        </p:nvSpPr>
        <p:spPr>
          <a:xfrm>
            <a:off x="7927848" y="4183380"/>
            <a:ext cx="457200" cy="0"/>
          </a:xfrm>
          <a:prstGeom prst="line">
            <a:avLst/>
          </a:prstGeom>
          <a:noFill/>
          <a:ln w="25400">
            <a:solidFill>
              <a:srgbClr val="FFC96B"/>
            </a:solidFill>
            <a:prstDash val="solid"/>
            <a:tailEnd type="triangle"/>
          </a:ln>
        </p:spPr>
      </p:sp>
      <p:sp>
        <p:nvSpPr>
          <p:cNvPr id="21" name="Text 16"/>
          <p:cNvSpPr/>
          <p:nvPr/>
        </p:nvSpPr>
        <p:spPr>
          <a:xfrm>
            <a:off x="566928" y="5532120"/>
            <a:ext cx="11057839" cy="457200"/>
          </a:xfrm>
          <a:prstGeom prst="rect">
            <a:avLst/>
          </a:prstGeom>
          <a:noFill/>
          <a:ln/>
        </p:spPr>
        <p:txBody>
          <a:bodyPr wrap="square" rtlCol="0" anchor="ctr"/>
          <a:lstStyle/>
          <a:p>
            <a:pPr indent="0" marL="0">
              <a:buNone/>
            </a:pPr>
            <a:r>
              <a:rPr lang="en-US" sz="1600" dirty="0">
                <a:solidFill>
                  <a:srgbClr val="3BE3E0"/>
                </a:solidFill>
                <a:latin typeface="Segoe UI" pitchFamily="34" charset="0"/>
                <a:ea typeface="Segoe UI" pitchFamily="34" charset="-122"/>
                <a:cs typeface="Segoe UI" pitchFamily="34" charset="-120"/>
              </a:rPr>
              <a:t>None of those steps is hard. Together they run a global process on hand-carried data.</a:t>
            </a:r>
            <a:endParaRPr lang="en-US" sz="1600" dirty="0"/>
          </a:p>
        </p:txBody>
      </p:sp>
      <p:sp>
        <p:nvSpPr>
          <p:cNvPr id="22" name="Text 17"/>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xml:space="preserve">   TreasuryCentral, powered by OnePilot</a:t>
            </a:r>
            <a:endParaRPr lang="en-US" sz="900" dirty="0"/>
          </a:p>
        </p:txBody>
      </p:sp>
      <p:sp>
        <p:nvSpPr>
          <p:cNvPr id="23" name="Text 18"/>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03 / 11</a:t>
            </a:r>
            <a:endParaRPr lang="en-US" sz="900" dirty="0"/>
          </a:p>
        </p:txBody>
      </p:sp>
      <p:sp>
        <p:nvSpPr>
          <p:cNvPr id="24" name="Shape 19"/>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THE SOLUTION</a:t>
            </a:r>
            <a:endParaRPr lang="en-US" sz="1200" dirty="0"/>
          </a:p>
        </p:txBody>
      </p:sp>
      <p:sp>
        <p:nvSpPr>
          <p:cNvPr id="4" name="Text 2"/>
          <p:cNvSpPr/>
          <p:nvPr/>
        </p:nvSpPr>
        <p:spPr>
          <a:xfrm>
            <a:off x="566928" y="960120"/>
            <a:ext cx="10972800" cy="731520"/>
          </a:xfrm>
          <a:prstGeom prst="rect">
            <a:avLst/>
          </a:prstGeom>
          <a:noFill/>
          <a:ln/>
        </p:spPr>
        <p:txBody>
          <a:bodyPr wrap="square" rtlCol="0" anchor="ctr"/>
          <a:lstStyle/>
          <a:p>
            <a:pPr indent="0" marL="0">
              <a:buNone/>
            </a:pPr>
            <a:r>
              <a:rPr lang="en-US" sz="3000" b="1" dirty="0">
                <a:solidFill>
                  <a:srgbClr val="F3F6FB"/>
                </a:solidFill>
                <a:latin typeface="Segoe UI Semibold" pitchFamily="34" charset="0"/>
                <a:ea typeface="Segoe UI Semibold" pitchFamily="34" charset="-122"/>
                <a:cs typeface="Segoe UI Semibold" pitchFamily="34" charset="-120"/>
              </a:rPr>
              <a:t>One cockpit for the whole treasury.</a:t>
            </a:r>
            <a:endParaRPr lang="en-US" sz="3000" dirty="0"/>
          </a:p>
        </p:txBody>
      </p:sp>
      <p:sp>
        <p:nvSpPr>
          <p:cNvPr id="5" name="Text 3"/>
          <p:cNvSpPr/>
          <p:nvPr/>
        </p:nvSpPr>
        <p:spPr>
          <a:xfrm>
            <a:off x="566928" y="1783080"/>
            <a:ext cx="10881360" cy="960120"/>
          </a:xfrm>
          <a:prstGeom prst="rect">
            <a:avLst/>
          </a:prstGeom>
          <a:noFill/>
          <a:ln/>
        </p:spPr>
        <p:txBody>
          <a:bodyPr wrap="square" rtlCol="0" anchor="t"/>
          <a:lstStyle/>
          <a:p>
            <a:pPr indent="0" marL="0">
              <a:lnSpc>
                <a:spcPct val="128000"/>
              </a:lnSpc>
              <a:buNone/>
            </a:pPr>
            <a:r>
              <a:rPr lang="en-US" sz="1650" dirty="0">
                <a:solidFill>
                  <a:srgbClr val="AAB6C7"/>
                </a:solidFill>
                <a:latin typeface="Segoe UI" pitchFamily="34" charset="0"/>
                <a:ea typeface="Segoe UI" pitchFamily="34" charset="-122"/>
                <a:cs typeface="Segoe UI" pitchFamily="34" charset="-120"/>
              </a:rPr>
              <a:t xml:space="preserve">The command center your team runs treasury from, on live SAP data, with market data, trading, and AI automation and orchestration around it. </a:t>
            </a:r>
            <a:pPr indent="0" marL="0">
              <a:lnSpc>
                <a:spcPct val="128000"/>
              </a:lnSpc>
              <a:buNone/>
            </a:pPr>
            <a:r>
              <a:rPr lang="en-US" sz="1650" dirty="0">
                <a:solidFill>
                  <a:srgbClr val="3BE3E0"/>
                </a:solidFill>
                <a:latin typeface="Segoe UI" pitchFamily="34" charset="0"/>
                <a:ea typeface="Segoe UI" pitchFamily="34" charset="-122"/>
                <a:cs typeface="Segoe UI" pitchFamily="34" charset="-120"/>
              </a:rPr>
              <a:t>All live with customers today, not on a roadmap.</a:t>
            </a:r>
            <a:endParaRPr lang="en-US" sz="1650" dirty="0"/>
          </a:p>
        </p:txBody>
      </p:sp>
      <p:sp>
        <p:nvSpPr>
          <p:cNvPr id="6" name="Shape 4"/>
          <p:cNvSpPr/>
          <p:nvPr/>
        </p:nvSpPr>
        <p:spPr>
          <a:xfrm>
            <a:off x="566928" y="3200400"/>
            <a:ext cx="3442106" cy="1737360"/>
          </a:xfrm>
          <a:prstGeom prst="roundRect">
            <a:avLst>
              <a:gd name="adj" fmla="val 4737"/>
            </a:avLst>
          </a:prstGeom>
          <a:solidFill>
            <a:srgbClr val="141A25"/>
          </a:solidFill>
          <a:ln w="13970">
            <a:solidFill>
              <a:srgbClr val="36414F"/>
            </a:solidFill>
            <a:prstDash val="solid"/>
          </a:ln>
        </p:spPr>
      </p:sp>
      <p:sp>
        <p:nvSpPr>
          <p:cNvPr id="7" name="Shape 5"/>
          <p:cNvSpPr/>
          <p:nvPr/>
        </p:nvSpPr>
        <p:spPr>
          <a:xfrm>
            <a:off x="841248" y="3493008"/>
            <a:ext cx="603504" cy="603504"/>
          </a:xfrm>
          <a:prstGeom prst="roundRect">
            <a:avLst>
              <a:gd name="adj" fmla="val 16667"/>
            </a:avLst>
          </a:prstGeom>
          <a:solidFill>
            <a:srgbClr val="1B2330"/>
          </a:solidFill>
          <a:ln w="15240">
            <a:solidFill>
              <a:srgbClr val="3BE3E0"/>
            </a:solidFill>
            <a:prstDash val="solid"/>
          </a:ln>
        </p:spPr>
      </p:sp>
      <p:pic>
        <p:nvPicPr>
          <p:cNvPr id="8" name="Image 0" descr="C:/Users/neuma_p1qrsic/Repo/agentic-ops1/.scratch/icons/link.png"/>
          <p:cNvPicPr>
            <a:picLocks noChangeAspect="1"/>
          </p:cNvPicPr>
          <p:nvPr/>
        </p:nvPicPr>
        <p:blipFill>
          <a:blip r:embed="rId1"/>
          <a:stretch>
            <a:fillRect/>
          </a:stretch>
        </p:blipFill>
        <p:spPr>
          <a:xfrm>
            <a:off x="986089" y="3637849"/>
            <a:ext cx="313822" cy="313822"/>
          </a:xfrm>
          <a:prstGeom prst="rect">
            <a:avLst/>
          </a:prstGeom>
        </p:spPr>
      </p:pic>
      <p:sp>
        <p:nvSpPr>
          <p:cNvPr id="9" name="Text 6"/>
          <p:cNvSpPr/>
          <p:nvPr/>
        </p:nvSpPr>
        <p:spPr>
          <a:xfrm>
            <a:off x="1572768" y="3511296"/>
            <a:ext cx="2253386" cy="566928"/>
          </a:xfrm>
          <a:prstGeom prst="rect">
            <a:avLst/>
          </a:prstGeom>
          <a:noFill/>
          <a:ln/>
        </p:spPr>
        <p:txBody>
          <a:bodyPr wrap="square" rtlCol="0" anchor="ctr"/>
          <a:lstStyle/>
          <a:p>
            <a:pPr indent="0" marL="0">
              <a:buNone/>
            </a:pPr>
            <a:r>
              <a:rPr lang="en-US" sz="1700" b="1" dirty="0">
                <a:solidFill>
                  <a:srgbClr val="F3F6FB"/>
                </a:solidFill>
                <a:latin typeface="Segoe UI Semibold" pitchFamily="34" charset="0"/>
                <a:ea typeface="Segoe UI Semibold" pitchFamily="34" charset="-122"/>
                <a:cs typeface="Segoe UI Semibold" pitchFamily="34" charset="-120"/>
              </a:rPr>
              <a:t>Market data</a:t>
            </a:r>
            <a:endParaRPr lang="en-US" sz="1700" dirty="0"/>
          </a:p>
        </p:txBody>
      </p:sp>
      <p:sp>
        <p:nvSpPr>
          <p:cNvPr id="10" name="Text 7"/>
          <p:cNvSpPr/>
          <p:nvPr/>
        </p:nvSpPr>
        <p:spPr>
          <a:xfrm>
            <a:off x="841248" y="4224528"/>
            <a:ext cx="2893466" cy="594360"/>
          </a:xfrm>
          <a:prstGeom prst="rect">
            <a:avLst/>
          </a:prstGeom>
          <a:noFill/>
          <a:ln/>
        </p:spPr>
        <p:txBody>
          <a:bodyPr wrap="square" rtlCol="0" anchor="t"/>
          <a:lstStyle/>
          <a:p>
            <a:pPr indent="0" marL="0">
              <a:lnSpc>
                <a:spcPct val="112000"/>
              </a:lnSpc>
              <a:buNone/>
            </a:pPr>
            <a:r>
              <a:rPr lang="en-US" sz="1250" dirty="0">
                <a:solidFill>
                  <a:srgbClr val="AAB6C7"/>
                </a:solidFill>
                <a:latin typeface="Segoe UI" pitchFamily="34" charset="0"/>
                <a:ea typeface="Segoe UI" pitchFamily="34" charset="-122"/>
                <a:cs typeface="Segoe UI" pitchFamily="34" charset="-120"/>
              </a:rPr>
              <a:t>Every rate and reference, curated once</a:t>
            </a:r>
            <a:endParaRPr lang="en-US" sz="1250" dirty="0"/>
          </a:p>
        </p:txBody>
      </p:sp>
      <p:sp>
        <p:nvSpPr>
          <p:cNvPr id="11" name="Shape 8"/>
          <p:cNvSpPr/>
          <p:nvPr/>
        </p:nvSpPr>
        <p:spPr>
          <a:xfrm>
            <a:off x="4374794" y="3200400"/>
            <a:ext cx="3442106" cy="1737360"/>
          </a:xfrm>
          <a:prstGeom prst="roundRect">
            <a:avLst>
              <a:gd name="adj" fmla="val 4737"/>
            </a:avLst>
          </a:prstGeom>
          <a:solidFill>
            <a:srgbClr val="141A25"/>
          </a:solidFill>
          <a:ln w="13970">
            <a:solidFill>
              <a:srgbClr val="36414F"/>
            </a:solidFill>
            <a:prstDash val="solid"/>
          </a:ln>
        </p:spPr>
      </p:sp>
      <p:sp>
        <p:nvSpPr>
          <p:cNvPr id="12" name="Shape 9"/>
          <p:cNvSpPr/>
          <p:nvPr/>
        </p:nvSpPr>
        <p:spPr>
          <a:xfrm>
            <a:off x="4649114" y="3493008"/>
            <a:ext cx="603504" cy="603504"/>
          </a:xfrm>
          <a:prstGeom prst="roundRect">
            <a:avLst>
              <a:gd name="adj" fmla="val 16667"/>
            </a:avLst>
          </a:prstGeom>
          <a:solidFill>
            <a:srgbClr val="1B2330"/>
          </a:solidFill>
          <a:ln w="15240">
            <a:solidFill>
              <a:srgbClr val="3BE3E0"/>
            </a:solidFill>
            <a:prstDash val="solid"/>
          </a:ln>
        </p:spPr>
      </p:sp>
      <p:pic>
        <p:nvPicPr>
          <p:cNvPr id="13" name="Image 1" descr="C:/Users/neuma_p1qrsic/Repo/agentic-ops1/.scratch/icons/merge.png"/>
          <p:cNvPicPr>
            <a:picLocks noChangeAspect="1"/>
          </p:cNvPicPr>
          <p:nvPr/>
        </p:nvPicPr>
        <p:blipFill>
          <a:blip r:embed="rId2"/>
          <a:stretch>
            <a:fillRect/>
          </a:stretch>
        </p:blipFill>
        <p:spPr>
          <a:xfrm>
            <a:off x="4793955" y="3637849"/>
            <a:ext cx="313822" cy="313822"/>
          </a:xfrm>
          <a:prstGeom prst="rect">
            <a:avLst/>
          </a:prstGeom>
        </p:spPr>
      </p:pic>
      <p:sp>
        <p:nvSpPr>
          <p:cNvPr id="14" name="Text 10"/>
          <p:cNvSpPr/>
          <p:nvPr/>
        </p:nvSpPr>
        <p:spPr>
          <a:xfrm>
            <a:off x="5380634" y="3511296"/>
            <a:ext cx="2253386" cy="566928"/>
          </a:xfrm>
          <a:prstGeom prst="rect">
            <a:avLst/>
          </a:prstGeom>
          <a:noFill/>
          <a:ln/>
        </p:spPr>
        <p:txBody>
          <a:bodyPr wrap="square" rtlCol="0" anchor="ctr"/>
          <a:lstStyle/>
          <a:p>
            <a:pPr indent="0" marL="0">
              <a:buNone/>
            </a:pPr>
            <a:r>
              <a:rPr lang="en-US" sz="1700" b="1" dirty="0">
                <a:solidFill>
                  <a:srgbClr val="F3F6FB"/>
                </a:solidFill>
                <a:latin typeface="Segoe UI Semibold" pitchFamily="34" charset="0"/>
                <a:ea typeface="Segoe UI Semibold" pitchFamily="34" charset="-122"/>
                <a:cs typeface="Segoe UI Semibold" pitchFamily="34" charset="-120"/>
              </a:rPr>
              <a:t>Trading</a:t>
            </a:r>
            <a:endParaRPr lang="en-US" sz="1700" dirty="0"/>
          </a:p>
        </p:txBody>
      </p:sp>
      <p:sp>
        <p:nvSpPr>
          <p:cNvPr id="15" name="Text 11"/>
          <p:cNvSpPr/>
          <p:nvPr/>
        </p:nvSpPr>
        <p:spPr>
          <a:xfrm>
            <a:off x="4649114" y="4224528"/>
            <a:ext cx="2893466" cy="594360"/>
          </a:xfrm>
          <a:prstGeom prst="rect">
            <a:avLst/>
          </a:prstGeom>
          <a:noFill/>
          <a:ln/>
        </p:spPr>
        <p:txBody>
          <a:bodyPr wrap="square" rtlCol="0" anchor="t"/>
          <a:lstStyle/>
          <a:p>
            <a:pPr indent="0" marL="0">
              <a:lnSpc>
                <a:spcPct val="112000"/>
              </a:lnSpc>
              <a:buNone/>
            </a:pPr>
            <a:r>
              <a:rPr lang="en-US" sz="1250" dirty="0">
                <a:solidFill>
                  <a:srgbClr val="AAB6C7"/>
                </a:solidFill>
                <a:latin typeface="Segoe UI" pitchFamily="34" charset="0"/>
                <a:ea typeface="Segoe UI" pitchFamily="34" charset="-122"/>
                <a:cs typeface="Segoe UI" pitchFamily="34" charset="-120"/>
              </a:rPr>
              <a:t>From capture to the deal in SAP</a:t>
            </a:r>
            <a:endParaRPr lang="en-US" sz="1250" dirty="0"/>
          </a:p>
        </p:txBody>
      </p:sp>
      <p:sp>
        <p:nvSpPr>
          <p:cNvPr id="16" name="Shape 12"/>
          <p:cNvSpPr/>
          <p:nvPr/>
        </p:nvSpPr>
        <p:spPr>
          <a:xfrm>
            <a:off x="8182661" y="3200400"/>
            <a:ext cx="3442106" cy="1737360"/>
          </a:xfrm>
          <a:prstGeom prst="roundRect">
            <a:avLst>
              <a:gd name="adj" fmla="val 4737"/>
            </a:avLst>
          </a:prstGeom>
          <a:solidFill>
            <a:srgbClr val="141A25"/>
          </a:solidFill>
          <a:ln w="13970">
            <a:solidFill>
              <a:srgbClr val="36414F"/>
            </a:solidFill>
            <a:prstDash val="solid"/>
          </a:ln>
        </p:spPr>
      </p:sp>
      <p:sp>
        <p:nvSpPr>
          <p:cNvPr id="17" name="Shape 13"/>
          <p:cNvSpPr/>
          <p:nvPr/>
        </p:nvSpPr>
        <p:spPr>
          <a:xfrm>
            <a:off x="8456981" y="3493008"/>
            <a:ext cx="603504" cy="603504"/>
          </a:xfrm>
          <a:prstGeom prst="roundRect">
            <a:avLst>
              <a:gd name="adj" fmla="val 16667"/>
            </a:avLst>
          </a:prstGeom>
          <a:solidFill>
            <a:srgbClr val="1B2330"/>
          </a:solidFill>
          <a:ln w="15240">
            <a:solidFill>
              <a:srgbClr val="3BE3E0"/>
            </a:solidFill>
            <a:prstDash val="solid"/>
          </a:ln>
        </p:spPr>
      </p:sp>
      <p:pic>
        <p:nvPicPr>
          <p:cNvPr id="18" name="Image 2" descr="C:/Users/neuma_p1qrsic/Repo/agentic-ops1/.scratch/icons/spark.png"/>
          <p:cNvPicPr>
            <a:picLocks noChangeAspect="1"/>
          </p:cNvPicPr>
          <p:nvPr/>
        </p:nvPicPr>
        <p:blipFill>
          <a:blip r:embed="rId3"/>
          <a:stretch>
            <a:fillRect/>
          </a:stretch>
        </p:blipFill>
        <p:spPr>
          <a:xfrm>
            <a:off x="8601822" y="3637849"/>
            <a:ext cx="313822" cy="313822"/>
          </a:xfrm>
          <a:prstGeom prst="rect">
            <a:avLst/>
          </a:prstGeom>
        </p:spPr>
      </p:pic>
      <p:sp>
        <p:nvSpPr>
          <p:cNvPr id="19" name="Text 14"/>
          <p:cNvSpPr/>
          <p:nvPr/>
        </p:nvSpPr>
        <p:spPr>
          <a:xfrm>
            <a:off x="9188501" y="3511296"/>
            <a:ext cx="2253386" cy="566928"/>
          </a:xfrm>
          <a:prstGeom prst="rect">
            <a:avLst/>
          </a:prstGeom>
          <a:noFill/>
          <a:ln/>
        </p:spPr>
        <p:txBody>
          <a:bodyPr wrap="square" rtlCol="0" anchor="ctr"/>
          <a:lstStyle/>
          <a:p>
            <a:pPr indent="0" marL="0">
              <a:buNone/>
            </a:pPr>
            <a:r>
              <a:rPr lang="en-US" sz="1700" b="1" dirty="0">
                <a:solidFill>
                  <a:srgbClr val="F3F6FB"/>
                </a:solidFill>
                <a:latin typeface="Segoe UI Semibold" pitchFamily="34" charset="0"/>
                <a:ea typeface="Segoe UI Semibold" pitchFamily="34" charset="-122"/>
                <a:cs typeface="Segoe UI Semibold" pitchFamily="34" charset="-120"/>
              </a:rPr>
              <a:t>AI automation</a:t>
            </a:r>
            <a:endParaRPr lang="en-US" sz="1700" dirty="0"/>
          </a:p>
        </p:txBody>
      </p:sp>
      <p:sp>
        <p:nvSpPr>
          <p:cNvPr id="20" name="Text 15"/>
          <p:cNvSpPr/>
          <p:nvPr/>
        </p:nvSpPr>
        <p:spPr>
          <a:xfrm>
            <a:off x="8456981" y="4224528"/>
            <a:ext cx="2893466" cy="594360"/>
          </a:xfrm>
          <a:prstGeom prst="rect">
            <a:avLst/>
          </a:prstGeom>
          <a:noFill/>
          <a:ln/>
        </p:spPr>
        <p:txBody>
          <a:bodyPr wrap="square" rtlCol="0" anchor="t"/>
          <a:lstStyle/>
          <a:p>
            <a:pPr indent="0" marL="0">
              <a:lnSpc>
                <a:spcPct val="112000"/>
              </a:lnSpc>
              <a:buNone/>
            </a:pPr>
            <a:r>
              <a:rPr lang="en-US" sz="1250" dirty="0">
                <a:solidFill>
                  <a:srgbClr val="AAB6C7"/>
                </a:solidFill>
                <a:latin typeface="Segoe UI" pitchFamily="34" charset="0"/>
                <a:ea typeface="Segoe UI" pitchFamily="34" charset="-122"/>
                <a:cs typeface="Segoe UI" pitchFamily="34" charset="-120"/>
              </a:rPr>
              <a:t>Digital co-workers on your SAP data</a:t>
            </a:r>
            <a:endParaRPr lang="en-US" sz="1250" dirty="0"/>
          </a:p>
        </p:txBody>
      </p:sp>
      <p:sp>
        <p:nvSpPr>
          <p:cNvPr id="21" name="Shape 16"/>
          <p:cNvSpPr/>
          <p:nvPr/>
        </p:nvSpPr>
        <p:spPr>
          <a:xfrm>
            <a:off x="566928" y="5212080"/>
            <a:ext cx="11057839" cy="749808"/>
          </a:xfrm>
          <a:prstGeom prst="roundRect">
            <a:avLst>
              <a:gd name="adj" fmla="val 9756"/>
            </a:avLst>
          </a:prstGeom>
          <a:solidFill>
            <a:srgbClr val="10222A"/>
          </a:solidFill>
          <a:ln w="16510">
            <a:solidFill>
              <a:srgbClr val="3BE3E0"/>
            </a:solidFill>
            <a:prstDash val="solid"/>
          </a:ln>
        </p:spPr>
      </p:sp>
      <p:pic>
        <p:nvPicPr>
          <p:cNvPr id="22" name="Image 3" descr="C:/Users/neuma_p1qrsic/Repo/agentic-ops1/.scratch/logo/favicon.png"/>
          <p:cNvPicPr>
            <a:picLocks noChangeAspect="1"/>
          </p:cNvPicPr>
          <p:nvPr/>
        </p:nvPicPr>
        <p:blipFill>
          <a:blip r:embed="rId4"/>
          <a:stretch>
            <a:fillRect/>
          </a:stretch>
        </p:blipFill>
        <p:spPr>
          <a:xfrm>
            <a:off x="859536" y="5431536"/>
            <a:ext cx="310896" cy="310896"/>
          </a:xfrm>
          <a:prstGeom prst="rect">
            <a:avLst/>
          </a:prstGeom>
        </p:spPr>
      </p:pic>
      <p:sp>
        <p:nvSpPr>
          <p:cNvPr id="23" name="Text 17"/>
          <p:cNvSpPr/>
          <p:nvPr/>
        </p:nvSpPr>
        <p:spPr>
          <a:xfrm>
            <a:off x="1389888" y="5212080"/>
            <a:ext cx="9960559" cy="749808"/>
          </a:xfrm>
          <a:prstGeom prst="rect">
            <a:avLst/>
          </a:prstGeom>
          <a:noFill/>
          <a:ln/>
        </p:spPr>
        <p:txBody>
          <a:bodyPr wrap="square" rtlCol="0" anchor="ctr"/>
          <a:lstStyle/>
          <a:p>
            <a:pPr indent="0" marL="0">
              <a:lnSpc>
                <a:spcPct val="110000"/>
              </a:lnSpc>
              <a:buNone/>
            </a:pPr>
            <a:r>
              <a:rPr lang="en-US" sz="1400" dirty="0">
                <a:solidFill>
                  <a:srgbClr val="AAB6C7"/>
                </a:solidFill>
                <a:latin typeface="Segoe UI" pitchFamily="34" charset="0"/>
                <a:ea typeface="Segoe UI" pitchFamily="34" charset="-122"/>
                <a:cs typeface="Segoe UI" pitchFamily="34" charset="-120"/>
              </a:rPr>
              <a:t xml:space="preserve">All of it runs on </a:t>
            </a:r>
            <a:pPr indent="0" marL="0">
              <a:lnSpc>
                <a:spcPct val="110000"/>
              </a:lnSpc>
              <a:buNone/>
            </a:pPr>
            <a:r>
              <a:rPr lang="en-US" sz="1400" b="1" dirty="0">
                <a:solidFill>
                  <a:srgbClr val="3BE3E0"/>
                </a:solidFill>
                <a:latin typeface="Segoe UI" pitchFamily="34" charset="0"/>
                <a:ea typeface="Segoe UI" pitchFamily="34" charset="-122"/>
                <a:cs typeface="Segoe UI" pitchFamily="34" charset="-120"/>
              </a:rPr>
              <a:t>OnePilot</a:t>
            </a:r>
            <a:pPr indent="0" marL="0">
              <a:lnSpc>
                <a:spcPct val="110000"/>
              </a:lnSpc>
              <a:buNone/>
            </a:pPr>
            <a:r>
              <a:rPr lang="en-US" sz="1400" dirty="0">
                <a:solidFill>
                  <a:srgbClr val="F3F6FB"/>
                </a:solidFill>
                <a:latin typeface="Segoe UI" pitchFamily="34" charset="0"/>
                <a:ea typeface="Segoe UI" pitchFamily="34" charset="-122"/>
                <a:cs typeface="Segoe UI" pitchFamily="34" charset="-120"/>
              </a:rPr>
              <a:t>, on your own live SAP data (S/4HANA, ECC, TRM), checked and logged on every value.</a:t>
            </a:r>
            <a:endParaRPr lang="en-US" sz="1400" dirty="0"/>
          </a:p>
        </p:txBody>
      </p:sp>
      <p:sp>
        <p:nvSpPr>
          <p:cNvPr id="24" name="Text 18"/>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xml:space="preserve">   TreasuryCentral, powered by OnePilot</a:t>
            </a:r>
            <a:endParaRPr lang="en-US" sz="900" dirty="0"/>
          </a:p>
        </p:txBody>
      </p:sp>
      <p:sp>
        <p:nvSpPr>
          <p:cNvPr id="25" name="Text 19"/>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04 / 11</a:t>
            </a:r>
            <a:endParaRPr lang="en-US" sz="900" dirty="0"/>
          </a:p>
        </p:txBody>
      </p:sp>
      <p:sp>
        <p:nvSpPr>
          <p:cNvPr id="26" name="Shape 20"/>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21B"/>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WHAT RUNS IN IT</a:t>
            </a:r>
            <a:endParaRPr lang="en-US" sz="1200" dirty="0"/>
          </a:p>
        </p:txBody>
      </p:sp>
      <p:sp>
        <p:nvSpPr>
          <p:cNvPr id="4" name="Text 2"/>
          <p:cNvSpPr/>
          <p:nvPr/>
        </p:nvSpPr>
        <p:spPr>
          <a:xfrm>
            <a:off x="566928" y="960120"/>
            <a:ext cx="10972800" cy="731520"/>
          </a:xfrm>
          <a:prstGeom prst="rect">
            <a:avLst/>
          </a:prstGeom>
          <a:noFill/>
          <a:ln/>
        </p:spPr>
        <p:txBody>
          <a:bodyPr wrap="square" rtlCol="0" anchor="ctr"/>
          <a:lstStyle/>
          <a:p>
            <a:pPr indent="0" marL="0">
              <a:buNone/>
            </a:pPr>
            <a:r>
              <a:rPr lang="en-US" sz="2900" b="1" dirty="0">
                <a:solidFill>
                  <a:srgbClr val="F3F6FB"/>
                </a:solidFill>
                <a:latin typeface="Segoe UI Semibold" pitchFamily="34" charset="0"/>
                <a:ea typeface="Segoe UI Semibold" pitchFamily="34" charset="-122"/>
                <a:cs typeface="Segoe UI Semibold" pitchFamily="34" charset="-120"/>
              </a:rPr>
              <a:t>Three engines, one governed layer.</a:t>
            </a:r>
            <a:endParaRPr lang="en-US" sz="2900" dirty="0"/>
          </a:p>
        </p:txBody>
      </p:sp>
      <p:sp>
        <p:nvSpPr>
          <p:cNvPr id="5" name="Shape 3"/>
          <p:cNvSpPr/>
          <p:nvPr/>
        </p:nvSpPr>
        <p:spPr>
          <a:xfrm>
            <a:off x="566928" y="2148840"/>
            <a:ext cx="3472586" cy="2971800"/>
          </a:xfrm>
          <a:prstGeom prst="roundRect">
            <a:avLst>
              <a:gd name="adj" fmla="val 2769"/>
            </a:avLst>
          </a:prstGeom>
          <a:solidFill>
            <a:srgbClr val="141A25"/>
          </a:solidFill>
          <a:ln w="13970">
            <a:solidFill>
              <a:srgbClr val="36414F"/>
            </a:solidFill>
            <a:prstDash val="solid"/>
          </a:ln>
        </p:spPr>
      </p:sp>
      <p:sp>
        <p:nvSpPr>
          <p:cNvPr id="6" name="Shape 4"/>
          <p:cNvSpPr/>
          <p:nvPr/>
        </p:nvSpPr>
        <p:spPr>
          <a:xfrm>
            <a:off x="841248" y="2459736"/>
            <a:ext cx="713232" cy="713232"/>
          </a:xfrm>
          <a:prstGeom prst="roundRect">
            <a:avLst>
              <a:gd name="adj" fmla="val 14103"/>
            </a:avLst>
          </a:prstGeom>
          <a:solidFill>
            <a:srgbClr val="1B2330"/>
          </a:solidFill>
          <a:ln w="15240">
            <a:solidFill>
              <a:srgbClr val="3BE3E0"/>
            </a:solidFill>
            <a:prstDash val="solid"/>
          </a:ln>
        </p:spPr>
      </p:sp>
      <p:pic>
        <p:nvPicPr>
          <p:cNvPr id="7" name="Image 0" descr="C:/Users/neuma_p1qrsic/Repo/agentic-ops1/.scratch/icons/link.png"/>
          <p:cNvPicPr>
            <a:picLocks noChangeAspect="1"/>
          </p:cNvPicPr>
          <p:nvPr/>
        </p:nvPicPr>
        <p:blipFill>
          <a:blip r:embed="rId1"/>
          <a:stretch>
            <a:fillRect/>
          </a:stretch>
        </p:blipFill>
        <p:spPr>
          <a:xfrm>
            <a:off x="1012424" y="2630912"/>
            <a:ext cx="370881" cy="370881"/>
          </a:xfrm>
          <a:prstGeom prst="rect">
            <a:avLst/>
          </a:prstGeom>
        </p:spPr>
      </p:pic>
      <p:sp>
        <p:nvSpPr>
          <p:cNvPr id="8" name="Text 5"/>
          <p:cNvSpPr/>
          <p:nvPr/>
        </p:nvSpPr>
        <p:spPr>
          <a:xfrm>
            <a:off x="841248" y="3319272"/>
            <a:ext cx="2923946" cy="658368"/>
          </a:xfrm>
          <a:prstGeom prst="rect">
            <a:avLst/>
          </a:prstGeom>
          <a:noFill/>
          <a:ln/>
        </p:spPr>
        <p:txBody>
          <a:bodyPr wrap="square" rtlCol="0" anchor="t"/>
          <a:lstStyle/>
          <a:p>
            <a:pPr indent="0" marL="0">
              <a:buNone/>
            </a:pPr>
            <a:r>
              <a:rPr lang="en-US" sz="1800" b="1" dirty="0">
                <a:solidFill>
                  <a:srgbClr val="F3F6FB"/>
                </a:solidFill>
                <a:latin typeface="Segoe UI Semibold" pitchFamily="34" charset="0"/>
                <a:ea typeface="Segoe UI Semibold" pitchFamily="34" charset="-122"/>
                <a:cs typeface="Segoe UI Semibold" pitchFamily="34" charset="-120"/>
              </a:rPr>
              <a:t>Market Data Hub</a:t>
            </a:r>
            <a:endParaRPr lang="en-US" sz="1800" dirty="0"/>
          </a:p>
        </p:txBody>
      </p:sp>
      <p:sp>
        <p:nvSpPr>
          <p:cNvPr id="9" name="Text 6"/>
          <p:cNvSpPr/>
          <p:nvPr/>
        </p:nvSpPr>
        <p:spPr>
          <a:xfrm>
            <a:off x="841248" y="3995928"/>
            <a:ext cx="2923946" cy="1005840"/>
          </a:xfrm>
          <a:prstGeom prst="rect">
            <a:avLst/>
          </a:prstGeom>
          <a:noFill/>
          <a:ln/>
        </p:spPr>
        <p:txBody>
          <a:bodyPr wrap="square" rtlCol="0" anchor="t"/>
          <a:lstStyle/>
          <a:p>
            <a:pPr indent="0" marL="0">
              <a:lnSpc>
                <a:spcPct val="120000"/>
              </a:lnSpc>
              <a:buNone/>
            </a:pPr>
            <a:r>
              <a:rPr lang="en-US" sz="1300" dirty="0">
                <a:solidFill>
                  <a:srgbClr val="AAB6C7"/>
                </a:solidFill>
                <a:latin typeface="Segoe UI" pitchFamily="34" charset="0"/>
                <a:ea typeface="Segoe UI" pitchFamily="34" charset="-122"/>
                <a:cs typeface="Segoe UI" pitchFamily="34" charset="-120"/>
              </a:rPr>
              <a:t>Every rate and reference you rely on, from any source to every system.</a:t>
            </a:r>
            <a:endParaRPr lang="en-US" sz="1300" dirty="0"/>
          </a:p>
        </p:txBody>
      </p:sp>
      <p:sp>
        <p:nvSpPr>
          <p:cNvPr id="10" name="Shape 7"/>
          <p:cNvSpPr/>
          <p:nvPr/>
        </p:nvSpPr>
        <p:spPr>
          <a:xfrm>
            <a:off x="841248" y="4517136"/>
            <a:ext cx="648691" cy="402336"/>
          </a:xfrm>
          <a:prstGeom prst="roundRect">
            <a:avLst>
              <a:gd name="adj" fmla="val 31818"/>
            </a:avLst>
          </a:prstGeom>
          <a:solidFill>
            <a:srgbClr val="FFFFFF"/>
          </a:solidFill>
          <a:ln w="9525">
            <a:solidFill>
              <a:srgbClr val="36414F"/>
            </a:solidFill>
            <a:prstDash val="solid"/>
          </a:ln>
        </p:spPr>
      </p:sp>
      <p:pic>
        <p:nvPicPr>
          <p:cNvPr id="11" name="Image 1" descr="C:/Users/neuma_p1qrsic/Repo/agentic-ops1/.scratch/deckgen/logos/bloomberg.png"/>
          <p:cNvPicPr>
            <a:picLocks noChangeAspect="1"/>
          </p:cNvPicPr>
          <p:nvPr/>
        </p:nvPicPr>
        <p:blipFill>
          <a:blip r:embed="rId2"/>
          <a:stretch>
            <a:fillRect/>
          </a:stretch>
        </p:blipFill>
        <p:spPr>
          <a:xfrm>
            <a:off x="899630" y="4664696"/>
            <a:ext cx="531926" cy="107216"/>
          </a:xfrm>
          <a:prstGeom prst="rect">
            <a:avLst/>
          </a:prstGeom>
        </p:spPr>
      </p:pic>
      <p:sp>
        <p:nvSpPr>
          <p:cNvPr id="12" name="Shape 8"/>
          <p:cNvSpPr/>
          <p:nvPr/>
        </p:nvSpPr>
        <p:spPr>
          <a:xfrm>
            <a:off x="1599667" y="4517136"/>
            <a:ext cx="648691" cy="402336"/>
          </a:xfrm>
          <a:prstGeom prst="roundRect">
            <a:avLst>
              <a:gd name="adj" fmla="val 31818"/>
            </a:avLst>
          </a:prstGeom>
          <a:solidFill>
            <a:srgbClr val="FFFFFF"/>
          </a:solidFill>
          <a:ln w="9525">
            <a:solidFill>
              <a:srgbClr val="36414F"/>
            </a:solidFill>
            <a:prstDash val="solid"/>
          </a:ln>
        </p:spPr>
      </p:sp>
      <p:pic>
        <p:nvPicPr>
          <p:cNvPr id="13" name="Image 2" descr="C:/Users/neuma_p1qrsic/Repo/agentic-ops1/.scratch/deckgen/logos/lseg.png"/>
          <p:cNvPicPr>
            <a:picLocks noChangeAspect="1"/>
          </p:cNvPicPr>
          <p:nvPr/>
        </p:nvPicPr>
        <p:blipFill>
          <a:blip r:embed="rId3"/>
          <a:stretch>
            <a:fillRect/>
          </a:stretch>
        </p:blipFill>
        <p:spPr>
          <a:xfrm>
            <a:off x="1658049" y="4648369"/>
            <a:ext cx="531926" cy="139869"/>
          </a:xfrm>
          <a:prstGeom prst="rect">
            <a:avLst/>
          </a:prstGeom>
        </p:spPr>
      </p:pic>
      <p:sp>
        <p:nvSpPr>
          <p:cNvPr id="14" name="Shape 9"/>
          <p:cNvSpPr/>
          <p:nvPr/>
        </p:nvSpPr>
        <p:spPr>
          <a:xfrm>
            <a:off x="2358085" y="4517136"/>
            <a:ext cx="648691" cy="402336"/>
          </a:xfrm>
          <a:prstGeom prst="roundRect">
            <a:avLst>
              <a:gd name="adj" fmla="val 31818"/>
            </a:avLst>
          </a:prstGeom>
          <a:solidFill>
            <a:srgbClr val="FFFFFF"/>
          </a:solidFill>
          <a:ln w="9525">
            <a:solidFill>
              <a:srgbClr val="36414F"/>
            </a:solidFill>
            <a:prstDash val="solid"/>
          </a:ln>
        </p:spPr>
      </p:sp>
      <p:pic>
        <p:nvPicPr>
          <p:cNvPr id="15" name="Image 3" descr="C:/Users/neuma_p1qrsic/Repo/agentic-ops1/.scratch/deckgen/logos/ice.png"/>
          <p:cNvPicPr>
            <a:picLocks noChangeAspect="1"/>
          </p:cNvPicPr>
          <p:nvPr/>
        </p:nvPicPr>
        <p:blipFill>
          <a:blip r:embed="rId4"/>
          <a:stretch>
            <a:fillRect/>
          </a:stretch>
        </p:blipFill>
        <p:spPr>
          <a:xfrm>
            <a:off x="2549660" y="4585533"/>
            <a:ext cx="265542" cy="265542"/>
          </a:xfrm>
          <a:prstGeom prst="rect">
            <a:avLst/>
          </a:prstGeom>
        </p:spPr>
      </p:pic>
      <p:sp>
        <p:nvSpPr>
          <p:cNvPr id="16" name="Shape 10"/>
          <p:cNvSpPr/>
          <p:nvPr/>
        </p:nvSpPr>
        <p:spPr>
          <a:xfrm>
            <a:off x="3116504" y="4517136"/>
            <a:ext cx="648691" cy="402336"/>
          </a:xfrm>
          <a:prstGeom prst="roundRect">
            <a:avLst>
              <a:gd name="adj" fmla="val 31818"/>
            </a:avLst>
          </a:prstGeom>
          <a:solidFill>
            <a:srgbClr val="FFFFFF"/>
          </a:solidFill>
          <a:ln w="9525">
            <a:solidFill>
              <a:srgbClr val="36414F"/>
            </a:solidFill>
            <a:prstDash val="solid"/>
          </a:ln>
        </p:spPr>
      </p:sp>
      <p:pic>
        <p:nvPicPr>
          <p:cNvPr id="17" name="Image 4" descr="C:/Users/neuma_p1qrsic/Repo/agentic-ops1/.scratch/deckgen/logos/cme.png"/>
          <p:cNvPicPr>
            <a:picLocks noChangeAspect="1"/>
          </p:cNvPicPr>
          <p:nvPr/>
        </p:nvPicPr>
        <p:blipFill>
          <a:blip r:embed="rId5"/>
          <a:stretch>
            <a:fillRect/>
          </a:stretch>
        </p:blipFill>
        <p:spPr>
          <a:xfrm>
            <a:off x="3174886" y="4677371"/>
            <a:ext cx="531926" cy="81867"/>
          </a:xfrm>
          <a:prstGeom prst="rect">
            <a:avLst/>
          </a:prstGeom>
        </p:spPr>
      </p:pic>
      <p:sp>
        <p:nvSpPr>
          <p:cNvPr id="18" name="Shape 11"/>
          <p:cNvSpPr/>
          <p:nvPr/>
        </p:nvSpPr>
        <p:spPr>
          <a:xfrm>
            <a:off x="4359554" y="2148840"/>
            <a:ext cx="3472586" cy="2971800"/>
          </a:xfrm>
          <a:prstGeom prst="roundRect">
            <a:avLst>
              <a:gd name="adj" fmla="val 2769"/>
            </a:avLst>
          </a:prstGeom>
          <a:solidFill>
            <a:srgbClr val="141A25"/>
          </a:solidFill>
          <a:ln w="13970">
            <a:solidFill>
              <a:srgbClr val="36414F"/>
            </a:solidFill>
            <a:prstDash val="solid"/>
          </a:ln>
        </p:spPr>
      </p:sp>
      <p:sp>
        <p:nvSpPr>
          <p:cNvPr id="19" name="Shape 12"/>
          <p:cNvSpPr/>
          <p:nvPr/>
        </p:nvSpPr>
        <p:spPr>
          <a:xfrm>
            <a:off x="4633874" y="2459736"/>
            <a:ext cx="713232" cy="713232"/>
          </a:xfrm>
          <a:prstGeom prst="roundRect">
            <a:avLst>
              <a:gd name="adj" fmla="val 14103"/>
            </a:avLst>
          </a:prstGeom>
          <a:solidFill>
            <a:srgbClr val="1B2330"/>
          </a:solidFill>
          <a:ln w="15240">
            <a:solidFill>
              <a:srgbClr val="3BE3E0"/>
            </a:solidFill>
            <a:prstDash val="solid"/>
          </a:ln>
        </p:spPr>
      </p:sp>
      <p:pic>
        <p:nvPicPr>
          <p:cNvPr id="20" name="Image 5" descr="C:/Users/neuma_p1qrsic/Repo/agentic-ops1/.scratch/icons/merge.png"/>
          <p:cNvPicPr>
            <a:picLocks noChangeAspect="1"/>
          </p:cNvPicPr>
          <p:nvPr/>
        </p:nvPicPr>
        <p:blipFill>
          <a:blip r:embed="rId6"/>
          <a:stretch>
            <a:fillRect/>
          </a:stretch>
        </p:blipFill>
        <p:spPr>
          <a:xfrm>
            <a:off x="4805050" y="2630912"/>
            <a:ext cx="370881" cy="370881"/>
          </a:xfrm>
          <a:prstGeom prst="rect">
            <a:avLst/>
          </a:prstGeom>
        </p:spPr>
      </p:pic>
      <p:sp>
        <p:nvSpPr>
          <p:cNvPr id="21" name="Text 13"/>
          <p:cNvSpPr/>
          <p:nvPr/>
        </p:nvSpPr>
        <p:spPr>
          <a:xfrm>
            <a:off x="4633874" y="3319272"/>
            <a:ext cx="2923946" cy="658368"/>
          </a:xfrm>
          <a:prstGeom prst="rect">
            <a:avLst/>
          </a:prstGeom>
          <a:noFill/>
          <a:ln/>
        </p:spPr>
        <p:txBody>
          <a:bodyPr wrap="square" rtlCol="0" anchor="t"/>
          <a:lstStyle/>
          <a:p>
            <a:pPr indent="0" marL="0">
              <a:buNone/>
            </a:pPr>
            <a:r>
              <a:rPr lang="en-US" sz="1800" b="1" dirty="0">
                <a:solidFill>
                  <a:srgbClr val="F3F6FB"/>
                </a:solidFill>
                <a:latin typeface="Segoe UI Semibold" pitchFamily="34" charset="0"/>
                <a:ea typeface="Segoe UI Semibold" pitchFamily="34" charset="-122"/>
                <a:cs typeface="Segoe UI Semibold" pitchFamily="34" charset="-120"/>
              </a:rPr>
              <a:t>Smart Trading</a:t>
            </a:r>
            <a:endParaRPr lang="en-US" sz="1800" dirty="0"/>
          </a:p>
        </p:txBody>
      </p:sp>
      <p:sp>
        <p:nvSpPr>
          <p:cNvPr id="22" name="Text 14"/>
          <p:cNvSpPr/>
          <p:nvPr/>
        </p:nvSpPr>
        <p:spPr>
          <a:xfrm>
            <a:off x="4633874" y="3995928"/>
            <a:ext cx="2923946" cy="1005840"/>
          </a:xfrm>
          <a:prstGeom prst="rect">
            <a:avLst/>
          </a:prstGeom>
          <a:noFill/>
          <a:ln/>
        </p:spPr>
        <p:txBody>
          <a:bodyPr wrap="square" rtlCol="0" anchor="t"/>
          <a:lstStyle/>
          <a:p>
            <a:pPr indent="0" marL="0">
              <a:lnSpc>
                <a:spcPct val="120000"/>
              </a:lnSpc>
              <a:buNone/>
            </a:pPr>
            <a:r>
              <a:rPr lang="en-US" sz="1300" dirty="0">
                <a:solidFill>
                  <a:srgbClr val="AAB6C7"/>
                </a:solidFill>
                <a:latin typeface="Segoe UI" pitchFamily="34" charset="0"/>
                <a:ea typeface="Segoe UI" pitchFamily="34" charset="-122"/>
                <a:cs typeface="Segoe UI" pitchFamily="34" charset="-120"/>
              </a:rPr>
              <a:t>The manual middle between your trading venues and SAP, closed. From capture through to the deal in SAP.</a:t>
            </a:r>
            <a:endParaRPr lang="en-US" sz="1300" dirty="0"/>
          </a:p>
        </p:txBody>
      </p:sp>
      <p:sp>
        <p:nvSpPr>
          <p:cNvPr id="23" name="Shape 15"/>
          <p:cNvSpPr/>
          <p:nvPr/>
        </p:nvSpPr>
        <p:spPr>
          <a:xfrm>
            <a:off x="8152181" y="2148840"/>
            <a:ext cx="3472586" cy="2971800"/>
          </a:xfrm>
          <a:prstGeom prst="roundRect">
            <a:avLst>
              <a:gd name="adj" fmla="val 2769"/>
            </a:avLst>
          </a:prstGeom>
          <a:solidFill>
            <a:srgbClr val="141A25"/>
          </a:solidFill>
          <a:ln w="13970">
            <a:solidFill>
              <a:srgbClr val="36414F"/>
            </a:solidFill>
            <a:prstDash val="solid"/>
          </a:ln>
        </p:spPr>
      </p:sp>
      <p:sp>
        <p:nvSpPr>
          <p:cNvPr id="24" name="Shape 16"/>
          <p:cNvSpPr/>
          <p:nvPr/>
        </p:nvSpPr>
        <p:spPr>
          <a:xfrm>
            <a:off x="8426501" y="2459736"/>
            <a:ext cx="713232" cy="713232"/>
          </a:xfrm>
          <a:prstGeom prst="roundRect">
            <a:avLst>
              <a:gd name="adj" fmla="val 14103"/>
            </a:avLst>
          </a:prstGeom>
          <a:solidFill>
            <a:srgbClr val="1B2330"/>
          </a:solidFill>
          <a:ln w="15240">
            <a:solidFill>
              <a:srgbClr val="3BE3E0"/>
            </a:solidFill>
            <a:prstDash val="solid"/>
          </a:ln>
        </p:spPr>
      </p:sp>
      <p:pic>
        <p:nvPicPr>
          <p:cNvPr id="25" name="Image 6" descr="C:/Users/neuma_p1qrsic/Repo/agentic-ops1/.scratch/icons/spark.png"/>
          <p:cNvPicPr>
            <a:picLocks noChangeAspect="1"/>
          </p:cNvPicPr>
          <p:nvPr/>
        </p:nvPicPr>
        <p:blipFill>
          <a:blip r:embed="rId7"/>
          <a:stretch>
            <a:fillRect/>
          </a:stretch>
        </p:blipFill>
        <p:spPr>
          <a:xfrm>
            <a:off x="8597676" y="2630912"/>
            <a:ext cx="370881" cy="370881"/>
          </a:xfrm>
          <a:prstGeom prst="rect">
            <a:avLst/>
          </a:prstGeom>
        </p:spPr>
      </p:pic>
      <p:sp>
        <p:nvSpPr>
          <p:cNvPr id="26" name="Text 17"/>
          <p:cNvSpPr/>
          <p:nvPr/>
        </p:nvSpPr>
        <p:spPr>
          <a:xfrm>
            <a:off x="8426501" y="3319272"/>
            <a:ext cx="2923946" cy="658368"/>
          </a:xfrm>
          <a:prstGeom prst="rect">
            <a:avLst/>
          </a:prstGeom>
          <a:noFill/>
          <a:ln/>
        </p:spPr>
        <p:txBody>
          <a:bodyPr wrap="square" rtlCol="0" anchor="t"/>
          <a:lstStyle/>
          <a:p>
            <a:pPr indent="0" marL="0">
              <a:buNone/>
            </a:pPr>
            <a:r>
              <a:rPr lang="en-US" sz="1800" b="1" dirty="0">
                <a:solidFill>
                  <a:srgbClr val="F3F6FB"/>
                </a:solidFill>
                <a:latin typeface="Segoe UI Semibold" pitchFamily="34" charset="0"/>
                <a:ea typeface="Segoe UI Semibold" pitchFamily="34" charset="-122"/>
                <a:cs typeface="Segoe UI Semibold" pitchFamily="34" charset="-120"/>
              </a:rPr>
              <a:t>AI automation &amp; orchestration</a:t>
            </a:r>
            <a:endParaRPr lang="en-US" sz="1800" dirty="0"/>
          </a:p>
        </p:txBody>
      </p:sp>
      <p:sp>
        <p:nvSpPr>
          <p:cNvPr id="27" name="Text 18"/>
          <p:cNvSpPr/>
          <p:nvPr/>
        </p:nvSpPr>
        <p:spPr>
          <a:xfrm>
            <a:off x="8426501" y="3995928"/>
            <a:ext cx="2923946" cy="1005840"/>
          </a:xfrm>
          <a:prstGeom prst="rect">
            <a:avLst/>
          </a:prstGeom>
          <a:noFill/>
          <a:ln/>
        </p:spPr>
        <p:txBody>
          <a:bodyPr wrap="square" rtlCol="0" anchor="t"/>
          <a:lstStyle/>
          <a:p>
            <a:pPr indent="0" marL="0">
              <a:lnSpc>
                <a:spcPct val="120000"/>
              </a:lnSpc>
              <a:buNone/>
            </a:pPr>
            <a:r>
              <a:rPr lang="en-US" sz="1300" dirty="0">
                <a:solidFill>
                  <a:srgbClr val="AAB6C7"/>
                </a:solidFill>
                <a:latin typeface="Segoe UI" pitchFamily="34" charset="0"/>
                <a:ea typeface="Segoe UI" pitchFamily="34" charset="-122"/>
                <a:cs typeface="Segoe UI" pitchFamily="34" charset="-120"/>
              </a:rPr>
              <a:t>Digital co-workers that read, decide and post on your own SAP data: remittance advice, intercompany funding, and more.</a:t>
            </a:r>
            <a:endParaRPr lang="en-US" sz="1300" dirty="0"/>
          </a:p>
        </p:txBody>
      </p:sp>
      <p:sp>
        <p:nvSpPr>
          <p:cNvPr id="28" name="Text 19"/>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xml:space="preserve">   TreasuryCentral, powered by OnePilot</a:t>
            </a:r>
            <a:endParaRPr lang="en-US" sz="900" dirty="0"/>
          </a:p>
        </p:txBody>
      </p:sp>
      <p:sp>
        <p:nvSpPr>
          <p:cNvPr id="29" name="Text 20"/>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05 / 11</a:t>
            </a:r>
            <a:endParaRPr lang="en-US" sz="900" dirty="0"/>
          </a:p>
        </p:txBody>
      </p:sp>
      <p:sp>
        <p:nvSpPr>
          <p:cNvPr id="30" name="Shape 21"/>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HOW IT FITS TOGETHER</a:t>
            </a:r>
            <a:endParaRPr lang="en-US" sz="1200" dirty="0"/>
          </a:p>
        </p:txBody>
      </p:sp>
      <p:sp>
        <p:nvSpPr>
          <p:cNvPr id="4" name="Text 2"/>
          <p:cNvSpPr/>
          <p:nvPr/>
        </p:nvSpPr>
        <p:spPr>
          <a:xfrm>
            <a:off x="566928" y="960120"/>
            <a:ext cx="10881360" cy="731520"/>
          </a:xfrm>
          <a:prstGeom prst="rect">
            <a:avLst/>
          </a:prstGeom>
          <a:noFill/>
          <a:ln/>
        </p:spPr>
        <p:txBody>
          <a:bodyPr wrap="square" rtlCol="0" anchor="ctr"/>
          <a:lstStyle/>
          <a:p>
            <a:pPr indent="0" marL="0">
              <a:buNone/>
            </a:pPr>
            <a:r>
              <a:rPr lang="en-US" sz="2800" b="1" dirty="0">
                <a:solidFill>
                  <a:srgbClr val="F3F6FB"/>
                </a:solidFill>
                <a:latin typeface="Segoe UI Semibold" pitchFamily="34" charset="0"/>
                <a:ea typeface="Segoe UI Semibold" pitchFamily="34" charset="-122"/>
                <a:cs typeface="Segoe UI Semibold" pitchFamily="34" charset="-120"/>
              </a:rPr>
              <a:t>One layer between your sources and SAP. Both ways.</a:t>
            </a:r>
            <a:endParaRPr lang="en-US" sz="2800" dirty="0"/>
          </a:p>
        </p:txBody>
      </p:sp>
      <p:sp>
        <p:nvSpPr>
          <p:cNvPr id="5" name="Shape 3"/>
          <p:cNvSpPr/>
          <p:nvPr/>
        </p:nvSpPr>
        <p:spPr>
          <a:xfrm>
            <a:off x="566928" y="2148840"/>
            <a:ext cx="3063240" cy="2514600"/>
          </a:xfrm>
          <a:prstGeom prst="roundRect">
            <a:avLst>
              <a:gd name="adj" fmla="val 3273"/>
            </a:avLst>
          </a:prstGeom>
          <a:solidFill>
            <a:srgbClr val="141A25"/>
          </a:solidFill>
          <a:ln w="13970">
            <a:solidFill>
              <a:srgbClr val="36414F"/>
            </a:solidFill>
            <a:prstDash val="solid"/>
          </a:ln>
        </p:spPr>
      </p:sp>
      <p:sp>
        <p:nvSpPr>
          <p:cNvPr id="6" name="Shape 4"/>
          <p:cNvSpPr/>
          <p:nvPr/>
        </p:nvSpPr>
        <p:spPr>
          <a:xfrm>
            <a:off x="841248" y="2423160"/>
            <a:ext cx="548640" cy="548640"/>
          </a:xfrm>
          <a:prstGeom prst="roundRect">
            <a:avLst>
              <a:gd name="adj" fmla="val 18333"/>
            </a:avLst>
          </a:prstGeom>
          <a:solidFill>
            <a:srgbClr val="1B2330"/>
          </a:solidFill>
          <a:ln w="15240">
            <a:solidFill>
              <a:srgbClr val="3BE3E0"/>
            </a:solidFill>
            <a:prstDash val="solid"/>
          </a:ln>
        </p:spPr>
      </p:sp>
      <p:pic>
        <p:nvPicPr>
          <p:cNvPr id="7" name="Image 0" descr="C:/Users/neuma_p1qrsic/Repo/agentic-ops1/.scratch/icons/venue.png"/>
          <p:cNvPicPr>
            <a:picLocks noChangeAspect="1"/>
          </p:cNvPicPr>
          <p:nvPr/>
        </p:nvPicPr>
        <p:blipFill>
          <a:blip r:embed="rId1"/>
          <a:stretch>
            <a:fillRect/>
          </a:stretch>
        </p:blipFill>
        <p:spPr>
          <a:xfrm>
            <a:off x="972922" y="2554834"/>
            <a:ext cx="285293" cy="285293"/>
          </a:xfrm>
          <a:prstGeom prst="rect">
            <a:avLst/>
          </a:prstGeom>
        </p:spPr>
      </p:pic>
      <p:sp>
        <p:nvSpPr>
          <p:cNvPr id="8" name="Text 5"/>
          <p:cNvSpPr/>
          <p:nvPr/>
        </p:nvSpPr>
        <p:spPr>
          <a:xfrm>
            <a:off x="1527048" y="2423160"/>
            <a:ext cx="1920240" cy="548640"/>
          </a:xfrm>
          <a:prstGeom prst="rect">
            <a:avLst/>
          </a:prstGeom>
          <a:noFill/>
          <a:ln/>
        </p:spPr>
        <p:txBody>
          <a:bodyPr wrap="square" rtlCol="0" anchor="ctr"/>
          <a:lstStyle/>
          <a:p>
            <a:pPr indent="0" marL="0">
              <a:buNone/>
            </a:pPr>
            <a:r>
              <a:rPr lang="en-US" sz="1350" b="1" dirty="0">
                <a:solidFill>
                  <a:srgbClr val="F3F6FB"/>
                </a:solidFill>
                <a:latin typeface="Segoe UI Semibold" pitchFamily="34" charset="0"/>
                <a:ea typeface="Segoe UI Semibold" pitchFamily="34" charset="-122"/>
                <a:cs typeface="Segoe UI Semibold" pitchFamily="34" charset="-120"/>
              </a:rPr>
              <a:t>Sources &amp; feeds</a:t>
            </a:r>
            <a:endParaRPr lang="en-US" sz="1350" dirty="0"/>
          </a:p>
        </p:txBody>
      </p:sp>
      <p:sp>
        <p:nvSpPr>
          <p:cNvPr id="9" name="Text 6"/>
          <p:cNvSpPr/>
          <p:nvPr/>
        </p:nvSpPr>
        <p:spPr>
          <a:xfrm>
            <a:off x="841248" y="3200400"/>
            <a:ext cx="2606040" cy="1371600"/>
          </a:xfrm>
          <a:prstGeom prst="rect">
            <a:avLst/>
          </a:prstGeom>
          <a:noFill/>
          <a:ln/>
        </p:spPr>
        <p:txBody>
          <a:bodyPr wrap="square" rtlCol="0" anchor="ctr"/>
          <a:lstStyle/>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Banks, market data,</a:t>
            </a:r>
            <a:endParaRPr lang="en-US" sz="1300" dirty="0"/>
          </a:p>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trading venues, central</a:t>
            </a:r>
            <a:endParaRPr lang="en-US" sz="1300" dirty="0"/>
          </a:p>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banks, websites, internal</a:t>
            </a:r>
            <a:endParaRPr lang="en-US" sz="1300" dirty="0"/>
          </a:p>
        </p:txBody>
      </p:sp>
      <p:sp>
        <p:nvSpPr>
          <p:cNvPr id="10" name="Shape 7"/>
          <p:cNvSpPr/>
          <p:nvPr/>
        </p:nvSpPr>
        <p:spPr>
          <a:xfrm>
            <a:off x="4087368" y="2148840"/>
            <a:ext cx="3566160" cy="2514600"/>
          </a:xfrm>
          <a:prstGeom prst="roundRect">
            <a:avLst>
              <a:gd name="adj" fmla="val 3273"/>
            </a:avLst>
          </a:prstGeom>
          <a:solidFill>
            <a:srgbClr val="10222A"/>
          </a:solidFill>
          <a:ln w="19050">
            <a:solidFill>
              <a:srgbClr val="3BE3E0"/>
            </a:solidFill>
            <a:prstDash val="solid"/>
          </a:ln>
        </p:spPr>
      </p:sp>
      <p:pic>
        <p:nvPicPr>
          <p:cNvPr id="11" name="Image 1" descr="C:/Users/neuma_p1qrsic/Repo/agentic-ops1/.scratch/logo/favicon.png"/>
          <p:cNvPicPr>
            <a:picLocks noChangeAspect="1"/>
          </p:cNvPicPr>
          <p:nvPr/>
        </p:nvPicPr>
        <p:blipFill>
          <a:blip r:embed="rId2"/>
          <a:stretch>
            <a:fillRect/>
          </a:stretch>
        </p:blipFill>
        <p:spPr>
          <a:xfrm>
            <a:off x="5650992" y="2514600"/>
            <a:ext cx="438912" cy="438912"/>
          </a:xfrm>
          <a:prstGeom prst="rect">
            <a:avLst/>
          </a:prstGeom>
        </p:spPr>
      </p:pic>
      <p:sp>
        <p:nvSpPr>
          <p:cNvPr id="12" name="Text 8"/>
          <p:cNvSpPr/>
          <p:nvPr/>
        </p:nvSpPr>
        <p:spPr>
          <a:xfrm>
            <a:off x="4087368" y="3063240"/>
            <a:ext cx="3566160" cy="411480"/>
          </a:xfrm>
          <a:prstGeom prst="rect">
            <a:avLst/>
          </a:prstGeom>
          <a:noFill/>
          <a:ln/>
        </p:spPr>
        <p:txBody>
          <a:bodyPr wrap="square" rtlCol="0" anchor="ctr"/>
          <a:lstStyle/>
          <a:p>
            <a:pPr algn="ctr" indent="0" marL="0">
              <a:buNone/>
            </a:pPr>
            <a:r>
              <a:rPr lang="en-US" sz="2000" b="1" dirty="0">
                <a:solidFill>
                  <a:srgbClr val="F3F6FB"/>
                </a:solidFill>
                <a:latin typeface="Segoe UI Semibold" pitchFamily="34" charset="0"/>
                <a:ea typeface="Segoe UI Semibold" pitchFamily="34" charset="-122"/>
                <a:cs typeface="Segoe UI Semibold" pitchFamily="34" charset="-120"/>
              </a:rPr>
              <a:t>TreasuryCentral</a:t>
            </a:r>
            <a:endParaRPr lang="en-US" sz="2000" dirty="0"/>
          </a:p>
        </p:txBody>
      </p:sp>
      <p:sp>
        <p:nvSpPr>
          <p:cNvPr id="13" name="Text 9"/>
          <p:cNvSpPr/>
          <p:nvPr/>
        </p:nvSpPr>
        <p:spPr>
          <a:xfrm>
            <a:off x="4087368" y="3447288"/>
            <a:ext cx="3566160" cy="320040"/>
          </a:xfrm>
          <a:prstGeom prst="rect">
            <a:avLst/>
          </a:prstGeom>
          <a:noFill/>
          <a:ln/>
        </p:spPr>
        <p:txBody>
          <a:bodyPr wrap="square" rtlCol="0" anchor="ctr"/>
          <a:lstStyle/>
          <a:p>
            <a:pPr algn="ctr" indent="0" marL="0">
              <a:buNone/>
            </a:pPr>
            <a:r>
              <a:rPr lang="en-US" sz="1350" dirty="0">
                <a:solidFill>
                  <a:srgbClr val="3BE3E0"/>
                </a:solidFill>
                <a:latin typeface="Segoe UI" pitchFamily="34" charset="0"/>
                <a:ea typeface="Segoe UI" pitchFamily="34" charset="-122"/>
                <a:cs typeface="Segoe UI" pitchFamily="34" charset="-120"/>
              </a:rPr>
              <a:t>on OnePilot</a:t>
            </a:r>
            <a:endParaRPr lang="en-US" sz="1350" dirty="0"/>
          </a:p>
        </p:txBody>
      </p:sp>
      <p:sp>
        <p:nvSpPr>
          <p:cNvPr id="14" name="Text 10"/>
          <p:cNvSpPr/>
          <p:nvPr/>
        </p:nvSpPr>
        <p:spPr>
          <a:xfrm>
            <a:off x="4087368" y="3813048"/>
            <a:ext cx="3566160" cy="685800"/>
          </a:xfrm>
          <a:prstGeom prst="rect">
            <a:avLst/>
          </a:prstGeom>
          <a:noFill/>
          <a:ln/>
        </p:spPr>
        <p:txBody>
          <a:bodyPr wrap="square" rtlCol="0" anchor="ctr"/>
          <a:lstStyle/>
          <a:p>
            <a:pPr algn="ctr" indent="0" marL="0">
              <a:lnSpc>
                <a:spcPct val="110000"/>
              </a:lnSpc>
              <a:buNone/>
            </a:pPr>
            <a:r>
              <a:rPr lang="en-US" sz="1200" dirty="0">
                <a:solidFill>
                  <a:srgbClr val="AAB6C7"/>
                </a:solidFill>
                <a:latin typeface="Segoe UI" pitchFamily="34" charset="0"/>
                <a:ea typeface="Segoe UI" pitchFamily="34" charset="-122"/>
                <a:cs typeface="Segoe UI" pitchFamily="34" charset="-120"/>
              </a:rPr>
              <a:t>runs inside your SAP landscape,</a:t>
            </a:r>
            <a:endParaRPr lang="en-US" sz="1200" dirty="0"/>
          </a:p>
          <a:p>
            <a:pPr algn="ctr" indent="0" marL="0">
              <a:lnSpc>
                <a:spcPct val="110000"/>
              </a:lnSpc>
              <a:buNone/>
            </a:pPr>
            <a:r>
              <a:rPr lang="en-US" sz="1200" dirty="0">
                <a:solidFill>
                  <a:srgbClr val="AAB6C7"/>
                </a:solidFill>
                <a:latin typeface="Segoe UI" pitchFamily="34" charset="0"/>
                <a:ea typeface="Segoe UI" pitchFamily="34" charset="-122"/>
                <a:cs typeface="Segoe UI" pitchFamily="34" charset="-120"/>
              </a:rPr>
              <a:t>checks and logs every value</a:t>
            </a:r>
            <a:endParaRPr lang="en-US" sz="1200" dirty="0"/>
          </a:p>
        </p:txBody>
      </p:sp>
      <p:sp>
        <p:nvSpPr>
          <p:cNvPr id="15" name="Shape 11"/>
          <p:cNvSpPr/>
          <p:nvPr/>
        </p:nvSpPr>
        <p:spPr>
          <a:xfrm>
            <a:off x="8110728" y="2148840"/>
            <a:ext cx="3514039" cy="2514600"/>
          </a:xfrm>
          <a:prstGeom prst="roundRect">
            <a:avLst>
              <a:gd name="adj" fmla="val 3273"/>
            </a:avLst>
          </a:prstGeom>
          <a:solidFill>
            <a:srgbClr val="141A25"/>
          </a:solidFill>
          <a:ln w="13970">
            <a:solidFill>
              <a:srgbClr val="36414F"/>
            </a:solidFill>
            <a:prstDash val="solid"/>
          </a:ln>
        </p:spPr>
      </p:sp>
      <p:sp>
        <p:nvSpPr>
          <p:cNvPr id="16" name="Shape 12"/>
          <p:cNvSpPr/>
          <p:nvPr/>
        </p:nvSpPr>
        <p:spPr>
          <a:xfrm>
            <a:off x="8385048" y="2423160"/>
            <a:ext cx="548640" cy="548640"/>
          </a:xfrm>
          <a:prstGeom prst="roundRect">
            <a:avLst>
              <a:gd name="adj" fmla="val 18333"/>
            </a:avLst>
          </a:prstGeom>
          <a:solidFill>
            <a:srgbClr val="1B2330"/>
          </a:solidFill>
          <a:ln w="15240">
            <a:solidFill>
              <a:srgbClr val="3BE3E0"/>
            </a:solidFill>
            <a:prstDash val="solid"/>
          </a:ln>
        </p:spPr>
      </p:sp>
      <p:pic>
        <p:nvPicPr>
          <p:cNvPr id="17" name="Image 2" descr="C:/Users/neuma_p1qrsic/Repo/agentic-ops1/.scratch/icons/database.png"/>
          <p:cNvPicPr>
            <a:picLocks noChangeAspect="1"/>
          </p:cNvPicPr>
          <p:nvPr/>
        </p:nvPicPr>
        <p:blipFill>
          <a:blip r:embed="rId3"/>
          <a:stretch>
            <a:fillRect/>
          </a:stretch>
        </p:blipFill>
        <p:spPr>
          <a:xfrm>
            <a:off x="8516722" y="2554834"/>
            <a:ext cx="285293" cy="285293"/>
          </a:xfrm>
          <a:prstGeom prst="rect">
            <a:avLst/>
          </a:prstGeom>
        </p:spPr>
      </p:pic>
      <p:sp>
        <p:nvSpPr>
          <p:cNvPr id="18" name="Text 13"/>
          <p:cNvSpPr/>
          <p:nvPr/>
        </p:nvSpPr>
        <p:spPr>
          <a:xfrm>
            <a:off x="9070848" y="2423160"/>
            <a:ext cx="2325319" cy="548640"/>
          </a:xfrm>
          <a:prstGeom prst="rect">
            <a:avLst/>
          </a:prstGeom>
          <a:noFill/>
          <a:ln/>
        </p:spPr>
        <p:txBody>
          <a:bodyPr wrap="square" rtlCol="0" anchor="ctr"/>
          <a:lstStyle/>
          <a:p>
            <a:pPr indent="0" marL="0">
              <a:buNone/>
            </a:pPr>
            <a:r>
              <a:rPr lang="en-US" sz="1350" b="1" dirty="0">
                <a:solidFill>
                  <a:srgbClr val="F3F6FB"/>
                </a:solidFill>
                <a:latin typeface="Segoe UI Semibold" pitchFamily="34" charset="0"/>
                <a:ea typeface="Segoe UI Semibold" pitchFamily="34" charset="-122"/>
                <a:cs typeface="Segoe UI Semibold" pitchFamily="34" charset="-120"/>
              </a:rPr>
              <a:t>Systems &amp; analytics</a:t>
            </a:r>
            <a:endParaRPr lang="en-US" sz="1350" dirty="0"/>
          </a:p>
        </p:txBody>
      </p:sp>
      <p:sp>
        <p:nvSpPr>
          <p:cNvPr id="19" name="Text 14"/>
          <p:cNvSpPr/>
          <p:nvPr/>
        </p:nvSpPr>
        <p:spPr>
          <a:xfrm>
            <a:off x="8385048" y="3200400"/>
            <a:ext cx="3011119" cy="1371600"/>
          </a:xfrm>
          <a:prstGeom prst="rect">
            <a:avLst/>
          </a:prstGeom>
          <a:noFill/>
          <a:ln/>
        </p:spPr>
        <p:txBody>
          <a:bodyPr wrap="square" rtlCol="0" anchor="ctr"/>
          <a:lstStyle/>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SAP ECC, S/4HANA, TRM,</a:t>
            </a:r>
            <a:endParaRPr lang="en-US" sz="1300" dirty="0"/>
          </a:p>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non-SAP apps, databases,</a:t>
            </a:r>
            <a:endParaRPr lang="en-US" sz="1300" dirty="0"/>
          </a:p>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Analytics Cloud</a:t>
            </a:r>
            <a:endParaRPr lang="en-US" sz="1300" dirty="0"/>
          </a:p>
        </p:txBody>
      </p:sp>
      <p:sp>
        <p:nvSpPr>
          <p:cNvPr id="20" name="Shape 15"/>
          <p:cNvSpPr/>
          <p:nvPr/>
        </p:nvSpPr>
        <p:spPr>
          <a:xfrm>
            <a:off x="3630168" y="3406140"/>
            <a:ext cx="457200" cy="0"/>
          </a:xfrm>
          <a:prstGeom prst="line">
            <a:avLst/>
          </a:prstGeom>
          <a:noFill/>
          <a:ln w="19050">
            <a:solidFill>
              <a:srgbClr val="3BE3E0"/>
            </a:solidFill>
            <a:prstDash val="solid"/>
            <a:headEnd type="triangle"/>
            <a:tailEnd type="triangle"/>
          </a:ln>
        </p:spPr>
      </p:sp>
      <p:sp>
        <p:nvSpPr>
          <p:cNvPr id="21" name="Shape 16"/>
          <p:cNvSpPr/>
          <p:nvPr/>
        </p:nvSpPr>
        <p:spPr>
          <a:xfrm>
            <a:off x="7653528" y="3406140"/>
            <a:ext cx="457200" cy="0"/>
          </a:xfrm>
          <a:prstGeom prst="line">
            <a:avLst/>
          </a:prstGeom>
          <a:noFill/>
          <a:ln w="19050">
            <a:solidFill>
              <a:srgbClr val="3BE3E0"/>
            </a:solidFill>
            <a:prstDash val="solid"/>
            <a:headEnd type="triangle"/>
            <a:tailEnd type="triangle"/>
          </a:ln>
        </p:spPr>
      </p:sp>
      <p:sp>
        <p:nvSpPr>
          <p:cNvPr id="22" name="Shape 17"/>
          <p:cNvSpPr/>
          <p:nvPr/>
        </p:nvSpPr>
        <p:spPr>
          <a:xfrm>
            <a:off x="566928" y="4956048"/>
            <a:ext cx="11057839" cy="914400"/>
          </a:xfrm>
          <a:prstGeom prst="roundRect">
            <a:avLst>
              <a:gd name="adj" fmla="val 8000"/>
            </a:avLst>
          </a:prstGeom>
          <a:solidFill>
            <a:srgbClr val="141A25"/>
          </a:solidFill>
          <a:ln w="13970">
            <a:solidFill>
              <a:srgbClr val="36414F"/>
            </a:solidFill>
            <a:prstDash val="solid"/>
          </a:ln>
        </p:spPr>
      </p:sp>
      <p:pic>
        <p:nvPicPr>
          <p:cNvPr id="23" name="Image 3" descr="C:/Users/neuma_p1qrsic/Repo/agentic-ops1/.scratch/icons/shield.png"/>
          <p:cNvPicPr>
            <a:picLocks noChangeAspect="1"/>
          </p:cNvPicPr>
          <p:nvPr/>
        </p:nvPicPr>
        <p:blipFill>
          <a:blip r:embed="rId4"/>
          <a:stretch>
            <a:fillRect/>
          </a:stretch>
        </p:blipFill>
        <p:spPr>
          <a:xfrm>
            <a:off x="841248" y="5212080"/>
            <a:ext cx="402336" cy="402336"/>
          </a:xfrm>
          <a:prstGeom prst="rect">
            <a:avLst/>
          </a:prstGeom>
        </p:spPr>
      </p:pic>
      <p:sp>
        <p:nvSpPr>
          <p:cNvPr id="24" name="Text 18"/>
          <p:cNvSpPr/>
          <p:nvPr/>
        </p:nvSpPr>
        <p:spPr>
          <a:xfrm>
            <a:off x="1435608" y="4956048"/>
            <a:ext cx="9914839" cy="914400"/>
          </a:xfrm>
          <a:prstGeom prst="rect">
            <a:avLst/>
          </a:prstGeom>
          <a:noFill/>
          <a:ln/>
        </p:spPr>
        <p:txBody>
          <a:bodyPr wrap="square" rtlCol="0" anchor="ctr"/>
          <a:lstStyle/>
          <a:p>
            <a:pPr indent="0" marL="0">
              <a:lnSpc>
                <a:spcPct val="110000"/>
              </a:lnSpc>
              <a:buNone/>
            </a:pPr>
            <a:r>
              <a:rPr lang="en-US" sz="1350" dirty="0">
                <a:solidFill>
                  <a:srgbClr val="F3F6FB"/>
                </a:solidFill>
                <a:latin typeface="Segoe UI" pitchFamily="34" charset="0"/>
                <a:ea typeface="Segoe UI" pitchFamily="34" charset="-122"/>
                <a:cs typeface="Segoe UI" pitchFamily="34" charset="-120"/>
              </a:rPr>
              <a:t>Every value through the layer is validated, checked for anomalies and logged. The next page is the full control set.</a:t>
            </a:r>
            <a:endParaRPr lang="en-US" sz="1350" dirty="0"/>
          </a:p>
        </p:txBody>
      </p:sp>
      <p:sp>
        <p:nvSpPr>
          <p:cNvPr id="25" name="Text 19"/>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xml:space="preserve">   TreasuryCentral, powered by OnePilot</a:t>
            </a:r>
            <a:endParaRPr lang="en-US" sz="900" dirty="0"/>
          </a:p>
        </p:txBody>
      </p:sp>
      <p:sp>
        <p:nvSpPr>
          <p:cNvPr id="26" name="Text 20"/>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06 / 11</a:t>
            </a:r>
            <a:endParaRPr lang="en-US" sz="900" dirty="0"/>
          </a:p>
        </p:txBody>
      </p:sp>
      <p:sp>
        <p:nvSpPr>
          <p:cNvPr id="27" name="Shape 21"/>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WHY IT IS SAFE TO AUTOMATE</a:t>
            </a:r>
            <a:endParaRPr lang="en-US" sz="1200" dirty="0"/>
          </a:p>
        </p:txBody>
      </p:sp>
      <p:sp>
        <p:nvSpPr>
          <p:cNvPr id="4" name="Text 2"/>
          <p:cNvSpPr/>
          <p:nvPr/>
        </p:nvSpPr>
        <p:spPr>
          <a:xfrm>
            <a:off x="566928" y="960120"/>
            <a:ext cx="10789920" cy="731520"/>
          </a:xfrm>
          <a:prstGeom prst="rect">
            <a:avLst/>
          </a:prstGeom>
          <a:noFill/>
          <a:ln/>
        </p:spPr>
        <p:txBody>
          <a:bodyPr wrap="square" rtlCol="0" anchor="ctr"/>
          <a:lstStyle/>
          <a:p>
            <a:pPr indent="0" marL="0">
              <a:buNone/>
            </a:pPr>
            <a:r>
              <a:rPr lang="en-US" sz="2800" b="1" dirty="0">
                <a:solidFill>
                  <a:srgbClr val="F3F6FB"/>
                </a:solidFill>
                <a:latin typeface="Segoe UI Semibold" pitchFamily="34" charset="0"/>
                <a:ea typeface="Segoe UI Semibold" pitchFamily="34" charset="-122"/>
                <a:cs typeface="Segoe UI Semibold" pitchFamily="34" charset="-120"/>
              </a:rPr>
              <a:t>The controls are built in, not bolted on.</a:t>
            </a:r>
            <a:endParaRPr lang="en-US" sz="2800" dirty="0"/>
          </a:p>
        </p:txBody>
      </p:sp>
      <p:sp>
        <p:nvSpPr>
          <p:cNvPr id="5" name="Shape 3"/>
          <p:cNvSpPr/>
          <p:nvPr/>
        </p:nvSpPr>
        <p:spPr>
          <a:xfrm>
            <a:off x="566928" y="2194560"/>
            <a:ext cx="5346040" cy="1188720"/>
          </a:xfrm>
          <a:prstGeom prst="roundRect">
            <a:avLst>
              <a:gd name="adj" fmla="val 6154"/>
            </a:avLst>
          </a:prstGeom>
          <a:solidFill>
            <a:srgbClr val="141A25"/>
          </a:solidFill>
          <a:ln w="13970">
            <a:solidFill>
              <a:srgbClr val="36414F"/>
            </a:solidFill>
            <a:prstDash val="solid"/>
          </a:ln>
        </p:spPr>
      </p:sp>
      <p:sp>
        <p:nvSpPr>
          <p:cNvPr id="6" name="Shape 4"/>
          <p:cNvSpPr/>
          <p:nvPr/>
        </p:nvSpPr>
        <p:spPr>
          <a:xfrm>
            <a:off x="822960" y="2496312"/>
            <a:ext cx="566928" cy="566928"/>
          </a:xfrm>
          <a:prstGeom prst="roundRect">
            <a:avLst>
              <a:gd name="adj" fmla="val 17742"/>
            </a:avLst>
          </a:prstGeom>
          <a:solidFill>
            <a:srgbClr val="1B2330"/>
          </a:solidFill>
          <a:ln w="15240">
            <a:solidFill>
              <a:srgbClr val="3BE3E0"/>
            </a:solidFill>
            <a:prstDash val="solid"/>
          </a:ln>
        </p:spPr>
      </p:sp>
      <p:pic>
        <p:nvPicPr>
          <p:cNvPr id="7" name="Image 0" descr="C:/Users/neuma_p1qrsic/Repo/agentic-ops1/.scratch/icons/list.png"/>
          <p:cNvPicPr>
            <a:picLocks noChangeAspect="1"/>
          </p:cNvPicPr>
          <p:nvPr/>
        </p:nvPicPr>
        <p:blipFill>
          <a:blip r:embed="rId1"/>
          <a:stretch>
            <a:fillRect/>
          </a:stretch>
        </p:blipFill>
        <p:spPr>
          <a:xfrm>
            <a:off x="959023" y="2632375"/>
            <a:ext cx="294803" cy="294803"/>
          </a:xfrm>
          <a:prstGeom prst="rect">
            <a:avLst/>
          </a:prstGeom>
        </p:spPr>
      </p:pic>
      <p:sp>
        <p:nvSpPr>
          <p:cNvPr id="8" name="Text 5"/>
          <p:cNvSpPr/>
          <p:nvPr/>
        </p:nvSpPr>
        <p:spPr>
          <a:xfrm>
            <a:off x="1572768" y="2414016"/>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A full audit trail</a:t>
            </a:r>
            <a:endParaRPr lang="en-US" sz="1650" dirty="0"/>
          </a:p>
        </p:txBody>
      </p:sp>
      <p:sp>
        <p:nvSpPr>
          <p:cNvPr id="9" name="Text 6"/>
          <p:cNvSpPr/>
          <p:nvPr/>
        </p:nvSpPr>
        <p:spPr>
          <a:xfrm>
            <a:off x="1572768" y="2798064"/>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Every value and every change is recorded, end to end.</a:t>
            </a:r>
            <a:endParaRPr lang="en-US" sz="1250" dirty="0"/>
          </a:p>
        </p:txBody>
      </p:sp>
      <p:sp>
        <p:nvSpPr>
          <p:cNvPr id="10" name="Shape 7"/>
          <p:cNvSpPr/>
          <p:nvPr/>
        </p:nvSpPr>
        <p:spPr>
          <a:xfrm>
            <a:off x="6278728" y="2194560"/>
            <a:ext cx="5346040" cy="1188720"/>
          </a:xfrm>
          <a:prstGeom prst="roundRect">
            <a:avLst>
              <a:gd name="adj" fmla="val 6154"/>
            </a:avLst>
          </a:prstGeom>
          <a:solidFill>
            <a:srgbClr val="141A25"/>
          </a:solidFill>
          <a:ln w="13970">
            <a:solidFill>
              <a:srgbClr val="36414F"/>
            </a:solidFill>
            <a:prstDash val="solid"/>
          </a:ln>
        </p:spPr>
      </p:sp>
      <p:sp>
        <p:nvSpPr>
          <p:cNvPr id="11" name="Shape 8"/>
          <p:cNvSpPr/>
          <p:nvPr/>
        </p:nvSpPr>
        <p:spPr>
          <a:xfrm>
            <a:off x="6534760" y="2496312"/>
            <a:ext cx="566928" cy="566928"/>
          </a:xfrm>
          <a:prstGeom prst="roundRect">
            <a:avLst>
              <a:gd name="adj" fmla="val 17742"/>
            </a:avLst>
          </a:prstGeom>
          <a:solidFill>
            <a:srgbClr val="1B2330"/>
          </a:solidFill>
          <a:ln w="15240">
            <a:solidFill>
              <a:srgbClr val="3BE3E0"/>
            </a:solidFill>
            <a:prstDash val="solid"/>
          </a:ln>
        </p:spPr>
      </p:sp>
      <p:pic>
        <p:nvPicPr>
          <p:cNvPr id="12" name="Image 1" descr="C:/Users/neuma_p1qrsic/Repo/agentic-ops1/.scratch/icons/shield.png"/>
          <p:cNvPicPr>
            <a:picLocks noChangeAspect="1"/>
          </p:cNvPicPr>
          <p:nvPr/>
        </p:nvPicPr>
        <p:blipFill>
          <a:blip r:embed="rId2"/>
          <a:stretch>
            <a:fillRect/>
          </a:stretch>
        </p:blipFill>
        <p:spPr>
          <a:xfrm>
            <a:off x="6670822" y="2632375"/>
            <a:ext cx="294803" cy="294803"/>
          </a:xfrm>
          <a:prstGeom prst="rect">
            <a:avLst/>
          </a:prstGeom>
        </p:spPr>
      </p:pic>
      <p:sp>
        <p:nvSpPr>
          <p:cNvPr id="13" name="Text 9"/>
          <p:cNvSpPr/>
          <p:nvPr/>
        </p:nvSpPr>
        <p:spPr>
          <a:xfrm>
            <a:off x="7284568" y="2414016"/>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Segregation of duties</a:t>
            </a:r>
            <a:endParaRPr lang="en-US" sz="1650" dirty="0"/>
          </a:p>
        </p:txBody>
      </p:sp>
      <p:sp>
        <p:nvSpPr>
          <p:cNvPr id="14" name="Text 10"/>
          <p:cNvSpPr/>
          <p:nvPr/>
        </p:nvSpPr>
        <p:spPr>
          <a:xfrm>
            <a:off x="7284568" y="2798064"/>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The changes that matter need a second person.</a:t>
            </a:r>
            <a:endParaRPr lang="en-US" sz="1250" dirty="0"/>
          </a:p>
        </p:txBody>
      </p:sp>
      <p:sp>
        <p:nvSpPr>
          <p:cNvPr id="15" name="Shape 11"/>
          <p:cNvSpPr/>
          <p:nvPr/>
        </p:nvSpPr>
        <p:spPr>
          <a:xfrm>
            <a:off x="566928" y="3547872"/>
            <a:ext cx="5346040" cy="1188720"/>
          </a:xfrm>
          <a:prstGeom prst="roundRect">
            <a:avLst>
              <a:gd name="adj" fmla="val 6154"/>
            </a:avLst>
          </a:prstGeom>
          <a:solidFill>
            <a:srgbClr val="141A25"/>
          </a:solidFill>
          <a:ln w="13970">
            <a:solidFill>
              <a:srgbClr val="36414F"/>
            </a:solidFill>
            <a:prstDash val="solid"/>
          </a:ln>
        </p:spPr>
      </p:sp>
      <p:sp>
        <p:nvSpPr>
          <p:cNvPr id="16" name="Shape 12"/>
          <p:cNvSpPr/>
          <p:nvPr/>
        </p:nvSpPr>
        <p:spPr>
          <a:xfrm>
            <a:off x="822960" y="3849624"/>
            <a:ext cx="566928" cy="566928"/>
          </a:xfrm>
          <a:prstGeom prst="roundRect">
            <a:avLst>
              <a:gd name="adj" fmla="val 17742"/>
            </a:avLst>
          </a:prstGeom>
          <a:solidFill>
            <a:srgbClr val="1B2330"/>
          </a:solidFill>
          <a:ln w="15240">
            <a:solidFill>
              <a:srgbClr val="3BE3E0"/>
            </a:solidFill>
            <a:prstDash val="solid"/>
          </a:ln>
        </p:spPr>
      </p:sp>
      <p:pic>
        <p:nvPicPr>
          <p:cNvPr id="17" name="Image 2" descr="C:/Users/neuma_p1qrsic/Repo/agentic-ops1/.scratch/icons/eye.png"/>
          <p:cNvPicPr>
            <a:picLocks noChangeAspect="1"/>
          </p:cNvPicPr>
          <p:nvPr/>
        </p:nvPicPr>
        <p:blipFill>
          <a:blip r:embed="rId3"/>
          <a:stretch>
            <a:fillRect/>
          </a:stretch>
        </p:blipFill>
        <p:spPr>
          <a:xfrm>
            <a:off x="959023" y="3985687"/>
            <a:ext cx="294803" cy="294803"/>
          </a:xfrm>
          <a:prstGeom prst="rect">
            <a:avLst/>
          </a:prstGeom>
        </p:spPr>
      </p:pic>
      <p:sp>
        <p:nvSpPr>
          <p:cNvPr id="18" name="Text 13"/>
          <p:cNvSpPr/>
          <p:nvPr/>
        </p:nvSpPr>
        <p:spPr>
          <a:xfrm>
            <a:off x="1572768" y="3767328"/>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Automatic checks</a:t>
            </a:r>
            <a:endParaRPr lang="en-US" sz="1650" dirty="0"/>
          </a:p>
        </p:txBody>
      </p:sp>
      <p:sp>
        <p:nvSpPr>
          <p:cNvPr id="19" name="Text 14"/>
          <p:cNvSpPr/>
          <p:nvPr/>
        </p:nvSpPr>
        <p:spPr>
          <a:xfrm>
            <a:off x="1572768" y="4151376"/>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Odd or bad data is caught before it reaches a system.</a:t>
            </a:r>
            <a:endParaRPr lang="en-US" sz="1250" dirty="0"/>
          </a:p>
        </p:txBody>
      </p:sp>
      <p:sp>
        <p:nvSpPr>
          <p:cNvPr id="20" name="Shape 15"/>
          <p:cNvSpPr/>
          <p:nvPr/>
        </p:nvSpPr>
        <p:spPr>
          <a:xfrm>
            <a:off x="6278728" y="3547872"/>
            <a:ext cx="5346040" cy="1188720"/>
          </a:xfrm>
          <a:prstGeom prst="roundRect">
            <a:avLst>
              <a:gd name="adj" fmla="val 6154"/>
            </a:avLst>
          </a:prstGeom>
          <a:solidFill>
            <a:srgbClr val="141A25"/>
          </a:solidFill>
          <a:ln w="13970">
            <a:solidFill>
              <a:srgbClr val="36414F"/>
            </a:solidFill>
            <a:prstDash val="solid"/>
          </a:ln>
        </p:spPr>
      </p:sp>
      <p:sp>
        <p:nvSpPr>
          <p:cNvPr id="21" name="Shape 16"/>
          <p:cNvSpPr/>
          <p:nvPr/>
        </p:nvSpPr>
        <p:spPr>
          <a:xfrm>
            <a:off x="6534760" y="3849624"/>
            <a:ext cx="566928" cy="566928"/>
          </a:xfrm>
          <a:prstGeom prst="roundRect">
            <a:avLst>
              <a:gd name="adj" fmla="val 17742"/>
            </a:avLst>
          </a:prstGeom>
          <a:solidFill>
            <a:srgbClr val="1B2330"/>
          </a:solidFill>
          <a:ln w="15240">
            <a:solidFill>
              <a:srgbClr val="3BE3E0"/>
            </a:solidFill>
            <a:prstDash val="solid"/>
          </a:ln>
        </p:spPr>
      </p:sp>
      <p:pic>
        <p:nvPicPr>
          <p:cNvPr id="22" name="Image 3" descr="C:/Users/neuma_p1qrsic/Repo/agentic-ops1/.scratch/icons/bell.png"/>
          <p:cNvPicPr>
            <a:picLocks noChangeAspect="1"/>
          </p:cNvPicPr>
          <p:nvPr/>
        </p:nvPicPr>
        <p:blipFill>
          <a:blip r:embed="rId4"/>
          <a:stretch>
            <a:fillRect/>
          </a:stretch>
        </p:blipFill>
        <p:spPr>
          <a:xfrm>
            <a:off x="6670822" y="3985687"/>
            <a:ext cx="294803" cy="294803"/>
          </a:xfrm>
          <a:prstGeom prst="rect">
            <a:avLst/>
          </a:prstGeom>
        </p:spPr>
      </p:pic>
      <p:sp>
        <p:nvSpPr>
          <p:cNvPr id="23" name="Text 17"/>
          <p:cNvSpPr/>
          <p:nvPr/>
        </p:nvSpPr>
        <p:spPr>
          <a:xfrm>
            <a:off x="7284568" y="3767328"/>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Alerts on exceptions</a:t>
            </a:r>
            <a:endParaRPr lang="en-US" sz="1650" dirty="0"/>
          </a:p>
        </p:txBody>
      </p:sp>
      <p:sp>
        <p:nvSpPr>
          <p:cNvPr id="24" name="Text 18"/>
          <p:cNvSpPr/>
          <p:nvPr/>
        </p:nvSpPr>
        <p:spPr>
          <a:xfrm>
            <a:off x="7284568" y="4151376"/>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You hear about the odd one out; the rest just runs.</a:t>
            </a:r>
            <a:endParaRPr lang="en-US" sz="1250" dirty="0"/>
          </a:p>
        </p:txBody>
      </p:sp>
      <p:sp>
        <p:nvSpPr>
          <p:cNvPr id="25" name="Shape 19"/>
          <p:cNvSpPr/>
          <p:nvPr/>
        </p:nvSpPr>
        <p:spPr>
          <a:xfrm>
            <a:off x="566928" y="4901184"/>
            <a:ext cx="5346040" cy="1188720"/>
          </a:xfrm>
          <a:prstGeom prst="roundRect">
            <a:avLst>
              <a:gd name="adj" fmla="val 6154"/>
            </a:avLst>
          </a:prstGeom>
          <a:solidFill>
            <a:srgbClr val="141A25"/>
          </a:solidFill>
          <a:ln w="13970">
            <a:solidFill>
              <a:srgbClr val="36414F"/>
            </a:solidFill>
            <a:prstDash val="solid"/>
          </a:ln>
        </p:spPr>
      </p:sp>
      <p:sp>
        <p:nvSpPr>
          <p:cNvPr id="26" name="Shape 20"/>
          <p:cNvSpPr/>
          <p:nvPr/>
        </p:nvSpPr>
        <p:spPr>
          <a:xfrm>
            <a:off x="822960" y="5202936"/>
            <a:ext cx="566928" cy="566928"/>
          </a:xfrm>
          <a:prstGeom prst="roundRect">
            <a:avLst>
              <a:gd name="adj" fmla="val 17742"/>
            </a:avLst>
          </a:prstGeom>
          <a:solidFill>
            <a:srgbClr val="1B2330"/>
          </a:solidFill>
          <a:ln w="15240">
            <a:solidFill>
              <a:srgbClr val="3BE3E0"/>
            </a:solidFill>
            <a:prstDash val="solid"/>
          </a:ln>
        </p:spPr>
      </p:sp>
      <p:pic>
        <p:nvPicPr>
          <p:cNvPr id="27" name="Image 4" descr="C:/Users/neuma_p1qrsic/Repo/agentic-ops1/.scratch/icons/blocks.png"/>
          <p:cNvPicPr>
            <a:picLocks noChangeAspect="1"/>
          </p:cNvPicPr>
          <p:nvPr/>
        </p:nvPicPr>
        <p:blipFill>
          <a:blip r:embed="rId5"/>
          <a:stretch>
            <a:fillRect/>
          </a:stretch>
        </p:blipFill>
        <p:spPr>
          <a:xfrm>
            <a:off x="959023" y="5338999"/>
            <a:ext cx="294803" cy="294803"/>
          </a:xfrm>
          <a:prstGeom prst="rect">
            <a:avLst/>
          </a:prstGeom>
        </p:spPr>
      </p:pic>
      <p:sp>
        <p:nvSpPr>
          <p:cNvPr id="28" name="Text 21"/>
          <p:cNvSpPr/>
          <p:nvPr/>
        </p:nvSpPr>
        <p:spPr>
          <a:xfrm>
            <a:off x="1572768" y="5120640"/>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No code to change it</a:t>
            </a:r>
            <a:endParaRPr lang="en-US" sz="1650" dirty="0"/>
          </a:p>
        </p:txBody>
      </p:sp>
      <p:sp>
        <p:nvSpPr>
          <p:cNvPr id="29" name="Text 22"/>
          <p:cNvSpPr/>
          <p:nvPr/>
        </p:nvSpPr>
        <p:spPr>
          <a:xfrm>
            <a:off x="1572768" y="5504688"/>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Your rules, changed by your team, no IT project.</a:t>
            </a:r>
            <a:endParaRPr lang="en-US" sz="1250" dirty="0"/>
          </a:p>
        </p:txBody>
      </p:sp>
      <p:sp>
        <p:nvSpPr>
          <p:cNvPr id="30" name="Shape 23"/>
          <p:cNvSpPr/>
          <p:nvPr/>
        </p:nvSpPr>
        <p:spPr>
          <a:xfrm>
            <a:off x="6278728" y="4901184"/>
            <a:ext cx="5346040" cy="1188720"/>
          </a:xfrm>
          <a:prstGeom prst="roundRect">
            <a:avLst>
              <a:gd name="adj" fmla="val 6154"/>
            </a:avLst>
          </a:prstGeom>
          <a:solidFill>
            <a:srgbClr val="141A25"/>
          </a:solidFill>
          <a:ln w="13970">
            <a:solidFill>
              <a:srgbClr val="36414F"/>
            </a:solidFill>
            <a:prstDash val="solid"/>
          </a:ln>
        </p:spPr>
      </p:sp>
      <p:sp>
        <p:nvSpPr>
          <p:cNvPr id="31" name="Shape 24"/>
          <p:cNvSpPr/>
          <p:nvPr/>
        </p:nvSpPr>
        <p:spPr>
          <a:xfrm>
            <a:off x="6534760" y="5202936"/>
            <a:ext cx="566928" cy="566928"/>
          </a:xfrm>
          <a:prstGeom prst="roundRect">
            <a:avLst>
              <a:gd name="adj" fmla="val 17742"/>
            </a:avLst>
          </a:prstGeom>
          <a:solidFill>
            <a:srgbClr val="1B2330"/>
          </a:solidFill>
          <a:ln w="15240">
            <a:solidFill>
              <a:srgbClr val="3BE3E0"/>
            </a:solidFill>
            <a:prstDash val="solid"/>
          </a:ln>
        </p:spPr>
      </p:sp>
      <p:pic>
        <p:nvPicPr>
          <p:cNvPr id="32" name="Image 5" descr="C:/Users/neuma_p1qrsic/Repo/agentic-ops1/.scratch/icons/lock.png"/>
          <p:cNvPicPr>
            <a:picLocks noChangeAspect="1"/>
          </p:cNvPicPr>
          <p:nvPr/>
        </p:nvPicPr>
        <p:blipFill>
          <a:blip r:embed="rId6"/>
          <a:stretch>
            <a:fillRect/>
          </a:stretch>
        </p:blipFill>
        <p:spPr>
          <a:xfrm>
            <a:off x="6670822" y="5338999"/>
            <a:ext cx="294803" cy="294803"/>
          </a:xfrm>
          <a:prstGeom prst="rect">
            <a:avLst/>
          </a:prstGeom>
        </p:spPr>
      </p:pic>
      <p:sp>
        <p:nvSpPr>
          <p:cNvPr id="33" name="Text 25"/>
          <p:cNvSpPr/>
          <p:nvPr/>
        </p:nvSpPr>
        <p:spPr>
          <a:xfrm>
            <a:off x="7284568" y="5120640"/>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ISO 27001 and SOC 1</a:t>
            </a:r>
            <a:endParaRPr lang="en-US" sz="1650" dirty="0"/>
          </a:p>
        </p:txBody>
      </p:sp>
      <p:sp>
        <p:nvSpPr>
          <p:cNvPr id="34" name="Text 26"/>
          <p:cNvSpPr/>
          <p:nvPr/>
        </p:nvSpPr>
        <p:spPr>
          <a:xfrm>
            <a:off x="7284568" y="5504688"/>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The security controls your auditors already expect.</a:t>
            </a:r>
            <a:endParaRPr lang="en-US" sz="1250" dirty="0"/>
          </a:p>
        </p:txBody>
      </p:sp>
      <p:sp>
        <p:nvSpPr>
          <p:cNvPr id="35" name="Text 27"/>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xml:space="preserve">   TreasuryCentral, powered by OnePilot</a:t>
            </a:r>
            <a:endParaRPr lang="en-US" sz="900" dirty="0"/>
          </a:p>
        </p:txBody>
      </p:sp>
      <p:sp>
        <p:nvSpPr>
          <p:cNvPr id="36" name="Text 28"/>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07 / 11</a:t>
            </a:r>
            <a:endParaRPr lang="en-US" sz="900" dirty="0"/>
          </a:p>
        </p:txBody>
      </p:sp>
      <p:sp>
        <p:nvSpPr>
          <p:cNvPr id="37" name="Shape 29"/>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21B"/>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WHAT IT RUNS ON</a:t>
            </a:r>
            <a:endParaRPr lang="en-US" sz="1200" dirty="0"/>
          </a:p>
        </p:txBody>
      </p:sp>
      <p:sp>
        <p:nvSpPr>
          <p:cNvPr id="4" name="Text 2"/>
          <p:cNvSpPr/>
          <p:nvPr/>
        </p:nvSpPr>
        <p:spPr>
          <a:xfrm>
            <a:off x="566928" y="960120"/>
            <a:ext cx="10789920" cy="731520"/>
          </a:xfrm>
          <a:prstGeom prst="rect">
            <a:avLst/>
          </a:prstGeom>
          <a:noFill/>
          <a:ln/>
        </p:spPr>
        <p:txBody>
          <a:bodyPr wrap="square" rtlCol="0" anchor="ctr"/>
          <a:lstStyle/>
          <a:p>
            <a:pPr indent="0" marL="0">
              <a:buNone/>
            </a:pPr>
            <a:r>
              <a:rPr lang="en-US" sz="2900" b="1" dirty="0">
                <a:solidFill>
                  <a:srgbClr val="F3F6FB"/>
                </a:solidFill>
                <a:latin typeface="Segoe UI Semibold" pitchFamily="34" charset="0"/>
                <a:ea typeface="Segoe UI Semibold" pitchFamily="34" charset="-122"/>
                <a:cs typeface="Segoe UI Semibold" pitchFamily="34" charset="-120"/>
              </a:rPr>
              <a:t xml:space="preserve">TreasuryCentral is powered by </a:t>
            </a:r>
            <a:pPr indent="0" marL="0">
              <a:buNone/>
            </a:pPr>
            <a:r>
              <a:rPr lang="en-US" sz="2900" b="1" dirty="0">
                <a:solidFill>
                  <a:srgbClr val="3BE3E0"/>
                </a:solidFill>
                <a:latin typeface="Segoe UI Semibold" pitchFamily="34" charset="0"/>
                <a:ea typeface="Segoe UI Semibold" pitchFamily="34" charset="-122"/>
                <a:cs typeface="Segoe UI Semibold" pitchFamily="34" charset="-120"/>
              </a:rPr>
              <a:t>OnePilot</a:t>
            </a:r>
            <a:pPr indent="0" marL="0">
              <a:buNone/>
            </a:pPr>
            <a:r>
              <a:rPr lang="en-US" sz="2900" b="1" dirty="0">
                <a:solidFill>
                  <a:srgbClr val="F3F6FB"/>
                </a:solidFill>
                <a:latin typeface="Segoe UI Semibold" pitchFamily="34" charset="0"/>
                <a:ea typeface="Segoe UI Semibold" pitchFamily="34" charset="-122"/>
                <a:cs typeface="Segoe UI Semibold" pitchFamily="34" charset="-120"/>
              </a:rPr>
              <a:t>.</a:t>
            </a:r>
            <a:endParaRPr lang="en-US" sz="2900" dirty="0"/>
          </a:p>
        </p:txBody>
      </p:sp>
      <p:sp>
        <p:nvSpPr>
          <p:cNvPr id="5" name="Text 3"/>
          <p:cNvSpPr/>
          <p:nvPr/>
        </p:nvSpPr>
        <p:spPr>
          <a:xfrm>
            <a:off x="566928" y="1828800"/>
            <a:ext cx="10607040" cy="960120"/>
          </a:xfrm>
          <a:prstGeom prst="rect">
            <a:avLst/>
          </a:prstGeom>
          <a:noFill/>
          <a:ln/>
        </p:spPr>
        <p:txBody>
          <a:bodyPr wrap="square" rtlCol="0" anchor="ctr"/>
          <a:lstStyle/>
          <a:p>
            <a:pPr indent="0" marL="0">
              <a:lnSpc>
                <a:spcPct val="130000"/>
              </a:lnSpc>
              <a:buNone/>
            </a:pPr>
            <a:r>
              <a:rPr lang="en-US" sz="1600" dirty="0">
                <a:solidFill>
                  <a:srgbClr val="AAB6C7"/>
                </a:solidFill>
                <a:latin typeface="Segoe UI" pitchFamily="34" charset="0"/>
                <a:ea typeface="Segoe UI" pitchFamily="34" charset="-122"/>
                <a:cs typeface="Segoe UI" pitchFamily="34" charset="-120"/>
              </a:rPr>
              <a:t>OnePilot is the layer underneath. It moves your data cleanly between systems, both ways, across SAP and everything else, with the checks and the AI built in. One way to connect to all of it:</a:t>
            </a:r>
            <a:endParaRPr lang="en-US" sz="1600" dirty="0"/>
          </a:p>
        </p:txBody>
      </p:sp>
      <p:sp>
        <p:nvSpPr>
          <p:cNvPr id="6" name="Shape 4"/>
          <p:cNvSpPr/>
          <p:nvPr/>
        </p:nvSpPr>
        <p:spPr>
          <a:xfrm>
            <a:off x="566420" y="3200400"/>
            <a:ext cx="2573972" cy="1554480"/>
          </a:xfrm>
          <a:prstGeom prst="roundRect">
            <a:avLst>
              <a:gd name="adj" fmla="val 5882"/>
            </a:avLst>
          </a:prstGeom>
          <a:solidFill>
            <a:srgbClr val="141A25"/>
          </a:solidFill>
          <a:ln w="13970">
            <a:solidFill>
              <a:srgbClr val="36414F"/>
            </a:solidFill>
            <a:prstDash val="solid"/>
          </a:ln>
        </p:spPr>
      </p:sp>
      <p:pic>
        <p:nvPicPr>
          <p:cNvPr id="7" name="Image 0" descr="C:/Users/neuma_p1qrsic/Repo/agentic-ops1/.scratch/icons/database.png"/>
          <p:cNvPicPr>
            <a:picLocks noChangeAspect="1"/>
          </p:cNvPicPr>
          <p:nvPr/>
        </p:nvPicPr>
        <p:blipFill>
          <a:blip r:embed="rId1"/>
          <a:stretch>
            <a:fillRect/>
          </a:stretch>
        </p:blipFill>
        <p:spPr>
          <a:xfrm>
            <a:off x="1542510" y="3493008"/>
            <a:ext cx="621792" cy="621792"/>
          </a:xfrm>
          <a:prstGeom prst="rect">
            <a:avLst/>
          </a:prstGeom>
        </p:spPr>
      </p:pic>
      <p:sp>
        <p:nvSpPr>
          <p:cNvPr id="8" name="Text 5"/>
          <p:cNvSpPr/>
          <p:nvPr/>
        </p:nvSpPr>
        <p:spPr>
          <a:xfrm>
            <a:off x="709930" y="4187952"/>
            <a:ext cx="2286952" cy="457200"/>
          </a:xfrm>
          <a:prstGeom prst="rect">
            <a:avLst/>
          </a:prstGeom>
          <a:noFill/>
          <a:ln/>
        </p:spPr>
        <p:txBody>
          <a:bodyPr wrap="square" rtlCol="0" anchor="ctr"/>
          <a:lstStyle/>
          <a:p>
            <a:pPr algn="ctr" indent="0" marL="0">
              <a:buNone/>
            </a:pPr>
            <a:r>
              <a:rPr lang="en-US" sz="1300" dirty="0">
                <a:solidFill>
                  <a:srgbClr val="F3F6FB"/>
                </a:solidFill>
                <a:latin typeface="Segoe UI" pitchFamily="34" charset="0"/>
                <a:ea typeface="Segoe UI" pitchFamily="34" charset="-122"/>
                <a:cs typeface="Segoe UI" pitchFamily="34" charset="-120"/>
              </a:rPr>
              <a:t>SAP systems</a:t>
            </a:r>
            <a:endParaRPr lang="en-US" sz="1300" dirty="0"/>
          </a:p>
        </p:txBody>
      </p:sp>
      <p:sp>
        <p:nvSpPr>
          <p:cNvPr id="9" name="Shape 6"/>
          <p:cNvSpPr/>
          <p:nvPr/>
        </p:nvSpPr>
        <p:spPr>
          <a:xfrm>
            <a:off x="3394392" y="3200400"/>
            <a:ext cx="2573972" cy="1554480"/>
          </a:xfrm>
          <a:prstGeom prst="roundRect">
            <a:avLst>
              <a:gd name="adj" fmla="val 5882"/>
            </a:avLst>
          </a:prstGeom>
          <a:solidFill>
            <a:srgbClr val="141A25"/>
          </a:solidFill>
          <a:ln w="13970">
            <a:solidFill>
              <a:srgbClr val="36414F"/>
            </a:solidFill>
            <a:prstDash val="solid"/>
          </a:ln>
        </p:spPr>
      </p:sp>
      <p:pic>
        <p:nvPicPr>
          <p:cNvPr id="10" name="Image 1" descr="C:/Users/neuma_p1qrsic/Repo/agentic-ops1/.scratch/icons/sheet.png"/>
          <p:cNvPicPr>
            <a:picLocks noChangeAspect="1"/>
          </p:cNvPicPr>
          <p:nvPr/>
        </p:nvPicPr>
        <p:blipFill>
          <a:blip r:embed="rId2"/>
          <a:stretch>
            <a:fillRect/>
          </a:stretch>
        </p:blipFill>
        <p:spPr>
          <a:xfrm>
            <a:off x="4370482" y="3493008"/>
            <a:ext cx="621792" cy="621792"/>
          </a:xfrm>
          <a:prstGeom prst="rect">
            <a:avLst/>
          </a:prstGeom>
        </p:spPr>
      </p:pic>
      <p:sp>
        <p:nvSpPr>
          <p:cNvPr id="11" name="Text 7"/>
          <p:cNvSpPr/>
          <p:nvPr/>
        </p:nvSpPr>
        <p:spPr>
          <a:xfrm>
            <a:off x="3537902" y="4187952"/>
            <a:ext cx="2286952" cy="457200"/>
          </a:xfrm>
          <a:prstGeom prst="rect">
            <a:avLst/>
          </a:prstGeom>
          <a:noFill/>
          <a:ln/>
        </p:spPr>
        <p:txBody>
          <a:bodyPr wrap="square" rtlCol="0" anchor="ctr"/>
          <a:lstStyle/>
          <a:p>
            <a:pPr algn="ctr" indent="0" marL="0">
              <a:buNone/>
            </a:pPr>
            <a:r>
              <a:rPr lang="en-US" sz="1300" dirty="0">
                <a:solidFill>
                  <a:srgbClr val="F3F6FB"/>
                </a:solidFill>
                <a:latin typeface="Segoe UI" pitchFamily="34" charset="0"/>
                <a:ea typeface="Segoe UI" pitchFamily="34" charset="-122"/>
                <a:cs typeface="Segoe UI" pitchFamily="34" charset="-120"/>
              </a:rPr>
              <a:t>Spreadsheets &amp; files</a:t>
            </a:r>
            <a:endParaRPr lang="en-US" sz="1300" dirty="0"/>
          </a:p>
        </p:txBody>
      </p:sp>
      <p:sp>
        <p:nvSpPr>
          <p:cNvPr id="12" name="Shape 8"/>
          <p:cNvSpPr/>
          <p:nvPr/>
        </p:nvSpPr>
        <p:spPr>
          <a:xfrm>
            <a:off x="6222365" y="3200400"/>
            <a:ext cx="2573972" cy="1554480"/>
          </a:xfrm>
          <a:prstGeom prst="roundRect">
            <a:avLst>
              <a:gd name="adj" fmla="val 5882"/>
            </a:avLst>
          </a:prstGeom>
          <a:solidFill>
            <a:srgbClr val="141A25"/>
          </a:solidFill>
          <a:ln w="13970">
            <a:solidFill>
              <a:srgbClr val="36414F"/>
            </a:solidFill>
            <a:prstDash val="solid"/>
          </a:ln>
        </p:spPr>
      </p:sp>
      <p:pic>
        <p:nvPicPr>
          <p:cNvPr id="13" name="Image 2" descr="C:/Users/neuma_p1qrsic/Repo/agentic-ops1/.scratch/icons/mail.png"/>
          <p:cNvPicPr>
            <a:picLocks noChangeAspect="1"/>
          </p:cNvPicPr>
          <p:nvPr/>
        </p:nvPicPr>
        <p:blipFill>
          <a:blip r:embed="rId3"/>
          <a:stretch>
            <a:fillRect/>
          </a:stretch>
        </p:blipFill>
        <p:spPr>
          <a:xfrm>
            <a:off x="7198455" y="3493008"/>
            <a:ext cx="621792" cy="621792"/>
          </a:xfrm>
          <a:prstGeom prst="rect">
            <a:avLst/>
          </a:prstGeom>
        </p:spPr>
      </p:pic>
      <p:sp>
        <p:nvSpPr>
          <p:cNvPr id="14" name="Text 9"/>
          <p:cNvSpPr/>
          <p:nvPr/>
        </p:nvSpPr>
        <p:spPr>
          <a:xfrm>
            <a:off x="6365875" y="4187952"/>
            <a:ext cx="2286952" cy="457200"/>
          </a:xfrm>
          <a:prstGeom prst="rect">
            <a:avLst/>
          </a:prstGeom>
          <a:noFill/>
          <a:ln/>
        </p:spPr>
        <p:txBody>
          <a:bodyPr wrap="square" rtlCol="0" anchor="ctr"/>
          <a:lstStyle/>
          <a:p>
            <a:pPr algn="ctr" indent="0" marL="0">
              <a:buNone/>
            </a:pPr>
            <a:r>
              <a:rPr lang="en-US" sz="1300" dirty="0">
                <a:solidFill>
                  <a:srgbClr val="F3F6FB"/>
                </a:solidFill>
                <a:latin typeface="Segoe UI" pitchFamily="34" charset="0"/>
                <a:ea typeface="Segoe UI" pitchFamily="34" charset="-122"/>
                <a:cs typeface="Segoe UI" pitchFamily="34" charset="-120"/>
              </a:rPr>
              <a:t>Email</a:t>
            </a:r>
            <a:endParaRPr lang="en-US" sz="1300" dirty="0"/>
          </a:p>
        </p:txBody>
      </p:sp>
      <p:sp>
        <p:nvSpPr>
          <p:cNvPr id="15" name="Shape 10"/>
          <p:cNvSpPr/>
          <p:nvPr/>
        </p:nvSpPr>
        <p:spPr>
          <a:xfrm>
            <a:off x="9050337" y="3200400"/>
            <a:ext cx="2573972" cy="1554480"/>
          </a:xfrm>
          <a:prstGeom prst="roundRect">
            <a:avLst>
              <a:gd name="adj" fmla="val 5882"/>
            </a:avLst>
          </a:prstGeom>
          <a:solidFill>
            <a:srgbClr val="141A25"/>
          </a:solidFill>
          <a:ln w="13970">
            <a:solidFill>
              <a:srgbClr val="36414F"/>
            </a:solidFill>
            <a:prstDash val="solid"/>
          </a:ln>
        </p:spPr>
      </p:sp>
      <p:pic>
        <p:nvPicPr>
          <p:cNvPr id="16" name="Image 3" descr="C:/Users/neuma_p1qrsic/Repo/agentic-ops1/.scratch/icons/globe.png"/>
          <p:cNvPicPr>
            <a:picLocks noChangeAspect="1"/>
          </p:cNvPicPr>
          <p:nvPr/>
        </p:nvPicPr>
        <p:blipFill>
          <a:blip r:embed="rId4"/>
          <a:stretch>
            <a:fillRect/>
          </a:stretch>
        </p:blipFill>
        <p:spPr>
          <a:xfrm>
            <a:off x="10026427" y="3493008"/>
            <a:ext cx="621792" cy="621792"/>
          </a:xfrm>
          <a:prstGeom prst="rect">
            <a:avLst/>
          </a:prstGeom>
        </p:spPr>
      </p:pic>
      <p:sp>
        <p:nvSpPr>
          <p:cNvPr id="17" name="Text 11"/>
          <p:cNvSpPr/>
          <p:nvPr/>
        </p:nvSpPr>
        <p:spPr>
          <a:xfrm>
            <a:off x="9193847" y="4187952"/>
            <a:ext cx="2286952" cy="457200"/>
          </a:xfrm>
          <a:prstGeom prst="rect">
            <a:avLst/>
          </a:prstGeom>
          <a:noFill/>
          <a:ln/>
        </p:spPr>
        <p:txBody>
          <a:bodyPr wrap="square" rtlCol="0" anchor="ctr"/>
          <a:lstStyle/>
          <a:p>
            <a:pPr algn="ctr" indent="0" marL="0">
              <a:buNone/>
            </a:pPr>
            <a:r>
              <a:rPr lang="en-US" sz="1300" dirty="0">
                <a:solidFill>
                  <a:srgbClr val="F3F6FB"/>
                </a:solidFill>
                <a:latin typeface="Segoe UI" pitchFamily="34" charset="0"/>
                <a:ea typeface="Segoe UI" pitchFamily="34" charset="-122"/>
                <a:cs typeface="Segoe UI" pitchFamily="34" charset="-120"/>
              </a:rPr>
              <a:t>Web &amp; APIs</a:t>
            </a:r>
            <a:endParaRPr lang="en-US" sz="1300" dirty="0"/>
          </a:p>
        </p:txBody>
      </p:sp>
      <p:sp>
        <p:nvSpPr>
          <p:cNvPr id="21" name="Text 14"/>
          <p:cNvSpPr/>
          <p:nvPr/>
        </p:nvSpPr>
        <p:spPr>
          <a:xfrm>
            <a:off x="566928" y="5120640"/>
            <a:ext cx="11057839" cy="457200"/>
          </a:xfrm>
          <a:prstGeom prst="rect">
            <a:avLst/>
          </a:prstGeom>
          <a:noFill/>
          <a:ln/>
        </p:spPr>
        <p:txBody>
          <a:bodyPr wrap="square" rtlCol="0" anchor="ctr"/>
          <a:lstStyle/>
          <a:p>
            <a:pPr indent="0" marL="0">
              <a:buNone/>
            </a:pPr>
            <a:r>
              <a:rPr lang="en-US" sz="1500" b="1" dirty="0">
                <a:solidFill>
                  <a:srgbClr val="3BE3E0"/>
                </a:solidFill>
                <a:latin typeface="Segoe UI" pitchFamily="34" charset="0"/>
                <a:ea typeface="Segoe UI" pitchFamily="34" charset="-122"/>
                <a:cs typeface="Segoe UI" pitchFamily="34" charset="-120"/>
              </a:rPr>
              <a:t xml:space="preserve">Live in weeks, not a rebuild. </a:t>
            </a:r>
            <a:pPr indent="0" marL="0">
              <a:buNone/>
            </a:pPr>
            <a:r>
              <a:rPr lang="en-US" sz="1500" dirty="0">
                <a:solidFill>
                  <a:srgbClr val="AAB6C7"/>
                </a:solidFill>
                <a:latin typeface="Segoe UI" pitchFamily="34" charset="0"/>
                <a:ea typeface="Segoe UI" pitchFamily="34" charset="-122"/>
                <a:cs typeface="Segoe UI" pitchFamily="34" charset="-120"/>
              </a:rPr>
              <a:t>It sits inside your SAP landscape, not beside it.</a:t>
            </a:r>
            <a:endParaRPr lang="en-US" sz="1500" dirty="0"/>
          </a:p>
        </p:txBody>
      </p:sp>
      <p:sp>
        <p:nvSpPr>
          <p:cNvPr id="22" name="Text 15"/>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xml:space="preserve">   TreasuryCentral, powered by OnePilot</a:t>
            </a:r>
            <a:endParaRPr lang="en-US" sz="900" dirty="0"/>
          </a:p>
        </p:txBody>
      </p:sp>
      <p:sp>
        <p:nvSpPr>
          <p:cNvPr id="23" name="Text 16"/>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08 / 11</a:t>
            </a:r>
            <a:endParaRPr lang="en-US" sz="900" dirty="0"/>
          </a:p>
        </p:txBody>
      </p:sp>
      <p:sp>
        <p:nvSpPr>
          <p:cNvPr id="24" name="Shape 17"/>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4"/>
        </a:solidFill>
      </p:bgPr>
    </p:bg>
    <p:spTree>
      <p:nvGrpSpPr>
        <p:cNvPr id="1" name=""/>
        <p:cNvGrpSpPr/>
        <p:nvPr/>
      </p:nvGrpSpPr>
      <p:grpSpPr>
        <a:xfrm>
          <a:off x="0" y="0"/>
          <a:ext cx="0" cy="0"/>
          <a:chOff x="0" y="0"/>
          <a:chExt cx="0" cy="0"/>
        </a:xfrm>
      </p:grpSpPr>
      <p:pic>
        <p:nvPicPr>
          <p:cNvPr id="2" name="Image 0" descr="C:/Users/neuma_p1qrsic/Repo/agentic-ops1/.scratch/logo/favicon.png"/>
          <p:cNvPicPr>
            <a:picLocks noChangeAspect="1"/>
          </p:cNvPicPr>
          <p:nvPr/>
        </p:nvPicPr>
        <p:blipFill>
          <a:blip r:embed="rId1"/>
          <a:stretch>
            <a:fillRect/>
          </a:stretch>
        </p:blipFill>
        <p:spPr>
          <a:xfrm>
            <a:off x="11313871" y="502920"/>
            <a:ext cx="310896" cy="310896"/>
          </a:xfrm>
          <a:prstGeom prst="rect">
            <a:avLst/>
          </a:prstGeom>
        </p:spPr>
      </p:pic>
      <p:sp>
        <p:nvSpPr>
          <p:cNvPr id="3"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4"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PROVEN WHERE IT COUNTS</a:t>
            </a:r>
            <a:endParaRPr lang="en-US" sz="1200" dirty="0"/>
          </a:p>
        </p:txBody>
      </p:sp>
      <p:sp>
        <p:nvSpPr>
          <p:cNvPr id="5" name="Text 2"/>
          <p:cNvSpPr/>
          <p:nvPr/>
        </p:nvSpPr>
        <p:spPr>
          <a:xfrm>
            <a:off x="566928" y="960120"/>
            <a:ext cx="10881360" cy="731520"/>
          </a:xfrm>
          <a:prstGeom prst="rect">
            <a:avLst/>
          </a:prstGeom>
          <a:noFill/>
          <a:ln/>
        </p:spPr>
        <p:txBody>
          <a:bodyPr wrap="square" rtlCol="0" anchor="ctr"/>
          <a:lstStyle/>
          <a:p>
            <a:pPr indent="0" marL="0">
              <a:buNone/>
            </a:pPr>
            <a:r>
              <a:rPr lang="en-US" sz="2900" b="1" dirty="0">
                <a:solidFill>
                  <a:srgbClr val="F3F6FB"/>
                </a:solidFill>
                <a:latin typeface="Segoe UI Semibold" pitchFamily="34" charset="0"/>
                <a:ea typeface="Segoe UI Semibold" pitchFamily="34" charset="-122"/>
                <a:cs typeface="Segoe UI Semibold" pitchFamily="34" charset="-120"/>
              </a:rPr>
              <a:t>Customer treasuries run on it today.</a:t>
            </a:r>
            <a:endParaRPr lang="en-US" sz="2900" dirty="0"/>
          </a:p>
        </p:txBody>
      </p:sp>
      <p:sp>
        <p:nvSpPr>
          <p:cNvPr id="6" name="Text 3"/>
          <p:cNvSpPr/>
          <p:nvPr/>
        </p:nvSpPr>
        <p:spPr>
          <a:xfrm>
            <a:off x="566928" y="1810512"/>
            <a:ext cx="10698480" cy="1005840"/>
          </a:xfrm>
          <a:prstGeom prst="rect">
            <a:avLst/>
          </a:prstGeom>
          <a:noFill/>
          <a:ln/>
        </p:spPr>
        <p:txBody>
          <a:bodyPr wrap="square" rtlCol="0" anchor="ctr"/>
          <a:lstStyle/>
          <a:p>
            <a:pPr indent="0" marL="0">
              <a:lnSpc>
                <a:spcPct val="128000"/>
              </a:lnSpc>
              <a:buNone/>
            </a:pPr>
            <a:r>
              <a:rPr lang="en-US" sz="1600" dirty="0">
                <a:solidFill>
                  <a:srgbClr val="AAB6C7"/>
                </a:solidFill>
                <a:latin typeface="Segoe UI" pitchFamily="34" charset="0"/>
                <a:ea typeface="Segoe UI" pitchFamily="34" charset="-122"/>
                <a:cs typeface="Segoe UI" pitchFamily="34" charset="-120"/>
              </a:rPr>
              <a:t>Customer teams build on OnePilot directly, SAP and non-SAP, on-prem included, and move at the speed of their own ideas rather than a vendor roadmap.</a:t>
            </a:r>
            <a:endParaRPr lang="en-US" sz="1600" dirty="0"/>
          </a:p>
        </p:txBody>
      </p:sp>
      <p:sp>
        <p:nvSpPr>
          <p:cNvPr id="7" name="Shape 4"/>
          <p:cNvSpPr/>
          <p:nvPr/>
        </p:nvSpPr>
        <p:spPr>
          <a:xfrm>
            <a:off x="566928" y="3108960"/>
            <a:ext cx="11057839" cy="1325880"/>
          </a:xfrm>
          <a:prstGeom prst="roundRect">
            <a:avLst>
              <a:gd name="adj" fmla="val 6207"/>
            </a:avLst>
          </a:prstGeom>
          <a:solidFill>
            <a:srgbClr val="141A25"/>
          </a:solidFill>
          <a:ln w="13970">
            <a:solidFill>
              <a:srgbClr val="36414F"/>
            </a:solidFill>
            <a:prstDash val="solid"/>
          </a:ln>
        </p:spPr>
      </p:sp>
      <p:pic>
        <p:nvPicPr>
          <p:cNvPr id="8" name="Image 1" descr="C:/Users/neuma_p1qrsic/Repo/agentic-ops1/.scratch/icons/target.png"/>
          <p:cNvPicPr>
            <a:picLocks noChangeAspect="1"/>
          </p:cNvPicPr>
          <p:nvPr/>
        </p:nvPicPr>
        <p:blipFill>
          <a:blip r:embed="rId2"/>
          <a:stretch>
            <a:fillRect/>
          </a:stretch>
        </p:blipFill>
        <p:spPr>
          <a:xfrm>
            <a:off x="877824" y="3566160"/>
            <a:ext cx="420624" cy="420624"/>
          </a:xfrm>
          <a:prstGeom prst="rect">
            <a:avLst/>
          </a:prstGeom>
        </p:spPr>
      </p:pic>
      <p:sp>
        <p:nvSpPr>
          <p:cNvPr id="9" name="Text 5"/>
          <p:cNvSpPr/>
          <p:nvPr/>
        </p:nvSpPr>
        <p:spPr>
          <a:xfrm>
            <a:off x="1527048" y="3108960"/>
            <a:ext cx="9823399" cy="1325880"/>
          </a:xfrm>
          <a:prstGeom prst="rect">
            <a:avLst/>
          </a:prstGeom>
          <a:noFill/>
          <a:ln/>
        </p:spPr>
        <p:txBody>
          <a:bodyPr wrap="square" rtlCol="0" anchor="ctr"/>
          <a:lstStyle/>
          <a:p>
            <a:pPr indent="0" marL="0">
              <a:lnSpc>
                <a:spcPct val="118000"/>
              </a:lnSpc>
              <a:buNone/>
            </a:pPr>
            <a:r>
              <a:rPr lang="en-US" sz="1550" dirty="0">
                <a:solidFill>
                  <a:srgbClr val="F3F6FB"/>
                </a:solidFill>
                <a:latin typeface="Segoe UI" pitchFamily="34" charset="0"/>
                <a:ea typeface="Segoe UI" pitchFamily="34" charset="-122"/>
                <a:cs typeface="Segoe UI" pitchFamily="34" charset="-120"/>
              </a:rPr>
              <a:t>Standardize the process once, governed and analytics-ready, and run it the same way across the whole group.</a:t>
            </a:r>
            <a:endParaRPr lang="en-US" sz="1550" dirty="0"/>
          </a:p>
        </p:txBody>
      </p:sp>
      <p:sp>
        <p:nvSpPr>
          <p:cNvPr id="10" name="Shape 6"/>
          <p:cNvSpPr/>
          <p:nvPr/>
        </p:nvSpPr>
        <p:spPr>
          <a:xfrm>
            <a:off x="566928" y="4754880"/>
            <a:ext cx="1554480" cy="658368"/>
          </a:xfrm>
          <a:prstGeom prst="roundRect">
            <a:avLst>
              <a:gd name="adj" fmla="val 19444"/>
            </a:avLst>
          </a:prstGeom>
          <a:solidFill>
            <a:srgbClr val="FFFFFF"/>
          </a:solidFill>
          <a:ln w="9525">
            <a:solidFill>
              <a:srgbClr val="36414F"/>
            </a:solidFill>
            <a:prstDash val="solid"/>
          </a:ln>
        </p:spPr>
      </p:sp>
      <p:pic>
        <p:nvPicPr>
          <p:cNvPr id="11" name="Image 2" descr="C:/Users/neuma_p1qrsic/Repo/agentic-ops1/.scratch/deckgen/logos/sap.png"/>
          <p:cNvPicPr>
            <a:picLocks noChangeAspect="1"/>
          </p:cNvPicPr>
          <p:nvPr/>
        </p:nvPicPr>
        <p:blipFill>
          <a:blip r:embed="rId3"/>
          <a:stretch>
            <a:fillRect/>
          </a:stretch>
        </p:blipFill>
        <p:spPr>
          <a:xfrm>
            <a:off x="905533" y="4866803"/>
            <a:ext cx="877270" cy="434523"/>
          </a:xfrm>
          <a:prstGeom prst="rect">
            <a:avLst/>
          </a:prstGeom>
        </p:spPr>
      </p:pic>
      <p:sp>
        <p:nvSpPr>
          <p:cNvPr id="12" name="Text 7"/>
          <p:cNvSpPr/>
          <p:nvPr/>
        </p:nvSpPr>
        <p:spPr>
          <a:xfrm>
            <a:off x="2304288" y="4754880"/>
            <a:ext cx="9320479" cy="658368"/>
          </a:xfrm>
          <a:prstGeom prst="rect">
            <a:avLst/>
          </a:prstGeom>
          <a:noFill/>
          <a:ln/>
        </p:spPr>
        <p:txBody>
          <a:bodyPr wrap="square" rtlCol="0" anchor="ctr"/>
          <a:lstStyle/>
          <a:p>
            <a:pPr indent="0" marL="0">
              <a:lnSpc>
                <a:spcPct val="112000"/>
              </a:lnSpc>
              <a:buNone/>
            </a:pPr>
            <a:r>
              <a:rPr lang="en-US" sz="1300" dirty="0">
                <a:solidFill>
                  <a:srgbClr val="AAB6C7"/>
                </a:solidFill>
                <a:latin typeface="Segoe UI" pitchFamily="34" charset="0"/>
                <a:ea typeface="Segoe UI" pitchFamily="34" charset="-122"/>
                <a:cs typeface="Segoe UI" pitchFamily="34" charset="-120"/>
              </a:rPr>
              <a:t>Built with SAP as a co-innovation partner; intercompany funding and remittance advice already run in production.</a:t>
            </a:r>
            <a:endParaRPr lang="en-US" sz="1300" dirty="0"/>
          </a:p>
        </p:txBody>
      </p:sp>
      <p:sp>
        <p:nvSpPr>
          <p:cNvPr id="13" name="Text 8"/>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xml:space="preserve">   TreasuryCentral, powered by OnePilot</a:t>
            </a:r>
            <a:endParaRPr lang="en-US" sz="900" dirty="0"/>
          </a:p>
        </p:txBody>
      </p:sp>
      <p:sp>
        <p:nvSpPr>
          <p:cNvPr id="14" name="Text 9"/>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09 / 11</a:t>
            </a:r>
            <a:endParaRPr lang="en-US" sz="900" dirty="0"/>
          </a:p>
        </p:txBody>
      </p:sp>
      <p:sp>
        <p:nvSpPr>
          <p:cNvPr id="15" name="Shape 10"/>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4"/>
        </a:solidFill>
      </p:bgPr>
    </p:bg>
    <p:spTree>
      <p:nvGrpSpPr>
        <p:cNvPr id="1" name=""/>
        <p:cNvGrpSpPr/>
        <p:nvPr/>
      </p:nvGrpSpPr>
      <p:grpSpPr>
        <a:xfrm>
          <a:off x="0" y="0"/>
          <a:ext cx="0" cy="0"/>
          <a:chOff x="0" y="0"/>
          <a:chExt cx="0" cy="0"/>
        </a:xfrm>
      </p:grpSpPr>
      <p:pic>
        <p:nvPicPr>
          <p:cNvPr id="2" name="Image 0" descr="C:/Users/neuma_p1qrsic/Repo/agentic-ops1/.scratch/logo/favicon.png"/>
          <p:cNvPicPr>
            <a:picLocks noChangeAspect="1"/>
          </p:cNvPicPr>
          <p:nvPr/>
        </p:nvPicPr>
        <p:blipFill>
          <a:blip r:embed="rId1"/>
          <a:stretch>
            <a:fillRect/>
          </a:stretch>
        </p:blipFill>
        <p:spPr>
          <a:xfrm>
            <a:off x="11313871" y="502920"/>
            <a:ext cx="310896" cy="310896"/>
          </a:xfrm>
          <a:prstGeom prst="rect">
            <a:avLst/>
          </a:prstGeom>
        </p:spPr>
      </p:pic>
      <p:sp>
        <p:nvSpPr>
          <p:cNvPr id="3"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4"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WHO WE ARE</a:t>
            </a:r>
            <a:endParaRPr lang="en-US" sz="1200" dirty="0"/>
          </a:p>
        </p:txBody>
      </p:sp>
      <p:sp>
        <p:nvSpPr>
          <p:cNvPr id="5" name="Text 2"/>
          <p:cNvSpPr/>
          <p:nvPr/>
        </p:nvSpPr>
        <p:spPr>
          <a:xfrm>
            <a:off x="566928" y="960120"/>
            <a:ext cx="10881360" cy="822960"/>
          </a:xfrm>
          <a:prstGeom prst="rect">
            <a:avLst/>
          </a:prstGeom>
          <a:noFill/>
          <a:ln/>
        </p:spPr>
        <p:txBody>
          <a:bodyPr wrap="square" rtlCol="0" anchor="ctr"/>
          <a:lstStyle/>
          <a:p>
            <a:pPr indent="0" marL="0">
              <a:buNone/>
            </a:pPr>
            <a:r>
              <a:rPr lang="en-US" sz="3000" b="1" dirty="0">
                <a:solidFill>
                  <a:srgbClr val="F3F6FB"/>
                </a:solidFill>
                <a:latin typeface="Segoe UI Semibold" pitchFamily="34" charset="0"/>
                <a:ea typeface="Segoe UI Semibold" pitchFamily="34" charset="-122"/>
                <a:cs typeface="Segoe UI Semibold" pitchFamily="34" charset="-120"/>
              </a:rPr>
              <a:t>We build the data and AI layer for SAP treasury.</a:t>
            </a:r>
            <a:endParaRPr lang="en-US" sz="3000" dirty="0"/>
          </a:p>
        </p:txBody>
      </p:sp>
      <p:sp>
        <p:nvSpPr>
          <p:cNvPr id="6" name="Shape 3"/>
          <p:cNvSpPr/>
          <p:nvPr/>
        </p:nvSpPr>
        <p:spPr>
          <a:xfrm>
            <a:off x="566928" y="2148840"/>
            <a:ext cx="3472586" cy="2788920"/>
          </a:xfrm>
          <a:prstGeom prst="roundRect">
            <a:avLst>
              <a:gd name="adj" fmla="val 2951"/>
            </a:avLst>
          </a:prstGeom>
          <a:solidFill>
            <a:srgbClr val="141A25"/>
          </a:solidFill>
          <a:ln w="13970">
            <a:solidFill>
              <a:srgbClr val="36414F"/>
            </a:solidFill>
            <a:prstDash val="solid"/>
          </a:ln>
        </p:spPr>
      </p:sp>
      <p:sp>
        <p:nvSpPr>
          <p:cNvPr id="7" name="Shape 4"/>
          <p:cNvSpPr/>
          <p:nvPr/>
        </p:nvSpPr>
        <p:spPr>
          <a:xfrm>
            <a:off x="841248" y="2441448"/>
            <a:ext cx="621792" cy="621792"/>
          </a:xfrm>
          <a:prstGeom prst="roundRect">
            <a:avLst>
              <a:gd name="adj" fmla="val 16176"/>
            </a:avLst>
          </a:prstGeom>
          <a:solidFill>
            <a:srgbClr val="1B2330"/>
          </a:solidFill>
          <a:ln w="15240">
            <a:solidFill>
              <a:srgbClr val="3BE3E0"/>
            </a:solidFill>
            <a:prstDash val="solid"/>
          </a:ln>
        </p:spPr>
      </p:sp>
      <p:pic>
        <p:nvPicPr>
          <p:cNvPr id="8" name="Image 1" descr="C:/Users/neuma_p1qrsic/Repo/agentic-ops1/.scratch/icons/shield.png"/>
          <p:cNvPicPr>
            <a:picLocks noChangeAspect="1"/>
          </p:cNvPicPr>
          <p:nvPr/>
        </p:nvPicPr>
        <p:blipFill>
          <a:blip r:embed="rId2"/>
          <a:stretch>
            <a:fillRect/>
          </a:stretch>
        </p:blipFill>
        <p:spPr>
          <a:xfrm>
            <a:off x="990478" y="2590678"/>
            <a:ext cx="323332" cy="323332"/>
          </a:xfrm>
          <a:prstGeom prst="rect">
            <a:avLst/>
          </a:prstGeom>
        </p:spPr>
      </p:pic>
      <p:sp>
        <p:nvSpPr>
          <p:cNvPr id="9" name="Text 5"/>
          <p:cNvSpPr/>
          <p:nvPr/>
        </p:nvSpPr>
        <p:spPr>
          <a:xfrm>
            <a:off x="841248" y="3191256"/>
            <a:ext cx="2923946" cy="457200"/>
          </a:xfrm>
          <a:prstGeom prst="rect">
            <a:avLst/>
          </a:prstGeom>
          <a:noFill/>
          <a:ln/>
        </p:spPr>
        <p:txBody>
          <a:bodyPr wrap="square" rtlCol="0" anchor="ctr"/>
          <a:lstStyle/>
          <a:p>
            <a:pPr indent="0" marL="0">
              <a:buNone/>
            </a:pPr>
            <a:r>
              <a:rPr lang="en-US" sz="1850" b="1" dirty="0">
                <a:solidFill>
                  <a:srgbClr val="F3F6FB"/>
                </a:solidFill>
                <a:latin typeface="Segoe UI Semibold" pitchFamily="34" charset="0"/>
                <a:ea typeface="Segoe UI Semibold" pitchFamily="34" charset="-122"/>
                <a:cs typeface="Segoe UI Semibold" pitchFamily="34" charset="-120"/>
              </a:rPr>
              <a:t>Built into SAP</a:t>
            </a:r>
            <a:endParaRPr lang="en-US" sz="1850" dirty="0"/>
          </a:p>
        </p:txBody>
      </p:sp>
      <p:sp>
        <p:nvSpPr>
          <p:cNvPr id="10" name="Text 6"/>
          <p:cNvSpPr/>
          <p:nvPr/>
        </p:nvSpPr>
        <p:spPr>
          <a:xfrm>
            <a:off x="841248" y="3630168"/>
            <a:ext cx="2923946" cy="1143000"/>
          </a:xfrm>
          <a:prstGeom prst="rect">
            <a:avLst/>
          </a:prstGeom>
          <a:noFill/>
          <a:ln/>
        </p:spPr>
        <p:txBody>
          <a:bodyPr wrap="square" rtlCol="0" anchor="t"/>
          <a:lstStyle/>
          <a:p>
            <a:pPr indent="0" marL="0">
              <a:lnSpc>
                <a:spcPct val="116000"/>
              </a:lnSpc>
              <a:buNone/>
            </a:pPr>
            <a:r>
              <a:rPr lang="en-US" sz="1300" dirty="0">
                <a:solidFill>
                  <a:srgbClr val="AAB6C7"/>
                </a:solidFill>
                <a:latin typeface="Segoe UI" pitchFamily="34" charset="0"/>
                <a:ea typeface="Segoe UI" pitchFamily="34" charset="-122"/>
                <a:cs typeface="Segoe UI" pitchFamily="34" charset="-120"/>
              </a:rPr>
              <a:t>An SAP co-innovation partner. The cockpit runs on SAP's own cloud, so it sits inside your landscape, not beside it.</a:t>
            </a:r>
            <a:endParaRPr lang="en-US" sz="1300" dirty="0"/>
          </a:p>
        </p:txBody>
      </p:sp>
      <p:sp>
        <p:nvSpPr>
          <p:cNvPr id="11" name="Shape 7"/>
          <p:cNvSpPr/>
          <p:nvPr/>
        </p:nvSpPr>
        <p:spPr>
          <a:xfrm>
            <a:off x="4359554" y="2148840"/>
            <a:ext cx="3472586" cy="2788920"/>
          </a:xfrm>
          <a:prstGeom prst="roundRect">
            <a:avLst>
              <a:gd name="adj" fmla="val 2951"/>
            </a:avLst>
          </a:prstGeom>
          <a:solidFill>
            <a:srgbClr val="141A25"/>
          </a:solidFill>
          <a:ln w="13970">
            <a:solidFill>
              <a:srgbClr val="36414F"/>
            </a:solidFill>
            <a:prstDash val="solid"/>
          </a:ln>
        </p:spPr>
      </p:sp>
      <p:sp>
        <p:nvSpPr>
          <p:cNvPr id="12" name="Shape 8"/>
          <p:cNvSpPr/>
          <p:nvPr/>
        </p:nvSpPr>
        <p:spPr>
          <a:xfrm>
            <a:off x="4633874" y="2441448"/>
            <a:ext cx="621792" cy="621792"/>
          </a:xfrm>
          <a:prstGeom prst="roundRect">
            <a:avLst>
              <a:gd name="adj" fmla="val 16176"/>
            </a:avLst>
          </a:prstGeom>
          <a:solidFill>
            <a:srgbClr val="1B2330"/>
          </a:solidFill>
          <a:ln w="15240">
            <a:solidFill>
              <a:srgbClr val="3BE3E0"/>
            </a:solidFill>
            <a:prstDash val="solid"/>
          </a:ln>
        </p:spPr>
      </p:sp>
      <p:pic>
        <p:nvPicPr>
          <p:cNvPr id="13" name="Image 2" descr="C:/Users/neuma_p1qrsic/Repo/agentic-ops1/.scratch/icons/globe.png"/>
          <p:cNvPicPr>
            <a:picLocks noChangeAspect="1"/>
          </p:cNvPicPr>
          <p:nvPr/>
        </p:nvPicPr>
        <p:blipFill>
          <a:blip r:embed="rId3"/>
          <a:stretch>
            <a:fillRect/>
          </a:stretch>
        </p:blipFill>
        <p:spPr>
          <a:xfrm>
            <a:off x="4783104" y="2590678"/>
            <a:ext cx="323332" cy="323332"/>
          </a:xfrm>
          <a:prstGeom prst="rect">
            <a:avLst/>
          </a:prstGeom>
        </p:spPr>
      </p:pic>
      <p:sp>
        <p:nvSpPr>
          <p:cNvPr id="14" name="Text 9"/>
          <p:cNvSpPr/>
          <p:nvPr/>
        </p:nvSpPr>
        <p:spPr>
          <a:xfrm>
            <a:off x="4633874" y="3191256"/>
            <a:ext cx="2923946" cy="457200"/>
          </a:xfrm>
          <a:prstGeom prst="rect">
            <a:avLst/>
          </a:prstGeom>
          <a:noFill/>
          <a:ln/>
        </p:spPr>
        <p:txBody>
          <a:bodyPr wrap="square" rtlCol="0" anchor="ctr"/>
          <a:lstStyle/>
          <a:p>
            <a:pPr indent="0" marL="0">
              <a:buNone/>
            </a:pPr>
            <a:r>
              <a:rPr lang="en-US" sz="1850" b="1" dirty="0">
                <a:solidFill>
                  <a:srgbClr val="F3F6FB"/>
                </a:solidFill>
                <a:latin typeface="Segoe UI Semibold" pitchFamily="34" charset="0"/>
                <a:ea typeface="Segoe UI Semibold" pitchFamily="34" charset="-122"/>
                <a:cs typeface="Segoe UI Semibold" pitchFamily="34" charset="-120"/>
              </a:rPr>
              <a:t>Any source, any system</a:t>
            </a:r>
            <a:endParaRPr lang="en-US" sz="1850" dirty="0"/>
          </a:p>
        </p:txBody>
      </p:sp>
      <p:sp>
        <p:nvSpPr>
          <p:cNvPr id="15" name="Text 10"/>
          <p:cNvSpPr/>
          <p:nvPr/>
        </p:nvSpPr>
        <p:spPr>
          <a:xfrm>
            <a:off x="4633874" y="3630168"/>
            <a:ext cx="2923946" cy="1143000"/>
          </a:xfrm>
          <a:prstGeom prst="rect">
            <a:avLst/>
          </a:prstGeom>
          <a:noFill/>
          <a:ln/>
        </p:spPr>
        <p:txBody>
          <a:bodyPr wrap="square" rtlCol="0" anchor="t"/>
          <a:lstStyle/>
          <a:p>
            <a:pPr indent="0" marL="0">
              <a:lnSpc>
                <a:spcPct val="116000"/>
              </a:lnSpc>
              <a:buNone/>
            </a:pPr>
            <a:r>
              <a:rPr lang="en-US" sz="1300" dirty="0">
                <a:solidFill>
                  <a:srgbClr val="AAB6C7"/>
                </a:solidFill>
                <a:latin typeface="Segoe UI" pitchFamily="34" charset="0"/>
                <a:ea typeface="Segoe UI" pitchFamily="34" charset="-122"/>
                <a:cs typeface="Segoe UI" pitchFamily="34" charset="-120"/>
              </a:rPr>
              <a:t>Provider and target agnostic. Pull from any feed, push to any system, SAP or not, and change your sources any time.</a:t>
            </a:r>
            <a:endParaRPr lang="en-US" sz="1300" dirty="0"/>
          </a:p>
        </p:txBody>
      </p:sp>
      <p:sp>
        <p:nvSpPr>
          <p:cNvPr id="16" name="Shape 11"/>
          <p:cNvSpPr/>
          <p:nvPr/>
        </p:nvSpPr>
        <p:spPr>
          <a:xfrm>
            <a:off x="8152181" y="2148840"/>
            <a:ext cx="3472586" cy="2788920"/>
          </a:xfrm>
          <a:prstGeom prst="roundRect">
            <a:avLst>
              <a:gd name="adj" fmla="val 2951"/>
            </a:avLst>
          </a:prstGeom>
          <a:solidFill>
            <a:srgbClr val="141A25"/>
          </a:solidFill>
          <a:ln w="13970">
            <a:solidFill>
              <a:srgbClr val="36414F"/>
            </a:solidFill>
            <a:prstDash val="solid"/>
          </a:ln>
        </p:spPr>
      </p:sp>
      <p:sp>
        <p:nvSpPr>
          <p:cNvPr id="17" name="Shape 12"/>
          <p:cNvSpPr/>
          <p:nvPr/>
        </p:nvSpPr>
        <p:spPr>
          <a:xfrm>
            <a:off x="8426501" y="2441448"/>
            <a:ext cx="621792" cy="621792"/>
          </a:xfrm>
          <a:prstGeom prst="roundRect">
            <a:avLst>
              <a:gd name="adj" fmla="val 16176"/>
            </a:avLst>
          </a:prstGeom>
          <a:solidFill>
            <a:srgbClr val="1B2330"/>
          </a:solidFill>
          <a:ln w="15240">
            <a:solidFill>
              <a:srgbClr val="3BE3E0"/>
            </a:solidFill>
            <a:prstDash val="solid"/>
          </a:ln>
        </p:spPr>
      </p:sp>
      <p:pic>
        <p:nvPicPr>
          <p:cNvPr id="18" name="Image 3" descr="C:/Users/neuma_p1qrsic/Repo/agentic-ops1/.scratch/icons/blocks.png"/>
          <p:cNvPicPr>
            <a:picLocks noChangeAspect="1"/>
          </p:cNvPicPr>
          <p:nvPr/>
        </p:nvPicPr>
        <p:blipFill>
          <a:blip r:embed="rId4"/>
          <a:stretch>
            <a:fillRect/>
          </a:stretch>
        </p:blipFill>
        <p:spPr>
          <a:xfrm>
            <a:off x="8575731" y="2590678"/>
            <a:ext cx="323332" cy="323332"/>
          </a:xfrm>
          <a:prstGeom prst="rect">
            <a:avLst/>
          </a:prstGeom>
        </p:spPr>
      </p:pic>
      <p:sp>
        <p:nvSpPr>
          <p:cNvPr id="19" name="Text 13"/>
          <p:cNvSpPr/>
          <p:nvPr/>
        </p:nvSpPr>
        <p:spPr>
          <a:xfrm>
            <a:off x="8426501" y="3191256"/>
            <a:ext cx="2923946" cy="457200"/>
          </a:xfrm>
          <a:prstGeom prst="rect">
            <a:avLst/>
          </a:prstGeom>
          <a:noFill/>
          <a:ln/>
        </p:spPr>
        <p:txBody>
          <a:bodyPr wrap="square" rtlCol="0" anchor="ctr"/>
          <a:lstStyle/>
          <a:p>
            <a:pPr indent="0" marL="0">
              <a:buNone/>
            </a:pPr>
            <a:r>
              <a:rPr lang="en-US" sz="1850" b="1" dirty="0">
                <a:solidFill>
                  <a:srgbClr val="F3F6FB"/>
                </a:solidFill>
                <a:latin typeface="Segoe UI Semibold" pitchFamily="34" charset="0"/>
                <a:ea typeface="Segoe UI Semibold" pitchFamily="34" charset="-122"/>
                <a:cs typeface="Segoe UI Semibold" pitchFamily="34" charset="-120"/>
              </a:rPr>
              <a:t>The whole treasury layer</a:t>
            </a:r>
            <a:endParaRPr lang="en-US" sz="1850" dirty="0"/>
          </a:p>
        </p:txBody>
      </p:sp>
      <p:sp>
        <p:nvSpPr>
          <p:cNvPr id="20" name="Text 14"/>
          <p:cNvSpPr/>
          <p:nvPr/>
        </p:nvSpPr>
        <p:spPr>
          <a:xfrm>
            <a:off x="8426501" y="3630168"/>
            <a:ext cx="2923946" cy="1143000"/>
          </a:xfrm>
          <a:prstGeom prst="rect">
            <a:avLst/>
          </a:prstGeom>
          <a:noFill/>
          <a:ln/>
        </p:spPr>
        <p:txBody>
          <a:bodyPr wrap="square" rtlCol="0" anchor="t"/>
          <a:lstStyle/>
          <a:p>
            <a:pPr indent="0" marL="0">
              <a:lnSpc>
                <a:spcPct val="116000"/>
              </a:lnSpc>
              <a:buNone/>
            </a:pPr>
            <a:r>
              <a:rPr lang="en-US" sz="1300" dirty="0">
                <a:solidFill>
                  <a:srgbClr val="AAB6C7"/>
                </a:solidFill>
                <a:latin typeface="Segoe UI" pitchFamily="34" charset="0"/>
                <a:ea typeface="Segoe UI" pitchFamily="34" charset="-122"/>
                <a:cs typeface="Segoe UI" pitchFamily="34" charset="-120"/>
              </a:rPr>
              <a:t>Market data, trading and AI automation, governed in one place, with no code to run it.</a:t>
            </a:r>
            <a:endParaRPr lang="en-US" sz="1300" dirty="0"/>
          </a:p>
        </p:txBody>
      </p:sp>
      <p:sp>
        <p:nvSpPr>
          <p:cNvPr id="21" name="Text 15"/>
          <p:cNvSpPr/>
          <p:nvPr/>
        </p:nvSpPr>
        <p:spPr>
          <a:xfrm>
            <a:off x="566928" y="5349240"/>
            <a:ext cx="1371600" cy="777240"/>
          </a:xfrm>
          <a:prstGeom prst="rect">
            <a:avLst/>
          </a:prstGeom>
          <a:noFill/>
          <a:ln/>
        </p:spPr>
        <p:txBody>
          <a:bodyPr wrap="square" rtlCol="0" anchor="ctr"/>
          <a:lstStyle/>
          <a:p>
            <a:pPr indent="0" marL="0">
              <a:buNone/>
            </a:pPr>
            <a:r>
              <a:rPr lang="en-US" sz="3800" b="1" dirty="0">
                <a:solidFill>
                  <a:srgbClr val="3BE3E0"/>
                </a:solidFill>
                <a:latin typeface="Segoe UI Semibold" pitchFamily="34" charset="0"/>
                <a:ea typeface="Segoe UI Semibold" pitchFamily="34" charset="-122"/>
                <a:cs typeface="Segoe UI Semibold" pitchFamily="34" charset="-120"/>
              </a:rPr>
              <a:t>1</a:t>
            </a:r>
            <a:endParaRPr lang="en-US" sz="3800" dirty="0"/>
          </a:p>
        </p:txBody>
      </p:sp>
      <p:sp>
        <p:nvSpPr>
          <p:cNvPr id="22" name="Text 16"/>
          <p:cNvSpPr/>
          <p:nvPr/>
        </p:nvSpPr>
        <p:spPr>
          <a:xfrm>
            <a:off x="1892808" y="5349240"/>
            <a:ext cx="2146706" cy="77724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cockpit for the whole treasury</a:t>
            </a:r>
            <a:endParaRPr lang="en-US" sz="1250" dirty="0"/>
          </a:p>
        </p:txBody>
      </p:sp>
      <p:sp>
        <p:nvSpPr>
          <p:cNvPr id="23" name="Text 17"/>
          <p:cNvSpPr/>
          <p:nvPr/>
        </p:nvSpPr>
        <p:spPr>
          <a:xfrm>
            <a:off x="4359554" y="5349240"/>
            <a:ext cx="1371600" cy="777240"/>
          </a:xfrm>
          <a:prstGeom prst="rect">
            <a:avLst/>
          </a:prstGeom>
          <a:noFill/>
          <a:ln/>
        </p:spPr>
        <p:txBody>
          <a:bodyPr wrap="square" rtlCol="0" anchor="ctr"/>
          <a:lstStyle/>
          <a:p>
            <a:pPr indent="0" marL="0">
              <a:buNone/>
            </a:pPr>
            <a:r>
              <a:rPr lang="en-US" sz="3800" b="1" dirty="0">
                <a:solidFill>
                  <a:srgbClr val="3BE3E0"/>
                </a:solidFill>
                <a:latin typeface="Segoe UI Semibold" pitchFamily="34" charset="0"/>
                <a:ea typeface="Segoe UI Semibold" pitchFamily="34" charset="-122"/>
                <a:cs typeface="Segoe UI Semibold" pitchFamily="34" charset="-120"/>
              </a:rPr>
              <a:t>0</a:t>
            </a:r>
            <a:endParaRPr lang="en-US" sz="3800" dirty="0"/>
          </a:p>
        </p:txBody>
      </p:sp>
      <p:sp>
        <p:nvSpPr>
          <p:cNvPr id="24" name="Text 18"/>
          <p:cNvSpPr/>
          <p:nvPr/>
        </p:nvSpPr>
        <p:spPr>
          <a:xfrm>
            <a:off x="5685434" y="5349240"/>
            <a:ext cx="2146706" cy="77724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code to run it</a:t>
            </a:r>
            <a:endParaRPr lang="en-US" sz="1250" dirty="0"/>
          </a:p>
        </p:txBody>
      </p:sp>
      <p:sp>
        <p:nvSpPr>
          <p:cNvPr id="25" name="Text 19"/>
          <p:cNvSpPr/>
          <p:nvPr/>
        </p:nvSpPr>
        <p:spPr>
          <a:xfrm>
            <a:off x="8152181" y="5349240"/>
            <a:ext cx="1371600" cy="777240"/>
          </a:xfrm>
          <a:prstGeom prst="rect">
            <a:avLst/>
          </a:prstGeom>
          <a:noFill/>
          <a:ln/>
        </p:spPr>
        <p:txBody>
          <a:bodyPr wrap="square" rtlCol="0" anchor="ctr"/>
          <a:lstStyle/>
          <a:p>
            <a:pPr indent="0" marL="0">
              <a:buNone/>
            </a:pPr>
            <a:r>
              <a:rPr lang="en-US" sz="3800" b="1" dirty="0">
                <a:solidFill>
                  <a:srgbClr val="3BE3E0"/>
                </a:solidFill>
                <a:latin typeface="Segoe UI Semibold" pitchFamily="34" charset="0"/>
                <a:ea typeface="Segoe UI Semibold" pitchFamily="34" charset="-122"/>
                <a:cs typeface="Segoe UI Semibold" pitchFamily="34" charset="-120"/>
              </a:rPr>
              <a:t>360°</a:t>
            </a:r>
            <a:endParaRPr lang="en-US" sz="3800" dirty="0"/>
          </a:p>
        </p:txBody>
      </p:sp>
      <p:sp>
        <p:nvSpPr>
          <p:cNvPr id="26" name="Text 20"/>
          <p:cNvSpPr/>
          <p:nvPr/>
        </p:nvSpPr>
        <p:spPr>
          <a:xfrm>
            <a:off x="9478061" y="5349240"/>
            <a:ext cx="2146706" cy="77724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audit on every change</a:t>
            </a:r>
            <a:endParaRPr lang="en-US" sz="1250" dirty="0"/>
          </a:p>
        </p:txBody>
      </p:sp>
      <p:sp>
        <p:nvSpPr>
          <p:cNvPr id="27" name="Text 21"/>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xml:space="preserve">   TreasuryCentral, powered by OnePilot</a:t>
            </a:r>
            <a:endParaRPr lang="en-US" sz="900" dirty="0"/>
          </a:p>
        </p:txBody>
      </p:sp>
      <p:sp>
        <p:nvSpPr>
          <p:cNvPr id="28" name="Text 22"/>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10 / 11</a:t>
            </a:r>
            <a:endParaRPr lang="en-US" sz="900" dirty="0"/>
          </a:p>
        </p:txBody>
      </p:sp>
      <p:sp>
        <p:nvSpPr>
          <p:cNvPr id="29" name="Shape 23"/>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3072384" y="1280160"/>
            <a:ext cx="6035040" cy="6035040"/>
          </a:xfrm>
          <a:prstGeom prst="ellipse">
            <a:avLst/>
          </a:prstGeom>
          <a:solidFill>
            <a:srgbClr val="3BE3E0">
              <a:alpha val="7000"/>
            </a:srgbClr>
          </a:solidFill>
          <a:ln w="12700">
            <a:solidFill>
              <a:srgbClr val="333333"/>
            </a:solidFill>
            <a:prstDash val="solid"/>
          </a:ln>
        </p:spPr>
      </p:sp>
      <p:sp>
        <p:nvSpPr>
          <p:cNvPr id="3" name="Shape 1"/>
          <p:cNvSpPr/>
          <p:nvPr/>
        </p:nvSpPr>
        <p:spPr>
          <a:xfrm>
            <a:off x="4443984" y="2651760"/>
            <a:ext cx="3291840" cy="3291840"/>
          </a:xfrm>
          <a:prstGeom prst="ellipse">
            <a:avLst/>
          </a:prstGeom>
          <a:solidFill>
            <a:srgbClr val="3BE3E0">
              <a:alpha val="12000"/>
            </a:srgbClr>
          </a:solidFill>
          <a:ln w="12700">
            <a:solidFill>
              <a:srgbClr val="333333"/>
            </a:solidFill>
            <a:prstDash val="solid"/>
          </a:ln>
        </p:spPr>
      </p:sp>
      <p:pic>
        <p:nvPicPr>
          <p:cNvPr id="4" name="Image 0" descr="C:/Users/neuma_p1qrsic/Repo/agentic-ops1/.scratch/brisken-logo-light.png"/>
          <p:cNvPicPr>
            <a:picLocks noChangeAspect="1"/>
          </p:cNvPicPr>
          <p:nvPr/>
        </p:nvPicPr>
        <p:blipFill>
          <a:blip r:embed="rId1"/>
          <a:stretch>
            <a:fillRect/>
          </a:stretch>
        </p:blipFill>
        <p:spPr>
          <a:xfrm>
            <a:off x="5316443" y="1371600"/>
            <a:ext cx="1546921" cy="338328"/>
          </a:xfrm>
          <a:prstGeom prst="rect">
            <a:avLst/>
          </a:prstGeom>
        </p:spPr>
      </p:pic>
      <p:sp>
        <p:nvSpPr>
          <p:cNvPr id="5" name="Text 2"/>
          <p:cNvSpPr/>
          <p:nvPr/>
        </p:nvSpPr>
        <p:spPr>
          <a:xfrm>
            <a:off x="914400" y="2468880"/>
            <a:ext cx="10360152" cy="1005840"/>
          </a:xfrm>
          <a:prstGeom prst="rect">
            <a:avLst/>
          </a:prstGeom>
          <a:noFill/>
          <a:ln/>
        </p:spPr>
        <p:txBody>
          <a:bodyPr wrap="square" rtlCol="0" anchor="ctr"/>
          <a:lstStyle/>
          <a:p>
            <a:pPr algn="ctr" indent="0" marL="0">
              <a:buNone/>
            </a:pPr>
            <a:r>
              <a:rPr lang="en-US" sz="5200" b="1" dirty="0">
                <a:solidFill>
                  <a:srgbClr val="F3F6FB"/>
                </a:solidFill>
                <a:latin typeface="Segoe UI Semibold" pitchFamily="34" charset="0"/>
                <a:ea typeface="Segoe UI Semibold" pitchFamily="34" charset="-122"/>
                <a:cs typeface="Segoe UI Semibold" pitchFamily="34" charset="-120"/>
              </a:rPr>
              <a:t>Every decision, one cockpit.</a:t>
            </a:r>
            <a:endParaRPr lang="en-US" sz="5200" dirty="0"/>
          </a:p>
        </p:txBody>
      </p:sp>
      <p:sp>
        <p:nvSpPr>
          <p:cNvPr id="6" name="Text 3"/>
          <p:cNvSpPr/>
          <p:nvPr/>
        </p:nvSpPr>
        <p:spPr>
          <a:xfrm>
            <a:off x="1645920" y="3566160"/>
            <a:ext cx="8897112" cy="868680"/>
          </a:xfrm>
          <a:prstGeom prst="rect">
            <a:avLst/>
          </a:prstGeom>
          <a:noFill/>
          <a:ln/>
        </p:spPr>
        <p:txBody>
          <a:bodyPr wrap="square" rtlCol="0" anchor="ctr"/>
          <a:lstStyle/>
          <a:p>
            <a:pPr algn="ctr" indent="0" marL="0">
              <a:lnSpc>
                <a:spcPct val="125000"/>
              </a:lnSpc>
              <a:buNone/>
            </a:pPr>
            <a:r>
              <a:rPr lang="en-US" sz="1700" dirty="0">
                <a:solidFill>
                  <a:srgbClr val="C4CEDA"/>
                </a:solidFill>
                <a:latin typeface="Segoe UI" pitchFamily="34" charset="0"/>
                <a:ea typeface="Segoe UI" pitchFamily="34" charset="-122"/>
                <a:cs typeface="Segoe UI" pitchFamily="34" charset="-120"/>
              </a:rPr>
              <a:t>When we talk, we'll walk you through how TreasuryCentral runs this: the process, the analytics and the governance, end to end.</a:t>
            </a:r>
            <a:endParaRPr lang="en-US" sz="1700" dirty="0"/>
          </a:p>
        </p:txBody>
      </p:sp>
      <p:sp>
        <p:nvSpPr>
          <p:cNvPr id="7" name="Shape 4"/>
          <p:cNvSpPr/>
          <p:nvPr/>
        </p:nvSpPr>
        <p:spPr>
          <a:xfrm>
            <a:off x="3575304" y="4754880"/>
            <a:ext cx="5029200" cy="658368"/>
          </a:xfrm>
          <a:prstGeom prst="roundRect">
            <a:avLst>
              <a:gd name="adj" fmla="val 50000"/>
            </a:avLst>
          </a:prstGeom>
          <a:solidFill>
            <a:srgbClr val="3BE3E0"/>
          </a:solidFill>
          <a:ln w="12700">
            <a:solidFill>
              <a:srgbClr val="333333"/>
            </a:solidFill>
            <a:prstDash val="solid"/>
          </a:ln>
        </p:spPr>
      </p:sp>
      <p:sp>
        <p:nvSpPr>
          <p:cNvPr id="8" name="Text 5"/>
          <p:cNvSpPr/>
          <p:nvPr/>
        </p:nvSpPr>
        <p:spPr>
          <a:xfrm>
            <a:off x="3575304" y="4754880"/>
            <a:ext cx="5029200" cy="658368"/>
          </a:xfrm>
          <a:prstGeom prst="rect">
            <a:avLst/>
          </a:prstGeom>
          <a:noFill/>
          <a:ln/>
        </p:spPr>
        <p:txBody>
          <a:bodyPr wrap="square" rtlCol="0" anchor="ctr"/>
          <a:lstStyle/>
          <a:p>
            <a:pPr algn="ctr" indent="0" marL="0">
              <a:buNone/>
            </a:pPr>
            <a:r>
              <a:rPr lang="en-US" sz="1500" b="1" dirty="0">
                <a:solidFill>
                  <a:srgbClr val="07222A"/>
                </a:solidFill>
                <a:latin typeface="Segoe UI" pitchFamily="34" charset="0"/>
                <a:ea typeface="Segoe UI" pitchFamily="34" charset="-122"/>
                <a:cs typeface="Segoe UI" pitchFamily="34" charset="-120"/>
              </a:rPr>
              <a:t>Dirk Neumann   ·   dirk.neumann@brisken.com</a:t>
            </a:r>
            <a:endParaRPr lang="en-US" sz="1500" dirty="0"/>
          </a:p>
        </p:txBody>
      </p:sp>
      <p:sp>
        <p:nvSpPr>
          <p:cNvPr id="9" name="Text 6"/>
          <p:cNvSpPr/>
          <p:nvPr/>
        </p:nvSpPr>
        <p:spPr>
          <a:xfrm>
            <a:off x="914400" y="5623560"/>
            <a:ext cx="10360152" cy="365760"/>
          </a:xfrm>
          <a:prstGeom prst="rect">
            <a:avLst/>
          </a:prstGeom>
          <a:noFill/>
          <a:ln/>
        </p:spPr>
        <p:txBody>
          <a:bodyPr wrap="square" rtlCol="0" anchor="ctr"/>
          <a:lstStyle/>
          <a:p>
            <a:pPr algn="ctr" indent="0" marL="0">
              <a:buNone/>
            </a:pPr>
            <a:r>
              <a:rPr lang="en-US" sz="1150" dirty="0">
                <a:solidFill>
                  <a:srgbClr val="AAB6C7"/>
                </a:solidFill>
                <a:latin typeface="Segoe UI" pitchFamily="34" charset="0"/>
                <a:ea typeface="Segoe UI" pitchFamily="34" charset="-122"/>
                <a:cs typeface="Segoe UI" pitchFamily="34" charset="-120"/>
              </a:rPr>
              <a:t>brisken.com   ·   Houston, TX</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hort Version">
    <p:bg>
      <p:bgPr>
        <a:solidFill>
          <a:srgbClr val="0B0E14"/>
        </a:solidFill>
        <a:effectLst/>
      </p:bgPr>
    </p:bg>
    <p:spTree>
      <p:nvGrpSpPr>
        <p:cNvPr id="1" name=""/>
        <p:cNvGrpSpPr/>
        <p:nvPr/>
      </p:nvGrpSpPr>
      <p:grpSpPr>
        <a:xfrm>
          <a:off x="0" y="0"/>
          <a:ext cx="0" cy="0"/>
          <a:chOff x="0" y="0"/>
          <a:chExt cx="0" cy="0"/>
        </a:xfrm>
      </p:grpSpPr>
      <p:sp>
        <p:nvSpPr>
          <p:cNvPr id="2" name="Shape 2"/>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3"/>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THE SHORT VERSION</a:t>
            </a:r>
          </a:p>
        </p:txBody>
      </p:sp>
      <p:sp>
        <p:nvSpPr>
          <p:cNvPr id="4" name="Text 4"/>
          <p:cNvSpPr/>
          <p:nvPr/>
        </p:nvSpPr>
        <p:spPr>
          <a:xfrm>
            <a:off x="566928" y="960120"/>
            <a:ext cx="10881360" cy="1463040"/>
          </a:xfrm>
          <a:prstGeom prst="rect">
            <a:avLst/>
          </a:prstGeom>
          <a:noFill/>
          <a:ln/>
        </p:spPr>
        <p:txBody>
          <a:bodyPr wrap="square" rtlCol="0" anchor="ctr"/>
          <a:lstStyle/>
          <a:p>
            <a:pPr marL="0" indent="0" algn="l">
              <a:lnSpc>
                <a:spcPct val="105000"/>
              </a:lnSpc>
              <a:buNone/>
            </a:pPr>
            <a:r>
              <a:rPr lang="en-US" sz="3300" b="1" dirty="0">
                <a:solidFill>
                  <a:srgbClr val="F3F6FB"/>
                </a:solidFill>
                <a:latin typeface="Segoe UI Semibold" pitchFamily="34" charset="0"/>
                <a:ea typeface="Segoe UI Semibold" pitchFamily="34" charset="-122"/>
                <a:cs typeface="Segoe UI Semibold" pitchFamily="34" charset="-120"/>
              </a:rPr>
              <a:t>The whole treasury, one cockpit.
</a:t>
            </a:r>
            <a:r>
              <a:rPr lang="en-US" sz="3300" b="1" dirty="0">
                <a:solidFill>
                  <a:srgbClr val="3BE3E0"/>
                </a:solidFill>
                <a:latin typeface="Segoe UI Semibold" pitchFamily="34" charset="0"/>
                <a:ea typeface="Segoe UI Semibold" pitchFamily="34" charset="-122"/>
                <a:cs typeface="Segoe UI Semibold" pitchFamily="34" charset="-120"/>
              </a:rPr>
              <a:t>Here is what that looks like.</a:t>
            </a:r>
          </a:p>
        </p:txBody>
      </p:sp>
      <p:sp>
        <p:nvSpPr>
          <p:cNvPr id="10" name="Shape 10"/>
          <p:cNvSpPr/>
          <p:nvPr/>
        </p:nvSpPr>
        <p:spPr>
          <a:xfrm>
            <a:off x="566928" y="2590800"/>
            <a:ext cx="11057839" cy="700000"/>
          </a:xfrm>
          <a:prstGeom prst="roundRect">
            <a:avLst>
              <a:gd name="adj" fmla="val 8000"/>
            </a:avLst>
          </a:prstGeom>
          <a:solidFill>
            <a:srgbClr val="141A25"/>
          </a:solidFill>
          <a:ln w="13970">
            <a:solidFill>
              <a:srgbClr val="36414F"/>
            </a:solidFill>
            <a:prstDash val="solid"/>
          </a:ln>
        </p:spPr>
        <p:txBody>
          <a:bodyPr/>
          <a:lstStyle/>
          <a:p>
            <a:endParaRPr lang="en-US"/>
          </a:p>
        </p:txBody>
      </p:sp>
      <p:sp>
        <p:nvSpPr>
          <p:cNvPr id="11" name="Text 11"/>
          <p:cNvSpPr/>
          <p:nvPr/>
        </p:nvSpPr>
        <p:spPr>
          <a:xfrm>
            <a:off x="886928" y="2712200"/>
            <a:ext cx="700000" cy="457200"/>
          </a:xfrm>
          <a:prstGeom prst="rect">
            <a:avLst/>
          </a:prstGeom>
          <a:noFill/>
          <a:ln/>
        </p:spPr>
        <p:txBody>
          <a:bodyPr wrap="square" rtlCol="0" anchor="ctr"/>
          <a:lstStyle/>
          <a:p>
            <a:pPr marL="0" indent="0" algn="l">
              <a:buNone/>
            </a:pPr>
            <a:r>
              <a:rPr lang="en-US" sz="2000" b="1" dirty="0">
                <a:solidFill>
                  <a:srgbClr val="3BE3E0"/>
                </a:solidFill>
                <a:latin typeface="Segoe UI Semibold" pitchFamily="34" charset="0"/>
                <a:ea typeface="Segoe UI Semibold" pitchFamily="34" charset="-122"/>
                <a:cs typeface="Segoe UI Semibold" pitchFamily="34" charset="-120"/>
              </a:rPr>
              <a:t>01</a:t>
            </a:r>
          </a:p>
        </p:txBody>
      </p:sp>
      <p:sp>
        <p:nvSpPr>
          <p:cNvPr id="12" name="Text 12"/>
          <p:cNvSpPr/>
          <p:nvPr/>
        </p:nvSpPr>
        <p:spPr>
          <a:xfrm>
            <a:off x="1686928" y="2636000"/>
            <a:ext cx="2600000" cy="609600"/>
          </a:xfrm>
          <a:prstGeom prst="rect">
            <a:avLst/>
          </a:prstGeom>
          <a:noFill/>
          <a:ln/>
        </p:spPr>
        <p:txBody>
          <a:bodyPr wrap="square" rtlCol="0" anchor="ctr"/>
          <a:lstStyle/>
          <a:p>
            <a:pPr marL="0" indent="0" algn="l">
              <a:buNone/>
            </a:pPr>
            <a:r>
              <a:rPr lang="en-US" sz="1500" b="1" dirty="0">
                <a:solidFill>
                  <a:srgbClr val="F3F6FB"/>
                </a:solidFill>
                <a:latin typeface="Segoe UI Semibold" pitchFamily="34" charset="0"/>
                <a:ea typeface="Segoe UI Semibold" pitchFamily="34" charset="-122"/>
                <a:cs typeface="Segoe UI Semibold" pitchFamily="34" charset="-120"/>
              </a:rPr>
              <a:t>What this is</a:t>
            </a:r>
          </a:p>
        </p:txBody>
      </p:sp>
      <p:sp>
        <p:nvSpPr>
          <p:cNvPr id="13" name="Text 13"/>
          <p:cNvSpPr/>
          <p:nvPr/>
        </p:nvSpPr>
        <p:spPr>
          <a:xfrm>
            <a:off x="4486928" y="2636000"/>
            <a:ext cx="6817839" cy="609600"/>
          </a:xfrm>
          <a:prstGeom prst="rect">
            <a:avLst/>
          </a:prstGeom>
          <a:noFill/>
          <a:ln/>
        </p:spPr>
        <p:txBody>
          <a:bodyPr wrap="square" rtlCol="0" anchor="ctr"/>
          <a:lstStyle/>
          <a:p>
            <a:pPr marL="0" indent="0" algn="l">
              <a:lnSpc>
                <a:spcPct val="115000"/>
              </a:lnSpc>
              <a:buNone/>
            </a:pPr>
            <a:r>
              <a:rPr lang="en-US" sz="1300" dirty="0">
                <a:solidFill>
                  <a:srgbClr val="AAB6C7"/>
                </a:solidFill>
                <a:latin typeface="Segoe UI" pitchFamily="34" charset="0"/>
                <a:ea typeface="Segoe UI" pitchFamily="34" charset="-122"/>
                <a:cs typeface="Segoe UI" pitchFamily="34" charset="-120"/>
              </a:rPr>
              <a:t>TreasuryCentral on OnePilot: one cockpit on your live SAP data, with market data, trading and AI automation in one governed layer.</a:t>
            </a:r>
          </a:p>
        </p:txBody>
      </p:sp>
      <p:sp>
        <p:nvSpPr>
          <p:cNvPr id="20" name="Shape 20"/>
          <p:cNvSpPr/>
          <p:nvPr/>
        </p:nvSpPr>
        <p:spPr>
          <a:xfrm>
            <a:off x="566928" y="3410800"/>
            <a:ext cx="11057839" cy="700000"/>
          </a:xfrm>
          <a:prstGeom prst="roundRect">
            <a:avLst>
              <a:gd name="adj" fmla="val 8000"/>
            </a:avLst>
          </a:prstGeom>
          <a:solidFill>
            <a:srgbClr val="141A25"/>
          </a:solidFill>
          <a:ln w="13970">
            <a:solidFill>
              <a:srgbClr val="36414F"/>
            </a:solidFill>
            <a:prstDash val="solid"/>
          </a:ln>
        </p:spPr>
        <p:txBody>
          <a:bodyPr/>
          <a:lstStyle/>
          <a:p>
            <a:endParaRPr lang="en-US"/>
          </a:p>
        </p:txBody>
      </p:sp>
      <p:sp>
        <p:nvSpPr>
          <p:cNvPr id="21" name="Text 21"/>
          <p:cNvSpPr/>
          <p:nvPr/>
        </p:nvSpPr>
        <p:spPr>
          <a:xfrm>
            <a:off x="886928" y="3532200"/>
            <a:ext cx="700000" cy="457200"/>
          </a:xfrm>
          <a:prstGeom prst="rect">
            <a:avLst/>
          </a:prstGeom>
          <a:noFill/>
          <a:ln/>
        </p:spPr>
        <p:txBody>
          <a:bodyPr wrap="square" rtlCol="0" anchor="ctr"/>
          <a:lstStyle/>
          <a:p>
            <a:pPr marL="0" indent="0" algn="l">
              <a:buNone/>
            </a:pPr>
            <a:r>
              <a:rPr lang="en-US" sz="2000" b="1" dirty="0">
                <a:solidFill>
                  <a:srgbClr val="3BE3E0"/>
                </a:solidFill>
                <a:latin typeface="Segoe UI Semibold" pitchFamily="34" charset="0"/>
                <a:ea typeface="Segoe UI Semibold" pitchFamily="34" charset="-122"/>
                <a:cs typeface="Segoe UI Semibold" pitchFamily="34" charset="-120"/>
              </a:rPr>
              <a:t>02</a:t>
            </a:r>
          </a:p>
        </p:txBody>
      </p:sp>
      <p:sp>
        <p:nvSpPr>
          <p:cNvPr id="22" name="Text 22"/>
          <p:cNvSpPr/>
          <p:nvPr/>
        </p:nvSpPr>
        <p:spPr>
          <a:xfrm>
            <a:off x="1686928" y="3456000"/>
            <a:ext cx="2600000" cy="609600"/>
          </a:xfrm>
          <a:prstGeom prst="rect">
            <a:avLst/>
          </a:prstGeom>
          <a:noFill/>
          <a:ln/>
        </p:spPr>
        <p:txBody>
          <a:bodyPr wrap="square" rtlCol="0" anchor="ctr"/>
          <a:lstStyle/>
          <a:p>
            <a:pPr marL="0" indent="0" algn="l">
              <a:buNone/>
            </a:pPr>
            <a:r>
              <a:rPr lang="en-US" sz="1500" b="1" dirty="0">
                <a:solidFill>
                  <a:srgbClr val="F3F6FB"/>
                </a:solidFill>
                <a:latin typeface="Segoe UI Semibold" pitchFamily="34" charset="0"/>
                <a:ea typeface="Segoe UI Semibold" pitchFamily="34" charset="-122"/>
                <a:cs typeface="Segoe UI Semibold" pitchFamily="34" charset="-120"/>
              </a:rPr>
              <a:t>What it replaces</a:t>
            </a:r>
          </a:p>
        </p:txBody>
      </p:sp>
      <p:sp>
        <p:nvSpPr>
          <p:cNvPr id="23" name="Text 23"/>
          <p:cNvSpPr/>
          <p:nvPr/>
        </p:nvSpPr>
        <p:spPr>
          <a:xfrm>
            <a:off x="4486928" y="3456000"/>
            <a:ext cx="6817839" cy="609600"/>
          </a:xfrm>
          <a:prstGeom prst="rect">
            <a:avLst/>
          </a:prstGeom>
          <a:noFill/>
          <a:ln/>
        </p:spPr>
        <p:txBody>
          <a:bodyPr wrap="square" rtlCol="0" anchor="ctr"/>
          <a:lstStyle/>
          <a:p>
            <a:pPr marL="0" indent="0" algn="l">
              <a:lnSpc>
                <a:spcPct val="115000"/>
              </a:lnSpc>
              <a:buNone/>
            </a:pPr>
            <a:r>
              <a:rPr lang="en-US" sz="1300" dirty="0">
                <a:solidFill>
                  <a:srgbClr val="AAB6C7"/>
                </a:solidFill>
                <a:latin typeface="Segoe UI" pitchFamily="34" charset="0"/>
                <a:ea typeface="Segoe UI" pitchFamily="34" charset="-122"/>
                <a:cs typeface="Segoe UI" pitchFamily="34" charset="-120"/>
              </a:rPr>
              <a:t>The manual middle between your sources and SAP: re-keyed rates, hand-reconciled positions, values chased across a dozen places.</a:t>
            </a:r>
          </a:p>
        </p:txBody>
      </p:sp>
      <p:sp>
        <p:nvSpPr>
          <p:cNvPr id="30" name="Shape 30"/>
          <p:cNvSpPr/>
          <p:nvPr/>
        </p:nvSpPr>
        <p:spPr>
          <a:xfrm>
            <a:off x="566928" y="4230800"/>
            <a:ext cx="11057839" cy="700000"/>
          </a:xfrm>
          <a:prstGeom prst="roundRect">
            <a:avLst>
              <a:gd name="adj" fmla="val 8000"/>
            </a:avLst>
          </a:prstGeom>
          <a:solidFill>
            <a:srgbClr val="141A25"/>
          </a:solidFill>
          <a:ln w="13970">
            <a:solidFill>
              <a:srgbClr val="36414F"/>
            </a:solidFill>
            <a:prstDash val="solid"/>
          </a:ln>
        </p:spPr>
        <p:txBody>
          <a:bodyPr/>
          <a:lstStyle/>
          <a:p>
            <a:endParaRPr lang="en-US"/>
          </a:p>
        </p:txBody>
      </p:sp>
      <p:sp>
        <p:nvSpPr>
          <p:cNvPr id="31" name="Text 31"/>
          <p:cNvSpPr/>
          <p:nvPr/>
        </p:nvSpPr>
        <p:spPr>
          <a:xfrm>
            <a:off x="886928" y="4352200"/>
            <a:ext cx="700000" cy="457200"/>
          </a:xfrm>
          <a:prstGeom prst="rect">
            <a:avLst/>
          </a:prstGeom>
          <a:noFill/>
          <a:ln/>
        </p:spPr>
        <p:txBody>
          <a:bodyPr wrap="square" rtlCol="0" anchor="ctr"/>
          <a:lstStyle/>
          <a:p>
            <a:pPr marL="0" indent="0" algn="l">
              <a:buNone/>
            </a:pPr>
            <a:r>
              <a:rPr lang="en-US" sz="2000" b="1" dirty="0">
                <a:solidFill>
                  <a:srgbClr val="3BE3E0"/>
                </a:solidFill>
                <a:latin typeface="Segoe UI Semibold" pitchFamily="34" charset="0"/>
                <a:ea typeface="Segoe UI Semibold" pitchFamily="34" charset="-122"/>
                <a:cs typeface="Segoe UI Semibold" pitchFamily="34" charset="-120"/>
              </a:rPr>
              <a:t>03</a:t>
            </a:r>
          </a:p>
        </p:txBody>
      </p:sp>
      <p:sp>
        <p:nvSpPr>
          <p:cNvPr id="32" name="Text 32"/>
          <p:cNvSpPr/>
          <p:nvPr/>
        </p:nvSpPr>
        <p:spPr>
          <a:xfrm>
            <a:off x="1686928" y="4276000"/>
            <a:ext cx="2600000" cy="609600"/>
          </a:xfrm>
          <a:prstGeom prst="rect">
            <a:avLst/>
          </a:prstGeom>
          <a:noFill/>
          <a:ln/>
        </p:spPr>
        <p:txBody>
          <a:bodyPr wrap="square" rtlCol="0" anchor="ctr"/>
          <a:lstStyle/>
          <a:p>
            <a:pPr marL="0" indent="0" algn="l">
              <a:buNone/>
            </a:pPr>
            <a:r>
              <a:rPr lang="en-US" sz="1500" b="1" dirty="0">
                <a:solidFill>
                  <a:srgbClr val="F3F6FB"/>
                </a:solidFill>
                <a:latin typeface="Segoe UI Semibold" pitchFamily="34" charset="0"/>
                <a:ea typeface="Segoe UI Semibold" pitchFamily="34" charset="-122"/>
                <a:cs typeface="Segoe UI Semibold" pitchFamily="34" charset="-120"/>
              </a:rPr>
              <a:t>What you get</a:t>
            </a:r>
          </a:p>
        </p:txBody>
      </p:sp>
      <p:sp>
        <p:nvSpPr>
          <p:cNvPr id="33" name="Text 33"/>
          <p:cNvSpPr/>
          <p:nvPr/>
        </p:nvSpPr>
        <p:spPr>
          <a:xfrm>
            <a:off x="4486928" y="4276000"/>
            <a:ext cx="6817839" cy="609600"/>
          </a:xfrm>
          <a:prstGeom prst="rect">
            <a:avLst/>
          </a:prstGeom>
          <a:noFill/>
          <a:ln/>
        </p:spPr>
        <p:txBody>
          <a:bodyPr wrap="square" rtlCol="0" anchor="ctr"/>
          <a:lstStyle/>
          <a:p>
            <a:pPr marL="0" indent="0" algn="l">
              <a:lnSpc>
                <a:spcPct val="115000"/>
              </a:lnSpc>
              <a:buNone/>
            </a:pPr>
            <a:r>
              <a:rPr lang="en-US" sz="1300" dirty="0">
                <a:solidFill>
                  <a:srgbClr val="AAB6C7"/>
                </a:solidFill>
                <a:latin typeface="Segoe UI" pitchFamily="34" charset="0"/>
                <a:ea typeface="Segoe UI" pitchFamily="34" charset="-122"/>
                <a:cs typeface="Segoe UI" pitchFamily="34" charset="-120"/>
              </a:rPr>
              <a:t>One clean, governed set of data driving every treasury decision: checked, logged, no code to run it.</a:t>
            </a:r>
          </a:p>
        </p:txBody>
      </p:sp>
      <p:sp>
        <p:nvSpPr>
          <p:cNvPr id="34" name="Shape 30"/>
          <p:cNvSpPr/>
          <p:nvPr/>
        </p:nvSpPr>
        <p:spPr>
          <a:xfrm>
            <a:off x="566928" y="5050800"/>
            <a:ext cx="11057839" cy="700000"/>
          </a:xfrm>
          <a:prstGeom prst="roundRect">
            <a:avLst>
              <a:gd name="adj" fmla="val 8000"/>
            </a:avLst>
          </a:prstGeom>
          <a:solidFill>
            <a:srgbClr val="141A25"/>
          </a:solidFill>
          <a:ln w="13970">
            <a:solidFill>
              <a:srgbClr val="36414F"/>
            </a:solidFill>
            <a:prstDash val="solid"/>
          </a:ln>
        </p:spPr>
        <p:txBody>
          <a:bodyPr/>
          <a:lstStyle/>
          <a:p>
            <a:endParaRPr lang="en-US"/>
          </a:p>
        </p:txBody>
      </p:sp>
      <p:sp>
        <p:nvSpPr>
          <p:cNvPr id="35" name="Text 31"/>
          <p:cNvSpPr/>
          <p:nvPr/>
        </p:nvSpPr>
        <p:spPr>
          <a:xfrm>
            <a:off x="886928" y="5172200"/>
            <a:ext cx="700000" cy="457200"/>
          </a:xfrm>
          <a:prstGeom prst="rect">
            <a:avLst/>
          </a:prstGeom>
          <a:noFill/>
          <a:ln/>
        </p:spPr>
        <p:txBody>
          <a:bodyPr wrap="square" rtlCol="0" anchor="ctr"/>
          <a:lstStyle/>
          <a:p>
            <a:pPr marL="0" indent="0" algn="l">
              <a:buNone/>
            </a:pPr>
            <a:r>
              <a:rPr lang="en-US" sz="2000" b="1" dirty="0">
                <a:solidFill>
                  <a:srgbClr val="3BE3E0"/>
                </a:solidFill>
                <a:latin typeface="Segoe UI Semibold" pitchFamily="34" charset="0"/>
                <a:ea typeface="Segoe UI Semibold" pitchFamily="34" charset="-122"/>
                <a:cs typeface="Segoe UI Semibold" pitchFamily="34" charset="-120"/>
              </a:rPr>
              <a:t>04</a:t>
            </a:r>
          </a:p>
        </p:txBody>
      </p:sp>
      <p:sp>
        <p:nvSpPr>
          <p:cNvPr id="36" name="Text 32"/>
          <p:cNvSpPr/>
          <p:nvPr/>
        </p:nvSpPr>
        <p:spPr>
          <a:xfrm>
            <a:off x="1686928" y="5096000"/>
            <a:ext cx="2600000" cy="609600"/>
          </a:xfrm>
          <a:prstGeom prst="rect">
            <a:avLst/>
          </a:prstGeom>
          <a:noFill/>
          <a:ln/>
        </p:spPr>
        <p:txBody>
          <a:bodyPr wrap="square" rtlCol="0" anchor="ctr"/>
          <a:lstStyle/>
          <a:p>
            <a:pPr marL="0" indent="0" algn="l">
              <a:buNone/>
            </a:pPr>
            <a:r>
              <a:rPr lang="en-US" sz="1500" b="1" dirty="0">
                <a:solidFill>
                  <a:srgbClr val="F3F6FB"/>
                </a:solidFill>
                <a:latin typeface="Segoe UI Semibold" pitchFamily="34" charset="0"/>
                <a:ea typeface="Segoe UI Semibold" pitchFamily="34" charset="-122"/>
                <a:cs typeface="Segoe UI Semibold" pitchFamily="34" charset="-120"/>
              </a:rPr>
              <a:t>Who it is for</a:t>
            </a:r>
          </a:p>
        </p:txBody>
      </p:sp>
      <p:sp>
        <p:nvSpPr>
          <p:cNvPr id="37" name="Text 33"/>
          <p:cNvSpPr/>
          <p:nvPr/>
        </p:nvSpPr>
        <p:spPr>
          <a:xfrm>
            <a:off x="4486928" y="5096000"/>
            <a:ext cx="6817839" cy="609600"/>
          </a:xfrm>
          <a:prstGeom prst="rect">
            <a:avLst/>
          </a:prstGeom>
          <a:noFill/>
          <a:ln/>
        </p:spPr>
        <p:txBody>
          <a:bodyPr wrap="square" rtlCol="0" anchor="ctr"/>
          <a:lstStyle/>
          <a:p>
            <a:pPr marL="0" indent="0" algn="l">
              <a:lnSpc>
                <a:spcPct val="115000"/>
              </a:lnSpc>
              <a:buNone/>
            </a:pPr>
            <a:r>
              <a:rPr lang="en-US" sz="1300" dirty="0">
                <a:solidFill>
                  <a:srgbClr val="AAB6C7"/>
                </a:solidFill>
                <a:latin typeface="Segoe UI" pitchFamily="34" charset="0"/>
                <a:ea typeface="Segoe UI" pitchFamily="34" charset="-122"/>
                <a:cs typeface="Segoe UI" pitchFamily="34" charset="-120"/>
              </a:rPr>
              <a:t>A global treasury group on SAP: ECC, S/4HANA or TRM, one process, running the same way across the group.</a:t>
            </a:r>
          </a:p>
        </p:txBody>
      </p:sp>
      <p:sp>
        <p:nvSpPr>
          <p:cNvPr id="40" name="Text 40"/>
          <p:cNvSpPr/>
          <p:nvPr/>
        </p:nvSpPr>
        <p:spPr>
          <a:xfrm>
            <a:off x="566928" y="5871480"/>
            <a:ext cx="11057839" cy="350520"/>
          </a:xfrm>
          <a:prstGeom prst="rect">
            <a:avLst/>
          </a:prstGeom>
          <a:noFill/>
          <a:ln/>
        </p:spPr>
        <p:txBody>
          <a:bodyPr wrap="square" rtlCol="0" anchor="ctr"/>
          <a:lstStyle/>
          <a:p>
            <a:pPr marL="0" indent="0" algn="l">
              <a:buNone/>
            </a:pPr>
            <a:r>
              <a:rPr lang="en-US" sz="1600" dirty="0">
                <a:solidFill>
                  <a:srgbClr val="3BE3E0"/>
                </a:solidFill>
                <a:latin typeface="Segoe UI" pitchFamily="34" charset="0"/>
                <a:ea typeface="Segoe UI" pitchFamily="34" charset="-122"/>
                <a:cs typeface="Segoe UI" pitchFamily="34" charset="-120"/>
              </a:rPr>
              <a:t>The next page is where you are today. Then the cockpit, its three engines, and why it is safe.</a:t>
            </a:r>
          </a:p>
        </p:txBody>
      </p:sp>
      <p:sp>
        <p:nvSpPr>
          <p:cNvPr id="41" name="Text 41"/>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xml:space="preserve">   TreasuryCentral, powered by OnePilot</a:t>
            </a:r>
          </a:p>
        </p:txBody>
      </p:sp>
      <p:sp>
        <p:nvSpPr>
          <p:cNvPr id="42" name="Text 42"/>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02 / 11</a:t>
            </a:r>
          </a:p>
        </p:txBody>
      </p:sp>
      <p:sp>
        <p:nvSpPr>
          <p:cNvPr id="43" name="Shape 43"/>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Relationships xmlns="http://schemas.openxmlformats.org/package/2006/relationships"><Relationship Id="rId1" Type="http://schemas.openxmlformats.org/officeDocument/2006/relationships/customXmlProps" Target="itemProps1.xml"/></Relationships>
</file>

<file path=customXml/_rels/item2.xml.rels><?xml version="1.0" encoding="UTF-8"?><Relationships xmlns="http://schemas.openxmlformats.org/package/2006/relationships"><Relationship Id="rId1" Type="http://schemas.openxmlformats.org/officeDocument/2006/relationships/customXmlProps" Target="itemProps2.xml"/></Relationships>
</file>

<file path=customXml/_rels/item3.xml.rels><?xml version="1.0" encoding="UTF-8"?><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2E36004C6954FC41BFA5A9934AAC0872" ma:contentTypeVersion="24" ma:contentTypeDescription="Ein neues Dokument erstellen." ma:contentTypeScope="" ma:versionID="57c7552af7d6b5cd23556c588442084f">
  <xsd:schema xmlns:xsd="http://www.w3.org/2001/XMLSchema" xmlns:xs="http://www.w3.org/2001/XMLSchema" xmlns:p="http://schemas.microsoft.com/office/2006/metadata/properties" xmlns:ns1="http://schemas.microsoft.com/sharepoint/v3" xmlns:ns2="f7c12939-211d-4aac-95d7-b8d38b675650" xmlns:ns3="e9089a15-9498-4149-a6f3-b4bc8e4d21ac" targetNamespace="http://schemas.microsoft.com/office/2006/metadata/properties" ma:root="true" ma:fieldsID="482b58ec50687d4a7ad8377ddd49b85c" ns1:_="" ns2:_="" ns3:_="">
    <xsd:import namespace="http://schemas.microsoft.com/sharepoint/v3"/>
    <xsd:import namespace="f7c12939-211d-4aac-95d7-b8d38b675650"/>
    <xsd:import namespace="e9089a15-9498-4149-a6f3-b4bc8e4d21a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element ref="ns2:MediaServiceLocation" minOccurs="0"/>
                <xsd:element ref="ns3:TaxCatchAll" minOccurs="0"/>
                <xsd:element ref="ns2:lcf76f155ced4ddcb4097134ff3c332f" minOccurs="0"/>
                <xsd:element ref="ns1:_ip_UnifiedCompliancePolicyProperties" minOccurs="0"/>
                <xsd:element ref="ns1:_ip_UnifiedCompliancePolicyUIAc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Eigenschaften der einheitlichen Compliancerichtlinie" ma:hidden="true" ma:internalName="_ip_UnifiedCompliancePolicyProperties">
      <xsd:simpleType>
        <xsd:restriction base="dms:Note"/>
      </xsd:simpleType>
    </xsd:element>
    <xsd:element name="_ip_UnifiedCompliancePolicyUIAction" ma:index="25" nillable="true" ma:displayName="UI-Aktion der einheitlichen Compliancerichtlinie"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7c12939-211d-4aac-95d7-b8d38b6756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AutoTags" ma:index="12" nillable="true" ma:displayName="Tags" ma:hidden="true" ma:internalName="MediaServiceAutoTags" ma:readOnly="true">
      <xsd:simpleType>
        <xsd:restriction base="dms:Text"/>
      </xsd:simpleType>
    </xsd:element>
    <xsd:element name="MediaServiceOCR" ma:index="13" nillable="true" ma:displayName="Extracted Text" ma:hidden="true" ma:internalName="MediaServiceOCR"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9" nillable="true" ma:displayName="Length (seconds)" ma:hidden="true" ma:internalName="MediaLengthInSeconds" ma:readOnly="true">
      <xsd:simpleType>
        <xsd:restriction base="dms:Unknown"/>
      </xsd:simpleType>
    </xsd:element>
    <xsd:element name="MediaServiceLocation" ma:index="20" nillable="true" ma:displayName="Location" ma:hidden="true"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Bildmarkierungen" ma:readOnly="false" ma:fieldId="{5cf76f15-5ced-4ddc-b409-7134ff3c332f}" ma:taxonomyMulti="true" ma:sspId="0fd6ee07-b435-4fc4-a9c7-316946df4b7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9089a15-9498-4149-a6f3-b4bc8e4d21ac" elementFormDefault="qualified">
    <xsd:import namespace="http://schemas.microsoft.com/office/2006/documentManagement/types"/>
    <xsd:import namespace="http://schemas.microsoft.com/office/infopath/2007/PartnerControls"/>
    <xsd:element name="SharedWithUsers" ma:index="17" nillable="true" ma:displayName="Freigegeben für"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hidden="true" ma:internalName="SharedWithDetails" ma:readOnly="true">
      <xsd:simpleType>
        <xsd:restriction base="dms:Note"/>
      </xsd:simpleType>
    </xsd:element>
    <xsd:element name="TaxCatchAll" ma:index="21" nillable="true" ma:displayName="Taxonomy Catch All Column" ma:hidden="true" ma:list="{3ed79911-b83d-417d-9b12-a1fdc4449e3b}" ma:internalName="TaxCatchAll" ma:showField="CatchAllData" ma:web="e9089a15-9498-4149-a6f3-b4bc8e4d21a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Inhaltstyp"/>
        <xsd:element ref="dc:title" minOccurs="0" maxOccurs="1" ma:index="1"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f7c12939-211d-4aac-95d7-b8d38b675650">
      <Terms xmlns="http://schemas.microsoft.com/office/infopath/2007/PartnerControls"/>
    </lcf76f155ced4ddcb4097134ff3c332f>
    <_ip_UnifiedCompliancePolicyProperties xmlns="http://schemas.microsoft.com/sharepoint/v3" xsi:nil="true"/>
    <TaxCatchAll xmlns="e9089a15-9498-4149-a6f3-b4bc8e4d21ac" xsi:nil="true"/>
  </documentManagement>
</p:properties>
</file>

<file path=customXml/itemProps1.xml><?xml version="1.0" encoding="utf-8"?>
<ds:datastoreItem xmlns:ds="http://schemas.openxmlformats.org/officeDocument/2006/customXml" ds:itemID="{7C68BC3F-F588-48C1-BE83-B8733ECF8364}"/>
</file>

<file path=customXml/itemProps2.xml><?xml version="1.0" encoding="utf-8"?>
<ds:datastoreItem xmlns:ds="http://schemas.openxmlformats.org/officeDocument/2006/customXml" ds:itemID="{52E8A2B1-84DA-44DD-861F-25079F3A229A}"/>
</file>

<file path=customXml/itemProps3.xml><?xml version="1.0" encoding="utf-8"?>
<ds:datastoreItem xmlns:ds="http://schemas.openxmlformats.org/officeDocument/2006/customXml" ds:itemID="{58EBBFD8-AB17-4789-A5A0-F7F7835295BB}"/>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Brisken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Brisken</dc:creator>
  <cp:lastModifiedBy>Brisken</cp:lastModifiedBy>
  <cp:revision>1</cp:revision>
  <dcterms:created xsi:type="dcterms:W3CDTF">2026-07-16T13:45:17Z</dcterms:created>
  <dcterms:modified xsi:type="dcterms:W3CDTF">2026-07-16T13:45:17Z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0x0101002E36004C6954FC41BFA5A9934AAC0872</vt:lpwstr>
  </property>
  <property fmtid="{D5CDD505-2E9C-101B-9397-08002B2CF9AE}" pid="3" name="MediaServiceImageTags">
    <vt:lpwstr/>
  </property>
</Properties>
</file>