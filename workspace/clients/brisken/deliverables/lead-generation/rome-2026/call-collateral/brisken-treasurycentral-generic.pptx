
<file path=[Content_Types].xml><?xml version="1.0" encoding="utf-8"?>
<Types xmlns="http://schemas.openxmlformats.org/package/2006/content-types">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1.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1.png"/><Relationship Id="rId3" Type="http://schemas.openxmlformats.org/officeDocument/2006/relationships/image" Target="../media/image-4-1.png"/><Relationship Id="rId4" Type="http://schemas.openxmlformats.org/officeDocument/2006/relationships/image" Target="../media/image-4-1.png"/><Relationship Id="rId5" Type="http://schemas.openxmlformats.org/officeDocument/2006/relationships/image" Target="../media/image-4-5.png"/><Relationship Id="rId6" Type="http://schemas.openxmlformats.org/officeDocument/2006/relationships/image" Target="../media/image-4-5.png"/><Relationship Id="rId7" Type="http://schemas.openxmlformats.org/officeDocument/2006/relationships/image" Target="../media/image-4-5.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2.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5.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slideLayout" Target="../slideLayouts/slideLayout1.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6949440" y="-1097280"/>
            <a:ext cx="6035040" cy="6035040"/>
          </a:xfrm>
          <a:prstGeom prst="ellipse">
            <a:avLst/>
          </a:prstGeom>
          <a:solidFill>
            <a:srgbClr val="3BE3E0">
              <a:alpha val="7000"/>
            </a:srgbClr>
          </a:solidFill>
          <a:ln w="12700">
            <a:solidFill>
              <a:srgbClr val="333333"/>
            </a:solidFill>
            <a:prstDash val="solid"/>
          </a:ln>
        </p:spPr>
      </p:sp>
      <p:sp>
        <p:nvSpPr>
          <p:cNvPr id="3" name="Shape 1"/>
          <p:cNvSpPr/>
          <p:nvPr/>
        </p:nvSpPr>
        <p:spPr>
          <a:xfrm>
            <a:off x="8321040" y="274320"/>
            <a:ext cx="3291840" cy="3291840"/>
          </a:xfrm>
          <a:prstGeom prst="ellipse">
            <a:avLst/>
          </a:prstGeom>
          <a:solidFill>
            <a:srgbClr val="3BE3E0">
              <a:alpha val="12000"/>
            </a:srgbClr>
          </a:solidFill>
          <a:ln w="12700">
            <a:solidFill>
              <a:srgbClr val="333333"/>
            </a:solidFill>
            <a:prstDash val="solid"/>
          </a:ln>
        </p:spPr>
      </p:sp>
      <p:sp>
        <p:nvSpPr>
          <p:cNvPr id="4" name="Shape 2"/>
          <p:cNvSpPr/>
          <p:nvPr/>
        </p:nvSpPr>
        <p:spPr>
          <a:xfrm>
            <a:off x="-1737360" y="3017520"/>
            <a:ext cx="6035040" cy="6035040"/>
          </a:xfrm>
          <a:prstGeom prst="ellipse">
            <a:avLst/>
          </a:prstGeom>
          <a:solidFill>
            <a:srgbClr val="5A6BFF">
              <a:alpha val="7000"/>
            </a:srgbClr>
          </a:solidFill>
          <a:ln w="12700">
            <a:solidFill>
              <a:srgbClr val="333333"/>
            </a:solidFill>
            <a:prstDash val="solid"/>
          </a:ln>
        </p:spPr>
      </p:sp>
      <p:sp>
        <p:nvSpPr>
          <p:cNvPr id="5" name="Shape 3"/>
          <p:cNvSpPr/>
          <p:nvPr/>
        </p:nvSpPr>
        <p:spPr>
          <a:xfrm>
            <a:off x="-365760" y="4389120"/>
            <a:ext cx="3291840" cy="3291840"/>
          </a:xfrm>
          <a:prstGeom prst="ellipse">
            <a:avLst/>
          </a:prstGeom>
          <a:solidFill>
            <a:srgbClr val="5A6BFF">
              <a:alpha val="12000"/>
            </a:srgbClr>
          </a:solidFill>
          <a:ln w="12700">
            <a:solidFill>
              <a:srgbClr val="333333"/>
            </a:solidFill>
            <a:prstDash val="solid"/>
          </a:ln>
        </p:spPr>
      </p:sp>
      <p:pic>
        <p:nvPicPr>
          <p:cNvPr id="6" name="Image 0" descr="C:/Users/neuma_p1qrsic/Repo/agentic-ops1/.scratch/brisken-logo-light.png">    </p:cNvPr>
          <p:cNvPicPr>
            <a:picLocks noChangeAspect="1"/>
          </p:cNvPicPr>
          <p:nvPr/>
        </p:nvPicPr>
        <p:blipFill>
          <a:blip r:embed="rId1"/>
          <a:stretch>
            <a:fillRect/>
          </a:stretch>
        </p:blipFill>
        <p:spPr>
          <a:xfrm>
            <a:off x="566928" y="548640"/>
            <a:ext cx="1417320" cy="310896"/>
          </a:xfrm>
          <a:prstGeom prst="rect">
            <a:avLst/>
          </a:prstGeom>
        </p:spPr>
      </p:pic>
      <p:sp>
        <p:nvSpPr>
          <p:cNvPr id="7" name="Shape 4"/>
          <p:cNvSpPr/>
          <p:nvPr/>
        </p:nvSpPr>
        <p:spPr>
          <a:xfrm>
            <a:off x="566928" y="2350008"/>
            <a:ext cx="45720" cy="219456"/>
          </a:xfrm>
          <a:prstGeom prst="rect">
            <a:avLst/>
          </a:prstGeom>
          <a:solidFill>
            <a:srgbClr val="3BE3E0"/>
          </a:solidFill>
          <a:ln w="12700">
            <a:solidFill>
              <a:srgbClr val="333333"/>
            </a:solidFill>
            <a:prstDash val="solid"/>
          </a:ln>
        </p:spPr>
      </p:sp>
      <p:sp>
        <p:nvSpPr>
          <p:cNvPr id="8" name="Text 5"/>
          <p:cNvSpPr/>
          <p:nvPr/>
        </p:nvSpPr>
        <p:spPr>
          <a:xfrm>
            <a:off x="713232" y="2276856"/>
            <a:ext cx="96012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BRISKEN · TREASURYCENTRAL</a:t>
            </a:r>
            <a:endParaRPr lang="en-US" sz="1200" dirty="0"/>
          </a:p>
        </p:txBody>
      </p:sp>
      <p:sp>
        <p:nvSpPr>
          <p:cNvPr id="9" name="Text 6"/>
          <p:cNvSpPr/>
          <p:nvPr/>
        </p:nvSpPr>
        <p:spPr>
          <a:xfrm>
            <a:off x="539496" y="2606040"/>
            <a:ext cx="11338560" cy="1280160"/>
          </a:xfrm>
          <a:prstGeom prst="rect">
            <a:avLst/>
          </a:prstGeom>
          <a:noFill/>
          <a:ln/>
        </p:spPr>
        <p:txBody>
          <a:bodyPr wrap="square" rtlCol="0" anchor="ctr"/>
          <a:lstStyle/>
          <a:p>
            <a:pPr indent="0" marL="0">
              <a:buNone/>
            </a:pPr>
            <a:r>
              <a:rPr lang="en-US" sz="6600" b="1" dirty="0">
                <a:solidFill>
                  <a:srgbClr val="F3F6FB"/>
                </a:solidFill>
                <a:latin typeface="Segoe UI Semibold" pitchFamily="34" charset="0"/>
                <a:ea typeface="Segoe UI Semibold" pitchFamily="34" charset="-122"/>
                <a:cs typeface="Segoe UI Semibold" pitchFamily="34" charset="-120"/>
              </a:rPr>
              <a:t>TreasuryCentral</a:t>
            </a:r>
            <a:endParaRPr lang="en-US" sz="6600" dirty="0"/>
          </a:p>
        </p:txBody>
      </p:sp>
      <p:sp>
        <p:nvSpPr>
          <p:cNvPr id="10" name="Text 7"/>
          <p:cNvSpPr/>
          <p:nvPr/>
        </p:nvSpPr>
        <p:spPr>
          <a:xfrm>
            <a:off x="566928" y="3977640"/>
            <a:ext cx="10424160" cy="822960"/>
          </a:xfrm>
          <a:prstGeom prst="rect">
            <a:avLst/>
          </a:prstGeom>
          <a:noFill/>
          <a:ln/>
        </p:spPr>
        <p:txBody>
          <a:bodyPr wrap="square" rtlCol="0" anchor="t"/>
          <a:lstStyle/>
          <a:p>
            <a:pPr indent="0" marL="0">
              <a:lnSpc>
                <a:spcPct val="115000"/>
              </a:lnSpc>
              <a:buNone/>
            </a:pPr>
            <a:r>
              <a:rPr lang="en-US" sz="2000" dirty="0">
                <a:solidFill>
                  <a:srgbClr val="AAB6C7"/>
                </a:solidFill>
                <a:latin typeface="Segoe UI" pitchFamily="34" charset="0"/>
                <a:ea typeface="Segoe UI" pitchFamily="34" charset="-122"/>
                <a:cs typeface="Segoe UI" pitchFamily="34" charset="-120"/>
              </a:rPr>
              <a:t>One cockpit for the whole treasury, on your live SAP data. </a:t>
            </a:r>
            <a:pPr indent="0" marL="0">
              <a:lnSpc>
                <a:spcPct val="115000"/>
              </a:lnSpc>
              <a:buNone/>
            </a:pPr>
            <a:r>
              <a:rPr lang="en-US" sz="2000" dirty="0">
                <a:solidFill>
                  <a:srgbClr val="3BE3E0"/>
                </a:solidFill>
                <a:latin typeface="Segoe UI" pitchFamily="34" charset="0"/>
                <a:ea typeface="Segoe UI" pitchFamily="34" charset="-122"/>
                <a:cs typeface="Segoe UI" pitchFamily="34" charset="-120"/>
              </a:rPr>
              <a:t>Market data, trading and AI, in one governed layer.</a:t>
            </a:r>
            <a:endParaRPr lang="en-US" sz="2000" dirty="0"/>
          </a:p>
        </p:txBody>
      </p:sp>
      <p:sp>
        <p:nvSpPr>
          <p:cNvPr id="11" name="Text 8"/>
          <p:cNvSpPr/>
          <p:nvPr/>
        </p:nvSpPr>
        <p:spPr>
          <a:xfrm>
            <a:off x="566928" y="4846320"/>
            <a:ext cx="4572000" cy="365760"/>
          </a:xfrm>
          <a:prstGeom prst="rect">
            <a:avLst/>
          </a:prstGeom>
          <a:noFill/>
          <a:ln/>
        </p:spPr>
        <p:txBody>
          <a:bodyPr wrap="square" rtlCol="0" anchor="ctr"/>
          <a:lstStyle/>
          <a:p>
            <a:pPr indent="0" marL="0">
              <a:buNone/>
            </a:pPr>
            <a:r>
              <a:rPr lang="en-US" sz="1250" dirty="0">
                <a:solidFill>
                  <a:srgbClr val="7C8A9B"/>
                </a:solidFill>
                <a:latin typeface="Segoe UI" pitchFamily="34" charset="0"/>
                <a:ea typeface="Segoe UI" pitchFamily="34" charset="-122"/>
                <a:cs typeface="Segoe UI" pitchFamily="34" charset="-120"/>
              </a:rPr>
              <a:t>powered by OnePilot</a:t>
            </a:r>
            <a:endParaRPr lang="en-US" sz="1250" dirty="0"/>
          </a:p>
        </p:txBody>
      </p:sp>
      <p:sp>
        <p:nvSpPr>
          <p:cNvPr id="12" name="Shape 9"/>
          <p:cNvSpPr/>
          <p:nvPr/>
        </p:nvSpPr>
        <p:spPr>
          <a:xfrm>
            <a:off x="566928" y="5532120"/>
            <a:ext cx="566928" cy="566928"/>
          </a:xfrm>
          <a:prstGeom prst="roundRect">
            <a:avLst>
              <a:gd name="adj" fmla="val 17742"/>
            </a:avLst>
          </a:prstGeom>
          <a:solidFill>
            <a:srgbClr val="1B2330"/>
          </a:solidFill>
          <a:ln w="15240">
            <a:solidFill>
              <a:srgbClr val="3BE3E0"/>
            </a:solidFill>
            <a:prstDash val="solid"/>
          </a:ln>
        </p:spPr>
      </p:sp>
      <p:pic>
        <p:nvPicPr>
          <p:cNvPr id="13" name="Image 1" descr="C:/Users/neuma_p1qrsic/Repo/agentic-ops1/.scratch/icons/database.png">    </p:cNvPr>
          <p:cNvPicPr>
            <a:picLocks noChangeAspect="1"/>
          </p:cNvPicPr>
          <p:nvPr/>
        </p:nvPicPr>
        <p:blipFill>
          <a:blip r:embed="rId2"/>
          <a:stretch>
            <a:fillRect/>
          </a:stretch>
        </p:blipFill>
        <p:spPr>
          <a:xfrm>
            <a:off x="702991" y="5668183"/>
            <a:ext cx="294803" cy="294803"/>
          </a:xfrm>
          <a:prstGeom prst="rect">
            <a:avLst/>
          </a:prstGeom>
        </p:spPr>
      </p:pic>
      <p:sp>
        <p:nvSpPr>
          <p:cNvPr id="14" name="Text 10"/>
          <p:cNvSpPr/>
          <p:nvPr/>
        </p:nvSpPr>
        <p:spPr>
          <a:xfrm>
            <a:off x="1252728" y="5532120"/>
            <a:ext cx="2468880" cy="566928"/>
          </a:xfrm>
          <a:prstGeom prst="rect">
            <a:avLst/>
          </a:prstGeom>
          <a:noFill/>
          <a:ln/>
        </p:spPr>
        <p:txBody>
          <a:bodyPr wrap="square" rtlCol="0" anchor="ctr"/>
          <a:lstStyle/>
          <a:p>
            <a:pPr indent="0" marL="0">
              <a:buNone/>
            </a:pPr>
            <a:r>
              <a:rPr lang="en-US" sz="1300" dirty="0">
                <a:solidFill>
                  <a:srgbClr val="F3F6FB"/>
                </a:solidFill>
                <a:latin typeface="Segoe UI" pitchFamily="34" charset="0"/>
                <a:ea typeface="Segoe UI" pitchFamily="34" charset="-122"/>
                <a:cs typeface="Segoe UI" pitchFamily="34" charset="-120"/>
              </a:rPr>
              <a:t>Your live SAP data</a:t>
            </a:r>
            <a:endParaRPr lang="en-US" sz="1300" dirty="0"/>
          </a:p>
        </p:txBody>
      </p:sp>
      <p:sp>
        <p:nvSpPr>
          <p:cNvPr id="15" name="Shape 11"/>
          <p:cNvSpPr/>
          <p:nvPr/>
        </p:nvSpPr>
        <p:spPr>
          <a:xfrm>
            <a:off x="3630168" y="5815584"/>
            <a:ext cx="640080" cy="0"/>
          </a:xfrm>
          <a:prstGeom prst="line">
            <a:avLst/>
          </a:prstGeom>
          <a:noFill/>
          <a:ln w="25400">
            <a:solidFill>
              <a:srgbClr val="3BE3E0"/>
            </a:solidFill>
            <a:prstDash val="solid"/>
            <a:tailEnd type="triangle"/>
          </a:ln>
        </p:spPr>
      </p:sp>
      <p:sp>
        <p:nvSpPr>
          <p:cNvPr id="16" name="Text 12"/>
          <p:cNvSpPr/>
          <p:nvPr/>
        </p:nvSpPr>
        <p:spPr>
          <a:xfrm>
            <a:off x="4361688" y="5532120"/>
            <a:ext cx="2103120" cy="566928"/>
          </a:xfrm>
          <a:prstGeom prst="rect">
            <a:avLst/>
          </a:prstGeom>
          <a:noFill/>
          <a:ln/>
        </p:spPr>
        <p:txBody>
          <a:bodyPr wrap="square" rtlCol="0" anchor="ctr"/>
          <a:lstStyle/>
          <a:p>
            <a:pPr algn="ctr" indent="0" marL="0">
              <a:buNone/>
            </a:pPr>
            <a:r>
              <a:rPr lang="en-US" sz="1200" i="1" dirty="0">
                <a:solidFill>
                  <a:srgbClr val="3BE3E0"/>
                </a:solidFill>
                <a:latin typeface="Segoe UI" pitchFamily="34" charset="0"/>
                <a:ea typeface="Segoe UI" pitchFamily="34" charset="-122"/>
                <a:cs typeface="Segoe UI" pitchFamily="34" charset="-120"/>
              </a:rPr>
              <a:t>TreasuryCentral</a:t>
            </a:r>
            <a:endParaRPr lang="en-US" sz="1200" dirty="0"/>
          </a:p>
        </p:txBody>
      </p:sp>
      <p:sp>
        <p:nvSpPr>
          <p:cNvPr id="17" name="Shape 13"/>
          <p:cNvSpPr/>
          <p:nvPr/>
        </p:nvSpPr>
        <p:spPr>
          <a:xfrm>
            <a:off x="6510528" y="5815584"/>
            <a:ext cx="640080" cy="0"/>
          </a:xfrm>
          <a:prstGeom prst="line">
            <a:avLst/>
          </a:prstGeom>
          <a:noFill/>
          <a:ln w="25400">
            <a:solidFill>
              <a:srgbClr val="3BE3E0"/>
            </a:solidFill>
            <a:prstDash val="solid"/>
            <a:tailEnd type="triangle"/>
          </a:ln>
        </p:spPr>
      </p:sp>
      <p:sp>
        <p:nvSpPr>
          <p:cNvPr id="18" name="Shape 14"/>
          <p:cNvSpPr/>
          <p:nvPr/>
        </p:nvSpPr>
        <p:spPr>
          <a:xfrm>
            <a:off x="7287768" y="5532120"/>
            <a:ext cx="566928" cy="566928"/>
          </a:xfrm>
          <a:prstGeom prst="roundRect">
            <a:avLst>
              <a:gd name="adj" fmla="val 17742"/>
            </a:avLst>
          </a:prstGeom>
          <a:solidFill>
            <a:srgbClr val="1B2330"/>
          </a:solidFill>
          <a:ln w="15240">
            <a:solidFill>
              <a:srgbClr val="3BE3E0"/>
            </a:solidFill>
            <a:prstDash val="solid"/>
          </a:ln>
        </p:spPr>
      </p:sp>
      <p:pic>
        <p:nvPicPr>
          <p:cNvPr id="19" name="Image 2" descr="C:/Users/neuma_p1qrsic/Repo/agentic-ops1/.scratch/icons/gauge.png">    </p:cNvPr>
          <p:cNvPicPr>
            <a:picLocks noChangeAspect="1"/>
          </p:cNvPicPr>
          <p:nvPr/>
        </p:nvPicPr>
        <p:blipFill>
          <a:blip r:embed="rId3"/>
          <a:stretch>
            <a:fillRect/>
          </a:stretch>
        </p:blipFill>
        <p:spPr>
          <a:xfrm>
            <a:off x="7423831" y="5668183"/>
            <a:ext cx="294803" cy="294803"/>
          </a:xfrm>
          <a:prstGeom prst="rect">
            <a:avLst/>
          </a:prstGeom>
        </p:spPr>
      </p:pic>
      <p:sp>
        <p:nvSpPr>
          <p:cNvPr id="20" name="Text 15"/>
          <p:cNvSpPr/>
          <p:nvPr/>
        </p:nvSpPr>
        <p:spPr>
          <a:xfrm>
            <a:off x="7973568" y="5532120"/>
            <a:ext cx="3108960" cy="566928"/>
          </a:xfrm>
          <a:prstGeom prst="rect">
            <a:avLst/>
          </a:prstGeom>
          <a:noFill/>
          <a:ln/>
        </p:spPr>
        <p:txBody>
          <a:bodyPr wrap="square" rtlCol="0" anchor="ctr"/>
          <a:lstStyle/>
          <a:p>
            <a:pPr indent="0" marL="0">
              <a:buNone/>
            </a:pPr>
            <a:r>
              <a:rPr lang="en-US" sz="1300" dirty="0">
                <a:solidFill>
                  <a:srgbClr val="F3F6FB"/>
                </a:solidFill>
                <a:latin typeface="Segoe UI" pitchFamily="34" charset="0"/>
                <a:ea typeface="Segoe UI" pitchFamily="34" charset="-122"/>
                <a:cs typeface="Segoe UI" pitchFamily="34" charset="-120"/>
              </a:rPr>
              <a:t>Every treasury decision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96012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THE PROBLEM</a:t>
            </a:r>
            <a:endParaRPr lang="en-US" sz="1200" dirty="0"/>
          </a:p>
        </p:txBody>
      </p:sp>
      <p:sp>
        <p:nvSpPr>
          <p:cNvPr id="4" name="Text 2"/>
          <p:cNvSpPr/>
          <p:nvPr/>
        </p:nvSpPr>
        <p:spPr>
          <a:xfrm>
            <a:off x="566928" y="960120"/>
            <a:ext cx="10881360" cy="1463040"/>
          </a:xfrm>
          <a:prstGeom prst="rect">
            <a:avLst/>
          </a:prstGeom>
          <a:noFill/>
          <a:ln/>
        </p:spPr>
        <p:txBody>
          <a:bodyPr wrap="square" rtlCol="0" anchor="ctr"/>
          <a:lstStyle/>
          <a:p>
            <a:pPr indent="0" marL="0">
              <a:lnSpc>
                <a:spcPct val="105000"/>
              </a:lnSpc>
              <a:buNone/>
            </a:pPr>
            <a:r>
              <a:rPr lang="en-US" sz="3300" b="1" dirty="0">
                <a:solidFill>
                  <a:srgbClr val="F3F6FB"/>
                </a:solidFill>
                <a:latin typeface="Segoe UI Semibold" pitchFamily="34" charset="0"/>
                <a:ea typeface="Segoe UI Semibold" pitchFamily="34" charset="-122"/>
                <a:cs typeface="Segoe UI Semibold" pitchFamily="34" charset="-120"/>
              </a:rPr>
              <a:t>Your treasury runs on SAP.
</a:t>
            </a:r>
            <a:pPr indent="0" marL="0">
              <a:lnSpc>
                <a:spcPct val="105000"/>
              </a:lnSpc>
              <a:buNone/>
            </a:pPr>
            <a:r>
              <a:rPr lang="en-US" sz="3300" b="1" dirty="0">
                <a:solidFill>
                  <a:srgbClr val="3BE3E0"/>
                </a:solidFill>
                <a:latin typeface="Segoe UI Semibold" pitchFamily="34" charset="0"/>
                <a:ea typeface="Segoe UI Semibold" pitchFamily="34" charset="-122"/>
                <a:cs typeface="Segoe UI Semibold" pitchFamily="34" charset="-120"/>
              </a:rPr>
              <a:t>Your day runs on everything around it.</a:t>
            </a:r>
            <a:endParaRPr lang="en-US" sz="3300" dirty="0"/>
          </a:p>
        </p:txBody>
      </p:sp>
      <p:sp>
        <p:nvSpPr>
          <p:cNvPr id="5" name="Shape 3"/>
          <p:cNvSpPr/>
          <p:nvPr/>
        </p:nvSpPr>
        <p:spPr>
          <a:xfrm>
            <a:off x="566928" y="2880360"/>
            <a:ext cx="3442106" cy="1965960"/>
          </a:xfrm>
          <a:prstGeom prst="roundRect">
            <a:avLst>
              <a:gd name="adj" fmla="val 4186"/>
            </a:avLst>
          </a:prstGeom>
          <a:solidFill>
            <a:srgbClr val="141A25"/>
          </a:solidFill>
          <a:ln w="13970">
            <a:solidFill>
              <a:srgbClr val="36414F"/>
            </a:solidFill>
            <a:prstDash val="solid"/>
          </a:ln>
        </p:spPr>
      </p:sp>
      <p:sp>
        <p:nvSpPr>
          <p:cNvPr id="6" name="Shape 4"/>
          <p:cNvSpPr/>
          <p:nvPr/>
        </p:nvSpPr>
        <p:spPr>
          <a:xfrm>
            <a:off x="841248" y="3172968"/>
            <a:ext cx="548640" cy="548640"/>
          </a:xfrm>
          <a:prstGeom prst="roundRect">
            <a:avLst>
              <a:gd name="adj" fmla="val 18333"/>
            </a:avLst>
          </a:prstGeom>
          <a:solidFill>
            <a:srgbClr val="1B2330"/>
          </a:solidFill>
          <a:ln w="15240">
            <a:solidFill>
              <a:srgbClr val="FFC96B"/>
            </a:solidFill>
            <a:prstDash val="solid"/>
          </a:ln>
        </p:spPr>
      </p:sp>
      <p:pic>
        <p:nvPicPr>
          <p:cNvPr id="7" name="Image 0" descr="C:/Users/neuma_p1qrsic/Repo/agentic-ops1/.scratch/icons/link.png">    </p:cNvPr>
          <p:cNvPicPr>
            <a:picLocks noChangeAspect="1"/>
          </p:cNvPicPr>
          <p:nvPr/>
        </p:nvPicPr>
        <p:blipFill>
          <a:blip r:embed="rId1"/>
          <a:stretch>
            <a:fillRect/>
          </a:stretch>
        </p:blipFill>
        <p:spPr>
          <a:xfrm>
            <a:off x="972922" y="3304642"/>
            <a:ext cx="285293" cy="285293"/>
          </a:xfrm>
          <a:prstGeom prst="rect">
            <a:avLst/>
          </a:prstGeom>
        </p:spPr>
      </p:pic>
      <p:sp>
        <p:nvSpPr>
          <p:cNvPr id="8" name="Text 5"/>
          <p:cNvSpPr/>
          <p:nvPr/>
        </p:nvSpPr>
        <p:spPr>
          <a:xfrm>
            <a:off x="841248" y="3840480"/>
            <a:ext cx="2893466" cy="365760"/>
          </a:xfrm>
          <a:prstGeom prst="rect">
            <a:avLst/>
          </a:prstGeom>
          <a:noFill/>
          <a:ln/>
        </p:spPr>
        <p:txBody>
          <a:bodyPr wrap="square" rtlCol="0" anchor="ctr"/>
          <a:lstStyle/>
          <a:p>
            <a:pPr indent="0" marL="0">
              <a:buNone/>
            </a:pPr>
            <a:r>
              <a:rPr lang="en-US" sz="1550" b="1" dirty="0">
                <a:solidFill>
                  <a:srgbClr val="F3F6FB"/>
                </a:solidFill>
                <a:latin typeface="Segoe UI Semibold" pitchFamily="34" charset="0"/>
                <a:ea typeface="Segoe UI Semibold" pitchFamily="34" charset="-122"/>
                <a:cs typeface="Segoe UI Semibold" pitchFamily="34" charset="-120"/>
              </a:rPr>
              <a:t>The morning rates</a:t>
            </a:r>
            <a:endParaRPr lang="en-US" sz="1550" dirty="0"/>
          </a:p>
        </p:txBody>
      </p:sp>
      <p:sp>
        <p:nvSpPr>
          <p:cNvPr id="9" name="Text 6"/>
          <p:cNvSpPr/>
          <p:nvPr/>
        </p:nvSpPr>
        <p:spPr>
          <a:xfrm>
            <a:off x="841248" y="4206240"/>
            <a:ext cx="2893466" cy="566928"/>
          </a:xfrm>
          <a:prstGeom prst="rect">
            <a:avLst/>
          </a:prstGeom>
          <a:noFill/>
          <a:ln/>
        </p:spPr>
        <p:txBody>
          <a:bodyPr wrap="square" rtlCol="0" anchor="ctr"/>
          <a:lstStyle/>
          <a:p>
            <a:pPr indent="0" marL="0">
              <a:lnSpc>
                <a:spcPct val="112000"/>
              </a:lnSpc>
              <a:buNone/>
            </a:pPr>
            <a:r>
              <a:rPr lang="en-US" sz="1150" dirty="0">
                <a:solidFill>
                  <a:srgbClr val="AAB6C7"/>
                </a:solidFill>
                <a:latin typeface="Segoe UI" pitchFamily="34" charset="0"/>
                <a:ea typeface="Segoe UI" pitchFamily="34" charset="-122"/>
                <a:cs typeface="Segoe UI" pitchFamily="34" charset="-120"/>
              </a:rPr>
              <a:t>Three files, two portals, one copy-paste marathon before the first coffee.</a:t>
            </a:r>
            <a:endParaRPr lang="en-US" sz="1150" dirty="0"/>
          </a:p>
        </p:txBody>
      </p:sp>
      <p:sp>
        <p:nvSpPr>
          <p:cNvPr id="10" name="Shape 7"/>
          <p:cNvSpPr/>
          <p:nvPr/>
        </p:nvSpPr>
        <p:spPr>
          <a:xfrm>
            <a:off x="4374794" y="2880360"/>
            <a:ext cx="3442106" cy="1965960"/>
          </a:xfrm>
          <a:prstGeom prst="roundRect">
            <a:avLst>
              <a:gd name="adj" fmla="val 4186"/>
            </a:avLst>
          </a:prstGeom>
          <a:solidFill>
            <a:srgbClr val="141A25"/>
          </a:solidFill>
          <a:ln w="13970">
            <a:solidFill>
              <a:srgbClr val="36414F"/>
            </a:solidFill>
            <a:prstDash val="solid"/>
          </a:ln>
        </p:spPr>
      </p:sp>
      <p:sp>
        <p:nvSpPr>
          <p:cNvPr id="11" name="Shape 8"/>
          <p:cNvSpPr/>
          <p:nvPr/>
        </p:nvSpPr>
        <p:spPr>
          <a:xfrm>
            <a:off x="4649114" y="3172968"/>
            <a:ext cx="548640" cy="548640"/>
          </a:xfrm>
          <a:prstGeom prst="roundRect">
            <a:avLst>
              <a:gd name="adj" fmla="val 18333"/>
            </a:avLst>
          </a:prstGeom>
          <a:solidFill>
            <a:srgbClr val="1B2330"/>
          </a:solidFill>
          <a:ln w="15240">
            <a:solidFill>
              <a:srgbClr val="FFC96B"/>
            </a:solidFill>
            <a:prstDash val="solid"/>
          </a:ln>
        </p:spPr>
      </p:sp>
      <p:pic>
        <p:nvPicPr>
          <p:cNvPr id="12" name="Image 1" descr="C:/Users/neuma_p1qrsic/Repo/agentic-ops1/.scratch/icons/merge.png">    </p:cNvPr>
          <p:cNvPicPr>
            <a:picLocks noChangeAspect="1"/>
          </p:cNvPicPr>
          <p:nvPr/>
        </p:nvPicPr>
        <p:blipFill>
          <a:blip r:embed="rId2"/>
          <a:stretch>
            <a:fillRect/>
          </a:stretch>
        </p:blipFill>
        <p:spPr>
          <a:xfrm>
            <a:off x="4780788" y="3304642"/>
            <a:ext cx="285293" cy="285293"/>
          </a:xfrm>
          <a:prstGeom prst="rect">
            <a:avLst/>
          </a:prstGeom>
        </p:spPr>
      </p:pic>
      <p:sp>
        <p:nvSpPr>
          <p:cNvPr id="13" name="Text 9"/>
          <p:cNvSpPr/>
          <p:nvPr/>
        </p:nvSpPr>
        <p:spPr>
          <a:xfrm>
            <a:off x="4649114" y="3840480"/>
            <a:ext cx="2893466" cy="365760"/>
          </a:xfrm>
          <a:prstGeom prst="rect">
            <a:avLst/>
          </a:prstGeom>
          <a:noFill/>
          <a:ln/>
        </p:spPr>
        <p:txBody>
          <a:bodyPr wrap="square" rtlCol="0" anchor="ctr"/>
          <a:lstStyle/>
          <a:p>
            <a:pPr indent="0" marL="0">
              <a:buNone/>
            </a:pPr>
            <a:r>
              <a:rPr lang="en-US" sz="1550" b="1" dirty="0">
                <a:solidFill>
                  <a:srgbClr val="F3F6FB"/>
                </a:solidFill>
                <a:latin typeface="Segoe UI Semibold" pitchFamily="34" charset="0"/>
                <a:ea typeface="Segoe UI Semibold" pitchFamily="34" charset="-122"/>
                <a:cs typeface="Segoe UI Semibold" pitchFamily="34" charset="-120"/>
              </a:rPr>
              <a:t>The quick FX trade</a:t>
            </a:r>
            <a:endParaRPr lang="en-US" sz="1550" dirty="0"/>
          </a:p>
        </p:txBody>
      </p:sp>
      <p:sp>
        <p:nvSpPr>
          <p:cNvPr id="14" name="Text 10"/>
          <p:cNvSpPr/>
          <p:nvPr/>
        </p:nvSpPr>
        <p:spPr>
          <a:xfrm>
            <a:off x="4649114" y="4206240"/>
            <a:ext cx="2893466" cy="566928"/>
          </a:xfrm>
          <a:prstGeom prst="rect">
            <a:avLst/>
          </a:prstGeom>
          <a:noFill/>
          <a:ln/>
        </p:spPr>
        <p:txBody>
          <a:bodyPr wrap="square" rtlCol="0" anchor="ctr"/>
          <a:lstStyle/>
          <a:p>
            <a:pPr indent="0" marL="0">
              <a:lnSpc>
                <a:spcPct val="112000"/>
              </a:lnSpc>
              <a:buNone/>
            </a:pPr>
            <a:r>
              <a:rPr lang="en-US" sz="1150" dirty="0">
                <a:solidFill>
                  <a:srgbClr val="AAB6C7"/>
                </a:solidFill>
                <a:latin typeface="Segoe UI" pitchFamily="34" charset="0"/>
                <a:ea typeface="Segoe UI" pitchFamily="34" charset="-122"/>
                <a:cs typeface="Segoe UI" pitchFamily="34" charset="-120"/>
              </a:rPr>
              <a:t>Decide, request, approve, execute. Then someone keys it into SAP by hand.</a:t>
            </a:r>
            <a:endParaRPr lang="en-US" sz="1150" dirty="0"/>
          </a:p>
        </p:txBody>
      </p:sp>
      <p:sp>
        <p:nvSpPr>
          <p:cNvPr id="15" name="Shape 11"/>
          <p:cNvSpPr/>
          <p:nvPr/>
        </p:nvSpPr>
        <p:spPr>
          <a:xfrm>
            <a:off x="8182661" y="2880360"/>
            <a:ext cx="3442106" cy="1965960"/>
          </a:xfrm>
          <a:prstGeom prst="roundRect">
            <a:avLst>
              <a:gd name="adj" fmla="val 4186"/>
            </a:avLst>
          </a:prstGeom>
          <a:solidFill>
            <a:srgbClr val="141A25"/>
          </a:solidFill>
          <a:ln w="13970">
            <a:solidFill>
              <a:srgbClr val="36414F"/>
            </a:solidFill>
            <a:prstDash val="solid"/>
          </a:ln>
        </p:spPr>
      </p:sp>
      <p:sp>
        <p:nvSpPr>
          <p:cNvPr id="16" name="Shape 12"/>
          <p:cNvSpPr/>
          <p:nvPr/>
        </p:nvSpPr>
        <p:spPr>
          <a:xfrm>
            <a:off x="8456981" y="3172968"/>
            <a:ext cx="548640" cy="548640"/>
          </a:xfrm>
          <a:prstGeom prst="roundRect">
            <a:avLst>
              <a:gd name="adj" fmla="val 18333"/>
            </a:avLst>
          </a:prstGeom>
          <a:solidFill>
            <a:srgbClr val="1B2330"/>
          </a:solidFill>
          <a:ln w="15240">
            <a:solidFill>
              <a:srgbClr val="FFC96B"/>
            </a:solidFill>
            <a:prstDash val="solid"/>
          </a:ln>
        </p:spPr>
      </p:sp>
      <p:pic>
        <p:nvPicPr>
          <p:cNvPr id="17" name="Image 2" descr="C:/Users/neuma_p1qrsic/Repo/agentic-ops1/.scratch/icons/mail.png">    </p:cNvPr>
          <p:cNvPicPr>
            <a:picLocks noChangeAspect="1"/>
          </p:cNvPicPr>
          <p:nvPr/>
        </p:nvPicPr>
        <p:blipFill>
          <a:blip r:embed="rId3"/>
          <a:stretch>
            <a:fillRect/>
          </a:stretch>
        </p:blipFill>
        <p:spPr>
          <a:xfrm>
            <a:off x="8588654" y="3304642"/>
            <a:ext cx="285293" cy="285293"/>
          </a:xfrm>
          <a:prstGeom prst="rect">
            <a:avLst/>
          </a:prstGeom>
        </p:spPr>
      </p:pic>
      <p:sp>
        <p:nvSpPr>
          <p:cNvPr id="18" name="Text 13"/>
          <p:cNvSpPr/>
          <p:nvPr/>
        </p:nvSpPr>
        <p:spPr>
          <a:xfrm>
            <a:off x="8456981" y="3840480"/>
            <a:ext cx="2893466" cy="365760"/>
          </a:xfrm>
          <a:prstGeom prst="rect">
            <a:avLst/>
          </a:prstGeom>
          <a:noFill/>
          <a:ln/>
        </p:spPr>
        <p:txBody>
          <a:bodyPr wrap="square" rtlCol="0" anchor="ctr"/>
          <a:lstStyle/>
          <a:p>
            <a:pPr indent="0" marL="0">
              <a:buNone/>
            </a:pPr>
            <a:r>
              <a:rPr lang="en-US" sz="1550" b="1" dirty="0">
                <a:solidFill>
                  <a:srgbClr val="F3F6FB"/>
                </a:solidFill>
                <a:latin typeface="Segoe UI Semibold" pitchFamily="34" charset="0"/>
                <a:ea typeface="Segoe UI Semibold" pitchFamily="34" charset="-122"/>
                <a:cs typeface="Segoe UI Semibold" pitchFamily="34" charset="-120"/>
              </a:rPr>
              <a:t>The email errands</a:t>
            </a:r>
            <a:endParaRPr lang="en-US" sz="1550" dirty="0"/>
          </a:p>
        </p:txBody>
      </p:sp>
      <p:sp>
        <p:nvSpPr>
          <p:cNvPr id="19" name="Text 14"/>
          <p:cNvSpPr/>
          <p:nvPr/>
        </p:nvSpPr>
        <p:spPr>
          <a:xfrm>
            <a:off x="8456981" y="4206240"/>
            <a:ext cx="2893466" cy="566928"/>
          </a:xfrm>
          <a:prstGeom prst="rect">
            <a:avLst/>
          </a:prstGeom>
          <a:noFill/>
          <a:ln/>
        </p:spPr>
        <p:txBody>
          <a:bodyPr wrap="square" rtlCol="0" anchor="ctr"/>
          <a:lstStyle/>
          <a:p>
            <a:pPr indent="0" marL="0">
              <a:lnSpc>
                <a:spcPct val="112000"/>
              </a:lnSpc>
              <a:buNone/>
            </a:pPr>
            <a:r>
              <a:rPr lang="en-US" sz="1150" dirty="0">
                <a:solidFill>
                  <a:srgbClr val="AAB6C7"/>
                </a:solidFill>
                <a:latin typeface="Segoe UI" pitchFamily="34" charset="0"/>
                <a:ea typeface="Segoe UI" pitchFamily="34" charset="-122"/>
                <a:cs typeface="Segoe UI" pitchFamily="34" charset="-120"/>
              </a:rPr>
              <a:t>A transfer request lands by email. Someone reads it, checks the cash, books the memo, replies. Every time.</a:t>
            </a:r>
            <a:endParaRPr lang="en-US" sz="1150" dirty="0"/>
          </a:p>
        </p:txBody>
      </p:sp>
      <p:sp>
        <p:nvSpPr>
          <p:cNvPr id="20" name="Shape 15"/>
          <p:cNvSpPr/>
          <p:nvPr/>
        </p:nvSpPr>
        <p:spPr>
          <a:xfrm>
            <a:off x="566928" y="5138928"/>
            <a:ext cx="11057839" cy="749808"/>
          </a:xfrm>
          <a:prstGeom prst="roundRect">
            <a:avLst>
              <a:gd name="adj" fmla="val 9756"/>
            </a:avLst>
          </a:prstGeom>
          <a:solidFill>
            <a:srgbClr val="24190E"/>
          </a:solidFill>
          <a:ln w="17780">
            <a:solidFill>
              <a:srgbClr val="FFC96B"/>
            </a:solidFill>
            <a:prstDash val="dash"/>
          </a:ln>
        </p:spPr>
      </p:sp>
      <p:pic>
        <p:nvPicPr>
          <p:cNvPr id="21" name="Image 3" descr="C:/Users/neuma_p1qrsic/Repo/agentic-ops1/.scratch/icons/gap.png">    </p:cNvPr>
          <p:cNvPicPr>
            <a:picLocks noChangeAspect="1"/>
          </p:cNvPicPr>
          <p:nvPr/>
        </p:nvPicPr>
        <p:blipFill>
          <a:blip r:embed="rId4"/>
          <a:stretch>
            <a:fillRect/>
          </a:stretch>
        </p:blipFill>
        <p:spPr>
          <a:xfrm>
            <a:off x="841248" y="5312664"/>
            <a:ext cx="402336" cy="402336"/>
          </a:xfrm>
          <a:prstGeom prst="rect">
            <a:avLst/>
          </a:prstGeom>
        </p:spPr>
      </p:pic>
      <p:sp>
        <p:nvSpPr>
          <p:cNvPr id="22" name="Text 16"/>
          <p:cNvSpPr/>
          <p:nvPr/>
        </p:nvSpPr>
        <p:spPr>
          <a:xfrm>
            <a:off x="1435608" y="5138928"/>
            <a:ext cx="9914839" cy="749808"/>
          </a:xfrm>
          <a:prstGeom prst="rect">
            <a:avLst/>
          </a:prstGeom>
          <a:noFill/>
          <a:ln/>
        </p:spPr>
        <p:txBody>
          <a:bodyPr wrap="square" rtlCol="0" anchor="ctr"/>
          <a:lstStyle/>
          <a:p>
            <a:pPr indent="0" marL="0">
              <a:buNone/>
            </a:pPr>
            <a:r>
              <a:rPr lang="en-US" sz="1500" b="1" dirty="0">
                <a:solidFill>
                  <a:srgbClr val="FFC96B"/>
                </a:solidFill>
                <a:latin typeface="Segoe UI" pitchFamily="34" charset="0"/>
                <a:ea typeface="Segoe UI" pitchFamily="34" charset="-122"/>
                <a:cs typeface="Segoe UI" pitchFamily="34" charset="-120"/>
              </a:rPr>
              <a:t>Sound familiar? </a:t>
            </a:r>
            <a:pPr indent="0" marL="0">
              <a:buNone/>
            </a:pPr>
            <a:r>
              <a:rPr lang="en-US" sz="1500" dirty="0">
                <a:solidFill>
                  <a:srgbClr val="F3F6FB"/>
                </a:solidFill>
                <a:latin typeface="Segoe UI" pitchFamily="34" charset="0"/>
                <a:ea typeface="Segoe UI" pitchFamily="34" charset="-122"/>
                <a:cs typeface="Segoe UI" pitchFamily="34" charset="-120"/>
              </a:rPr>
              <a:t>None of it is SAP's fault. It is the manual middle around SAP.</a:t>
            </a:r>
            <a:endParaRPr lang="en-US" sz="1500" dirty="0"/>
          </a:p>
        </p:txBody>
      </p:sp>
      <p:sp>
        <p:nvSpPr>
          <p:cNvPr id="23" name="Text 17"/>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24" name="Text 18"/>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02 / 15</a:t>
            </a:r>
            <a:endParaRPr lang="en-US" sz="900" dirty="0"/>
          </a:p>
        </p:txBody>
      </p:sp>
      <p:sp>
        <p:nvSpPr>
          <p:cNvPr id="25" name="Shape 19"/>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96012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THE FIX</a:t>
            </a:r>
            <a:endParaRPr lang="en-US" sz="1200" dirty="0"/>
          </a:p>
        </p:txBody>
      </p:sp>
      <p:sp>
        <p:nvSpPr>
          <p:cNvPr id="4" name="Text 2"/>
          <p:cNvSpPr/>
          <p:nvPr/>
        </p:nvSpPr>
        <p:spPr>
          <a:xfrm>
            <a:off x="566928" y="960120"/>
            <a:ext cx="10881360" cy="1463040"/>
          </a:xfrm>
          <a:prstGeom prst="rect">
            <a:avLst/>
          </a:prstGeom>
          <a:noFill/>
          <a:ln/>
        </p:spPr>
        <p:txBody>
          <a:bodyPr wrap="square" rtlCol="0" anchor="ctr"/>
          <a:lstStyle/>
          <a:p>
            <a:pPr indent="0" marL="0">
              <a:lnSpc>
                <a:spcPct val="105000"/>
              </a:lnSpc>
              <a:buNone/>
            </a:pPr>
            <a:r>
              <a:rPr lang="en-US" sz="3300" b="1" dirty="0">
                <a:solidFill>
                  <a:srgbClr val="F3F6FB"/>
                </a:solidFill>
                <a:latin typeface="Segoe UI Semibold" pitchFamily="34" charset="0"/>
                <a:ea typeface="Segoe UI Semibold" pitchFamily="34" charset="-122"/>
                <a:cs typeface="Segoe UI Semibold" pitchFamily="34" charset="-120"/>
              </a:rPr>
              <a:t>So we built TreasuryCentral.
</a:t>
            </a:r>
            <a:pPr indent="0" marL="0">
              <a:lnSpc>
                <a:spcPct val="105000"/>
              </a:lnSpc>
              <a:buNone/>
            </a:pPr>
            <a:r>
              <a:rPr lang="en-US" sz="3300" b="1" dirty="0">
                <a:solidFill>
                  <a:srgbClr val="3BE3E0"/>
                </a:solidFill>
                <a:latin typeface="Segoe UI Semibold" pitchFamily="34" charset="0"/>
                <a:ea typeface="Segoe UI Semibold" pitchFamily="34" charset="-122"/>
                <a:cs typeface="Segoe UI Semibold" pitchFamily="34" charset="-120"/>
              </a:rPr>
              <a:t>One cockpit for the whole treasury.</a:t>
            </a:r>
            <a:endParaRPr lang="en-US" sz="3300" dirty="0"/>
          </a:p>
        </p:txBody>
      </p:sp>
      <p:sp>
        <p:nvSpPr>
          <p:cNvPr id="5" name="Shape 3"/>
          <p:cNvSpPr/>
          <p:nvPr/>
        </p:nvSpPr>
        <p:spPr>
          <a:xfrm>
            <a:off x="566928" y="2788920"/>
            <a:ext cx="475488" cy="475488"/>
          </a:xfrm>
          <a:prstGeom prst="roundRect">
            <a:avLst>
              <a:gd name="adj" fmla="val 21154"/>
            </a:avLst>
          </a:prstGeom>
          <a:solidFill>
            <a:srgbClr val="1B2330"/>
          </a:solidFill>
          <a:ln w="15240">
            <a:solidFill>
              <a:srgbClr val="3BE3E0"/>
            </a:solidFill>
            <a:prstDash val="solid"/>
          </a:ln>
        </p:spPr>
      </p:sp>
      <p:pic>
        <p:nvPicPr>
          <p:cNvPr id="6" name="Image 0" descr="C:/Users/neuma_p1qrsic/Repo/agentic-ops1/.scratch/icons/shield.png">    </p:cNvPr>
          <p:cNvPicPr>
            <a:picLocks noChangeAspect="1"/>
          </p:cNvPicPr>
          <p:nvPr/>
        </p:nvPicPr>
        <p:blipFill>
          <a:blip r:embed="rId1"/>
          <a:stretch>
            <a:fillRect/>
          </a:stretch>
        </p:blipFill>
        <p:spPr>
          <a:xfrm>
            <a:off x="681045" y="2903037"/>
            <a:ext cx="247254" cy="247254"/>
          </a:xfrm>
          <a:prstGeom prst="rect">
            <a:avLst/>
          </a:prstGeom>
        </p:spPr>
      </p:pic>
      <p:sp>
        <p:nvSpPr>
          <p:cNvPr id="7" name="Text 4"/>
          <p:cNvSpPr/>
          <p:nvPr/>
        </p:nvSpPr>
        <p:spPr>
          <a:xfrm>
            <a:off x="1252728" y="2788920"/>
            <a:ext cx="7863840" cy="475488"/>
          </a:xfrm>
          <a:prstGeom prst="rect">
            <a:avLst/>
          </a:prstGeom>
          <a:noFill/>
          <a:ln/>
        </p:spPr>
        <p:txBody>
          <a:bodyPr wrap="square" rtlCol="0" anchor="ctr"/>
          <a:lstStyle/>
          <a:p>
            <a:pPr indent="0" marL="0">
              <a:buNone/>
            </a:pPr>
            <a:r>
              <a:rPr lang="en-US" sz="1600" dirty="0">
                <a:solidFill>
                  <a:srgbClr val="F3F6FB"/>
                </a:solidFill>
                <a:latin typeface="Segoe UI" pitchFamily="34" charset="0"/>
                <a:ea typeface="Segoe UI" pitchFamily="34" charset="-122"/>
                <a:cs typeface="Segoe UI" pitchFamily="34" charset="-120"/>
              </a:rPr>
              <a:t>Sits inside your SAP landscape, on SAP's own cloud.</a:t>
            </a:r>
            <a:endParaRPr lang="en-US" sz="1600" dirty="0"/>
          </a:p>
        </p:txBody>
      </p:sp>
      <p:sp>
        <p:nvSpPr>
          <p:cNvPr id="8" name="Shape 5"/>
          <p:cNvSpPr/>
          <p:nvPr/>
        </p:nvSpPr>
        <p:spPr>
          <a:xfrm>
            <a:off x="566928" y="3538728"/>
            <a:ext cx="475488" cy="475488"/>
          </a:xfrm>
          <a:prstGeom prst="roundRect">
            <a:avLst>
              <a:gd name="adj" fmla="val 21154"/>
            </a:avLst>
          </a:prstGeom>
          <a:solidFill>
            <a:srgbClr val="1B2330"/>
          </a:solidFill>
          <a:ln w="15240">
            <a:solidFill>
              <a:srgbClr val="3BE3E0"/>
            </a:solidFill>
            <a:prstDash val="solid"/>
          </a:ln>
        </p:spPr>
      </p:sp>
      <p:pic>
        <p:nvPicPr>
          <p:cNvPr id="9" name="Image 1" descr="C:/Users/neuma_p1qrsic/Repo/agentic-ops1/.scratch/icons/database.png">    </p:cNvPr>
          <p:cNvPicPr>
            <a:picLocks noChangeAspect="1"/>
          </p:cNvPicPr>
          <p:nvPr/>
        </p:nvPicPr>
        <p:blipFill>
          <a:blip r:embed="rId2"/>
          <a:stretch>
            <a:fillRect/>
          </a:stretch>
        </p:blipFill>
        <p:spPr>
          <a:xfrm>
            <a:off x="681045" y="3652845"/>
            <a:ext cx="247254" cy="247254"/>
          </a:xfrm>
          <a:prstGeom prst="rect">
            <a:avLst/>
          </a:prstGeom>
        </p:spPr>
      </p:pic>
      <p:sp>
        <p:nvSpPr>
          <p:cNvPr id="10" name="Text 6"/>
          <p:cNvSpPr/>
          <p:nvPr/>
        </p:nvSpPr>
        <p:spPr>
          <a:xfrm>
            <a:off x="1252728" y="3538728"/>
            <a:ext cx="7863840" cy="475488"/>
          </a:xfrm>
          <a:prstGeom prst="rect">
            <a:avLst/>
          </a:prstGeom>
          <a:noFill/>
          <a:ln/>
        </p:spPr>
        <p:txBody>
          <a:bodyPr wrap="square" rtlCol="0" anchor="ctr"/>
          <a:lstStyle/>
          <a:p>
            <a:pPr indent="0" marL="0">
              <a:buNone/>
            </a:pPr>
            <a:r>
              <a:rPr lang="en-US" sz="1600" dirty="0">
                <a:solidFill>
                  <a:srgbClr val="F3F6FB"/>
                </a:solidFill>
                <a:latin typeface="Segoe UI" pitchFamily="34" charset="0"/>
                <a:ea typeface="Segoe UI" pitchFamily="34" charset="-122"/>
                <a:cs typeface="Segoe UI" pitchFamily="34" charset="-120"/>
              </a:rPr>
              <a:t>Works on your live S/4HANA, ECC and TRM data.</a:t>
            </a:r>
            <a:endParaRPr lang="en-US" sz="1600" dirty="0"/>
          </a:p>
        </p:txBody>
      </p:sp>
      <p:sp>
        <p:nvSpPr>
          <p:cNvPr id="11" name="Shape 7"/>
          <p:cNvSpPr/>
          <p:nvPr/>
        </p:nvSpPr>
        <p:spPr>
          <a:xfrm>
            <a:off x="566928" y="4288536"/>
            <a:ext cx="475488" cy="475488"/>
          </a:xfrm>
          <a:prstGeom prst="roundRect">
            <a:avLst>
              <a:gd name="adj" fmla="val 21154"/>
            </a:avLst>
          </a:prstGeom>
          <a:solidFill>
            <a:srgbClr val="1B2330"/>
          </a:solidFill>
          <a:ln w="15240">
            <a:solidFill>
              <a:srgbClr val="3BE3E0"/>
            </a:solidFill>
            <a:prstDash val="solid"/>
          </a:ln>
        </p:spPr>
      </p:sp>
      <p:pic>
        <p:nvPicPr>
          <p:cNvPr id="12" name="Image 2" descr="C:/Users/neuma_p1qrsic/Repo/agentic-ops1/.scratch/icons/blocks.png">    </p:cNvPr>
          <p:cNvPicPr>
            <a:picLocks noChangeAspect="1"/>
          </p:cNvPicPr>
          <p:nvPr/>
        </p:nvPicPr>
        <p:blipFill>
          <a:blip r:embed="rId3"/>
          <a:stretch>
            <a:fillRect/>
          </a:stretch>
        </p:blipFill>
        <p:spPr>
          <a:xfrm>
            <a:off x="681045" y="4402653"/>
            <a:ext cx="247254" cy="247254"/>
          </a:xfrm>
          <a:prstGeom prst="rect">
            <a:avLst/>
          </a:prstGeom>
        </p:spPr>
      </p:pic>
      <p:sp>
        <p:nvSpPr>
          <p:cNvPr id="13" name="Text 8"/>
          <p:cNvSpPr/>
          <p:nvPr/>
        </p:nvSpPr>
        <p:spPr>
          <a:xfrm>
            <a:off x="1252728" y="4288536"/>
            <a:ext cx="7863840" cy="475488"/>
          </a:xfrm>
          <a:prstGeom prst="rect">
            <a:avLst/>
          </a:prstGeom>
          <a:noFill/>
          <a:ln/>
        </p:spPr>
        <p:txBody>
          <a:bodyPr wrap="square" rtlCol="0" anchor="ctr"/>
          <a:lstStyle/>
          <a:p>
            <a:pPr indent="0" marL="0">
              <a:buNone/>
            </a:pPr>
            <a:r>
              <a:rPr lang="en-US" sz="1600" dirty="0">
                <a:solidFill>
                  <a:srgbClr val="F3F6FB"/>
                </a:solidFill>
                <a:latin typeface="Segoe UI" pitchFamily="34" charset="0"/>
                <a:ea typeface="Segoe UI" pitchFamily="34" charset="-122"/>
                <a:cs typeface="Segoe UI" pitchFamily="34" charset="-120"/>
              </a:rPr>
              <a:t>One governed layer for market data, trading and AI automation.</a:t>
            </a:r>
            <a:endParaRPr lang="en-US" sz="1600" dirty="0"/>
          </a:p>
        </p:txBody>
      </p:sp>
      <p:sp>
        <p:nvSpPr>
          <p:cNvPr id="14" name="Shape 9"/>
          <p:cNvSpPr/>
          <p:nvPr/>
        </p:nvSpPr>
        <p:spPr>
          <a:xfrm>
            <a:off x="566928" y="5120640"/>
            <a:ext cx="11057839" cy="868680"/>
          </a:xfrm>
          <a:prstGeom prst="roundRect">
            <a:avLst>
              <a:gd name="adj" fmla="val 9474"/>
            </a:avLst>
          </a:prstGeom>
          <a:solidFill>
            <a:srgbClr val="141A25"/>
          </a:solidFill>
          <a:ln w="13970">
            <a:solidFill>
              <a:srgbClr val="36414F"/>
            </a:solidFill>
            <a:prstDash val="solid"/>
          </a:ln>
        </p:spPr>
      </p:sp>
      <p:sp>
        <p:nvSpPr>
          <p:cNvPr id="15" name="Shape 10"/>
          <p:cNvSpPr/>
          <p:nvPr/>
        </p:nvSpPr>
        <p:spPr>
          <a:xfrm>
            <a:off x="795528" y="5276088"/>
            <a:ext cx="1234440" cy="548640"/>
          </a:xfrm>
          <a:prstGeom prst="roundRect">
            <a:avLst>
              <a:gd name="adj" fmla="val 23333"/>
            </a:avLst>
          </a:prstGeom>
          <a:solidFill>
            <a:srgbClr val="FFFFFF"/>
          </a:solidFill>
          <a:ln w="9525">
            <a:solidFill>
              <a:srgbClr val="36414F"/>
            </a:solidFill>
            <a:prstDash val="solid"/>
          </a:ln>
        </p:spPr>
      </p:sp>
      <p:pic>
        <p:nvPicPr>
          <p:cNvPr id="16" name="Image 3" descr="C:/Users/neuma_p1qrsic/Repo/agentic-ops1/.scratch/deckgen/logos/sap.png">    </p:cNvPr>
          <p:cNvPicPr>
            <a:picLocks noChangeAspect="1"/>
          </p:cNvPicPr>
          <p:nvPr/>
        </p:nvPicPr>
        <p:blipFill>
          <a:blip r:embed="rId4"/>
          <a:stretch>
            <a:fillRect/>
          </a:stretch>
        </p:blipFill>
        <p:spPr>
          <a:xfrm>
            <a:off x="1047219" y="5369357"/>
            <a:ext cx="731058" cy="362102"/>
          </a:xfrm>
          <a:prstGeom prst="rect">
            <a:avLst/>
          </a:prstGeom>
        </p:spPr>
      </p:pic>
      <p:sp>
        <p:nvSpPr>
          <p:cNvPr id="17" name="Text 11"/>
          <p:cNvSpPr/>
          <p:nvPr/>
        </p:nvSpPr>
        <p:spPr>
          <a:xfrm>
            <a:off x="2258568" y="5120640"/>
            <a:ext cx="9091879" cy="868680"/>
          </a:xfrm>
          <a:prstGeom prst="rect">
            <a:avLst/>
          </a:prstGeom>
          <a:noFill/>
          <a:ln/>
        </p:spPr>
        <p:txBody>
          <a:bodyPr wrap="square" rtlCol="0" anchor="ctr"/>
          <a:lstStyle/>
          <a:p>
            <a:pPr indent="0" marL="0">
              <a:buNone/>
            </a:pPr>
            <a:r>
              <a:rPr lang="en-US" sz="1350" dirty="0">
                <a:solidFill>
                  <a:srgbClr val="AAB6C7"/>
                </a:solidFill>
                <a:latin typeface="Segoe UI" pitchFamily="34" charset="0"/>
                <a:ea typeface="Segoe UI" pitchFamily="34" charset="-122"/>
                <a:cs typeface="Segoe UI" pitchFamily="34" charset="-120"/>
              </a:rPr>
              <a:t>Brisken. SAP treasury specialists and an SAP co-innovation partner. Built into SAP, not beside it.</a:t>
            </a:r>
            <a:endParaRPr lang="en-US" sz="1350" dirty="0"/>
          </a:p>
        </p:txBody>
      </p:sp>
      <p:sp>
        <p:nvSpPr>
          <p:cNvPr id="18" name="Text 12"/>
          <p:cNvSpPr/>
          <p:nvPr/>
        </p:nvSpPr>
        <p:spPr>
          <a:xfrm>
            <a:off x="9436608" y="2788920"/>
            <a:ext cx="1051560" cy="603504"/>
          </a:xfrm>
          <a:prstGeom prst="rect">
            <a:avLst/>
          </a:prstGeom>
          <a:noFill/>
          <a:ln/>
        </p:spPr>
        <p:txBody>
          <a:bodyPr wrap="square" rtlCol="0" anchor="ctr"/>
          <a:lstStyle/>
          <a:p>
            <a:pPr algn="r" indent="0" marL="0">
              <a:buNone/>
            </a:pPr>
            <a:r>
              <a:rPr lang="en-US" sz="2600" b="1" dirty="0">
                <a:solidFill>
                  <a:srgbClr val="3BE3E0"/>
                </a:solidFill>
                <a:latin typeface="Segoe UI Semibold" pitchFamily="34" charset="0"/>
                <a:ea typeface="Segoe UI Semibold" pitchFamily="34" charset="-122"/>
                <a:cs typeface="Segoe UI Semibold" pitchFamily="34" charset="-120"/>
              </a:rPr>
              <a:t>1</a:t>
            </a:r>
            <a:endParaRPr lang="en-US" sz="2600" dirty="0"/>
          </a:p>
        </p:txBody>
      </p:sp>
      <p:sp>
        <p:nvSpPr>
          <p:cNvPr id="19" name="Text 13"/>
          <p:cNvSpPr/>
          <p:nvPr/>
        </p:nvSpPr>
        <p:spPr>
          <a:xfrm>
            <a:off x="10625328" y="2788920"/>
            <a:ext cx="1600200" cy="603504"/>
          </a:xfrm>
          <a:prstGeom prst="rect">
            <a:avLst/>
          </a:prstGeom>
          <a:noFill/>
          <a:ln/>
        </p:spPr>
        <p:txBody>
          <a:bodyPr wrap="square" rtlCol="0" anchor="ctr"/>
          <a:lstStyle/>
          <a:p>
            <a:pPr indent="0" marL="0">
              <a:lnSpc>
                <a:spcPct val="105000"/>
              </a:lnSpc>
              <a:buNone/>
            </a:pPr>
            <a:r>
              <a:rPr lang="en-US" sz="1050" dirty="0">
                <a:solidFill>
                  <a:srgbClr val="AAB6C7"/>
                </a:solidFill>
                <a:latin typeface="Segoe UI" pitchFamily="34" charset="0"/>
                <a:ea typeface="Segoe UI" pitchFamily="34" charset="-122"/>
                <a:cs typeface="Segoe UI" pitchFamily="34" charset="-120"/>
              </a:rPr>
              <a:t>cockpit for the whole treasury</a:t>
            </a:r>
            <a:endParaRPr lang="en-US" sz="1050" dirty="0"/>
          </a:p>
        </p:txBody>
      </p:sp>
      <p:sp>
        <p:nvSpPr>
          <p:cNvPr id="20" name="Text 14"/>
          <p:cNvSpPr/>
          <p:nvPr/>
        </p:nvSpPr>
        <p:spPr>
          <a:xfrm>
            <a:off x="9436608" y="3538728"/>
            <a:ext cx="1051560" cy="603504"/>
          </a:xfrm>
          <a:prstGeom prst="rect">
            <a:avLst/>
          </a:prstGeom>
          <a:noFill/>
          <a:ln/>
        </p:spPr>
        <p:txBody>
          <a:bodyPr wrap="square" rtlCol="0" anchor="ctr"/>
          <a:lstStyle/>
          <a:p>
            <a:pPr algn="r" indent="0" marL="0">
              <a:buNone/>
            </a:pPr>
            <a:r>
              <a:rPr lang="en-US" sz="2600" b="1" dirty="0">
                <a:solidFill>
                  <a:srgbClr val="3BE3E0"/>
                </a:solidFill>
                <a:latin typeface="Segoe UI Semibold" pitchFamily="34" charset="0"/>
                <a:ea typeface="Segoe UI Semibold" pitchFamily="34" charset="-122"/>
                <a:cs typeface="Segoe UI Semibold" pitchFamily="34" charset="-120"/>
              </a:rPr>
              <a:t>0</a:t>
            </a:r>
            <a:endParaRPr lang="en-US" sz="2600" dirty="0"/>
          </a:p>
        </p:txBody>
      </p:sp>
      <p:sp>
        <p:nvSpPr>
          <p:cNvPr id="21" name="Text 15"/>
          <p:cNvSpPr/>
          <p:nvPr/>
        </p:nvSpPr>
        <p:spPr>
          <a:xfrm>
            <a:off x="10625328" y="3538728"/>
            <a:ext cx="1600200" cy="603504"/>
          </a:xfrm>
          <a:prstGeom prst="rect">
            <a:avLst/>
          </a:prstGeom>
          <a:noFill/>
          <a:ln/>
        </p:spPr>
        <p:txBody>
          <a:bodyPr wrap="square" rtlCol="0" anchor="ctr"/>
          <a:lstStyle/>
          <a:p>
            <a:pPr indent="0" marL="0">
              <a:lnSpc>
                <a:spcPct val="105000"/>
              </a:lnSpc>
              <a:buNone/>
            </a:pPr>
            <a:r>
              <a:rPr lang="en-US" sz="1050" dirty="0">
                <a:solidFill>
                  <a:srgbClr val="AAB6C7"/>
                </a:solidFill>
                <a:latin typeface="Segoe UI" pitchFamily="34" charset="0"/>
                <a:ea typeface="Segoe UI" pitchFamily="34" charset="-122"/>
                <a:cs typeface="Segoe UI" pitchFamily="34" charset="-120"/>
              </a:rPr>
              <a:t>code to run it</a:t>
            </a:r>
            <a:endParaRPr lang="en-US" sz="1050" dirty="0"/>
          </a:p>
        </p:txBody>
      </p:sp>
      <p:sp>
        <p:nvSpPr>
          <p:cNvPr id="22" name="Text 16"/>
          <p:cNvSpPr/>
          <p:nvPr/>
        </p:nvSpPr>
        <p:spPr>
          <a:xfrm>
            <a:off x="9436608" y="4288536"/>
            <a:ext cx="1051560" cy="603504"/>
          </a:xfrm>
          <a:prstGeom prst="rect">
            <a:avLst/>
          </a:prstGeom>
          <a:noFill/>
          <a:ln/>
        </p:spPr>
        <p:txBody>
          <a:bodyPr wrap="square" rtlCol="0" anchor="ctr"/>
          <a:lstStyle/>
          <a:p>
            <a:pPr algn="r" indent="0" marL="0">
              <a:buNone/>
            </a:pPr>
            <a:r>
              <a:rPr lang="en-US" sz="2600" b="1" dirty="0">
                <a:solidFill>
                  <a:srgbClr val="3BE3E0"/>
                </a:solidFill>
                <a:latin typeface="Segoe UI Semibold" pitchFamily="34" charset="0"/>
                <a:ea typeface="Segoe UI Semibold" pitchFamily="34" charset="-122"/>
                <a:cs typeface="Segoe UI Semibold" pitchFamily="34" charset="-120"/>
              </a:rPr>
              <a:t>360°</a:t>
            </a:r>
            <a:endParaRPr lang="en-US" sz="2600" dirty="0"/>
          </a:p>
        </p:txBody>
      </p:sp>
      <p:sp>
        <p:nvSpPr>
          <p:cNvPr id="23" name="Text 17"/>
          <p:cNvSpPr/>
          <p:nvPr/>
        </p:nvSpPr>
        <p:spPr>
          <a:xfrm>
            <a:off x="10625328" y="4288536"/>
            <a:ext cx="1600200" cy="603504"/>
          </a:xfrm>
          <a:prstGeom prst="rect">
            <a:avLst/>
          </a:prstGeom>
          <a:noFill/>
          <a:ln/>
        </p:spPr>
        <p:txBody>
          <a:bodyPr wrap="square" rtlCol="0" anchor="ctr"/>
          <a:lstStyle/>
          <a:p>
            <a:pPr indent="0" marL="0">
              <a:lnSpc>
                <a:spcPct val="105000"/>
              </a:lnSpc>
              <a:buNone/>
            </a:pPr>
            <a:r>
              <a:rPr lang="en-US" sz="1050" dirty="0">
                <a:solidFill>
                  <a:srgbClr val="AAB6C7"/>
                </a:solidFill>
                <a:latin typeface="Segoe UI" pitchFamily="34" charset="0"/>
                <a:ea typeface="Segoe UI" pitchFamily="34" charset="-122"/>
                <a:cs typeface="Segoe UI" pitchFamily="34" charset="-120"/>
              </a:rPr>
              <a:t>audit on every change</a:t>
            </a:r>
            <a:endParaRPr lang="en-US" sz="1050" dirty="0"/>
          </a:p>
        </p:txBody>
      </p:sp>
      <p:sp>
        <p:nvSpPr>
          <p:cNvPr id="24" name="Text 18"/>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25" name="Text 19"/>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03 / 15</a:t>
            </a:r>
            <a:endParaRPr lang="en-US" sz="900" dirty="0"/>
          </a:p>
        </p:txBody>
      </p:sp>
      <p:sp>
        <p:nvSpPr>
          <p:cNvPr id="26" name="Shape 20"/>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21B"/>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96012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WHAT IT REPLACES</a:t>
            </a:r>
            <a:endParaRPr lang="en-US" sz="1200" dirty="0"/>
          </a:p>
        </p:txBody>
      </p:sp>
      <p:sp>
        <p:nvSpPr>
          <p:cNvPr id="4" name="Text 2"/>
          <p:cNvSpPr/>
          <p:nvPr/>
        </p:nvSpPr>
        <p:spPr>
          <a:xfrm>
            <a:off x="566928" y="960120"/>
            <a:ext cx="10881360" cy="731520"/>
          </a:xfrm>
          <a:prstGeom prst="rect">
            <a:avLst/>
          </a:prstGeom>
          <a:noFill/>
          <a:ln/>
        </p:spPr>
        <p:txBody>
          <a:bodyPr wrap="square" rtlCol="0" anchor="ctr"/>
          <a:lstStyle/>
          <a:p>
            <a:pPr indent="0" marL="0">
              <a:buNone/>
            </a:pPr>
            <a:r>
              <a:rPr lang="en-US" sz="3000" b="1" dirty="0">
                <a:solidFill>
                  <a:srgbClr val="F3F6FB"/>
                </a:solidFill>
                <a:latin typeface="Segoe UI Semibold" pitchFamily="34" charset="0"/>
                <a:ea typeface="Segoe UI Semibold" pitchFamily="34" charset="-122"/>
                <a:cs typeface="Segoe UI Semibold" pitchFamily="34" charset="-120"/>
              </a:rPr>
              <a:t>It replaces the spreadsheets, not your SAP.</a:t>
            </a:r>
            <a:endParaRPr lang="en-US" sz="3000" dirty="0"/>
          </a:p>
        </p:txBody>
      </p:sp>
      <p:sp>
        <p:nvSpPr>
          <p:cNvPr id="5" name="Shape 3"/>
          <p:cNvSpPr/>
          <p:nvPr/>
        </p:nvSpPr>
        <p:spPr>
          <a:xfrm>
            <a:off x="566928" y="2103120"/>
            <a:ext cx="5300320" cy="3017520"/>
          </a:xfrm>
          <a:prstGeom prst="roundRect">
            <a:avLst>
              <a:gd name="adj" fmla="val 2727"/>
            </a:avLst>
          </a:prstGeom>
          <a:solidFill>
            <a:srgbClr val="24190E"/>
          </a:solidFill>
          <a:ln w="16510">
            <a:solidFill>
              <a:srgbClr val="FFC96B"/>
            </a:solidFill>
            <a:prstDash val="solid"/>
          </a:ln>
        </p:spPr>
      </p:sp>
      <p:sp>
        <p:nvSpPr>
          <p:cNvPr id="6" name="Text 4"/>
          <p:cNvSpPr/>
          <p:nvPr/>
        </p:nvSpPr>
        <p:spPr>
          <a:xfrm>
            <a:off x="886968" y="2331720"/>
            <a:ext cx="2743200" cy="365760"/>
          </a:xfrm>
          <a:prstGeom prst="rect">
            <a:avLst/>
          </a:prstGeom>
          <a:noFill/>
          <a:ln/>
        </p:spPr>
        <p:txBody>
          <a:bodyPr wrap="square" rtlCol="0" anchor="ctr"/>
          <a:lstStyle/>
          <a:p>
            <a:pPr indent="0" marL="0">
              <a:buNone/>
            </a:pPr>
            <a:r>
              <a:rPr lang="en-US" sz="1400" b="1" spc="200" kern="0" dirty="0">
                <a:solidFill>
                  <a:srgbClr val="FFC96B"/>
                </a:solidFill>
                <a:latin typeface="Segoe UI Semibold" pitchFamily="34" charset="0"/>
                <a:ea typeface="Segoe UI Semibold" pitchFamily="34" charset="-122"/>
                <a:cs typeface="Segoe UI Semibold" pitchFamily="34" charset="-120"/>
              </a:rPr>
              <a:t>GOES</a:t>
            </a:r>
            <a:endParaRPr lang="en-US" sz="1400" dirty="0"/>
          </a:p>
        </p:txBody>
      </p:sp>
      <p:pic>
        <p:nvPicPr>
          <p:cNvPr id="7" name="Image 0" descr="C:/Users/neuma_p1qrsic/Repo/agentic-ops1/.scratch/icons/gap.png">    </p:cNvPr>
          <p:cNvPicPr>
            <a:picLocks noChangeAspect="1"/>
          </p:cNvPicPr>
          <p:nvPr/>
        </p:nvPicPr>
        <p:blipFill>
          <a:blip r:embed="rId1"/>
          <a:stretch>
            <a:fillRect/>
          </a:stretch>
        </p:blipFill>
        <p:spPr>
          <a:xfrm>
            <a:off x="886968" y="2880360"/>
            <a:ext cx="274320" cy="274320"/>
          </a:xfrm>
          <a:prstGeom prst="rect">
            <a:avLst/>
          </a:prstGeom>
        </p:spPr>
      </p:pic>
      <p:sp>
        <p:nvSpPr>
          <p:cNvPr id="8" name="Text 5"/>
          <p:cNvSpPr/>
          <p:nvPr/>
        </p:nvSpPr>
        <p:spPr>
          <a:xfrm>
            <a:off x="1298448" y="2834640"/>
            <a:ext cx="4294480" cy="384048"/>
          </a:xfrm>
          <a:prstGeom prst="rect">
            <a:avLst/>
          </a:prstGeom>
          <a:noFill/>
          <a:ln/>
        </p:spPr>
        <p:txBody>
          <a:bodyPr wrap="square" rtlCol="0" anchor="ctr"/>
          <a:lstStyle/>
          <a:p>
            <a:pPr indent="0" marL="0">
              <a:buNone/>
            </a:pPr>
            <a:r>
              <a:rPr lang="en-US" sz="1400" dirty="0">
                <a:solidFill>
                  <a:srgbClr val="F3F6FB"/>
                </a:solidFill>
                <a:latin typeface="Segoe UI" pitchFamily="34" charset="0"/>
                <a:ea typeface="Segoe UI" pitchFamily="34" charset="-122"/>
                <a:cs typeface="Segoe UI" pitchFamily="34" charset="-120"/>
              </a:rPr>
              <a:t>Re-keying rates from portals</a:t>
            </a:r>
            <a:endParaRPr lang="en-US" sz="1400" dirty="0"/>
          </a:p>
        </p:txBody>
      </p:sp>
      <p:pic>
        <p:nvPicPr>
          <p:cNvPr id="9" name="Image 1" descr="C:/Users/neuma_p1qrsic/Repo/agentic-ops1/.scratch/icons/gap.png">    </p:cNvPr>
          <p:cNvPicPr>
            <a:picLocks noChangeAspect="1"/>
          </p:cNvPicPr>
          <p:nvPr/>
        </p:nvPicPr>
        <p:blipFill>
          <a:blip r:embed="rId2"/>
          <a:stretch>
            <a:fillRect/>
          </a:stretch>
        </p:blipFill>
        <p:spPr>
          <a:xfrm>
            <a:off x="886968" y="3410712"/>
            <a:ext cx="274320" cy="274320"/>
          </a:xfrm>
          <a:prstGeom prst="rect">
            <a:avLst/>
          </a:prstGeom>
        </p:spPr>
      </p:pic>
      <p:sp>
        <p:nvSpPr>
          <p:cNvPr id="10" name="Text 6"/>
          <p:cNvSpPr/>
          <p:nvPr/>
        </p:nvSpPr>
        <p:spPr>
          <a:xfrm>
            <a:off x="1298448" y="3364992"/>
            <a:ext cx="4294480" cy="384048"/>
          </a:xfrm>
          <a:prstGeom prst="rect">
            <a:avLst/>
          </a:prstGeom>
          <a:noFill/>
          <a:ln/>
        </p:spPr>
        <p:txBody>
          <a:bodyPr wrap="square" rtlCol="0" anchor="ctr"/>
          <a:lstStyle/>
          <a:p>
            <a:pPr indent="0" marL="0">
              <a:buNone/>
            </a:pPr>
            <a:r>
              <a:rPr lang="en-US" sz="1400" dirty="0">
                <a:solidFill>
                  <a:srgbClr val="F3F6FB"/>
                </a:solidFill>
                <a:latin typeface="Segoe UI" pitchFamily="34" charset="0"/>
                <a:ea typeface="Segoe UI" pitchFamily="34" charset="-122"/>
                <a:cs typeface="Segoe UI" pitchFamily="34" charset="-120"/>
              </a:rPr>
              <a:t>Approval chains living in inboxes</a:t>
            </a:r>
            <a:endParaRPr lang="en-US" sz="1400" dirty="0"/>
          </a:p>
        </p:txBody>
      </p:sp>
      <p:pic>
        <p:nvPicPr>
          <p:cNvPr id="11" name="Image 2" descr="C:/Users/neuma_p1qrsic/Repo/agentic-ops1/.scratch/icons/gap.png">    </p:cNvPr>
          <p:cNvPicPr>
            <a:picLocks noChangeAspect="1"/>
          </p:cNvPicPr>
          <p:nvPr/>
        </p:nvPicPr>
        <p:blipFill>
          <a:blip r:embed="rId3"/>
          <a:stretch>
            <a:fillRect/>
          </a:stretch>
        </p:blipFill>
        <p:spPr>
          <a:xfrm>
            <a:off x="886968" y="3941064"/>
            <a:ext cx="274320" cy="274320"/>
          </a:xfrm>
          <a:prstGeom prst="rect">
            <a:avLst/>
          </a:prstGeom>
        </p:spPr>
      </p:pic>
      <p:sp>
        <p:nvSpPr>
          <p:cNvPr id="12" name="Text 7"/>
          <p:cNvSpPr/>
          <p:nvPr/>
        </p:nvSpPr>
        <p:spPr>
          <a:xfrm>
            <a:off x="1298448" y="3895344"/>
            <a:ext cx="4294480" cy="384048"/>
          </a:xfrm>
          <a:prstGeom prst="rect">
            <a:avLst/>
          </a:prstGeom>
          <a:noFill/>
          <a:ln/>
        </p:spPr>
        <p:txBody>
          <a:bodyPr wrap="square" rtlCol="0" anchor="ctr"/>
          <a:lstStyle/>
          <a:p>
            <a:pPr indent="0" marL="0">
              <a:buNone/>
            </a:pPr>
            <a:r>
              <a:rPr lang="en-US" sz="1400" dirty="0">
                <a:solidFill>
                  <a:srgbClr val="F3F6FB"/>
                </a:solidFill>
                <a:latin typeface="Segoe UI" pitchFamily="34" charset="0"/>
                <a:ea typeface="Segoe UI" pitchFamily="34" charset="-122"/>
                <a:cs typeface="Segoe UI" pitchFamily="34" charset="-120"/>
              </a:rPr>
              <a:t>CSV shuffling between systems</a:t>
            </a:r>
            <a:endParaRPr lang="en-US" sz="1400" dirty="0"/>
          </a:p>
        </p:txBody>
      </p:sp>
      <p:pic>
        <p:nvPicPr>
          <p:cNvPr id="13" name="Image 3" descr="C:/Users/neuma_p1qrsic/Repo/agentic-ops1/.scratch/icons/gap.png">    </p:cNvPr>
          <p:cNvPicPr>
            <a:picLocks noChangeAspect="1"/>
          </p:cNvPicPr>
          <p:nvPr/>
        </p:nvPicPr>
        <p:blipFill>
          <a:blip r:embed="rId4"/>
          <a:stretch>
            <a:fillRect/>
          </a:stretch>
        </p:blipFill>
        <p:spPr>
          <a:xfrm>
            <a:off x="886968" y="4471416"/>
            <a:ext cx="274320" cy="274320"/>
          </a:xfrm>
          <a:prstGeom prst="rect">
            <a:avLst/>
          </a:prstGeom>
        </p:spPr>
      </p:pic>
      <p:sp>
        <p:nvSpPr>
          <p:cNvPr id="14" name="Text 8"/>
          <p:cNvSpPr/>
          <p:nvPr/>
        </p:nvSpPr>
        <p:spPr>
          <a:xfrm>
            <a:off x="1298448" y="4425696"/>
            <a:ext cx="4294480" cy="384048"/>
          </a:xfrm>
          <a:prstGeom prst="rect">
            <a:avLst/>
          </a:prstGeom>
          <a:noFill/>
          <a:ln/>
        </p:spPr>
        <p:txBody>
          <a:bodyPr wrap="square" rtlCol="0" anchor="ctr"/>
          <a:lstStyle/>
          <a:p>
            <a:pPr indent="0" marL="0">
              <a:buNone/>
            </a:pPr>
            <a:r>
              <a:rPr lang="en-US" sz="1400" dirty="0">
                <a:solidFill>
                  <a:srgbClr val="F3F6FB"/>
                </a:solidFill>
                <a:latin typeface="Segoe UI" pitchFamily="34" charset="0"/>
                <a:ea typeface="Segoe UI" pitchFamily="34" charset="-122"/>
                <a:cs typeface="Segoe UI" pitchFamily="34" charset="-120"/>
              </a:rPr>
              <a:t>Swivel-chair work between venues and SAP</a:t>
            </a:r>
            <a:endParaRPr lang="en-US" sz="1400" dirty="0"/>
          </a:p>
        </p:txBody>
      </p:sp>
      <p:sp>
        <p:nvSpPr>
          <p:cNvPr id="15" name="Shape 9"/>
          <p:cNvSpPr/>
          <p:nvPr/>
        </p:nvSpPr>
        <p:spPr>
          <a:xfrm>
            <a:off x="6324448" y="2103120"/>
            <a:ext cx="5300320" cy="3017520"/>
          </a:xfrm>
          <a:prstGeom prst="roundRect">
            <a:avLst>
              <a:gd name="adj" fmla="val 2727"/>
            </a:avLst>
          </a:prstGeom>
          <a:solidFill>
            <a:srgbClr val="0E2018"/>
          </a:solidFill>
          <a:ln w="16510">
            <a:solidFill>
              <a:srgbClr val="46D9A0"/>
            </a:solidFill>
            <a:prstDash val="solid"/>
          </a:ln>
        </p:spPr>
      </p:sp>
      <p:sp>
        <p:nvSpPr>
          <p:cNvPr id="16" name="Text 10"/>
          <p:cNvSpPr/>
          <p:nvPr/>
        </p:nvSpPr>
        <p:spPr>
          <a:xfrm>
            <a:off x="6644488" y="2331720"/>
            <a:ext cx="2743200" cy="365760"/>
          </a:xfrm>
          <a:prstGeom prst="rect">
            <a:avLst/>
          </a:prstGeom>
          <a:noFill/>
          <a:ln/>
        </p:spPr>
        <p:txBody>
          <a:bodyPr wrap="square" rtlCol="0" anchor="ctr"/>
          <a:lstStyle/>
          <a:p>
            <a:pPr indent="0" marL="0">
              <a:buNone/>
            </a:pPr>
            <a:r>
              <a:rPr lang="en-US" sz="1400" b="1" spc="200" kern="0" dirty="0">
                <a:solidFill>
                  <a:srgbClr val="46D9A0"/>
                </a:solidFill>
                <a:latin typeface="Segoe UI Semibold" pitchFamily="34" charset="0"/>
                <a:ea typeface="Segoe UI Semibold" pitchFamily="34" charset="-122"/>
                <a:cs typeface="Segoe UI Semibold" pitchFamily="34" charset="-120"/>
              </a:rPr>
              <a:t>STAYS</a:t>
            </a:r>
            <a:endParaRPr lang="en-US" sz="1400" dirty="0"/>
          </a:p>
        </p:txBody>
      </p:sp>
      <p:pic>
        <p:nvPicPr>
          <p:cNvPr id="17" name="Image 4" descr="C:/Users/neuma_p1qrsic/Repo/agentic-ops1/.scratch/icons/check.png">    </p:cNvPr>
          <p:cNvPicPr>
            <a:picLocks noChangeAspect="1"/>
          </p:cNvPicPr>
          <p:nvPr/>
        </p:nvPicPr>
        <p:blipFill>
          <a:blip r:embed="rId5"/>
          <a:stretch>
            <a:fillRect/>
          </a:stretch>
        </p:blipFill>
        <p:spPr>
          <a:xfrm>
            <a:off x="6644488" y="2880360"/>
            <a:ext cx="274320" cy="274320"/>
          </a:xfrm>
          <a:prstGeom prst="rect">
            <a:avLst/>
          </a:prstGeom>
        </p:spPr>
      </p:pic>
      <p:sp>
        <p:nvSpPr>
          <p:cNvPr id="18" name="Text 11"/>
          <p:cNvSpPr/>
          <p:nvPr/>
        </p:nvSpPr>
        <p:spPr>
          <a:xfrm>
            <a:off x="7055968" y="2834640"/>
            <a:ext cx="4294480" cy="384048"/>
          </a:xfrm>
          <a:prstGeom prst="rect">
            <a:avLst/>
          </a:prstGeom>
          <a:noFill/>
          <a:ln/>
        </p:spPr>
        <p:txBody>
          <a:bodyPr wrap="square" rtlCol="0" anchor="ctr"/>
          <a:lstStyle/>
          <a:p>
            <a:pPr indent="0" marL="0">
              <a:buNone/>
            </a:pPr>
            <a:r>
              <a:rPr lang="en-US" sz="1400" dirty="0">
                <a:solidFill>
                  <a:srgbClr val="F3F6FB"/>
                </a:solidFill>
                <a:latin typeface="Segoe UI" pitchFamily="34" charset="0"/>
                <a:ea typeface="Segoe UI" pitchFamily="34" charset="-122"/>
                <a:cs typeface="Segoe UI" pitchFamily="34" charset="-120"/>
              </a:rPr>
              <a:t>SAP as the single source of record</a:t>
            </a:r>
            <a:endParaRPr lang="en-US" sz="1400" dirty="0"/>
          </a:p>
        </p:txBody>
      </p:sp>
      <p:pic>
        <p:nvPicPr>
          <p:cNvPr id="19" name="Image 5" descr="C:/Users/neuma_p1qrsic/Repo/agentic-ops1/.scratch/icons/check.png">    </p:cNvPr>
          <p:cNvPicPr>
            <a:picLocks noChangeAspect="1"/>
          </p:cNvPicPr>
          <p:nvPr/>
        </p:nvPicPr>
        <p:blipFill>
          <a:blip r:embed="rId6"/>
          <a:stretch>
            <a:fillRect/>
          </a:stretch>
        </p:blipFill>
        <p:spPr>
          <a:xfrm>
            <a:off x="6644488" y="3410712"/>
            <a:ext cx="274320" cy="274320"/>
          </a:xfrm>
          <a:prstGeom prst="rect">
            <a:avLst/>
          </a:prstGeom>
        </p:spPr>
      </p:pic>
      <p:sp>
        <p:nvSpPr>
          <p:cNvPr id="20" name="Text 12"/>
          <p:cNvSpPr/>
          <p:nvPr/>
        </p:nvSpPr>
        <p:spPr>
          <a:xfrm>
            <a:off x="7055968" y="3364992"/>
            <a:ext cx="4294480" cy="384048"/>
          </a:xfrm>
          <a:prstGeom prst="rect">
            <a:avLst/>
          </a:prstGeom>
          <a:noFill/>
          <a:ln/>
        </p:spPr>
        <p:txBody>
          <a:bodyPr wrap="square" rtlCol="0" anchor="ctr"/>
          <a:lstStyle/>
          <a:p>
            <a:pPr indent="0" marL="0">
              <a:buNone/>
            </a:pPr>
            <a:r>
              <a:rPr lang="en-US" sz="1400" dirty="0">
                <a:solidFill>
                  <a:srgbClr val="F3F6FB"/>
                </a:solidFill>
                <a:latin typeface="Segoe UI" pitchFamily="34" charset="0"/>
                <a:ea typeface="Segoe UI" pitchFamily="34" charset="-122"/>
                <a:cs typeface="Segoe UI" pitchFamily="34" charset="-120"/>
              </a:rPr>
              <a:t>Your TRM configuration</a:t>
            </a:r>
            <a:endParaRPr lang="en-US" sz="1400" dirty="0"/>
          </a:p>
        </p:txBody>
      </p:sp>
      <p:pic>
        <p:nvPicPr>
          <p:cNvPr id="21" name="Image 6" descr="C:/Users/neuma_p1qrsic/Repo/agentic-ops1/.scratch/icons/check.png">    </p:cNvPr>
          <p:cNvPicPr>
            <a:picLocks noChangeAspect="1"/>
          </p:cNvPicPr>
          <p:nvPr/>
        </p:nvPicPr>
        <p:blipFill>
          <a:blip r:embed="rId7"/>
          <a:stretch>
            <a:fillRect/>
          </a:stretch>
        </p:blipFill>
        <p:spPr>
          <a:xfrm>
            <a:off x="6644488" y="3941064"/>
            <a:ext cx="274320" cy="274320"/>
          </a:xfrm>
          <a:prstGeom prst="rect">
            <a:avLst/>
          </a:prstGeom>
        </p:spPr>
      </p:pic>
      <p:sp>
        <p:nvSpPr>
          <p:cNvPr id="22" name="Text 13"/>
          <p:cNvSpPr/>
          <p:nvPr/>
        </p:nvSpPr>
        <p:spPr>
          <a:xfrm>
            <a:off x="7055968" y="3895344"/>
            <a:ext cx="4294480" cy="384048"/>
          </a:xfrm>
          <a:prstGeom prst="rect">
            <a:avLst/>
          </a:prstGeom>
          <a:noFill/>
          <a:ln/>
        </p:spPr>
        <p:txBody>
          <a:bodyPr wrap="square" rtlCol="0" anchor="ctr"/>
          <a:lstStyle/>
          <a:p>
            <a:pPr indent="0" marL="0">
              <a:buNone/>
            </a:pPr>
            <a:r>
              <a:rPr lang="en-US" sz="1400" dirty="0">
                <a:solidFill>
                  <a:srgbClr val="F3F6FB"/>
                </a:solidFill>
                <a:latin typeface="Segoe UI" pitchFamily="34" charset="0"/>
                <a:ea typeface="Segoe UI" pitchFamily="34" charset="-122"/>
                <a:cs typeface="Segoe UI" pitchFamily="34" charset="-120"/>
              </a:rPr>
              <a:t>Your bank connectivity</a:t>
            </a:r>
            <a:endParaRPr lang="en-US" sz="1400" dirty="0"/>
          </a:p>
        </p:txBody>
      </p:sp>
      <p:sp>
        <p:nvSpPr>
          <p:cNvPr id="23" name="Text 14"/>
          <p:cNvSpPr/>
          <p:nvPr/>
        </p:nvSpPr>
        <p:spPr>
          <a:xfrm>
            <a:off x="566928" y="5440680"/>
            <a:ext cx="11057839" cy="457200"/>
          </a:xfrm>
          <a:prstGeom prst="rect">
            <a:avLst/>
          </a:prstGeom>
          <a:noFill/>
          <a:ln/>
        </p:spPr>
        <p:txBody>
          <a:bodyPr wrap="square" rtlCol="0" anchor="ctr"/>
          <a:lstStyle/>
          <a:p>
            <a:pPr indent="0" marL="0">
              <a:buNone/>
            </a:pPr>
            <a:r>
              <a:rPr lang="en-US" sz="1600" dirty="0">
                <a:solidFill>
                  <a:srgbClr val="3BE3E0"/>
                </a:solidFill>
                <a:latin typeface="Segoe UI" pitchFamily="34" charset="0"/>
                <a:ea typeface="Segoe UI" pitchFamily="34" charset="-122"/>
                <a:cs typeface="Segoe UI" pitchFamily="34" charset="-120"/>
              </a:rPr>
              <a:t>No rip-and-replace. No migration project.</a:t>
            </a:r>
            <a:endParaRPr lang="en-US" sz="1600" dirty="0"/>
          </a:p>
        </p:txBody>
      </p:sp>
      <p:sp>
        <p:nvSpPr>
          <p:cNvPr id="24" name="Text 15"/>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25" name="Text 16"/>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04 / 15</a:t>
            </a:r>
            <a:endParaRPr lang="en-US" sz="900" dirty="0"/>
          </a:p>
        </p:txBody>
      </p:sp>
      <p:sp>
        <p:nvSpPr>
          <p:cNvPr id="26" name="Shape 17"/>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96012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HOW IT FITS TOGETHER</a:t>
            </a:r>
            <a:endParaRPr lang="en-US" sz="1200" dirty="0"/>
          </a:p>
        </p:txBody>
      </p:sp>
      <p:sp>
        <p:nvSpPr>
          <p:cNvPr id="4" name="Text 2"/>
          <p:cNvSpPr/>
          <p:nvPr/>
        </p:nvSpPr>
        <p:spPr>
          <a:xfrm>
            <a:off x="566928" y="960120"/>
            <a:ext cx="10881360" cy="731520"/>
          </a:xfrm>
          <a:prstGeom prst="rect">
            <a:avLst/>
          </a:prstGeom>
          <a:noFill/>
          <a:ln/>
        </p:spPr>
        <p:txBody>
          <a:bodyPr wrap="square" rtlCol="0" anchor="ctr"/>
          <a:lstStyle/>
          <a:p>
            <a:pPr indent="0" marL="0">
              <a:buNone/>
            </a:pPr>
            <a:r>
              <a:rPr lang="en-US" sz="2800" b="1" dirty="0">
                <a:solidFill>
                  <a:srgbClr val="F3F6FB"/>
                </a:solidFill>
                <a:latin typeface="Segoe UI Semibold" pitchFamily="34" charset="0"/>
                <a:ea typeface="Segoe UI Semibold" pitchFamily="34" charset="-122"/>
                <a:cs typeface="Segoe UI Semibold" pitchFamily="34" charset="-120"/>
              </a:rPr>
              <a:t>The manual middle becomes a governed layer.</a:t>
            </a:r>
            <a:endParaRPr lang="en-US" sz="2800" dirty="0"/>
          </a:p>
        </p:txBody>
      </p:sp>
      <p:sp>
        <p:nvSpPr>
          <p:cNvPr id="5" name="Shape 3"/>
          <p:cNvSpPr/>
          <p:nvPr/>
        </p:nvSpPr>
        <p:spPr>
          <a:xfrm>
            <a:off x="566928" y="2148840"/>
            <a:ext cx="3063240" cy="2514600"/>
          </a:xfrm>
          <a:prstGeom prst="roundRect">
            <a:avLst>
              <a:gd name="adj" fmla="val 3273"/>
            </a:avLst>
          </a:prstGeom>
          <a:solidFill>
            <a:srgbClr val="141A25"/>
          </a:solidFill>
          <a:ln w="13970">
            <a:solidFill>
              <a:srgbClr val="36414F"/>
            </a:solidFill>
            <a:prstDash val="solid"/>
          </a:ln>
        </p:spPr>
      </p:sp>
      <p:sp>
        <p:nvSpPr>
          <p:cNvPr id="6" name="Shape 4"/>
          <p:cNvSpPr/>
          <p:nvPr/>
        </p:nvSpPr>
        <p:spPr>
          <a:xfrm>
            <a:off x="841248" y="2423160"/>
            <a:ext cx="548640" cy="548640"/>
          </a:xfrm>
          <a:prstGeom prst="roundRect">
            <a:avLst>
              <a:gd name="adj" fmla="val 18333"/>
            </a:avLst>
          </a:prstGeom>
          <a:solidFill>
            <a:srgbClr val="1B2330"/>
          </a:solidFill>
          <a:ln w="15240">
            <a:solidFill>
              <a:srgbClr val="3BE3E0"/>
            </a:solidFill>
            <a:prstDash val="solid"/>
          </a:ln>
        </p:spPr>
      </p:sp>
      <p:pic>
        <p:nvPicPr>
          <p:cNvPr id="7" name="Image 0" descr="C:/Users/neuma_p1qrsic/Repo/agentic-ops1/.scratch/icons/venue.png">    </p:cNvPr>
          <p:cNvPicPr>
            <a:picLocks noChangeAspect="1"/>
          </p:cNvPicPr>
          <p:nvPr/>
        </p:nvPicPr>
        <p:blipFill>
          <a:blip r:embed="rId1"/>
          <a:stretch>
            <a:fillRect/>
          </a:stretch>
        </p:blipFill>
        <p:spPr>
          <a:xfrm>
            <a:off x="972922" y="2554834"/>
            <a:ext cx="285293" cy="285293"/>
          </a:xfrm>
          <a:prstGeom prst="rect">
            <a:avLst/>
          </a:prstGeom>
        </p:spPr>
      </p:pic>
      <p:sp>
        <p:nvSpPr>
          <p:cNvPr id="8" name="Text 5"/>
          <p:cNvSpPr/>
          <p:nvPr/>
        </p:nvSpPr>
        <p:spPr>
          <a:xfrm>
            <a:off x="1527048" y="2423160"/>
            <a:ext cx="1920240" cy="548640"/>
          </a:xfrm>
          <a:prstGeom prst="rect">
            <a:avLst/>
          </a:prstGeom>
          <a:noFill/>
          <a:ln/>
        </p:spPr>
        <p:txBody>
          <a:bodyPr wrap="square" rtlCol="0" anchor="ctr"/>
          <a:lstStyle/>
          <a:p>
            <a:pPr indent="0" marL="0">
              <a:buNone/>
            </a:pPr>
            <a:r>
              <a:rPr lang="en-US" sz="1350" b="1" dirty="0">
                <a:solidFill>
                  <a:srgbClr val="F3F6FB"/>
                </a:solidFill>
                <a:latin typeface="Segoe UI Semibold" pitchFamily="34" charset="0"/>
                <a:ea typeface="Segoe UI Semibold" pitchFamily="34" charset="-122"/>
                <a:cs typeface="Segoe UI Semibold" pitchFamily="34" charset="-120"/>
              </a:rPr>
              <a:t>Sources &amp; feeds</a:t>
            </a:r>
            <a:endParaRPr lang="en-US" sz="1350" dirty="0"/>
          </a:p>
        </p:txBody>
      </p:sp>
      <p:sp>
        <p:nvSpPr>
          <p:cNvPr id="9" name="Text 6"/>
          <p:cNvSpPr/>
          <p:nvPr/>
        </p:nvSpPr>
        <p:spPr>
          <a:xfrm>
            <a:off x="841248" y="3200400"/>
            <a:ext cx="2606040" cy="1371600"/>
          </a:xfrm>
          <a:prstGeom prst="rect">
            <a:avLst/>
          </a:prstGeom>
          <a:noFill/>
          <a:ln/>
        </p:spPr>
        <p:txBody>
          <a:bodyPr wrap="square" rtlCol="0" anchor="ctr"/>
          <a:lstStyle/>
          <a:p>
            <a:pPr indent="0" marL="0">
              <a:lnSpc>
                <a:spcPct val="125000"/>
              </a:lnSpc>
              <a:buNone/>
            </a:pPr>
            <a:r>
              <a:rPr lang="en-US" sz="1300" dirty="0">
                <a:solidFill>
                  <a:srgbClr val="AAB6C7"/>
                </a:solidFill>
                <a:latin typeface="Segoe UI" pitchFamily="34" charset="0"/>
                <a:ea typeface="Segoe UI" pitchFamily="34" charset="-122"/>
                <a:cs typeface="Segoe UI" pitchFamily="34" charset="-120"/>
              </a:rPr>
              <a:t>Banks, market data,</a:t>
            </a:r>
            <a:endParaRPr lang="en-US" sz="1300" dirty="0"/>
          </a:p>
          <a:p>
            <a:pPr indent="0" marL="0">
              <a:lnSpc>
                <a:spcPct val="125000"/>
              </a:lnSpc>
              <a:buNone/>
            </a:pPr>
            <a:r>
              <a:rPr lang="en-US" sz="1300" dirty="0">
                <a:solidFill>
                  <a:srgbClr val="AAB6C7"/>
                </a:solidFill>
                <a:latin typeface="Segoe UI" pitchFamily="34" charset="0"/>
                <a:ea typeface="Segoe UI" pitchFamily="34" charset="-122"/>
                <a:cs typeface="Segoe UI" pitchFamily="34" charset="-120"/>
              </a:rPr>
              <a:t>trading venues, central</a:t>
            </a:r>
            <a:endParaRPr lang="en-US" sz="1300" dirty="0"/>
          </a:p>
          <a:p>
            <a:pPr indent="0" marL="0">
              <a:lnSpc>
                <a:spcPct val="125000"/>
              </a:lnSpc>
              <a:buNone/>
            </a:pPr>
            <a:r>
              <a:rPr lang="en-US" sz="1300" dirty="0">
                <a:solidFill>
                  <a:srgbClr val="AAB6C7"/>
                </a:solidFill>
                <a:latin typeface="Segoe UI" pitchFamily="34" charset="0"/>
                <a:ea typeface="Segoe UI" pitchFamily="34" charset="-122"/>
                <a:cs typeface="Segoe UI" pitchFamily="34" charset="-120"/>
              </a:rPr>
              <a:t>banks, websites, internal</a:t>
            </a:r>
            <a:endParaRPr lang="en-US" sz="1300" dirty="0"/>
          </a:p>
        </p:txBody>
      </p:sp>
      <p:sp>
        <p:nvSpPr>
          <p:cNvPr id="10" name="Shape 7"/>
          <p:cNvSpPr/>
          <p:nvPr/>
        </p:nvSpPr>
        <p:spPr>
          <a:xfrm>
            <a:off x="4087368" y="2148840"/>
            <a:ext cx="3566160" cy="2514600"/>
          </a:xfrm>
          <a:prstGeom prst="roundRect">
            <a:avLst>
              <a:gd name="adj" fmla="val 3273"/>
            </a:avLst>
          </a:prstGeom>
          <a:solidFill>
            <a:srgbClr val="10222A"/>
          </a:solidFill>
          <a:ln w="19050">
            <a:solidFill>
              <a:srgbClr val="3BE3E0"/>
            </a:solidFill>
            <a:prstDash val="solid"/>
          </a:ln>
        </p:spPr>
      </p:sp>
      <p:pic>
        <p:nvPicPr>
          <p:cNvPr id="11" name="Image 1" descr="C:/Users/neuma_p1qrsic/Repo/agentic-ops1/.scratch/logo/favicon.png">    </p:cNvPr>
          <p:cNvPicPr>
            <a:picLocks noChangeAspect="1"/>
          </p:cNvPicPr>
          <p:nvPr/>
        </p:nvPicPr>
        <p:blipFill>
          <a:blip r:embed="rId2"/>
          <a:stretch>
            <a:fillRect/>
          </a:stretch>
        </p:blipFill>
        <p:spPr>
          <a:xfrm>
            <a:off x="5650992" y="2514600"/>
            <a:ext cx="438912" cy="438912"/>
          </a:xfrm>
          <a:prstGeom prst="rect">
            <a:avLst/>
          </a:prstGeom>
        </p:spPr>
      </p:pic>
      <p:sp>
        <p:nvSpPr>
          <p:cNvPr id="12" name="Text 8"/>
          <p:cNvSpPr/>
          <p:nvPr/>
        </p:nvSpPr>
        <p:spPr>
          <a:xfrm>
            <a:off x="4087368" y="3063240"/>
            <a:ext cx="3566160" cy="411480"/>
          </a:xfrm>
          <a:prstGeom prst="rect">
            <a:avLst/>
          </a:prstGeom>
          <a:noFill/>
          <a:ln/>
        </p:spPr>
        <p:txBody>
          <a:bodyPr wrap="square" rtlCol="0" anchor="ctr"/>
          <a:lstStyle/>
          <a:p>
            <a:pPr algn="ctr" indent="0" marL="0">
              <a:buNone/>
            </a:pPr>
            <a:r>
              <a:rPr lang="en-US" sz="2000" b="1" dirty="0">
                <a:solidFill>
                  <a:srgbClr val="F3F6FB"/>
                </a:solidFill>
                <a:latin typeface="Segoe UI Semibold" pitchFamily="34" charset="0"/>
                <a:ea typeface="Segoe UI Semibold" pitchFamily="34" charset="-122"/>
                <a:cs typeface="Segoe UI Semibold" pitchFamily="34" charset="-120"/>
              </a:rPr>
              <a:t>TreasuryCentral</a:t>
            </a:r>
            <a:endParaRPr lang="en-US" sz="2000" dirty="0"/>
          </a:p>
        </p:txBody>
      </p:sp>
      <p:sp>
        <p:nvSpPr>
          <p:cNvPr id="13" name="Text 9"/>
          <p:cNvSpPr/>
          <p:nvPr/>
        </p:nvSpPr>
        <p:spPr>
          <a:xfrm>
            <a:off x="4087368" y="3447288"/>
            <a:ext cx="3566160" cy="320040"/>
          </a:xfrm>
          <a:prstGeom prst="rect">
            <a:avLst/>
          </a:prstGeom>
          <a:noFill/>
          <a:ln/>
        </p:spPr>
        <p:txBody>
          <a:bodyPr wrap="square" rtlCol="0" anchor="ctr"/>
          <a:lstStyle/>
          <a:p>
            <a:pPr algn="ctr" indent="0" marL="0">
              <a:buNone/>
            </a:pPr>
            <a:r>
              <a:rPr lang="en-US" sz="1350" dirty="0">
                <a:solidFill>
                  <a:srgbClr val="3BE3E0"/>
                </a:solidFill>
                <a:latin typeface="Segoe UI" pitchFamily="34" charset="0"/>
                <a:ea typeface="Segoe UI" pitchFamily="34" charset="-122"/>
                <a:cs typeface="Segoe UI" pitchFamily="34" charset="-120"/>
              </a:rPr>
              <a:t>on OnePilot</a:t>
            </a:r>
            <a:endParaRPr lang="en-US" sz="1350" dirty="0"/>
          </a:p>
        </p:txBody>
      </p:sp>
      <p:sp>
        <p:nvSpPr>
          <p:cNvPr id="14" name="Text 10"/>
          <p:cNvSpPr/>
          <p:nvPr/>
        </p:nvSpPr>
        <p:spPr>
          <a:xfrm>
            <a:off x="4087368" y="3813048"/>
            <a:ext cx="3566160" cy="685800"/>
          </a:xfrm>
          <a:prstGeom prst="rect">
            <a:avLst/>
          </a:prstGeom>
          <a:noFill/>
          <a:ln/>
        </p:spPr>
        <p:txBody>
          <a:bodyPr wrap="square" rtlCol="0" anchor="ctr"/>
          <a:lstStyle/>
          <a:p>
            <a:pPr algn="ctr" indent="0" marL="0">
              <a:lnSpc>
                <a:spcPct val="110000"/>
              </a:lnSpc>
              <a:buNone/>
            </a:pPr>
            <a:r>
              <a:rPr lang="en-US" sz="1200" dirty="0">
                <a:solidFill>
                  <a:srgbClr val="AAB6C7"/>
                </a:solidFill>
                <a:latin typeface="Segoe UI" pitchFamily="34" charset="0"/>
                <a:ea typeface="Segoe UI" pitchFamily="34" charset="-122"/>
                <a:cs typeface="Segoe UI" pitchFamily="34" charset="-120"/>
              </a:rPr>
              <a:t>runs inside your SAP landscape,</a:t>
            </a:r>
            <a:endParaRPr lang="en-US" sz="1200" dirty="0"/>
          </a:p>
          <a:p>
            <a:pPr algn="ctr" indent="0" marL="0">
              <a:lnSpc>
                <a:spcPct val="110000"/>
              </a:lnSpc>
              <a:buNone/>
            </a:pPr>
            <a:r>
              <a:rPr lang="en-US" sz="1200" dirty="0">
                <a:solidFill>
                  <a:srgbClr val="AAB6C7"/>
                </a:solidFill>
                <a:latin typeface="Segoe UI" pitchFamily="34" charset="0"/>
                <a:ea typeface="Segoe UI" pitchFamily="34" charset="-122"/>
                <a:cs typeface="Segoe UI" pitchFamily="34" charset="-120"/>
              </a:rPr>
              <a:t>checks and logs every value</a:t>
            </a:r>
            <a:endParaRPr lang="en-US" sz="1200" dirty="0"/>
          </a:p>
        </p:txBody>
      </p:sp>
      <p:sp>
        <p:nvSpPr>
          <p:cNvPr id="15" name="Shape 11"/>
          <p:cNvSpPr/>
          <p:nvPr/>
        </p:nvSpPr>
        <p:spPr>
          <a:xfrm>
            <a:off x="8110728" y="2148840"/>
            <a:ext cx="3514039" cy="2514600"/>
          </a:xfrm>
          <a:prstGeom prst="roundRect">
            <a:avLst>
              <a:gd name="adj" fmla="val 3273"/>
            </a:avLst>
          </a:prstGeom>
          <a:solidFill>
            <a:srgbClr val="141A25"/>
          </a:solidFill>
          <a:ln w="13970">
            <a:solidFill>
              <a:srgbClr val="36414F"/>
            </a:solidFill>
            <a:prstDash val="solid"/>
          </a:ln>
        </p:spPr>
      </p:sp>
      <p:sp>
        <p:nvSpPr>
          <p:cNvPr id="16" name="Shape 12"/>
          <p:cNvSpPr/>
          <p:nvPr/>
        </p:nvSpPr>
        <p:spPr>
          <a:xfrm>
            <a:off x="8385048" y="2423160"/>
            <a:ext cx="548640" cy="548640"/>
          </a:xfrm>
          <a:prstGeom prst="roundRect">
            <a:avLst>
              <a:gd name="adj" fmla="val 18333"/>
            </a:avLst>
          </a:prstGeom>
          <a:solidFill>
            <a:srgbClr val="1B2330"/>
          </a:solidFill>
          <a:ln w="15240">
            <a:solidFill>
              <a:srgbClr val="3BE3E0"/>
            </a:solidFill>
            <a:prstDash val="solid"/>
          </a:ln>
        </p:spPr>
      </p:sp>
      <p:pic>
        <p:nvPicPr>
          <p:cNvPr id="17" name="Image 2" descr="C:/Users/neuma_p1qrsic/Repo/agentic-ops1/.scratch/icons/database.png">    </p:cNvPr>
          <p:cNvPicPr>
            <a:picLocks noChangeAspect="1"/>
          </p:cNvPicPr>
          <p:nvPr/>
        </p:nvPicPr>
        <p:blipFill>
          <a:blip r:embed="rId3"/>
          <a:stretch>
            <a:fillRect/>
          </a:stretch>
        </p:blipFill>
        <p:spPr>
          <a:xfrm>
            <a:off x="8516722" y="2554834"/>
            <a:ext cx="285293" cy="285293"/>
          </a:xfrm>
          <a:prstGeom prst="rect">
            <a:avLst/>
          </a:prstGeom>
        </p:spPr>
      </p:pic>
      <p:sp>
        <p:nvSpPr>
          <p:cNvPr id="18" name="Text 13"/>
          <p:cNvSpPr/>
          <p:nvPr/>
        </p:nvSpPr>
        <p:spPr>
          <a:xfrm>
            <a:off x="9070848" y="2423160"/>
            <a:ext cx="2325319" cy="548640"/>
          </a:xfrm>
          <a:prstGeom prst="rect">
            <a:avLst/>
          </a:prstGeom>
          <a:noFill/>
          <a:ln/>
        </p:spPr>
        <p:txBody>
          <a:bodyPr wrap="square" rtlCol="0" anchor="ctr"/>
          <a:lstStyle/>
          <a:p>
            <a:pPr indent="0" marL="0">
              <a:buNone/>
            </a:pPr>
            <a:r>
              <a:rPr lang="en-US" sz="1350" b="1" dirty="0">
                <a:solidFill>
                  <a:srgbClr val="F3F6FB"/>
                </a:solidFill>
                <a:latin typeface="Segoe UI Semibold" pitchFamily="34" charset="0"/>
                <a:ea typeface="Segoe UI Semibold" pitchFamily="34" charset="-122"/>
                <a:cs typeface="Segoe UI Semibold" pitchFamily="34" charset="-120"/>
              </a:rPr>
              <a:t>Systems &amp; analytics</a:t>
            </a:r>
            <a:endParaRPr lang="en-US" sz="1350" dirty="0"/>
          </a:p>
        </p:txBody>
      </p:sp>
      <p:sp>
        <p:nvSpPr>
          <p:cNvPr id="19" name="Text 14"/>
          <p:cNvSpPr/>
          <p:nvPr/>
        </p:nvSpPr>
        <p:spPr>
          <a:xfrm>
            <a:off x="8385048" y="3200400"/>
            <a:ext cx="3011119" cy="1371600"/>
          </a:xfrm>
          <a:prstGeom prst="rect">
            <a:avLst/>
          </a:prstGeom>
          <a:noFill/>
          <a:ln/>
        </p:spPr>
        <p:txBody>
          <a:bodyPr wrap="square" rtlCol="0" anchor="ctr"/>
          <a:lstStyle/>
          <a:p>
            <a:pPr indent="0" marL="0">
              <a:lnSpc>
                <a:spcPct val="125000"/>
              </a:lnSpc>
              <a:buNone/>
            </a:pPr>
            <a:r>
              <a:rPr lang="en-US" sz="1300" dirty="0">
                <a:solidFill>
                  <a:srgbClr val="AAB6C7"/>
                </a:solidFill>
                <a:latin typeface="Segoe UI" pitchFamily="34" charset="0"/>
                <a:ea typeface="Segoe UI" pitchFamily="34" charset="-122"/>
                <a:cs typeface="Segoe UI" pitchFamily="34" charset="-120"/>
              </a:rPr>
              <a:t>SAP ECC, S/4HANA, TRM,</a:t>
            </a:r>
            <a:endParaRPr lang="en-US" sz="1300" dirty="0"/>
          </a:p>
          <a:p>
            <a:pPr indent="0" marL="0">
              <a:lnSpc>
                <a:spcPct val="125000"/>
              </a:lnSpc>
              <a:buNone/>
            </a:pPr>
            <a:r>
              <a:rPr lang="en-US" sz="1300" dirty="0">
                <a:solidFill>
                  <a:srgbClr val="AAB6C7"/>
                </a:solidFill>
                <a:latin typeface="Segoe UI" pitchFamily="34" charset="0"/>
                <a:ea typeface="Segoe UI" pitchFamily="34" charset="-122"/>
                <a:cs typeface="Segoe UI" pitchFamily="34" charset="-120"/>
              </a:rPr>
              <a:t>non-SAP apps, databases,</a:t>
            </a:r>
            <a:endParaRPr lang="en-US" sz="1300" dirty="0"/>
          </a:p>
          <a:p>
            <a:pPr indent="0" marL="0">
              <a:lnSpc>
                <a:spcPct val="125000"/>
              </a:lnSpc>
              <a:buNone/>
            </a:pPr>
            <a:r>
              <a:rPr lang="en-US" sz="1300" dirty="0">
                <a:solidFill>
                  <a:srgbClr val="AAB6C7"/>
                </a:solidFill>
                <a:latin typeface="Segoe UI" pitchFamily="34" charset="0"/>
                <a:ea typeface="Segoe UI" pitchFamily="34" charset="-122"/>
                <a:cs typeface="Segoe UI" pitchFamily="34" charset="-120"/>
              </a:rPr>
              <a:t>Analytics Cloud</a:t>
            </a:r>
            <a:endParaRPr lang="en-US" sz="1300" dirty="0"/>
          </a:p>
        </p:txBody>
      </p:sp>
      <p:sp>
        <p:nvSpPr>
          <p:cNvPr id="20" name="Shape 15"/>
          <p:cNvSpPr/>
          <p:nvPr/>
        </p:nvSpPr>
        <p:spPr>
          <a:xfrm>
            <a:off x="3630168" y="3406140"/>
            <a:ext cx="457200" cy="0"/>
          </a:xfrm>
          <a:prstGeom prst="line">
            <a:avLst/>
          </a:prstGeom>
          <a:noFill/>
          <a:ln w="19050">
            <a:solidFill>
              <a:srgbClr val="3BE3E0"/>
            </a:solidFill>
            <a:prstDash val="solid"/>
            <a:headEnd type="triangle"/>
            <a:tailEnd type="triangle"/>
          </a:ln>
        </p:spPr>
      </p:sp>
      <p:sp>
        <p:nvSpPr>
          <p:cNvPr id="21" name="Shape 16"/>
          <p:cNvSpPr/>
          <p:nvPr/>
        </p:nvSpPr>
        <p:spPr>
          <a:xfrm>
            <a:off x="7653528" y="3406140"/>
            <a:ext cx="457200" cy="0"/>
          </a:xfrm>
          <a:prstGeom prst="line">
            <a:avLst/>
          </a:prstGeom>
          <a:noFill/>
          <a:ln w="19050">
            <a:solidFill>
              <a:srgbClr val="3BE3E0"/>
            </a:solidFill>
            <a:prstDash val="solid"/>
            <a:headEnd type="triangle"/>
            <a:tailEnd type="triangle"/>
          </a:ln>
        </p:spPr>
      </p:sp>
      <p:sp>
        <p:nvSpPr>
          <p:cNvPr id="22" name="Shape 17"/>
          <p:cNvSpPr/>
          <p:nvPr/>
        </p:nvSpPr>
        <p:spPr>
          <a:xfrm>
            <a:off x="566928" y="4956048"/>
            <a:ext cx="11057839" cy="914400"/>
          </a:xfrm>
          <a:prstGeom prst="roundRect">
            <a:avLst>
              <a:gd name="adj" fmla="val 8000"/>
            </a:avLst>
          </a:prstGeom>
          <a:solidFill>
            <a:srgbClr val="141A25"/>
          </a:solidFill>
          <a:ln w="13970">
            <a:solidFill>
              <a:srgbClr val="36414F"/>
            </a:solidFill>
            <a:prstDash val="solid"/>
          </a:ln>
        </p:spPr>
      </p:sp>
      <p:pic>
        <p:nvPicPr>
          <p:cNvPr id="23" name="Image 3" descr="C:/Users/neuma_p1qrsic/Repo/agentic-ops1/.scratch/icons/shield.png">    </p:cNvPr>
          <p:cNvPicPr>
            <a:picLocks noChangeAspect="1"/>
          </p:cNvPicPr>
          <p:nvPr/>
        </p:nvPicPr>
        <p:blipFill>
          <a:blip r:embed="rId4"/>
          <a:stretch>
            <a:fillRect/>
          </a:stretch>
        </p:blipFill>
        <p:spPr>
          <a:xfrm>
            <a:off x="841248" y="5212080"/>
            <a:ext cx="402336" cy="402336"/>
          </a:xfrm>
          <a:prstGeom prst="rect">
            <a:avLst/>
          </a:prstGeom>
        </p:spPr>
      </p:pic>
      <p:sp>
        <p:nvSpPr>
          <p:cNvPr id="24" name="Text 18"/>
          <p:cNvSpPr/>
          <p:nvPr/>
        </p:nvSpPr>
        <p:spPr>
          <a:xfrm>
            <a:off x="1435608" y="4956048"/>
            <a:ext cx="9914839" cy="914400"/>
          </a:xfrm>
          <a:prstGeom prst="rect">
            <a:avLst/>
          </a:prstGeom>
          <a:noFill/>
          <a:ln/>
        </p:spPr>
        <p:txBody>
          <a:bodyPr wrap="square" rtlCol="0" anchor="ctr"/>
          <a:lstStyle/>
          <a:p>
            <a:pPr indent="0" marL="0">
              <a:lnSpc>
                <a:spcPct val="110000"/>
              </a:lnSpc>
              <a:buNone/>
            </a:pPr>
            <a:r>
              <a:rPr lang="en-US" sz="1350" dirty="0">
                <a:solidFill>
                  <a:srgbClr val="F3F6FB"/>
                </a:solidFill>
                <a:latin typeface="Segoe UI" pitchFamily="34" charset="0"/>
                <a:ea typeface="Segoe UI" pitchFamily="34" charset="-122"/>
                <a:cs typeface="Segoe UI" pitchFamily="34" charset="-120"/>
              </a:rPr>
              <a:t>Every value is validated, checked for anomalies and logged: a full audit trail, segregation of duty, no-code rules, ISO 27001 and SOC 1.</a:t>
            </a:r>
            <a:endParaRPr lang="en-US" sz="1350" dirty="0"/>
          </a:p>
        </p:txBody>
      </p:sp>
      <p:sp>
        <p:nvSpPr>
          <p:cNvPr id="25" name="Text 19"/>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26" name="Text 20"/>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05 / 15</a:t>
            </a:r>
            <a:endParaRPr lang="en-US" sz="900" dirty="0"/>
          </a:p>
        </p:txBody>
      </p:sp>
      <p:sp>
        <p:nvSpPr>
          <p:cNvPr id="27" name="Shape 21"/>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96012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IN THE COCKPIT · MARKET DATA</a:t>
            </a:r>
            <a:endParaRPr lang="en-US" sz="1200" dirty="0"/>
          </a:p>
        </p:txBody>
      </p:sp>
      <p:sp>
        <p:nvSpPr>
          <p:cNvPr id="4" name="Text 2"/>
          <p:cNvSpPr/>
          <p:nvPr/>
        </p:nvSpPr>
        <p:spPr>
          <a:xfrm>
            <a:off x="566928" y="960120"/>
            <a:ext cx="10881360" cy="731520"/>
          </a:xfrm>
          <a:prstGeom prst="rect">
            <a:avLst/>
          </a:prstGeom>
          <a:noFill/>
          <a:ln/>
        </p:spPr>
        <p:txBody>
          <a:bodyPr wrap="square" rtlCol="0" anchor="ctr"/>
          <a:lstStyle/>
          <a:p>
            <a:pPr indent="0" marL="0">
              <a:buNone/>
            </a:pPr>
            <a:r>
              <a:rPr lang="en-US" sz="3000" b="1" dirty="0">
                <a:solidFill>
                  <a:srgbClr val="F3F6FB"/>
                </a:solidFill>
                <a:latin typeface="Segoe UI Semibold" pitchFamily="34" charset="0"/>
                <a:ea typeface="Segoe UI Semibold" pitchFamily="34" charset="-122"/>
                <a:cs typeface="Segoe UI Semibold" pitchFamily="34" charset="-120"/>
              </a:rPr>
              <a:t>First, the numbers have to be right.</a:t>
            </a:r>
            <a:endParaRPr lang="en-US" sz="3000" dirty="0"/>
          </a:p>
        </p:txBody>
      </p:sp>
      <p:sp>
        <p:nvSpPr>
          <p:cNvPr id="5" name="Text 3"/>
          <p:cNvSpPr/>
          <p:nvPr/>
        </p:nvSpPr>
        <p:spPr>
          <a:xfrm>
            <a:off x="566928" y="1783080"/>
            <a:ext cx="10515600" cy="411480"/>
          </a:xfrm>
          <a:prstGeom prst="rect">
            <a:avLst/>
          </a:prstGeom>
          <a:noFill/>
          <a:ln/>
        </p:spPr>
        <p:txBody>
          <a:bodyPr wrap="square" rtlCol="0" anchor="ctr"/>
          <a:lstStyle/>
          <a:p>
            <a:pPr indent="0" marL="0">
              <a:buNone/>
            </a:pPr>
            <a:r>
              <a:rPr lang="en-US" sz="1400" i="1" dirty="0">
                <a:solidFill>
                  <a:srgbClr val="7C8A9B"/>
                </a:solidFill>
                <a:latin typeface="Segoe UI" pitchFamily="34" charset="0"/>
                <a:ea typeface="Segoe UI" pitchFamily="34" charset="-122"/>
                <a:cs typeface="Segoe UI" pitchFamily="34" charset="-120"/>
              </a:rPr>
              <a:t>The morning rates, without the marathon.</a:t>
            </a:r>
            <a:endParaRPr lang="en-US" sz="1400" dirty="0"/>
          </a:p>
        </p:txBody>
      </p:sp>
      <p:sp>
        <p:nvSpPr>
          <p:cNvPr id="6" name="Shape 4"/>
          <p:cNvSpPr/>
          <p:nvPr/>
        </p:nvSpPr>
        <p:spPr>
          <a:xfrm>
            <a:off x="566928" y="2377440"/>
            <a:ext cx="11057839" cy="1554480"/>
          </a:xfrm>
          <a:prstGeom prst="roundRect">
            <a:avLst>
              <a:gd name="adj" fmla="val 5294"/>
            </a:avLst>
          </a:prstGeom>
          <a:solidFill>
            <a:srgbClr val="141A25"/>
          </a:solidFill>
          <a:ln w="13970">
            <a:solidFill>
              <a:srgbClr val="36414F"/>
            </a:solidFill>
            <a:prstDash val="solid"/>
          </a:ln>
        </p:spPr>
      </p:sp>
      <p:sp>
        <p:nvSpPr>
          <p:cNvPr id="7" name="Shape 5"/>
          <p:cNvSpPr/>
          <p:nvPr/>
        </p:nvSpPr>
        <p:spPr>
          <a:xfrm>
            <a:off x="886968" y="2697480"/>
            <a:ext cx="713232" cy="713232"/>
          </a:xfrm>
          <a:prstGeom prst="roundRect">
            <a:avLst>
              <a:gd name="adj" fmla="val 14103"/>
            </a:avLst>
          </a:prstGeom>
          <a:solidFill>
            <a:srgbClr val="1B2330"/>
          </a:solidFill>
          <a:ln w="15240">
            <a:solidFill>
              <a:srgbClr val="3BE3E0"/>
            </a:solidFill>
            <a:prstDash val="solid"/>
          </a:ln>
        </p:spPr>
      </p:sp>
      <p:pic>
        <p:nvPicPr>
          <p:cNvPr id="8" name="Image 0" descr="C:/Users/neuma_p1qrsic/Repo/agentic-ops1/.scratch/icons/link.png">    </p:cNvPr>
          <p:cNvPicPr>
            <a:picLocks noChangeAspect="1"/>
          </p:cNvPicPr>
          <p:nvPr/>
        </p:nvPicPr>
        <p:blipFill>
          <a:blip r:embed="rId1"/>
          <a:stretch>
            <a:fillRect/>
          </a:stretch>
        </p:blipFill>
        <p:spPr>
          <a:xfrm>
            <a:off x="1058144" y="2868656"/>
            <a:ext cx="370881" cy="370881"/>
          </a:xfrm>
          <a:prstGeom prst="rect">
            <a:avLst/>
          </a:prstGeom>
        </p:spPr>
      </p:pic>
      <p:sp>
        <p:nvSpPr>
          <p:cNvPr id="9" name="Text 6"/>
          <p:cNvSpPr/>
          <p:nvPr/>
        </p:nvSpPr>
        <p:spPr>
          <a:xfrm>
            <a:off x="1892808" y="2377440"/>
            <a:ext cx="9411919" cy="1554480"/>
          </a:xfrm>
          <a:prstGeom prst="rect">
            <a:avLst/>
          </a:prstGeom>
          <a:noFill/>
          <a:ln/>
        </p:spPr>
        <p:txBody>
          <a:bodyPr wrap="square" rtlCol="0" anchor="ctr"/>
          <a:lstStyle/>
          <a:p>
            <a:pPr indent="0" marL="0">
              <a:lnSpc>
                <a:spcPct val="125000"/>
              </a:lnSpc>
              <a:buNone/>
            </a:pPr>
            <a:r>
              <a:rPr lang="en-US" sz="1550" b="1" dirty="0">
                <a:solidFill>
                  <a:srgbClr val="3BE3E0"/>
                </a:solidFill>
                <a:latin typeface="Segoe UI" pitchFamily="34" charset="0"/>
                <a:ea typeface="Segoe UI" pitchFamily="34" charset="-122"/>
                <a:cs typeface="Segoe UI" pitchFamily="34" charset="-120"/>
              </a:rPr>
              <a:t>Market Data Hub</a:t>
            </a:r>
            <a:pPr indent="0" marL="0">
              <a:lnSpc>
                <a:spcPct val="125000"/>
              </a:lnSpc>
              <a:buNone/>
            </a:pPr>
            <a:r>
              <a:rPr lang="en-US" sz="1550" dirty="0">
                <a:solidFill>
                  <a:srgbClr val="F3F6FB"/>
                </a:solidFill>
                <a:latin typeface="Segoe UI" pitchFamily="34" charset="0"/>
                <a:ea typeface="Segoe UI" pitchFamily="34" charset="-122"/>
                <a:cs typeface="Segoe UI" pitchFamily="34" charset="-120"/>
              </a:rPr>
              <a:t> pulls every rate and reference you rely on, from any source, validates and cleanses it, and distributes one governed set to SAP and everything else. Anomalies are caught on arrival.</a:t>
            </a:r>
            <a:endParaRPr lang="en-US" sz="1550" dirty="0"/>
          </a:p>
        </p:txBody>
      </p:sp>
      <p:sp>
        <p:nvSpPr>
          <p:cNvPr id="10" name="Shape 7"/>
          <p:cNvSpPr/>
          <p:nvPr/>
        </p:nvSpPr>
        <p:spPr>
          <a:xfrm>
            <a:off x="566928" y="4251960"/>
            <a:ext cx="1652473" cy="457200"/>
          </a:xfrm>
          <a:prstGeom prst="roundRect">
            <a:avLst>
              <a:gd name="adj" fmla="val 50000"/>
            </a:avLst>
          </a:prstGeom>
          <a:solidFill>
            <a:srgbClr val="1B2330"/>
          </a:solidFill>
          <a:ln w="12700">
            <a:solidFill>
              <a:srgbClr val="36414F"/>
            </a:solidFill>
            <a:prstDash val="solid"/>
          </a:ln>
        </p:spPr>
      </p:sp>
      <p:sp>
        <p:nvSpPr>
          <p:cNvPr id="11" name="Text 8"/>
          <p:cNvSpPr/>
          <p:nvPr/>
        </p:nvSpPr>
        <p:spPr>
          <a:xfrm>
            <a:off x="566928" y="4251960"/>
            <a:ext cx="1652473" cy="457200"/>
          </a:xfrm>
          <a:prstGeom prst="rect">
            <a:avLst/>
          </a:prstGeom>
          <a:noFill/>
          <a:ln/>
        </p:spPr>
        <p:txBody>
          <a:bodyPr wrap="square" rtlCol="0" anchor="ctr"/>
          <a:lstStyle/>
          <a:p>
            <a:pPr algn="ctr" indent="0" marL="0">
              <a:buNone/>
            </a:pPr>
            <a:r>
              <a:rPr lang="en-US" sz="1150" dirty="0">
                <a:solidFill>
                  <a:srgbClr val="AAB6C7"/>
                </a:solidFill>
                <a:latin typeface="Segoe UI" pitchFamily="34" charset="0"/>
                <a:ea typeface="Segoe UI" pitchFamily="34" charset="-122"/>
                <a:cs typeface="Segoe UI" pitchFamily="34" charset="-120"/>
              </a:rPr>
              <a:t>Bloomberg</a:t>
            </a:r>
            <a:endParaRPr lang="en-US" sz="1150" dirty="0"/>
          </a:p>
        </p:txBody>
      </p:sp>
      <p:sp>
        <p:nvSpPr>
          <p:cNvPr id="12" name="Shape 9"/>
          <p:cNvSpPr/>
          <p:nvPr/>
        </p:nvSpPr>
        <p:spPr>
          <a:xfrm>
            <a:off x="2448001" y="4251960"/>
            <a:ext cx="1652473" cy="457200"/>
          </a:xfrm>
          <a:prstGeom prst="roundRect">
            <a:avLst>
              <a:gd name="adj" fmla="val 50000"/>
            </a:avLst>
          </a:prstGeom>
          <a:solidFill>
            <a:srgbClr val="1B2330"/>
          </a:solidFill>
          <a:ln w="12700">
            <a:solidFill>
              <a:srgbClr val="36414F"/>
            </a:solidFill>
            <a:prstDash val="solid"/>
          </a:ln>
        </p:spPr>
      </p:sp>
      <p:sp>
        <p:nvSpPr>
          <p:cNvPr id="13" name="Text 10"/>
          <p:cNvSpPr/>
          <p:nvPr/>
        </p:nvSpPr>
        <p:spPr>
          <a:xfrm>
            <a:off x="2448001" y="4251960"/>
            <a:ext cx="1652473" cy="457200"/>
          </a:xfrm>
          <a:prstGeom prst="rect">
            <a:avLst/>
          </a:prstGeom>
          <a:noFill/>
          <a:ln/>
        </p:spPr>
        <p:txBody>
          <a:bodyPr wrap="square" rtlCol="0" anchor="ctr"/>
          <a:lstStyle/>
          <a:p>
            <a:pPr algn="ctr" indent="0" marL="0">
              <a:buNone/>
            </a:pPr>
            <a:r>
              <a:rPr lang="en-US" sz="1150" dirty="0">
                <a:solidFill>
                  <a:srgbClr val="AAB6C7"/>
                </a:solidFill>
                <a:latin typeface="Segoe UI" pitchFamily="34" charset="0"/>
                <a:ea typeface="Segoe UI" pitchFamily="34" charset="-122"/>
                <a:cs typeface="Segoe UI" pitchFamily="34" charset="-120"/>
              </a:rPr>
              <a:t>Refinitiv</a:t>
            </a:r>
            <a:endParaRPr lang="en-US" sz="1150" dirty="0"/>
          </a:p>
        </p:txBody>
      </p:sp>
      <p:sp>
        <p:nvSpPr>
          <p:cNvPr id="14" name="Shape 11"/>
          <p:cNvSpPr/>
          <p:nvPr/>
        </p:nvSpPr>
        <p:spPr>
          <a:xfrm>
            <a:off x="4329074" y="4251960"/>
            <a:ext cx="1652473" cy="457200"/>
          </a:xfrm>
          <a:prstGeom prst="roundRect">
            <a:avLst>
              <a:gd name="adj" fmla="val 50000"/>
            </a:avLst>
          </a:prstGeom>
          <a:solidFill>
            <a:srgbClr val="1B2330"/>
          </a:solidFill>
          <a:ln w="12700">
            <a:solidFill>
              <a:srgbClr val="36414F"/>
            </a:solidFill>
            <a:prstDash val="solid"/>
          </a:ln>
        </p:spPr>
      </p:sp>
      <p:sp>
        <p:nvSpPr>
          <p:cNvPr id="15" name="Text 12"/>
          <p:cNvSpPr/>
          <p:nvPr/>
        </p:nvSpPr>
        <p:spPr>
          <a:xfrm>
            <a:off x="4329074" y="4251960"/>
            <a:ext cx="1652473" cy="457200"/>
          </a:xfrm>
          <a:prstGeom prst="rect">
            <a:avLst/>
          </a:prstGeom>
          <a:noFill/>
          <a:ln/>
        </p:spPr>
        <p:txBody>
          <a:bodyPr wrap="square" rtlCol="0" anchor="ctr"/>
          <a:lstStyle/>
          <a:p>
            <a:pPr algn="ctr" indent="0" marL="0">
              <a:buNone/>
            </a:pPr>
            <a:r>
              <a:rPr lang="en-US" sz="1150" dirty="0">
                <a:solidFill>
                  <a:srgbClr val="AAB6C7"/>
                </a:solidFill>
                <a:latin typeface="Segoe UI" pitchFamily="34" charset="0"/>
                <a:ea typeface="Segoe UI" pitchFamily="34" charset="-122"/>
                <a:cs typeface="Segoe UI" pitchFamily="34" charset="-120"/>
              </a:rPr>
              <a:t>360T</a:t>
            </a:r>
            <a:endParaRPr lang="en-US" sz="1150" dirty="0"/>
          </a:p>
        </p:txBody>
      </p:sp>
      <p:sp>
        <p:nvSpPr>
          <p:cNvPr id="16" name="Shape 13"/>
          <p:cNvSpPr/>
          <p:nvPr/>
        </p:nvSpPr>
        <p:spPr>
          <a:xfrm>
            <a:off x="6210148" y="4251960"/>
            <a:ext cx="1652473" cy="457200"/>
          </a:xfrm>
          <a:prstGeom prst="roundRect">
            <a:avLst>
              <a:gd name="adj" fmla="val 50000"/>
            </a:avLst>
          </a:prstGeom>
          <a:solidFill>
            <a:srgbClr val="1B2330"/>
          </a:solidFill>
          <a:ln w="12700">
            <a:solidFill>
              <a:srgbClr val="36414F"/>
            </a:solidFill>
            <a:prstDash val="solid"/>
          </a:ln>
        </p:spPr>
      </p:sp>
      <p:sp>
        <p:nvSpPr>
          <p:cNvPr id="17" name="Text 14"/>
          <p:cNvSpPr/>
          <p:nvPr/>
        </p:nvSpPr>
        <p:spPr>
          <a:xfrm>
            <a:off x="6210148" y="4251960"/>
            <a:ext cx="1652473" cy="457200"/>
          </a:xfrm>
          <a:prstGeom prst="rect">
            <a:avLst/>
          </a:prstGeom>
          <a:noFill/>
          <a:ln/>
        </p:spPr>
        <p:txBody>
          <a:bodyPr wrap="square" rtlCol="0" anchor="ctr"/>
          <a:lstStyle/>
          <a:p>
            <a:pPr algn="ctr" indent="0" marL="0">
              <a:buNone/>
            </a:pPr>
            <a:r>
              <a:rPr lang="en-US" sz="1150" dirty="0">
                <a:solidFill>
                  <a:srgbClr val="AAB6C7"/>
                </a:solidFill>
                <a:latin typeface="Segoe UI" pitchFamily="34" charset="0"/>
                <a:ea typeface="Segoe UI" pitchFamily="34" charset="-122"/>
                <a:cs typeface="Segoe UI" pitchFamily="34" charset="-120"/>
              </a:rPr>
              <a:t>OANDA</a:t>
            </a:r>
            <a:endParaRPr lang="en-US" sz="1150" dirty="0"/>
          </a:p>
        </p:txBody>
      </p:sp>
      <p:sp>
        <p:nvSpPr>
          <p:cNvPr id="18" name="Shape 15"/>
          <p:cNvSpPr/>
          <p:nvPr/>
        </p:nvSpPr>
        <p:spPr>
          <a:xfrm>
            <a:off x="8091221" y="4251960"/>
            <a:ext cx="1652473" cy="457200"/>
          </a:xfrm>
          <a:prstGeom prst="roundRect">
            <a:avLst>
              <a:gd name="adj" fmla="val 50000"/>
            </a:avLst>
          </a:prstGeom>
          <a:solidFill>
            <a:srgbClr val="1B2330"/>
          </a:solidFill>
          <a:ln w="12700">
            <a:solidFill>
              <a:srgbClr val="36414F"/>
            </a:solidFill>
            <a:prstDash val="solid"/>
          </a:ln>
        </p:spPr>
      </p:sp>
      <p:sp>
        <p:nvSpPr>
          <p:cNvPr id="19" name="Text 16"/>
          <p:cNvSpPr/>
          <p:nvPr/>
        </p:nvSpPr>
        <p:spPr>
          <a:xfrm>
            <a:off x="8091221" y="4251960"/>
            <a:ext cx="1652473" cy="457200"/>
          </a:xfrm>
          <a:prstGeom prst="rect">
            <a:avLst/>
          </a:prstGeom>
          <a:noFill/>
          <a:ln/>
        </p:spPr>
        <p:txBody>
          <a:bodyPr wrap="square" rtlCol="0" anchor="ctr"/>
          <a:lstStyle/>
          <a:p>
            <a:pPr algn="ctr" indent="0" marL="0">
              <a:buNone/>
            </a:pPr>
            <a:r>
              <a:rPr lang="en-US" sz="1150" dirty="0">
                <a:solidFill>
                  <a:srgbClr val="AAB6C7"/>
                </a:solidFill>
                <a:latin typeface="Segoe UI" pitchFamily="34" charset="0"/>
                <a:ea typeface="Segoe UI" pitchFamily="34" charset="-122"/>
                <a:cs typeface="Segoe UI" pitchFamily="34" charset="-120"/>
              </a:rPr>
              <a:t>Central banks</a:t>
            </a:r>
            <a:endParaRPr lang="en-US" sz="1150" dirty="0"/>
          </a:p>
        </p:txBody>
      </p:sp>
      <p:sp>
        <p:nvSpPr>
          <p:cNvPr id="20" name="Shape 17"/>
          <p:cNvSpPr/>
          <p:nvPr/>
        </p:nvSpPr>
        <p:spPr>
          <a:xfrm>
            <a:off x="9972294" y="4251960"/>
            <a:ext cx="1652473" cy="457200"/>
          </a:xfrm>
          <a:prstGeom prst="roundRect">
            <a:avLst>
              <a:gd name="adj" fmla="val 50000"/>
            </a:avLst>
          </a:prstGeom>
          <a:solidFill>
            <a:srgbClr val="1B2330"/>
          </a:solidFill>
          <a:ln w="12700">
            <a:solidFill>
              <a:srgbClr val="36414F"/>
            </a:solidFill>
            <a:prstDash val="solid"/>
          </a:ln>
        </p:spPr>
      </p:sp>
      <p:sp>
        <p:nvSpPr>
          <p:cNvPr id="21" name="Text 18"/>
          <p:cNvSpPr/>
          <p:nvPr/>
        </p:nvSpPr>
        <p:spPr>
          <a:xfrm>
            <a:off x="9972294" y="4251960"/>
            <a:ext cx="1652473" cy="457200"/>
          </a:xfrm>
          <a:prstGeom prst="rect">
            <a:avLst/>
          </a:prstGeom>
          <a:noFill/>
          <a:ln/>
        </p:spPr>
        <p:txBody>
          <a:bodyPr wrap="square" rtlCol="0" anchor="ctr"/>
          <a:lstStyle/>
          <a:p>
            <a:pPr algn="ctr" indent="0" marL="0">
              <a:buNone/>
            </a:pPr>
            <a:r>
              <a:rPr lang="en-US" sz="1150" dirty="0">
                <a:solidFill>
                  <a:srgbClr val="AAB6C7"/>
                </a:solidFill>
                <a:latin typeface="Segoe UI" pitchFamily="34" charset="0"/>
                <a:ea typeface="Segoe UI" pitchFamily="34" charset="-122"/>
                <a:cs typeface="Segoe UI" pitchFamily="34" charset="-120"/>
              </a:rPr>
              <a:t>Websites</a:t>
            </a:r>
            <a:endParaRPr lang="en-US" sz="1150" dirty="0"/>
          </a:p>
        </p:txBody>
      </p:sp>
      <p:sp>
        <p:nvSpPr>
          <p:cNvPr id="22" name="Text 19"/>
          <p:cNvSpPr/>
          <p:nvPr/>
        </p:nvSpPr>
        <p:spPr>
          <a:xfrm>
            <a:off x="566928" y="4983480"/>
            <a:ext cx="7680960" cy="457200"/>
          </a:xfrm>
          <a:prstGeom prst="rect">
            <a:avLst/>
          </a:prstGeom>
          <a:noFill/>
          <a:ln/>
        </p:spPr>
        <p:txBody>
          <a:bodyPr wrap="square" rtlCol="0" anchor="ctr"/>
          <a:lstStyle/>
          <a:p>
            <a:pPr indent="0" marL="0">
              <a:buNone/>
            </a:pPr>
            <a:r>
              <a:rPr lang="en-US" sz="1500" dirty="0">
                <a:solidFill>
                  <a:srgbClr val="3BE3E0"/>
                </a:solidFill>
                <a:latin typeface="Segoe UI" pitchFamily="34" charset="0"/>
                <a:ea typeface="Segoe UI" pitchFamily="34" charset="-122"/>
                <a:cs typeface="Segoe UI" pitchFamily="34" charset="-120"/>
              </a:rPr>
              <a:t>The cockpit's instruments read true before anyone trades on them.</a:t>
            </a:r>
            <a:endParaRPr lang="en-US" sz="1500" dirty="0"/>
          </a:p>
        </p:txBody>
      </p:sp>
      <p:sp>
        <p:nvSpPr>
          <p:cNvPr id="23" name="Text 20"/>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24" name="Text 21"/>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06 / 15</a:t>
            </a:r>
            <a:endParaRPr lang="en-US" sz="900" dirty="0"/>
          </a:p>
        </p:txBody>
      </p:sp>
      <p:sp>
        <p:nvSpPr>
          <p:cNvPr id="25" name="Shape 22"/>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21B"/>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96012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HOW IT WORKS · MARKET DATA</a:t>
            </a:r>
            <a:endParaRPr lang="en-US" sz="1200" dirty="0"/>
          </a:p>
        </p:txBody>
      </p:sp>
      <p:sp>
        <p:nvSpPr>
          <p:cNvPr id="4" name="Text 2"/>
          <p:cNvSpPr/>
          <p:nvPr/>
        </p:nvSpPr>
        <p:spPr>
          <a:xfrm>
            <a:off x="566928" y="960120"/>
            <a:ext cx="10881360" cy="731520"/>
          </a:xfrm>
          <a:prstGeom prst="rect">
            <a:avLst/>
          </a:prstGeom>
          <a:noFill/>
          <a:ln/>
        </p:spPr>
        <p:txBody>
          <a:bodyPr wrap="square" rtlCol="0" anchor="ctr"/>
          <a:lstStyle/>
          <a:p>
            <a:pPr indent="0" marL="0">
              <a:buNone/>
            </a:pPr>
            <a:r>
              <a:rPr lang="en-US" sz="3000" b="1" dirty="0">
                <a:solidFill>
                  <a:srgbClr val="F3F6FB"/>
                </a:solidFill>
                <a:latin typeface="Segoe UI Semibold" pitchFamily="34" charset="0"/>
                <a:ea typeface="Segoe UI Semibold" pitchFamily="34" charset="-122"/>
                <a:cs typeface="Segoe UI Semibold" pitchFamily="34" charset="-120"/>
              </a:rPr>
              <a:t>Capture. Refine. Deliver.</a:t>
            </a:r>
            <a:endParaRPr lang="en-US" sz="3000" dirty="0"/>
          </a:p>
        </p:txBody>
      </p:sp>
      <p:sp>
        <p:nvSpPr>
          <p:cNvPr id="5" name="Shape 3"/>
          <p:cNvSpPr/>
          <p:nvPr/>
        </p:nvSpPr>
        <p:spPr>
          <a:xfrm>
            <a:off x="566928" y="2103120"/>
            <a:ext cx="3442106" cy="2560320"/>
          </a:xfrm>
          <a:prstGeom prst="roundRect">
            <a:avLst>
              <a:gd name="adj" fmla="val 3214"/>
            </a:avLst>
          </a:prstGeom>
          <a:solidFill>
            <a:srgbClr val="141A25"/>
          </a:solidFill>
          <a:ln w="13970">
            <a:solidFill>
              <a:srgbClr val="36414F"/>
            </a:solidFill>
            <a:prstDash val="solid"/>
          </a:ln>
        </p:spPr>
      </p:sp>
      <p:sp>
        <p:nvSpPr>
          <p:cNvPr id="6" name="Shape 4"/>
          <p:cNvSpPr/>
          <p:nvPr/>
        </p:nvSpPr>
        <p:spPr>
          <a:xfrm>
            <a:off x="841248" y="2414016"/>
            <a:ext cx="603504" cy="603504"/>
          </a:xfrm>
          <a:prstGeom prst="roundRect">
            <a:avLst>
              <a:gd name="adj" fmla="val 16667"/>
            </a:avLst>
          </a:prstGeom>
          <a:solidFill>
            <a:srgbClr val="1B2330"/>
          </a:solidFill>
          <a:ln w="15240">
            <a:solidFill>
              <a:srgbClr val="3BE3E0"/>
            </a:solidFill>
            <a:prstDash val="solid"/>
          </a:ln>
        </p:spPr>
      </p:sp>
      <p:pic>
        <p:nvPicPr>
          <p:cNvPr id="7" name="Image 0" descr="C:/Users/neuma_p1qrsic/Repo/agentic-ops1/.scratch/icons/venue.png">    </p:cNvPr>
          <p:cNvPicPr>
            <a:picLocks noChangeAspect="1"/>
          </p:cNvPicPr>
          <p:nvPr/>
        </p:nvPicPr>
        <p:blipFill>
          <a:blip r:embed="rId1"/>
          <a:stretch>
            <a:fillRect/>
          </a:stretch>
        </p:blipFill>
        <p:spPr>
          <a:xfrm>
            <a:off x="986089" y="2558857"/>
            <a:ext cx="313822" cy="313822"/>
          </a:xfrm>
          <a:prstGeom prst="rect">
            <a:avLst/>
          </a:prstGeom>
        </p:spPr>
      </p:pic>
      <p:sp>
        <p:nvSpPr>
          <p:cNvPr id="8" name="Text 5"/>
          <p:cNvSpPr/>
          <p:nvPr/>
        </p:nvSpPr>
        <p:spPr>
          <a:xfrm>
            <a:off x="1618488" y="2414016"/>
            <a:ext cx="2161946" cy="603504"/>
          </a:xfrm>
          <a:prstGeom prst="rect">
            <a:avLst/>
          </a:prstGeom>
          <a:noFill/>
          <a:ln/>
        </p:spPr>
        <p:txBody>
          <a:bodyPr wrap="square" rtlCol="0" anchor="ctr"/>
          <a:lstStyle/>
          <a:p>
            <a:pPr indent="0" marL="0">
              <a:buNone/>
            </a:pPr>
            <a:r>
              <a:rPr lang="en-US" sz="1600" b="1" spc="200" kern="0" dirty="0">
                <a:solidFill>
                  <a:srgbClr val="3BE3E0"/>
                </a:solidFill>
                <a:latin typeface="Segoe UI Semibold" pitchFamily="34" charset="0"/>
                <a:ea typeface="Segoe UI Semibold" pitchFamily="34" charset="-122"/>
                <a:cs typeface="Segoe UI Semibold" pitchFamily="34" charset="-120"/>
              </a:rPr>
              <a:t>CAPTURE</a:t>
            </a:r>
            <a:endParaRPr lang="en-US" sz="1600" dirty="0"/>
          </a:p>
        </p:txBody>
      </p:sp>
      <p:sp>
        <p:nvSpPr>
          <p:cNvPr id="9" name="Text 6"/>
          <p:cNvSpPr/>
          <p:nvPr/>
        </p:nvSpPr>
        <p:spPr>
          <a:xfrm>
            <a:off x="841248" y="3246120"/>
            <a:ext cx="2893466" cy="1280160"/>
          </a:xfrm>
          <a:prstGeom prst="rect">
            <a:avLst/>
          </a:prstGeom>
          <a:noFill/>
          <a:ln/>
        </p:spPr>
        <p:txBody>
          <a:bodyPr wrap="square" rtlCol="0" anchor="t"/>
          <a:lstStyle/>
          <a:p>
            <a:pPr indent="0" marL="0">
              <a:lnSpc>
                <a:spcPct val="120000"/>
              </a:lnSpc>
              <a:buNone/>
            </a:pPr>
            <a:r>
              <a:rPr lang="en-US" sz="1250" dirty="0">
                <a:solidFill>
                  <a:srgbClr val="AAB6C7"/>
                </a:solidFill>
                <a:latin typeface="Segoe UI" pitchFamily="34" charset="0"/>
                <a:ea typeface="Segoe UI" pitchFamily="34" charset="-122"/>
                <a:cs typeface="Segoe UI" pitchFamily="34" charset="-120"/>
              </a:rPr>
              <a:t>Ingest from any feed or system: providers, central banks, agencies, websites, your own data. Any protocol, on a schedule or on demand.</a:t>
            </a:r>
            <a:endParaRPr lang="en-US" sz="1250" dirty="0"/>
          </a:p>
        </p:txBody>
      </p:sp>
      <p:sp>
        <p:nvSpPr>
          <p:cNvPr id="10" name="Shape 7"/>
          <p:cNvSpPr/>
          <p:nvPr/>
        </p:nvSpPr>
        <p:spPr>
          <a:xfrm>
            <a:off x="4054754" y="3383280"/>
            <a:ext cx="274320" cy="0"/>
          </a:xfrm>
          <a:prstGeom prst="line">
            <a:avLst/>
          </a:prstGeom>
          <a:noFill/>
          <a:ln w="25400">
            <a:solidFill>
              <a:srgbClr val="3BE3E0"/>
            </a:solidFill>
            <a:prstDash val="solid"/>
            <a:tailEnd type="triangle"/>
          </a:ln>
        </p:spPr>
      </p:sp>
      <p:sp>
        <p:nvSpPr>
          <p:cNvPr id="11" name="Shape 8"/>
          <p:cNvSpPr/>
          <p:nvPr/>
        </p:nvSpPr>
        <p:spPr>
          <a:xfrm>
            <a:off x="4374794" y="2103120"/>
            <a:ext cx="3442106" cy="2560320"/>
          </a:xfrm>
          <a:prstGeom prst="roundRect">
            <a:avLst>
              <a:gd name="adj" fmla="val 3214"/>
            </a:avLst>
          </a:prstGeom>
          <a:solidFill>
            <a:srgbClr val="141A25"/>
          </a:solidFill>
          <a:ln w="13970">
            <a:solidFill>
              <a:srgbClr val="36414F"/>
            </a:solidFill>
            <a:prstDash val="solid"/>
          </a:ln>
        </p:spPr>
      </p:sp>
      <p:sp>
        <p:nvSpPr>
          <p:cNvPr id="12" name="Shape 9"/>
          <p:cNvSpPr/>
          <p:nvPr/>
        </p:nvSpPr>
        <p:spPr>
          <a:xfrm>
            <a:off x="4649114" y="2414016"/>
            <a:ext cx="603504" cy="603504"/>
          </a:xfrm>
          <a:prstGeom prst="roundRect">
            <a:avLst>
              <a:gd name="adj" fmla="val 16667"/>
            </a:avLst>
          </a:prstGeom>
          <a:solidFill>
            <a:srgbClr val="1B2330"/>
          </a:solidFill>
          <a:ln w="15240">
            <a:solidFill>
              <a:srgbClr val="3BE3E0"/>
            </a:solidFill>
            <a:prstDash val="solid"/>
          </a:ln>
        </p:spPr>
      </p:sp>
      <p:pic>
        <p:nvPicPr>
          <p:cNvPr id="13" name="Image 1" descr="C:/Users/neuma_p1qrsic/Repo/agentic-ops1/.scratch/icons/eye.png">    </p:cNvPr>
          <p:cNvPicPr>
            <a:picLocks noChangeAspect="1"/>
          </p:cNvPicPr>
          <p:nvPr/>
        </p:nvPicPr>
        <p:blipFill>
          <a:blip r:embed="rId2"/>
          <a:stretch>
            <a:fillRect/>
          </a:stretch>
        </p:blipFill>
        <p:spPr>
          <a:xfrm>
            <a:off x="4793955" y="2558857"/>
            <a:ext cx="313822" cy="313822"/>
          </a:xfrm>
          <a:prstGeom prst="rect">
            <a:avLst/>
          </a:prstGeom>
        </p:spPr>
      </p:pic>
      <p:sp>
        <p:nvSpPr>
          <p:cNvPr id="14" name="Text 10"/>
          <p:cNvSpPr/>
          <p:nvPr/>
        </p:nvSpPr>
        <p:spPr>
          <a:xfrm>
            <a:off x="5426354" y="2414016"/>
            <a:ext cx="2161946" cy="603504"/>
          </a:xfrm>
          <a:prstGeom prst="rect">
            <a:avLst/>
          </a:prstGeom>
          <a:noFill/>
          <a:ln/>
        </p:spPr>
        <p:txBody>
          <a:bodyPr wrap="square" rtlCol="0" anchor="ctr"/>
          <a:lstStyle/>
          <a:p>
            <a:pPr indent="0" marL="0">
              <a:buNone/>
            </a:pPr>
            <a:r>
              <a:rPr lang="en-US" sz="1600" b="1" spc="200" kern="0" dirty="0">
                <a:solidFill>
                  <a:srgbClr val="3BE3E0"/>
                </a:solidFill>
                <a:latin typeface="Segoe UI Semibold" pitchFamily="34" charset="0"/>
                <a:ea typeface="Segoe UI Semibold" pitchFamily="34" charset="-122"/>
                <a:cs typeface="Segoe UI Semibold" pitchFamily="34" charset="-120"/>
              </a:rPr>
              <a:t>REFINE</a:t>
            </a:r>
            <a:endParaRPr lang="en-US" sz="1600" dirty="0"/>
          </a:p>
        </p:txBody>
      </p:sp>
      <p:sp>
        <p:nvSpPr>
          <p:cNvPr id="15" name="Text 11"/>
          <p:cNvSpPr/>
          <p:nvPr/>
        </p:nvSpPr>
        <p:spPr>
          <a:xfrm>
            <a:off x="4649114" y="3246120"/>
            <a:ext cx="2893466" cy="1280160"/>
          </a:xfrm>
          <a:prstGeom prst="rect">
            <a:avLst/>
          </a:prstGeom>
          <a:noFill/>
          <a:ln/>
        </p:spPr>
        <p:txBody>
          <a:bodyPr wrap="square" rtlCol="0" anchor="t"/>
          <a:lstStyle/>
          <a:p>
            <a:pPr indent="0" marL="0">
              <a:lnSpc>
                <a:spcPct val="120000"/>
              </a:lnSpc>
              <a:buNone/>
            </a:pPr>
            <a:r>
              <a:rPr lang="en-US" sz="1250" dirty="0">
                <a:solidFill>
                  <a:srgbClr val="AAB6C7"/>
                </a:solidFill>
                <a:latin typeface="Segoe UI" pitchFamily="34" charset="0"/>
                <a:ea typeface="Segoe UI" pitchFamily="34" charset="-122"/>
                <a:cs typeface="Segoe UI" pitchFamily="34" charset="-120"/>
              </a:rPr>
              <a:t>Validate, cleanse and transform. Every value checked as it arrives; sources aligned to one model; shaped for each target.</a:t>
            </a:r>
            <a:endParaRPr lang="en-US" sz="1250" dirty="0"/>
          </a:p>
        </p:txBody>
      </p:sp>
      <p:sp>
        <p:nvSpPr>
          <p:cNvPr id="16" name="Shape 12"/>
          <p:cNvSpPr/>
          <p:nvPr/>
        </p:nvSpPr>
        <p:spPr>
          <a:xfrm>
            <a:off x="7862621" y="3383280"/>
            <a:ext cx="274320" cy="0"/>
          </a:xfrm>
          <a:prstGeom prst="line">
            <a:avLst/>
          </a:prstGeom>
          <a:noFill/>
          <a:ln w="25400">
            <a:solidFill>
              <a:srgbClr val="3BE3E0"/>
            </a:solidFill>
            <a:prstDash val="solid"/>
            <a:tailEnd type="triangle"/>
          </a:ln>
        </p:spPr>
      </p:sp>
      <p:sp>
        <p:nvSpPr>
          <p:cNvPr id="17" name="Shape 13"/>
          <p:cNvSpPr/>
          <p:nvPr/>
        </p:nvSpPr>
        <p:spPr>
          <a:xfrm>
            <a:off x="8182661" y="2103120"/>
            <a:ext cx="3442106" cy="2560320"/>
          </a:xfrm>
          <a:prstGeom prst="roundRect">
            <a:avLst>
              <a:gd name="adj" fmla="val 3214"/>
            </a:avLst>
          </a:prstGeom>
          <a:solidFill>
            <a:srgbClr val="141A25"/>
          </a:solidFill>
          <a:ln w="13970">
            <a:solidFill>
              <a:srgbClr val="36414F"/>
            </a:solidFill>
            <a:prstDash val="solid"/>
          </a:ln>
        </p:spPr>
      </p:sp>
      <p:sp>
        <p:nvSpPr>
          <p:cNvPr id="18" name="Shape 14"/>
          <p:cNvSpPr/>
          <p:nvPr/>
        </p:nvSpPr>
        <p:spPr>
          <a:xfrm>
            <a:off x="8456981" y="2414016"/>
            <a:ext cx="603504" cy="603504"/>
          </a:xfrm>
          <a:prstGeom prst="roundRect">
            <a:avLst>
              <a:gd name="adj" fmla="val 16667"/>
            </a:avLst>
          </a:prstGeom>
          <a:solidFill>
            <a:srgbClr val="1B2330"/>
          </a:solidFill>
          <a:ln w="15240">
            <a:solidFill>
              <a:srgbClr val="3BE3E0"/>
            </a:solidFill>
            <a:prstDash val="solid"/>
          </a:ln>
        </p:spPr>
      </p:sp>
      <p:pic>
        <p:nvPicPr>
          <p:cNvPr id="19" name="Image 2" descr="C:/Users/neuma_p1qrsic/Repo/agentic-ops1/.scratch/icons/merge.png">    </p:cNvPr>
          <p:cNvPicPr>
            <a:picLocks noChangeAspect="1"/>
          </p:cNvPicPr>
          <p:nvPr/>
        </p:nvPicPr>
        <p:blipFill>
          <a:blip r:embed="rId3"/>
          <a:stretch>
            <a:fillRect/>
          </a:stretch>
        </p:blipFill>
        <p:spPr>
          <a:xfrm>
            <a:off x="8601822" y="2558857"/>
            <a:ext cx="313822" cy="313822"/>
          </a:xfrm>
          <a:prstGeom prst="rect">
            <a:avLst/>
          </a:prstGeom>
        </p:spPr>
      </p:pic>
      <p:sp>
        <p:nvSpPr>
          <p:cNvPr id="20" name="Text 15"/>
          <p:cNvSpPr/>
          <p:nvPr/>
        </p:nvSpPr>
        <p:spPr>
          <a:xfrm>
            <a:off x="9234221" y="2414016"/>
            <a:ext cx="2161946" cy="603504"/>
          </a:xfrm>
          <a:prstGeom prst="rect">
            <a:avLst/>
          </a:prstGeom>
          <a:noFill/>
          <a:ln/>
        </p:spPr>
        <p:txBody>
          <a:bodyPr wrap="square" rtlCol="0" anchor="ctr"/>
          <a:lstStyle/>
          <a:p>
            <a:pPr indent="0" marL="0">
              <a:buNone/>
            </a:pPr>
            <a:r>
              <a:rPr lang="en-US" sz="1600" b="1" spc="200" kern="0" dirty="0">
                <a:solidFill>
                  <a:srgbClr val="3BE3E0"/>
                </a:solidFill>
                <a:latin typeface="Segoe UI Semibold" pitchFamily="34" charset="0"/>
                <a:ea typeface="Segoe UI Semibold" pitchFamily="34" charset="-122"/>
                <a:cs typeface="Segoe UI Semibold" pitchFamily="34" charset="-120"/>
              </a:rPr>
              <a:t>DELIVER</a:t>
            </a:r>
            <a:endParaRPr lang="en-US" sz="1600" dirty="0"/>
          </a:p>
        </p:txBody>
      </p:sp>
      <p:sp>
        <p:nvSpPr>
          <p:cNvPr id="21" name="Text 16"/>
          <p:cNvSpPr/>
          <p:nvPr/>
        </p:nvSpPr>
        <p:spPr>
          <a:xfrm>
            <a:off x="8456981" y="3246120"/>
            <a:ext cx="2893466" cy="1280160"/>
          </a:xfrm>
          <a:prstGeom prst="rect">
            <a:avLst/>
          </a:prstGeom>
          <a:noFill/>
          <a:ln/>
        </p:spPr>
        <p:txBody>
          <a:bodyPr wrap="square" rtlCol="0" anchor="t"/>
          <a:lstStyle/>
          <a:p>
            <a:pPr indent="0" marL="0">
              <a:lnSpc>
                <a:spcPct val="120000"/>
              </a:lnSpc>
              <a:buNone/>
            </a:pPr>
            <a:r>
              <a:rPr lang="en-US" sz="1250" dirty="0">
                <a:solidFill>
                  <a:srgbClr val="AAB6C7"/>
                </a:solidFill>
                <a:latin typeface="Segoe UI" pitchFamily="34" charset="0"/>
                <a:ea typeface="Segoe UI" pitchFamily="34" charset="-122"/>
                <a:cs typeface="Segoe UI" pitchFamily="34" charset="-120"/>
              </a:rPr>
              <a:t>Push or pull into SAP and non-SAP systems, databases and analytics. Nothing re-typed.</a:t>
            </a:r>
            <a:endParaRPr lang="en-US" sz="1250" dirty="0"/>
          </a:p>
        </p:txBody>
      </p:sp>
      <p:sp>
        <p:nvSpPr>
          <p:cNvPr id="22" name="Shape 17"/>
          <p:cNvSpPr/>
          <p:nvPr/>
        </p:nvSpPr>
        <p:spPr>
          <a:xfrm>
            <a:off x="566928" y="4956048"/>
            <a:ext cx="11057839" cy="749808"/>
          </a:xfrm>
          <a:prstGeom prst="roundRect">
            <a:avLst>
              <a:gd name="adj" fmla="val 10976"/>
            </a:avLst>
          </a:prstGeom>
          <a:solidFill>
            <a:srgbClr val="141A25"/>
          </a:solidFill>
          <a:ln w="13970">
            <a:solidFill>
              <a:srgbClr val="36414F"/>
            </a:solidFill>
            <a:prstDash val="solid"/>
          </a:ln>
        </p:spPr>
      </p:sp>
      <p:pic>
        <p:nvPicPr>
          <p:cNvPr id="23" name="Image 3" descr="C:/Users/neuma_p1qrsic/Repo/agentic-ops1/.scratch/icons/eye.png">    </p:cNvPr>
          <p:cNvPicPr>
            <a:picLocks noChangeAspect="1"/>
          </p:cNvPicPr>
          <p:nvPr/>
        </p:nvPicPr>
        <p:blipFill>
          <a:blip r:embed="rId4"/>
          <a:stretch>
            <a:fillRect/>
          </a:stretch>
        </p:blipFill>
        <p:spPr>
          <a:xfrm>
            <a:off x="841248" y="5129784"/>
            <a:ext cx="402336" cy="402336"/>
          </a:xfrm>
          <a:prstGeom prst="rect">
            <a:avLst/>
          </a:prstGeom>
        </p:spPr>
      </p:pic>
      <p:sp>
        <p:nvSpPr>
          <p:cNvPr id="24" name="Text 18"/>
          <p:cNvSpPr/>
          <p:nvPr/>
        </p:nvSpPr>
        <p:spPr>
          <a:xfrm>
            <a:off x="1435608" y="4956048"/>
            <a:ext cx="9914839" cy="749808"/>
          </a:xfrm>
          <a:prstGeom prst="rect">
            <a:avLst/>
          </a:prstGeom>
          <a:noFill/>
          <a:ln/>
        </p:spPr>
        <p:txBody>
          <a:bodyPr wrap="square" rtlCol="0" anchor="ctr"/>
          <a:lstStyle/>
          <a:p>
            <a:pPr indent="0" marL="0">
              <a:buNone/>
            </a:pPr>
            <a:r>
              <a:rPr lang="en-US" sz="1450" dirty="0">
                <a:solidFill>
                  <a:srgbClr val="F3F6FB"/>
                </a:solidFill>
                <a:latin typeface="Segoe UI" pitchFamily="34" charset="0"/>
                <a:ea typeface="Segoe UI" pitchFamily="34" charset="-122"/>
                <a:cs typeface="Segoe UI" pitchFamily="34" charset="-120"/>
              </a:rPr>
              <a:t>A decimal-shifted rate is caught on arrival and never reaches your TRM.</a:t>
            </a:r>
            <a:endParaRPr lang="en-US" sz="1450" dirty="0"/>
          </a:p>
        </p:txBody>
      </p:sp>
      <p:sp>
        <p:nvSpPr>
          <p:cNvPr id="25" name="Text 19"/>
          <p:cNvSpPr/>
          <p:nvPr/>
        </p:nvSpPr>
        <p:spPr>
          <a:xfrm>
            <a:off x="7784287" y="5961888"/>
            <a:ext cx="3840480" cy="274320"/>
          </a:xfrm>
          <a:prstGeom prst="rect">
            <a:avLst/>
          </a:prstGeom>
          <a:noFill/>
          <a:ln/>
        </p:spPr>
        <p:txBody>
          <a:bodyPr wrap="square" rtlCol="0" anchor="ctr"/>
          <a:lstStyle/>
          <a:p>
            <a:pPr algn="r" indent="0" marL="0">
              <a:buNone/>
            </a:pPr>
            <a:r>
              <a:rPr lang="en-US" sz="1000" i="1" dirty="0">
                <a:solidFill>
                  <a:srgbClr val="7C8A9B"/>
                </a:solidFill>
                <a:latin typeface="Segoe UI" pitchFamily="34" charset="0"/>
                <a:ea typeface="Segoe UI" pitchFamily="34" charset="-122"/>
                <a:cs typeface="Segoe UI" pitchFamily="34" charset="-120"/>
              </a:rPr>
              <a:t>Full Market Data Hub deck available.</a:t>
            </a:r>
            <a:endParaRPr lang="en-US" sz="1000" dirty="0"/>
          </a:p>
        </p:txBody>
      </p:sp>
      <p:sp>
        <p:nvSpPr>
          <p:cNvPr id="26" name="Text 20"/>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27" name="Text 21"/>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07 / 15</a:t>
            </a:r>
            <a:endParaRPr lang="en-US" sz="900" dirty="0"/>
          </a:p>
        </p:txBody>
      </p:sp>
      <p:sp>
        <p:nvSpPr>
          <p:cNvPr id="28" name="Shape 22"/>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96012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IN THE COCKPIT · TRADING</a:t>
            </a:r>
            <a:endParaRPr lang="en-US" sz="1200" dirty="0"/>
          </a:p>
        </p:txBody>
      </p:sp>
      <p:sp>
        <p:nvSpPr>
          <p:cNvPr id="4" name="Text 2"/>
          <p:cNvSpPr/>
          <p:nvPr/>
        </p:nvSpPr>
        <p:spPr>
          <a:xfrm>
            <a:off x="566928" y="960120"/>
            <a:ext cx="10881360" cy="731520"/>
          </a:xfrm>
          <a:prstGeom prst="rect">
            <a:avLst/>
          </a:prstGeom>
          <a:noFill/>
          <a:ln/>
        </p:spPr>
        <p:txBody>
          <a:bodyPr wrap="square" rtlCol="0" anchor="ctr"/>
          <a:lstStyle/>
          <a:p>
            <a:pPr indent="0" marL="0">
              <a:buNone/>
            </a:pPr>
            <a:r>
              <a:rPr lang="en-US" sz="3000" b="1" dirty="0">
                <a:solidFill>
                  <a:srgbClr val="F3F6FB"/>
                </a:solidFill>
                <a:latin typeface="Segoe UI Semibold" pitchFamily="34" charset="0"/>
                <a:ea typeface="Segoe UI Semibold" pitchFamily="34" charset="-122"/>
                <a:cs typeface="Segoe UI Semibold" pitchFamily="34" charset="-120"/>
              </a:rPr>
              <a:t>Then, the trades stop traveling by hand.</a:t>
            </a:r>
            <a:endParaRPr lang="en-US" sz="3000" dirty="0"/>
          </a:p>
        </p:txBody>
      </p:sp>
      <p:sp>
        <p:nvSpPr>
          <p:cNvPr id="5" name="Text 3"/>
          <p:cNvSpPr/>
          <p:nvPr/>
        </p:nvSpPr>
        <p:spPr>
          <a:xfrm>
            <a:off x="566928" y="1783080"/>
            <a:ext cx="10515600" cy="411480"/>
          </a:xfrm>
          <a:prstGeom prst="rect">
            <a:avLst/>
          </a:prstGeom>
          <a:noFill/>
          <a:ln/>
        </p:spPr>
        <p:txBody>
          <a:bodyPr wrap="square" rtlCol="0" anchor="ctr"/>
          <a:lstStyle/>
          <a:p>
            <a:pPr indent="0" marL="0">
              <a:buNone/>
            </a:pPr>
            <a:r>
              <a:rPr lang="en-US" sz="1400" i="1" dirty="0">
                <a:solidFill>
                  <a:srgbClr val="7C8A9B"/>
                </a:solidFill>
                <a:latin typeface="Segoe UI" pitchFamily="34" charset="0"/>
                <a:ea typeface="Segoe UI" pitchFamily="34" charset="-122"/>
                <a:cs typeface="Segoe UI" pitchFamily="34" charset="-120"/>
              </a:rPr>
              <a:t>The numbers read true. Now the money moves on them.</a:t>
            </a:r>
            <a:endParaRPr lang="en-US" sz="1400" dirty="0"/>
          </a:p>
        </p:txBody>
      </p:sp>
      <p:sp>
        <p:nvSpPr>
          <p:cNvPr id="6" name="Shape 4"/>
          <p:cNvSpPr/>
          <p:nvPr/>
        </p:nvSpPr>
        <p:spPr>
          <a:xfrm>
            <a:off x="566928" y="2514600"/>
            <a:ext cx="1675333" cy="1737360"/>
          </a:xfrm>
          <a:prstGeom prst="roundRect">
            <a:avLst>
              <a:gd name="adj" fmla="val 4912"/>
            </a:avLst>
          </a:prstGeom>
          <a:solidFill>
            <a:srgbClr val="141A25"/>
          </a:solidFill>
          <a:ln w="13970">
            <a:solidFill>
              <a:srgbClr val="36414F"/>
            </a:solidFill>
            <a:prstDash val="solid"/>
          </a:ln>
        </p:spPr>
      </p:sp>
      <p:sp>
        <p:nvSpPr>
          <p:cNvPr id="7" name="Text 5"/>
          <p:cNvSpPr/>
          <p:nvPr/>
        </p:nvSpPr>
        <p:spPr>
          <a:xfrm>
            <a:off x="731520" y="2679192"/>
            <a:ext cx="914400" cy="365760"/>
          </a:xfrm>
          <a:prstGeom prst="rect">
            <a:avLst/>
          </a:prstGeom>
          <a:noFill/>
          <a:ln/>
        </p:spPr>
        <p:txBody>
          <a:bodyPr wrap="square" rtlCol="0" anchor="ctr"/>
          <a:lstStyle/>
          <a:p>
            <a:pPr indent="0" marL="0">
              <a:buNone/>
            </a:pPr>
            <a:r>
              <a:rPr lang="en-US" sz="1600" b="1" dirty="0">
                <a:solidFill>
                  <a:srgbClr val="3BE3E0"/>
                </a:solidFill>
                <a:latin typeface="Segoe UI Semibold" pitchFamily="34" charset="0"/>
                <a:ea typeface="Segoe UI Semibold" pitchFamily="34" charset="-122"/>
                <a:cs typeface="Segoe UI Semibold" pitchFamily="34" charset="-120"/>
              </a:rPr>
              <a:t>01</a:t>
            </a:r>
            <a:endParaRPr lang="en-US" sz="1600" dirty="0"/>
          </a:p>
        </p:txBody>
      </p:sp>
      <p:sp>
        <p:nvSpPr>
          <p:cNvPr id="8" name="Text 6"/>
          <p:cNvSpPr/>
          <p:nvPr/>
        </p:nvSpPr>
        <p:spPr>
          <a:xfrm>
            <a:off x="731520" y="3081528"/>
            <a:ext cx="1346149" cy="365760"/>
          </a:xfrm>
          <a:prstGeom prst="rect">
            <a:avLst/>
          </a:prstGeom>
          <a:noFill/>
          <a:ln/>
        </p:spPr>
        <p:txBody>
          <a:bodyPr wrap="square" rtlCol="0" anchor="ctr"/>
          <a:lstStyle/>
          <a:p>
            <a:pPr indent="0" marL="0">
              <a:buNone/>
            </a:pPr>
            <a:r>
              <a:rPr lang="en-US" sz="1400" b="1" dirty="0">
                <a:solidFill>
                  <a:srgbClr val="F3F6FB"/>
                </a:solidFill>
                <a:latin typeface="Segoe UI Semibold" pitchFamily="34" charset="0"/>
                <a:ea typeface="Segoe UI Semibold" pitchFamily="34" charset="-122"/>
                <a:cs typeface="Segoe UI Semibold" pitchFamily="34" charset="-120"/>
              </a:rPr>
              <a:t>Decision</a:t>
            </a:r>
            <a:endParaRPr lang="en-US" sz="1400" dirty="0"/>
          </a:p>
        </p:txBody>
      </p:sp>
      <p:sp>
        <p:nvSpPr>
          <p:cNvPr id="9" name="Text 7"/>
          <p:cNvSpPr/>
          <p:nvPr/>
        </p:nvSpPr>
        <p:spPr>
          <a:xfrm>
            <a:off x="731520" y="3447288"/>
            <a:ext cx="1346149" cy="685800"/>
          </a:xfrm>
          <a:prstGeom prst="rect">
            <a:avLst/>
          </a:prstGeom>
          <a:noFill/>
          <a:ln/>
        </p:spPr>
        <p:txBody>
          <a:bodyPr wrap="square" rtlCol="0" anchor="ctr"/>
          <a:lstStyle/>
          <a:p>
            <a:pPr indent="0" marL="0">
              <a:lnSpc>
                <a:spcPct val="110000"/>
              </a:lnSpc>
              <a:buNone/>
            </a:pPr>
            <a:r>
              <a:rPr lang="en-US" sz="1050" dirty="0">
                <a:solidFill>
                  <a:srgbClr val="AAB6C7"/>
                </a:solidFill>
                <a:latin typeface="Segoe UI" pitchFamily="34" charset="0"/>
                <a:ea typeface="Segoe UI" pitchFamily="34" charset="-122"/>
                <a:cs typeface="Segoe UI" pitchFamily="34" charset="-120"/>
              </a:rPr>
              <a:t>from your SAP positions</a:t>
            </a:r>
            <a:endParaRPr lang="en-US" sz="1050" dirty="0"/>
          </a:p>
        </p:txBody>
      </p:sp>
      <p:sp>
        <p:nvSpPr>
          <p:cNvPr id="10" name="Text 8"/>
          <p:cNvSpPr/>
          <p:nvPr/>
        </p:nvSpPr>
        <p:spPr>
          <a:xfrm>
            <a:off x="2187397" y="3154680"/>
            <a:ext cx="292608" cy="457200"/>
          </a:xfrm>
          <a:prstGeom prst="rect">
            <a:avLst/>
          </a:prstGeom>
          <a:noFill/>
          <a:ln/>
        </p:spPr>
        <p:txBody>
          <a:bodyPr wrap="square" rtlCol="0" anchor="ctr"/>
          <a:lstStyle/>
          <a:p>
            <a:pPr algn="ctr" indent="0" marL="0">
              <a:buNone/>
            </a:pPr>
            <a:r>
              <a:rPr lang="en-US" sz="2000" dirty="0">
                <a:solidFill>
                  <a:srgbClr val="3BE3E0"/>
                </a:solidFill>
                <a:latin typeface="Segoe UI" pitchFamily="34" charset="0"/>
                <a:ea typeface="Segoe UI" pitchFamily="34" charset="-122"/>
                <a:cs typeface="Segoe UI" pitchFamily="34" charset="-120"/>
              </a:rPr>
              <a:t>›</a:t>
            </a:r>
            <a:endParaRPr lang="en-US" sz="2000" dirty="0"/>
          </a:p>
        </p:txBody>
      </p:sp>
      <p:sp>
        <p:nvSpPr>
          <p:cNvPr id="11" name="Shape 9"/>
          <p:cNvSpPr/>
          <p:nvPr/>
        </p:nvSpPr>
        <p:spPr>
          <a:xfrm>
            <a:off x="2443429" y="2514600"/>
            <a:ext cx="1675333" cy="1737360"/>
          </a:xfrm>
          <a:prstGeom prst="roundRect">
            <a:avLst>
              <a:gd name="adj" fmla="val 4912"/>
            </a:avLst>
          </a:prstGeom>
          <a:solidFill>
            <a:srgbClr val="141A25"/>
          </a:solidFill>
          <a:ln w="13970">
            <a:solidFill>
              <a:srgbClr val="36414F"/>
            </a:solidFill>
            <a:prstDash val="solid"/>
          </a:ln>
        </p:spPr>
      </p:sp>
      <p:sp>
        <p:nvSpPr>
          <p:cNvPr id="12" name="Text 10"/>
          <p:cNvSpPr/>
          <p:nvPr/>
        </p:nvSpPr>
        <p:spPr>
          <a:xfrm>
            <a:off x="2608021" y="2679192"/>
            <a:ext cx="914400" cy="365760"/>
          </a:xfrm>
          <a:prstGeom prst="rect">
            <a:avLst/>
          </a:prstGeom>
          <a:noFill/>
          <a:ln/>
        </p:spPr>
        <p:txBody>
          <a:bodyPr wrap="square" rtlCol="0" anchor="ctr"/>
          <a:lstStyle/>
          <a:p>
            <a:pPr indent="0" marL="0">
              <a:buNone/>
            </a:pPr>
            <a:r>
              <a:rPr lang="en-US" sz="1600" b="1" dirty="0">
                <a:solidFill>
                  <a:srgbClr val="3BE3E0"/>
                </a:solidFill>
                <a:latin typeface="Segoe UI Semibold" pitchFamily="34" charset="0"/>
                <a:ea typeface="Segoe UI Semibold" pitchFamily="34" charset="-122"/>
                <a:cs typeface="Segoe UI Semibold" pitchFamily="34" charset="-120"/>
              </a:rPr>
              <a:t>02</a:t>
            </a:r>
            <a:endParaRPr lang="en-US" sz="1600" dirty="0"/>
          </a:p>
        </p:txBody>
      </p:sp>
      <p:sp>
        <p:nvSpPr>
          <p:cNvPr id="13" name="Text 11"/>
          <p:cNvSpPr/>
          <p:nvPr/>
        </p:nvSpPr>
        <p:spPr>
          <a:xfrm>
            <a:off x="2608021" y="3081528"/>
            <a:ext cx="1346149" cy="365760"/>
          </a:xfrm>
          <a:prstGeom prst="rect">
            <a:avLst/>
          </a:prstGeom>
          <a:noFill/>
          <a:ln/>
        </p:spPr>
        <p:txBody>
          <a:bodyPr wrap="square" rtlCol="0" anchor="ctr"/>
          <a:lstStyle/>
          <a:p>
            <a:pPr indent="0" marL="0">
              <a:buNone/>
            </a:pPr>
            <a:r>
              <a:rPr lang="en-US" sz="1400" b="1" dirty="0">
                <a:solidFill>
                  <a:srgbClr val="F3F6FB"/>
                </a:solidFill>
                <a:latin typeface="Segoe UI Semibold" pitchFamily="34" charset="0"/>
                <a:ea typeface="Segoe UI Semibold" pitchFamily="34" charset="-122"/>
                <a:cs typeface="Segoe UI Semibold" pitchFamily="34" charset="-120"/>
              </a:rPr>
              <a:t>Request</a:t>
            </a:r>
            <a:endParaRPr lang="en-US" sz="1400" dirty="0"/>
          </a:p>
        </p:txBody>
      </p:sp>
      <p:sp>
        <p:nvSpPr>
          <p:cNvPr id="14" name="Text 12"/>
          <p:cNvSpPr/>
          <p:nvPr/>
        </p:nvSpPr>
        <p:spPr>
          <a:xfrm>
            <a:off x="2608021" y="3447288"/>
            <a:ext cx="1346149" cy="685800"/>
          </a:xfrm>
          <a:prstGeom prst="rect">
            <a:avLst/>
          </a:prstGeom>
          <a:noFill/>
          <a:ln/>
        </p:spPr>
        <p:txBody>
          <a:bodyPr wrap="square" rtlCol="0" anchor="ctr"/>
          <a:lstStyle/>
          <a:p>
            <a:pPr indent="0" marL="0">
              <a:lnSpc>
                <a:spcPct val="110000"/>
              </a:lnSpc>
              <a:buNone/>
            </a:pPr>
            <a:r>
              <a:rPr lang="en-US" sz="1050" dirty="0">
                <a:solidFill>
                  <a:srgbClr val="AAB6C7"/>
                </a:solidFill>
                <a:latin typeface="Segoe UI" pitchFamily="34" charset="0"/>
                <a:ea typeface="Segoe UI" pitchFamily="34" charset="-122"/>
                <a:cs typeface="Segoe UI" pitchFamily="34" charset="-120"/>
              </a:rPr>
              <a:t>filled in, sent to the venue</a:t>
            </a:r>
            <a:endParaRPr lang="en-US" sz="1050" dirty="0"/>
          </a:p>
        </p:txBody>
      </p:sp>
      <p:sp>
        <p:nvSpPr>
          <p:cNvPr id="15" name="Text 13"/>
          <p:cNvSpPr/>
          <p:nvPr/>
        </p:nvSpPr>
        <p:spPr>
          <a:xfrm>
            <a:off x="4063898" y="3154680"/>
            <a:ext cx="292608" cy="457200"/>
          </a:xfrm>
          <a:prstGeom prst="rect">
            <a:avLst/>
          </a:prstGeom>
          <a:noFill/>
          <a:ln/>
        </p:spPr>
        <p:txBody>
          <a:bodyPr wrap="square" rtlCol="0" anchor="ctr"/>
          <a:lstStyle/>
          <a:p>
            <a:pPr algn="ctr" indent="0" marL="0">
              <a:buNone/>
            </a:pPr>
            <a:r>
              <a:rPr lang="en-US" sz="2000" dirty="0">
                <a:solidFill>
                  <a:srgbClr val="3BE3E0"/>
                </a:solidFill>
                <a:latin typeface="Segoe UI" pitchFamily="34" charset="0"/>
                <a:ea typeface="Segoe UI" pitchFamily="34" charset="-122"/>
                <a:cs typeface="Segoe UI" pitchFamily="34" charset="-120"/>
              </a:rPr>
              <a:t>›</a:t>
            </a:r>
            <a:endParaRPr lang="en-US" sz="2000" dirty="0"/>
          </a:p>
        </p:txBody>
      </p:sp>
      <p:sp>
        <p:nvSpPr>
          <p:cNvPr id="16" name="Shape 14"/>
          <p:cNvSpPr/>
          <p:nvPr/>
        </p:nvSpPr>
        <p:spPr>
          <a:xfrm>
            <a:off x="4319930" y="2514600"/>
            <a:ext cx="1675333" cy="1737360"/>
          </a:xfrm>
          <a:prstGeom prst="roundRect">
            <a:avLst>
              <a:gd name="adj" fmla="val 4912"/>
            </a:avLst>
          </a:prstGeom>
          <a:solidFill>
            <a:srgbClr val="1B2330"/>
          </a:solidFill>
          <a:ln w="13970">
            <a:solidFill>
              <a:srgbClr val="36414F"/>
            </a:solidFill>
            <a:prstDash val="solid"/>
          </a:ln>
        </p:spPr>
      </p:sp>
      <p:sp>
        <p:nvSpPr>
          <p:cNvPr id="17" name="Text 15"/>
          <p:cNvSpPr/>
          <p:nvPr/>
        </p:nvSpPr>
        <p:spPr>
          <a:xfrm>
            <a:off x="4484522" y="2679192"/>
            <a:ext cx="914400" cy="365760"/>
          </a:xfrm>
          <a:prstGeom prst="rect">
            <a:avLst/>
          </a:prstGeom>
          <a:noFill/>
          <a:ln/>
        </p:spPr>
        <p:txBody>
          <a:bodyPr wrap="square" rtlCol="0" anchor="ctr"/>
          <a:lstStyle/>
          <a:p>
            <a:pPr indent="0" marL="0">
              <a:buNone/>
            </a:pPr>
            <a:r>
              <a:rPr lang="en-US" sz="1600" b="1" dirty="0">
                <a:solidFill>
                  <a:srgbClr val="3BE3E0"/>
                </a:solidFill>
                <a:latin typeface="Segoe UI Semibold" pitchFamily="34" charset="0"/>
                <a:ea typeface="Segoe UI Semibold" pitchFamily="34" charset="-122"/>
                <a:cs typeface="Segoe UI Semibold" pitchFamily="34" charset="-120"/>
              </a:rPr>
              <a:t>03</a:t>
            </a:r>
            <a:endParaRPr lang="en-US" sz="1600" dirty="0"/>
          </a:p>
        </p:txBody>
      </p:sp>
      <p:sp>
        <p:nvSpPr>
          <p:cNvPr id="18" name="Text 16"/>
          <p:cNvSpPr/>
          <p:nvPr/>
        </p:nvSpPr>
        <p:spPr>
          <a:xfrm>
            <a:off x="4484522" y="3081528"/>
            <a:ext cx="1346149" cy="365760"/>
          </a:xfrm>
          <a:prstGeom prst="rect">
            <a:avLst/>
          </a:prstGeom>
          <a:noFill/>
          <a:ln/>
        </p:spPr>
        <p:txBody>
          <a:bodyPr wrap="square" rtlCol="0" anchor="ctr"/>
          <a:lstStyle/>
          <a:p>
            <a:pPr indent="0" marL="0">
              <a:buNone/>
            </a:pPr>
            <a:r>
              <a:rPr lang="en-US" sz="1400" b="1" dirty="0">
                <a:solidFill>
                  <a:srgbClr val="F3F6FB"/>
                </a:solidFill>
                <a:latin typeface="Segoe UI Semibold" pitchFamily="34" charset="0"/>
                <a:ea typeface="Segoe UI Semibold" pitchFamily="34" charset="-122"/>
                <a:cs typeface="Segoe UI Semibold" pitchFamily="34" charset="-120"/>
              </a:rPr>
              <a:t>Approval</a:t>
            </a:r>
            <a:endParaRPr lang="en-US" sz="1400" dirty="0"/>
          </a:p>
        </p:txBody>
      </p:sp>
      <p:sp>
        <p:nvSpPr>
          <p:cNvPr id="19" name="Text 17"/>
          <p:cNvSpPr/>
          <p:nvPr/>
        </p:nvSpPr>
        <p:spPr>
          <a:xfrm>
            <a:off x="4484522" y="3447288"/>
            <a:ext cx="1346149" cy="685800"/>
          </a:xfrm>
          <a:prstGeom prst="rect">
            <a:avLst/>
          </a:prstGeom>
          <a:noFill/>
          <a:ln/>
        </p:spPr>
        <p:txBody>
          <a:bodyPr wrap="square" rtlCol="0" anchor="ctr"/>
          <a:lstStyle/>
          <a:p>
            <a:pPr indent="0" marL="0">
              <a:lnSpc>
                <a:spcPct val="110000"/>
              </a:lnSpc>
              <a:buNone/>
            </a:pPr>
            <a:r>
              <a:rPr lang="en-US" sz="1050" dirty="0">
                <a:solidFill>
                  <a:srgbClr val="AAB6C7"/>
                </a:solidFill>
                <a:latin typeface="Segoe UI" pitchFamily="34" charset="0"/>
                <a:ea typeface="Segoe UI" pitchFamily="34" charset="-122"/>
                <a:cs typeface="Segoe UI" pitchFamily="34" charset="-120"/>
              </a:rPr>
              <a:t>your rules, four-eye sign-off</a:t>
            </a:r>
            <a:endParaRPr lang="en-US" sz="1050" dirty="0"/>
          </a:p>
        </p:txBody>
      </p:sp>
      <p:sp>
        <p:nvSpPr>
          <p:cNvPr id="20" name="Text 18"/>
          <p:cNvSpPr/>
          <p:nvPr/>
        </p:nvSpPr>
        <p:spPr>
          <a:xfrm>
            <a:off x="5940400" y="3154680"/>
            <a:ext cx="292608" cy="457200"/>
          </a:xfrm>
          <a:prstGeom prst="rect">
            <a:avLst/>
          </a:prstGeom>
          <a:noFill/>
          <a:ln/>
        </p:spPr>
        <p:txBody>
          <a:bodyPr wrap="square" rtlCol="0" anchor="ctr"/>
          <a:lstStyle/>
          <a:p>
            <a:pPr algn="ctr" indent="0" marL="0">
              <a:buNone/>
            </a:pPr>
            <a:r>
              <a:rPr lang="en-US" sz="2000" dirty="0">
                <a:solidFill>
                  <a:srgbClr val="3BE3E0"/>
                </a:solidFill>
                <a:latin typeface="Segoe UI" pitchFamily="34" charset="0"/>
                <a:ea typeface="Segoe UI" pitchFamily="34" charset="-122"/>
                <a:cs typeface="Segoe UI" pitchFamily="34" charset="-120"/>
              </a:rPr>
              <a:t>›</a:t>
            </a:r>
            <a:endParaRPr lang="en-US" sz="2000" dirty="0"/>
          </a:p>
        </p:txBody>
      </p:sp>
      <p:sp>
        <p:nvSpPr>
          <p:cNvPr id="21" name="Shape 19"/>
          <p:cNvSpPr/>
          <p:nvPr/>
        </p:nvSpPr>
        <p:spPr>
          <a:xfrm>
            <a:off x="6196432" y="2514600"/>
            <a:ext cx="1675333" cy="1737360"/>
          </a:xfrm>
          <a:prstGeom prst="roundRect">
            <a:avLst>
              <a:gd name="adj" fmla="val 4912"/>
            </a:avLst>
          </a:prstGeom>
          <a:solidFill>
            <a:srgbClr val="141A25"/>
          </a:solidFill>
          <a:ln w="13970">
            <a:solidFill>
              <a:srgbClr val="36414F"/>
            </a:solidFill>
            <a:prstDash val="solid"/>
          </a:ln>
        </p:spPr>
      </p:sp>
      <p:sp>
        <p:nvSpPr>
          <p:cNvPr id="22" name="Text 20"/>
          <p:cNvSpPr/>
          <p:nvPr/>
        </p:nvSpPr>
        <p:spPr>
          <a:xfrm>
            <a:off x="6361024" y="2679192"/>
            <a:ext cx="914400" cy="365760"/>
          </a:xfrm>
          <a:prstGeom prst="rect">
            <a:avLst/>
          </a:prstGeom>
          <a:noFill/>
          <a:ln/>
        </p:spPr>
        <p:txBody>
          <a:bodyPr wrap="square" rtlCol="0" anchor="ctr"/>
          <a:lstStyle/>
          <a:p>
            <a:pPr indent="0" marL="0">
              <a:buNone/>
            </a:pPr>
            <a:r>
              <a:rPr lang="en-US" sz="1600" b="1" dirty="0">
                <a:solidFill>
                  <a:srgbClr val="3BE3E0"/>
                </a:solidFill>
                <a:latin typeface="Segoe UI Semibold" pitchFamily="34" charset="0"/>
                <a:ea typeface="Segoe UI Semibold" pitchFamily="34" charset="-122"/>
                <a:cs typeface="Segoe UI Semibold" pitchFamily="34" charset="-120"/>
              </a:rPr>
              <a:t>04</a:t>
            </a:r>
            <a:endParaRPr lang="en-US" sz="1600" dirty="0"/>
          </a:p>
        </p:txBody>
      </p:sp>
      <p:sp>
        <p:nvSpPr>
          <p:cNvPr id="23" name="Text 21"/>
          <p:cNvSpPr/>
          <p:nvPr/>
        </p:nvSpPr>
        <p:spPr>
          <a:xfrm>
            <a:off x="6361024" y="3081528"/>
            <a:ext cx="1346149" cy="365760"/>
          </a:xfrm>
          <a:prstGeom prst="rect">
            <a:avLst/>
          </a:prstGeom>
          <a:noFill/>
          <a:ln/>
        </p:spPr>
        <p:txBody>
          <a:bodyPr wrap="square" rtlCol="0" anchor="ctr"/>
          <a:lstStyle/>
          <a:p>
            <a:pPr indent="0" marL="0">
              <a:buNone/>
            </a:pPr>
            <a:r>
              <a:rPr lang="en-US" sz="1400" b="1" dirty="0">
                <a:solidFill>
                  <a:srgbClr val="F3F6FB"/>
                </a:solidFill>
                <a:latin typeface="Segoe UI Semibold" pitchFamily="34" charset="0"/>
                <a:ea typeface="Segoe UI Semibold" pitchFamily="34" charset="-122"/>
                <a:cs typeface="Segoe UI Semibold" pitchFamily="34" charset="-120"/>
              </a:rPr>
              <a:t>Execution</a:t>
            </a:r>
            <a:endParaRPr lang="en-US" sz="1400" dirty="0"/>
          </a:p>
        </p:txBody>
      </p:sp>
      <p:sp>
        <p:nvSpPr>
          <p:cNvPr id="24" name="Text 22"/>
          <p:cNvSpPr/>
          <p:nvPr/>
        </p:nvSpPr>
        <p:spPr>
          <a:xfrm>
            <a:off x="6361024" y="3447288"/>
            <a:ext cx="1346149" cy="685800"/>
          </a:xfrm>
          <a:prstGeom prst="rect">
            <a:avLst/>
          </a:prstGeom>
          <a:noFill/>
          <a:ln/>
        </p:spPr>
        <p:txBody>
          <a:bodyPr wrap="square" rtlCol="0" anchor="ctr"/>
          <a:lstStyle/>
          <a:p>
            <a:pPr indent="0" marL="0">
              <a:lnSpc>
                <a:spcPct val="110000"/>
              </a:lnSpc>
              <a:buNone/>
            </a:pPr>
            <a:r>
              <a:rPr lang="en-US" sz="1050" dirty="0">
                <a:solidFill>
                  <a:srgbClr val="AAB6C7"/>
                </a:solidFill>
                <a:latin typeface="Segoe UI" pitchFamily="34" charset="0"/>
                <a:ea typeface="Segoe UI" pitchFamily="34" charset="-122"/>
                <a:cs typeface="Segoe UI" pitchFamily="34" charset="-120"/>
              </a:rPr>
              <a:t>on your own platforms</a:t>
            </a:r>
            <a:endParaRPr lang="en-US" sz="1050" dirty="0"/>
          </a:p>
        </p:txBody>
      </p:sp>
      <p:sp>
        <p:nvSpPr>
          <p:cNvPr id="25" name="Text 23"/>
          <p:cNvSpPr/>
          <p:nvPr/>
        </p:nvSpPr>
        <p:spPr>
          <a:xfrm>
            <a:off x="7816901" y="3154680"/>
            <a:ext cx="292608" cy="457200"/>
          </a:xfrm>
          <a:prstGeom prst="rect">
            <a:avLst/>
          </a:prstGeom>
          <a:noFill/>
          <a:ln/>
        </p:spPr>
        <p:txBody>
          <a:bodyPr wrap="square" rtlCol="0" anchor="ctr"/>
          <a:lstStyle/>
          <a:p>
            <a:pPr algn="ctr" indent="0" marL="0">
              <a:buNone/>
            </a:pPr>
            <a:r>
              <a:rPr lang="en-US" sz="2000" dirty="0">
                <a:solidFill>
                  <a:srgbClr val="3BE3E0"/>
                </a:solidFill>
                <a:latin typeface="Segoe UI" pitchFamily="34" charset="0"/>
                <a:ea typeface="Segoe UI" pitchFamily="34" charset="-122"/>
                <a:cs typeface="Segoe UI" pitchFamily="34" charset="-120"/>
              </a:rPr>
              <a:t>›</a:t>
            </a:r>
            <a:endParaRPr lang="en-US" sz="2000" dirty="0"/>
          </a:p>
        </p:txBody>
      </p:sp>
      <p:sp>
        <p:nvSpPr>
          <p:cNvPr id="26" name="Shape 24"/>
          <p:cNvSpPr/>
          <p:nvPr/>
        </p:nvSpPr>
        <p:spPr>
          <a:xfrm>
            <a:off x="8072933" y="2514600"/>
            <a:ext cx="1675333" cy="1737360"/>
          </a:xfrm>
          <a:prstGeom prst="roundRect">
            <a:avLst>
              <a:gd name="adj" fmla="val 4912"/>
            </a:avLst>
          </a:prstGeom>
          <a:solidFill>
            <a:srgbClr val="141A25"/>
          </a:solidFill>
          <a:ln w="13970">
            <a:solidFill>
              <a:srgbClr val="36414F"/>
            </a:solidFill>
            <a:prstDash val="solid"/>
          </a:ln>
        </p:spPr>
      </p:sp>
      <p:sp>
        <p:nvSpPr>
          <p:cNvPr id="27" name="Text 25"/>
          <p:cNvSpPr/>
          <p:nvPr/>
        </p:nvSpPr>
        <p:spPr>
          <a:xfrm>
            <a:off x="8237525" y="2679192"/>
            <a:ext cx="914400" cy="365760"/>
          </a:xfrm>
          <a:prstGeom prst="rect">
            <a:avLst/>
          </a:prstGeom>
          <a:noFill/>
          <a:ln/>
        </p:spPr>
        <p:txBody>
          <a:bodyPr wrap="square" rtlCol="0" anchor="ctr"/>
          <a:lstStyle/>
          <a:p>
            <a:pPr indent="0" marL="0">
              <a:buNone/>
            </a:pPr>
            <a:r>
              <a:rPr lang="en-US" sz="1600" b="1" dirty="0">
                <a:solidFill>
                  <a:srgbClr val="3BE3E0"/>
                </a:solidFill>
                <a:latin typeface="Segoe UI Semibold" pitchFamily="34" charset="0"/>
                <a:ea typeface="Segoe UI Semibold" pitchFamily="34" charset="-122"/>
                <a:cs typeface="Segoe UI Semibold" pitchFamily="34" charset="-120"/>
              </a:rPr>
              <a:t>05</a:t>
            </a:r>
            <a:endParaRPr lang="en-US" sz="1600" dirty="0"/>
          </a:p>
        </p:txBody>
      </p:sp>
      <p:sp>
        <p:nvSpPr>
          <p:cNvPr id="28" name="Text 26"/>
          <p:cNvSpPr/>
          <p:nvPr/>
        </p:nvSpPr>
        <p:spPr>
          <a:xfrm>
            <a:off x="8237525" y="3081528"/>
            <a:ext cx="1346149" cy="365760"/>
          </a:xfrm>
          <a:prstGeom prst="rect">
            <a:avLst/>
          </a:prstGeom>
          <a:noFill/>
          <a:ln/>
        </p:spPr>
        <p:txBody>
          <a:bodyPr wrap="square" rtlCol="0" anchor="ctr"/>
          <a:lstStyle/>
          <a:p>
            <a:pPr indent="0" marL="0">
              <a:buNone/>
            </a:pPr>
            <a:r>
              <a:rPr lang="en-US" sz="1400" b="1" dirty="0">
                <a:solidFill>
                  <a:srgbClr val="F3F6FB"/>
                </a:solidFill>
                <a:latin typeface="Segoe UI Semibold" pitchFamily="34" charset="0"/>
                <a:ea typeface="Segoe UI Semibold" pitchFamily="34" charset="-122"/>
                <a:cs typeface="Segoe UI Semibold" pitchFamily="34" charset="-120"/>
              </a:rPr>
              <a:t>Integration</a:t>
            </a:r>
            <a:endParaRPr lang="en-US" sz="1400" dirty="0"/>
          </a:p>
        </p:txBody>
      </p:sp>
      <p:sp>
        <p:nvSpPr>
          <p:cNvPr id="29" name="Text 27"/>
          <p:cNvSpPr/>
          <p:nvPr/>
        </p:nvSpPr>
        <p:spPr>
          <a:xfrm>
            <a:off x="8237525" y="3447288"/>
            <a:ext cx="1346149" cy="685800"/>
          </a:xfrm>
          <a:prstGeom prst="rect">
            <a:avLst/>
          </a:prstGeom>
          <a:noFill/>
          <a:ln/>
        </p:spPr>
        <p:txBody>
          <a:bodyPr wrap="square" rtlCol="0" anchor="ctr"/>
          <a:lstStyle/>
          <a:p>
            <a:pPr indent="0" marL="0">
              <a:lnSpc>
                <a:spcPct val="110000"/>
              </a:lnSpc>
              <a:buNone/>
            </a:pPr>
            <a:r>
              <a:rPr lang="en-US" sz="1050" dirty="0">
                <a:solidFill>
                  <a:srgbClr val="AAB6C7"/>
                </a:solidFill>
                <a:latin typeface="Segoe UI" pitchFamily="34" charset="0"/>
                <a:ea typeface="Segoe UI" pitchFamily="34" charset="-122"/>
                <a:cs typeface="Segoe UI" pitchFamily="34" charset="-120"/>
              </a:rPr>
              <a:t>matched and shaped for SAP</a:t>
            </a:r>
            <a:endParaRPr lang="en-US" sz="1050" dirty="0"/>
          </a:p>
        </p:txBody>
      </p:sp>
      <p:sp>
        <p:nvSpPr>
          <p:cNvPr id="30" name="Text 28"/>
          <p:cNvSpPr/>
          <p:nvPr/>
        </p:nvSpPr>
        <p:spPr>
          <a:xfrm>
            <a:off x="9693402" y="3154680"/>
            <a:ext cx="292608" cy="457200"/>
          </a:xfrm>
          <a:prstGeom prst="rect">
            <a:avLst/>
          </a:prstGeom>
          <a:noFill/>
          <a:ln/>
        </p:spPr>
        <p:txBody>
          <a:bodyPr wrap="square" rtlCol="0" anchor="ctr"/>
          <a:lstStyle/>
          <a:p>
            <a:pPr algn="ctr" indent="0" marL="0">
              <a:buNone/>
            </a:pPr>
            <a:r>
              <a:rPr lang="en-US" sz="2000" dirty="0">
                <a:solidFill>
                  <a:srgbClr val="3BE3E0"/>
                </a:solidFill>
                <a:latin typeface="Segoe UI" pitchFamily="34" charset="0"/>
                <a:ea typeface="Segoe UI" pitchFamily="34" charset="-122"/>
                <a:cs typeface="Segoe UI" pitchFamily="34" charset="-120"/>
              </a:rPr>
              <a:t>›</a:t>
            </a:r>
            <a:endParaRPr lang="en-US" sz="2000" dirty="0"/>
          </a:p>
        </p:txBody>
      </p:sp>
      <p:sp>
        <p:nvSpPr>
          <p:cNvPr id="31" name="Shape 29"/>
          <p:cNvSpPr/>
          <p:nvPr/>
        </p:nvSpPr>
        <p:spPr>
          <a:xfrm>
            <a:off x="9949434" y="2514600"/>
            <a:ext cx="1675333" cy="1737360"/>
          </a:xfrm>
          <a:prstGeom prst="roundRect">
            <a:avLst>
              <a:gd name="adj" fmla="val 4912"/>
            </a:avLst>
          </a:prstGeom>
          <a:solidFill>
            <a:srgbClr val="141A25"/>
          </a:solidFill>
          <a:ln w="13970">
            <a:solidFill>
              <a:srgbClr val="36414F"/>
            </a:solidFill>
            <a:prstDash val="solid"/>
          </a:ln>
        </p:spPr>
      </p:sp>
      <p:sp>
        <p:nvSpPr>
          <p:cNvPr id="32" name="Text 30"/>
          <p:cNvSpPr/>
          <p:nvPr/>
        </p:nvSpPr>
        <p:spPr>
          <a:xfrm>
            <a:off x="10114026" y="2679192"/>
            <a:ext cx="914400" cy="365760"/>
          </a:xfrm>
          <a:prstGeom prst="rect">
            <a:avLst/>
          </a:prstGeom>
          <a:noFill/>
          <a:ln/>
        </p:spPr>
        <p:txBody>
          <a:bodyPr wrap="square" rtlCol="0" anchor="ctr"/>
          <a:lstStyle/>
          <a:p>
            <a:pPr indent="0" marL="0">
              <a:buNone/>
            </a:pPr>
            <a:r>
              <a:rPr lang="en-US" sz="1600" b="1" dirty="0">
                <a:solidFill>
                  <a:srgbClr val="3BE3E0"/>
                </a:solidFill>
                <a:latin typeface="Segoe UI Semibold" pitchFamily="34" charset="0"/>
                <a:ea typeface="Segoe UI Semibold" pitchFamily="34" charset="-122"/>
                <a:cs typeface="Segoe UI Semibold" pitchFamily="34" charset="-120"/>
              </a:rPr>
              <a:t>06</a:t>
            </a:r>
            <a:endParaRPr lang="en-US" sz="1600" dirty="0"/>
          </a:p>
        </p:txBody>
      </p:sp>
      <p:sp>
        <p:nvSpPr>
          <p:cNvPr id="33" name="Text 31"/>
          <p:cNvSpPr/>
          <p:nvPr/>
        </p:nvSpPr>
        <p:spPr>
          <a:xfrm>
            <a:off x="10114026" y="3081528"/>
            <a:ext cx="1346149" cy="365760"/>
          </a:xfrm>
          <a:prstGeom prst="rect">
            <a:avLst/>
          </a:prstGeom>
          <a:noFill/>
          <a:ln/>
        </p:spPr>
        <p:txBody>
          <a:bodyPr wrap="square" rtlCol="0" anchor="ctr"/>
          <a:lstStyle/>
          <a:p>
            <a:pPr indent="0" marL="0">
              <a:buNone/>
            </a:pPr>
            <a:r>
              <a:rPr lang="en-US" sz="1400" b="1" dirty="0">
                <a:solidFill>
                  <a:srgbClr val="F3F6FB"/>
                </a:solidFill>
                <a:latin typeface="Segoe UI Semibold" pitchFamily="34" charset="0"/>
                <a:ea typeface="Segoe UI Semibold" pitchFamily="34" charset="-122"/>
                <a:cs typeface="Segoe UI Semibold" pitchFamily="34" charset="-120"/>
              </a:rPr>
              <a:t>Settled</a:t>
            </a:r>
            <a:endParaRPr lang="en-US" sz="1400" dirty="0"/>
          </a:p>
        </p:txBody>
      </p:sp>
      <p:sp>
        <p:nvSpPr>
          <p:cNvPr id="34" name="Text 32"/>
          <p:cNvSpPr/>
          <p:nvPr/>
        </p:nvSpPr>
        <p:spPr>
          <a:xfrm>
            <a:off x="10114026" y="3447288"/>
            <a:ext cx="1346149" cy="685800"/>
          </a:xfrm>
          <a:prstGeom prst="rect">
            <a:avLst/>
          </a:prstGeom>
          <a:noFill/>
          <a:ln/>
        </p:spPr>
        <p:txBody>
          <a:bodyPr wrap="square" rtlCol="0" anchor="ctr"/>
          <a:lstStyle/>
          <a:p>
            <a:pPr indent="0" marL="0">
              <a:lnSpc>
                <a:spcPct val="110000"/>
              </a:lnSpc>
              <a:buNone/>
            </a:pPr>
            <a:r>
              <a:rPr lang="en-US" sz="1050" dirty="0">
                <a:solidFill>
                  <a:srgbClr val="AAB6C7"/>
                </a:solidFill>
                <a:latin typeface="Segoe UI" pitchFamily="34" charset="0"/>
                <a:ea typeface="Segoe UI" pitchFamily="34" charset="-122"/>
                <a:cs typeface="Segoe UI" pitchFamily="34" charset="-120"/>
              </a:rPr>
              <a:t>booked in SAP by itself</a:t>
            </a:r>
            <a:endParaRPr lang="en-US" sz="1050" dirty="0"/>
          </a:p>
        </p:txBody>
      </p:sp>
      <p:sp>
        <p:nvSpPr>
          <p:cNvPr id="35" name="Text 33"/>
          <p:cNvSpPr/>
          <p:nvPr/>
        </p:nvSpPr>
        <p:spPr>
          <a:xfrm>
            <a:off x="566928" y="4617720"/>
            <a:ext cx="4297680" cy="457200"/>
          </a:xfrm>
          <a:prstGeom prst="rect">
            <a:avLst/>
          </a:prstGeom>
          <a:noFill/>
          <a:ln/>
        </p:spPr>
        <p:txBody>
          <a:bodyPr wrap="square" rtlCol="0" anchor="ctr"/>
          <a:lstStyle/>
          <a:p>
            <a:pPr indent="0" marL="0">
              <a:buNone/>
            </a:pPr>
            <a:r>
              <a:rPr lang="en-US" sz="1250" dirty="0">
                <a:solidFill>
                  <a:srgbClr val="AAB6C7"/>
                </a:solidFill>
                <a:latin typeface="Segoe UI" pitchFamily="34" charset="0"/>
                <a:ea typeface="Segoe UI" pitchFamily="34" charset="-122"/>
                <a:cs typeface="Segoe UI" pitchFamily="34" charset="-120"/>
              </a:rPr>
              <a:t>Works with the venues your desk already uses:</a:t>
            </a:r>
            <a:endParaRPr lang="en-US" sz="1250" dirty="0"/>
          </a:p>
        </p:txBody>
      </p:sp>
      <p:sp>
        <p:nvSpPr>
          <p:cNvPr id="36" name="Shape 34"/>
          <p:cNvSpPr/>
          <p:nvPr/>
        </p:nvSpPr>
        <p:spPr>
          <a:xfrm>
            <a:off x="4956048" y="4617720"/>
            <a:ext cx="1172809" cy="457200"/>
          </a:xfrm>
          <a:prstGeom prst="roundRect">
            <a:avLst>
              <a:gd name="adj" fmla="val 50000"/>
            </a:avLst>
          </a:prstGeom>
          <a:solidFill>
            <a:srgbClr val="1B2330"/>
          </a:solidFill>
          <a:ln w="12700">
            <a:solidFill>
              <a:srgbClr val="36414F"/>
            </a:solidFill>
            <a:prstDash val="solid"/>
          </a:ln>
        </p:spPr>
      </p:sp>
      <p:sp>
        <p:nvSpPr>
          <p:cNvPr id="37" name="Text 35"/>
          <p:cNvSpPr/>
          <p:nvPr/>
        </p:nvSpPr>
        <p:spPr>
          <a:xfrm>
            <a:off x="4956048" y="4617720"/>
            <a:ext cx="1172809" cy="457200"/>
          </a:xfrm>
          <a:prstGeom prst="rect">
            <a:avLst/>
          </a:prstGeom>
          <a:noFill/>
          <a:ln/>
        </p:spPr>
        <p:txBody>
          <a:bodyPr wrap="square" rtlCol="0" anchor="ctr"/>
          <a:lstStyle/>
          <a:p>
            <a:pPr algn="ctr" indent="0" marL="0">
              <a:buNone/>
            </a:pPr>
            <a:r>
              <a:rPr lang="en-US" sz="1100" dirty="0">
                <a:solidFill>
                  <a:srgbClr val="AAB6C7"/>
                </a:solidFill>
                <a:latin typeface="Segoe UI" pitchFamily="34" charset="0"/>
                <a:ea typeface="Segoe UI" pitchFamily="34" charset="-122"/>
                <a:cs typeface="Segoe UI" pitchFamily="34" charset="-120"/>
              </a:rPr>
              <a:t>360T</a:t>
            </a:r>
            <a:endParaRPr lang="en-US" sz="1100" dirty="0"/>
          </a:p>
        </p:txBody>
      </p:sp>
      <p:sp>
        <p:nvSpPr>
          <p:cNvPr id="38" name="Shape 36"/>
          <p:cNvSpPr/>
          <p:nvPr/>
        </p:nvSpPr>
        <p:spPr>
          <a:xfrm>
            <a:off x="6330025" y="4617720"/>
            <a:ext cx="1172809" cy="457200"/>
          </a:xfrm>
          <a:prstGeom prst="roundRect">
            <a:avLst>
              <a:gd name="adj" fmla="val 50000"/>
            </a:avLst>
          </a:prstGeom>
          <a:solidFill>
            <a:srgbClr val="1B2330"/>
          </a:solidFill>
          <a:ln w="12700">
            <a:solidFill>
              <a:srgbClr val="36414F"/>
            </a:solidFill>
            <a:prstDash val="solid"/>
          </a:ln>
        </p:spPr>
      </p:sp>
      <p:sp>
        <p:nvSpPr>
          <p:cNvPr id="39" name="Text 37"/>
          <p:cNvSpPr/>
          <p:nvPr/>
        </p:nvSpPr>
        <p:spPr>
          <a:xfrm>
            <a:off x="6330025" y="4617720"/>
            <a:ext cx="1172809" cy="457200"/>
          </a:xfrm>
          <a:prstGeom prst="rect">
            <a:avLst/>
          </a:prstGeom>
          <a:noFill/>
          <a:ln/>
        </p:spPr>
        <p:txBody>
          <a:bodyPr wrap="square" rtlCol="0" anchor="ctr"/>
          <a:lstStyle/>
          <a:p>
            <a:pPr algn="ctr" indent="0" marL="0">
              <a:buNone/>
            </a:pPr>
            <a:r>
              <a:rPr lang="en-US" sz="1100" dirty="0">
                <a:solidFill>
                  <a:srgbClr val="AAB6C7"/>
                </a:solidFill>
                <a:latin typeface="Segoe UI" pitchFamily="34" charset="0"/>
                <a:ea typeface="Segoe UI" pitchFamily="34" charset="-122"/>
                <a:cs typeface="Segoe UI" pitchFamily="34" charset="-120"/>
              </a:rPr>
              <a:t>FXall</a:t>
            </a:r>
            <a:endParaRPr lang="en-US" sz="1100" dirty="0"/>
          </a:p>
        </p:txBody>
      </p:sp>
      <p:sp>
        <p:nvSpPr>
          <p:cNvPr id="40" name="Shape 38"/>
          <p:cNvSpPr/>
          <p:nvPr/>
        </p:nvSpPr>
        <p:spPr>
          <a:xfrm>
            <a:off x="7704003" y="4617720"/>
            <a:ext cx="1172809" cy="457200"/>
          </a:xfrm>
          <a:prstGeom prst="roundRect">
            <a:avLst>
              <a:gd name="adj" fmla="val 50000"/>
            </a:avLst>
          </a:prstGeom>
          <a:solidFill>
            <a:srgbClr val="1B2330"/>
          </a:solidFill>
          <a:ln w="12700">
            <a:solidFill>
              <a:srgbClr val="36414F"/>
            </a:solidFill>
            <a:prstDash val="solid"/>
          </a:ln>
        </p:spPr>
      </p:sp>
      <p:sp>
        <p:nvSpPr>
          <p:cNvPr id="41" name="Text 39"/>
          <p:cNvSpPr/>
          <p:nvPr/>
        </p:nvSpPr>
        <p:spPr>
          <a:xfrm>
            <a:off x="7704003" y="4617720"/>
            <a:ext cx="1172809" cy="457200"/>
          </a:xfrm>
          <a:prstGeom prst="rect">
            <a:avLst/>
          </a:prstGeom>
          <a:noFill/>
          <a:ln/>
        </p:spPr>
        <p:txBody>
          <a:bodyPr wrap="square" rtlCol="0" anchor="ctr"/>
          <a:lstStyle/>
          <a:p>
            <a:pPr algn="ctr" indent="0" marL="0">
              <a:buNone/>
            </a:pPr>
            <a:r>
              <a:rPr lang="en-US" sz="1100" dirty="0">
                <a:solidFill>
                  <a:srgbClr val="AAB6C7"/>
                </a:solidFill>
                <a:latin typeface="Segoe UI" pitchFamily="34" charset="0"/>
                <a:ea typeface="Segoe UI" pitchFamily="34" charset="-122"/>
                <a:cs typeface="Segoe UI" pitchFamily="34" charset="-120"/>
              </a:rPr>
              <a:t>Bloomberg FX GO</a:t>
            </a:r>
            <a:endParaRPr lang="en-US" sz="1100" dirty="0"/>
          </a:p>
        </p:txBody>
      </p:sp>
      <p:sp>
        <p:nvSpPr>
          <p:cNvPr id="42" name="Shape 40"/>
          <p:cNvSpPr/>
          <p:nvPr/>
        </p:nvSpPr>
        <p:spPr>
          <a:xfrm>
            <a:off x="9077980" y="4617720"/>
            <a:ext cx="1172809" cy="457200"/>
          </a:xfrm>
          <a:prstGeom prst="roundRect">
            <a:avLst>
              <a:gd name="adj" fmla="val 50000"/>
            </a:avLst>
          </a:prstGeom>
          <a:solidFill>
            <a:srgbClr val="1B2330"/>
          </a:solidFill>
          <a:ln w="12700">
            <a:solidFill>
              <a:srgbClr val="36414F"/>
            </a:solidFill>
            <a:prstDash val="solid"/>
          </a:ln>
        </p:spPr>
      </p:sp>
      <p:sp>
        <p:nvSpPr>
          <p:cNvPr id="43" name="Text 41"/>
          <p:cNvSpPr/>
          <p:nvPr/>
        </p:nvSpPr>
        <p:spPr>
          <a:xfrm>
            <a:off x="9077980" y="4617720"/>
            <a:ext cx="1172809" cy="457200"/>
          </a:xfrm>
          <a:prstGeom prst="rect">
            <a:avLst/>
          </a:prstGeom>
          <a:noFill/>
          <a:ln/>
        </p:spPr>
        <p:txBody>
          <a:bodyPr wrap="square" rtlCol="0" anchor="ctr"/>
          <a:lstStyle/>
          <a:p>
            <a:pPr algn="ctr" indent="0" marL="0">
              <a:buNone/>
            </a:pPr>
            <a:r>
              <a:rPr lang="en-US" sz="1100" dirty="0">
                <a:solidFill>
                  <a:srgbClr val="AAB6C7"/>
                </a:solidFill>
                <a:latin typeface="Segoe UI" pitchFamily="34" charset="0"/>
                <a:ea typeface="Segoe UI" pitchFamily="34" charset="-122"/>
                <a:cs typeface="Segoe UI" pitchFamily="34" charset="-120"/>
              </a:rPr>
              <a:t>Citi Pulse</a:t>
            </a:r>
            <a:endParaRPr lang="en-US" sz="1100" dirty="0"/>
          </a:p>
        </p:txBody>
      </p:sp>
      <p:sp>
        <p:nvSpPr>
          <p:cNvPr id="44" name="Shape 42"/>
          <p:cNvSpPr/>
          <p:nvPr/>
        </p:nvSpPr>
        <p:spPr>
          <a:xfrm>
            <a:off x="10451958" y="4617720"/>
            <a:ext cx="1172809" cy="457200"/>
          </a:xfrm>
          <a:prstGeom prst="roundRect">
            <a:avLst>
              <a:gd name="adj" fmla="val 50000"/>
            </a:avLst>
          </a:prstGeom>
          <a:solidFill>
            <a:srgbClr val="1B2330"/>
          </a:solidFill>
          <a:ln w="12700">
            <a:solidFill>
              <a:srgbClr val="36414F"/>
            </a:solidFill>
            <a:prstDash val="solid"/>
          </a:ln>
        </p:spPr>
      </p:sp>
      <p:sp>
        <p:nvSpPr>
          <p:cNvPr id="45" name="Text 43"/>
          <p:cNvSpPr/>
          <p:nvPr/>
        </p:nvSpPr>
        <p:spPr>
          <a:xfrm>
            <a:off x="10451958" y="4617720"/>
            <a:ext cx="1172809" cy="457200"/>
          </a:xfrm>
          <a:prstGeom prst="rect">
            <a:avLst/>
          </a:prstGeom>
          <a:noFill/>
          <a:ln/>
        </p:spPr>
        <p:txBody>
          <a:bodyPr wrap="square" rtlCol="0" anchor="ctr"/>
          <a:lstStyle/>
          <a:p>
            <a:pPr algn="ctr" indent="0" marL="0">
              <a:buNone/>
            </a:pPr>
            <a:r>
              <a:rPr lang="en-US" sz="1100" dirty="0">
                <a:solidFill>
                  <a:srgbClr val="AAB6C7"/>
                </a:solidFill>
                <a:latin typeface="Segoe UI" pitchFamily="34" charset="0"/>
                <a:ea typeface="Segoe UI" pitchFamily="34" charset="-122"/>
                <a:cs typeface="Segoe UI" pitchFamily="34" charset="-120"/>
              </a:rPr>
              <a:t>BidFX</a:t>
            </a:r>
            <a:endParaRPr lang="en-US" sz="1100" dirty="0"/>
          </a:p>
        </p:txBody>
      </p:sp>
      <p:sp>
        <p:nvSpPr>
          <p:cNvPr id="46" name="Text 44"/>
          <p:cNvSpPr/>
          <p:nvPr/>
        </p:nvSpPr>
        <p:spPr>
          <a:xfrm>
            <a:off x="7784287" y="5961888"/>
            <a:ext cx="3840480" cy="274320"/>
          </a:xfrm>
          <a:prstGeom prst="rect">
            <a:avLst/>
          </a:prstGeom>
          <a:noFill/>
          <a:ln/>
        </p:spPr>
        <p:txBody>
          <a:bodyPr wrap="square" rtlCol="0" anchor="ctr"/>
          <a:lstStyle/>
          <a:p>
            <a:pPr algn="r" indent="0" marL="0">
              <a:buNone/>
            </a:pPr>
            <a:r>
              <a:rPr lang="en-US" sz="1000" i="1" dirty="0">
                <a:solidFill>
                  <a:srgbClr val="7C8A9B"/>
                </a:solidFill>
                <a:latin typeface="Segoe UI" pitchFamily="34" charset="0"/>
                <a:ea typeface="Segoe UI" pitchFamily="34" charset="-122"/>
                <a:cs typeface="Segoe UI" pitchFamily="34" charset="-120"/>
              </a:rPr>
              <a:t>Full Smart Trading deck available.</a:t>
            </a:r>
            <a:endParaRPr lang="en-US" sz="1000" dirty="0"/>
          </a:p>
        </p:txBody>
      </p:sp>
      <p:sp>
        <p:nvSpPr>
          <p:cNvPr id="47" name="Text 45"/>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48" name="Text 46"/>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08 / 15</a:t>
            </a:r>
            <a:endParaRPr lang="en-US" sz="900" dirty="0"/>
          </a:p>
        </p:txBody>
      </p:sp>
      <p:sp>
        <p:nvSpPr>
          <p:cNvPr id="49" name="Shape 47"/>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21B"/>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96012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MINUTES TO SECONDS</a:t>
            </a:r>
            <a:endParaRPr lang="en-US" sz="1200" dirty="0"/>
          </a:p>
        </p:txBody>
      </p:sp>
      <p:sp>
        <p:nvSpPr>
          <p:cNvPr id="4" name="Text 2"/>
          <p:cNvSpPr/>
          <p:nvPr/>
        </p:nvSpPr>
        <p:spPr>
          <a:xfrm>
            <a:off x="566928" y="960120"/>
            <a:ext cx="10881360" cy="731520"/>
          </a:xfrm>
          <a:prstGeom prst="rect">
            <a:avLst/>
          </a:prstGeom>
          <a:noFill/>
          <a:ln/>
        </p:spPr>
        <p:txBody>
          <a:bodyPr wrap="square" rtlCol="0" anchor="ctr"/>
          <a:lstStyle/>
          <a:p>
            <a:pPr indent="0" marL="0">
              <a:buNone/>
            </a:pPr>
            <a:r>
              <a:rPr lang="en-US" sz="3000" b="1" dirty="0">
                <a:solidFill>
                  <a:srgbClr val="F3F6FB"/>
                </a:solidFill>
                <a:latin typeface="Segoe UI Semibold" pitchFamily="34" charset="0"/>
                <a:ea typeface="Segoe UI Semibold" pitchFamily="34" charset="-122"/>
                <a:cs typeface="Segoe UI Semibold" pitchFamily="34" charset="-120"/>
              </a:rPr>
              <a:t>The manual middle, gone.</a:t>
            </a:r>
            <a:endParaRPr lang="en-US" sz="3000" dirty="0"/>
          </a:p>
        </p:txBody>
      </p:sp>
      <p:sp>
        <p:nvSpPr>
          <p:cNvPr id="5" name="Shape 3"/>
          <p:cNvSpPr/>
          <p:nvPr/>
        </p:nvSpPr>
        <p:spPr>
          <a:xfrm>
            <a:off x="566928" y="2194560"/>
            <a:ext cx="4797400" cy="2103120"/>
          </a:xfrm>
          <a:prstGeom prst="roundRect">
            <a:avLst>
              <a:gd name="adj" fmla="val 3913"/>
            </a:avLst>
          </a:prstGeom>
          <a:solidFill>
            <a:srgbClr val="24190E"/>
          </a:solidFill>
          <a:ln w="16510">
            <a:solidFill>
              <a:srgbClr val="FFC96B"/>
            </a:solidFill>
            <a:prstDash val="solid"/>
          </a:ln>
        </p:spPr>
      </p:sp>
      <p:sp>
        <p:nvSpPr>
          <p:cNvPr id="6" name="Text 4"/>
          <p:cNvSpPr/>
          <p:nvPr/>
        </p:nvSpPr>
        <p:spPr>
          <a:xfrm>
            <a:off x="566928" y="2514600"/>
            <a:ext cx="4797400" cy="1005840"/>
          </a:xfrm>
          <a:prstGeom prst="rect">
            <a:avLst/>
          </a:prstGeom>
          <a:noFill/>
          <a:ln/>
        </p:spPr>
        <p:txBody>
          <a:bodyPr wrap="square" rtlCol="0" anchor="ctr"/>
          <a:lstStyle/>
          <a:p>
            <a:pPr algn="ctr" indent="0" marL="0">
              <a:buNone/>
            </a:pPr>
            <a:r>
              <a:rPr lang="en-US" sz="6000" b="1" dirty="0">
                <a:solidFill>
                  <a:srgbClr val="FFC96B"/>
                </a:solidFill>
                <a:latin typeface="Segoe UI Semibold" pitchFamily="34" charset="0"/>
                <a:ea typeface="Segoe UI Semibold" pitchFamily="34" charset="-122"/>
                <a:cs typeface="Segoe UI Semibold" pitchFamily="34" charset="-120"/>
              </a:rPr>
              <a:t>~12 min</a:t>
            </a:r>
            <a:endParaRPr lang="en-US" sz="6000" dirty="0"/>
          </a:p>
        </p:txBody>
      </p:sp>
      <p:sp>
        <p:nvSpPr>
          <p:cNvPr id="7" name="Text 5"/>
          <p:cNvSpPr/>
          <p:nvPr/>
        </p:nvSpPr>
        <p:spPr>
          <a:xfrm>
            <a:off x="566928" y="3611880"/>
            <a:ext cx="4797400" cy="411480"/>
          </a:xfrm>
          <a:prstGeom prst="rect">
            <a:avLst/>
          </a:prstGeom>
          <a:noFill/>
          <a:ln/>
        </p:spPr>
        <p:txBody>
          <a:bodyPr wrap="square" rtlCol="0" anchor="ctr"/>
          <a:lstStyle/>
          <a:p>
            <a:pPr algn="ctr" indent="0" marL="0">
              <a:buNone/>
            </a:pPr>
            <a:r>
              <a:rPr lang="en-US" sz="1400" dirty="0">
                <a:solidFill>
                  <a:srgbClr val="AAB6C7"/>
                </a:solidFill>
                <a:latin typeface="Segoe UI" pitchFamily="34" charset="0"/>
                <a:ea typeface="Segoe UI" pitchFamily="34" charset="-122"/>
                <a:cs typeface="Segoe UI" pitchFamily="34" charset="-120"/>
              </a:rPr>
              <a:t>manual, per trade</a:t>
            </a:r>
            <a:endParaRPr lang="en-US" sz="1400" dirty="0"/>
          </a:p>
        </p:txBody>
      </p:sp>
      <p:sp>
        <p:nvSpPr>
          <p:cNvPr id="8" name="Shape 6"/>
          <p:cNvSpPr/>
          <p:nvPr/>
        </p:nvSpPr>
        <p:spPr>
          <a:xfrm>
            <a:off x="5638648" y="3246120"/>
            <a:ext cx="914400" cy="0"/>
          </a:xfrm>
          <a:prstGeom prst="line">
            <a:avLst/>
          </a:prstGeom>
          <a:noFill/>
          <a:ln w="31750">
            <a:solidFill>
              <a:srgbClr val="3BE3E0"/>
            </a:solidFill>
            <a:prstDash val="solid"/>
            <a:tailEnd type="triangle"/>
          </a:ln>
        </p:spPr>
      </p:sp>
      <p:sp>
        <p:nvSpPr>
          <p:cNvPr id="9" name="Shape 7"/>
          <p:cNvSpPr/>
          <p:nvPr/>
        </p:nvSpPr>
        <p:spPr>
          <a:xfrm>
            <a:off x="6827368" y="2194560"/>
            <a:ext cx="4797400" cy="2103120"/>
          </a:xfrm>
          <a:prstGeom prst="roundRect">
            <a:avLst>
              <a:gd name="adj" fmla="val 3913"/>
            </a:avLst>
          </a:prstGeom>
          <a:solidFill>
            <a:srgbClr val="10222A"/>
          </a:solidFill>
          <a:ln w="19050">
            <a:solidFill>
              <a:srgbClr val="3BE3E0"/>
            </a:solidFill>
            <a:prstDash val="solid"/>
          </a:ln>
        </p:spPr>
      </p:sp>
      <p:sp>
        <p:nvSpPr>
          <p:cNvPr id="10" name="Text 8"/>
          <p:cNvSpPr/>
          <p:nvPr/>
        </p:nvSpPr>
        <p:spPr>
          <a:xfrm>
            <a:off x="6827368" y="2514600"/>
            <a:ext cx="4797400" cy="1005840"/>
          </a:xfrm>
          <a:prstGeom prst="rect">
            <a:avLst/>
          </a:prstGeom>
          <a:noFill/>
          <a:ln/>
        </p:spPr>
        <p:txBody>
          <a:bodyPr wrap="square" rtlCol="0" anchor="ctr"/>
          <a:lstStyle/>
          <a:p>
            <a:pPr algn="ctr" indent="0" marL="0">
              <a:buNone/>
            </a:pPr>
            <a:r>
              <a:rPr lang="en-US" sz="6000" b="1" dirty="0">
                <a:solidFill>
                  <a:srgbClr val="3BE3E0"/>
                </a:solidFill>
                <a:latin typeface="Segoe UI Semibold" pitchFamily="34" charset="0"/>
                <a:ea typeface="Segoe UI Semibold" pitchFamily="34" charset="-122"/>
                <a:cs typeface="Segoe UI Semibold" pitchFamily="34" charset="-120"/>
              </a:rPr>
              <a:t>&lt;1 min</a:t>
            </a:r>
            <a:endParaRPr lang="en-US" sz="6000" dirty="0"/>
          </a:p>
        </p:txBody>
      </p:sp>
      <p:sp>
        <p:nvSpPr>
          <p:cNvPr id="11" name="Text 9"/>
          <p:cNvSpPr/>
          <p:nvPr/>
        </p:nvSpPr>
        <p:spPr>
          <a:xfrm>
            <a:off x="6827368" y="3611880"/>
            <a:ext cx="4797400" cy="411480"/>
          </a:xfrm>
          <a:prstGeom prst="rect">
            <a:avLst/>
          </a:prstGeom>
          <a:noFill/>
          <a:ln/>
        </p:spPr>
        <p:txBody>
          <a:bodyPr wrap="square" rtlCol="0" anchor="ctr"/>
          <a:lstStyle/>
          <a:p>
            <a:pPr algn="ctr" indent="0" marL="0">
              <a:buNone/>
            </a:pPr>
            <a:r>
              <a:rPr lang="en-US" sz="1400" dirty="0">
                <a:solidFill>
                  <a:srgbClr val="AAB6C7"/>
                </a:solidFill>
                <a:latin typeface="Segoe UI" pitchFamily="34" charset="0"/>
                <a:ea typeface="Segoe UI" pitchFamily="34" charset="-122"/>
                <a:cs typeface="Segoe UI" pitchFamily="34" charset="-120"/>
              </a:rPr>
              <a:t>through the governed flow</a:t>
            </a:r>
            <a:endParaRPr lang="en-US" sz="1400" dirty="0"/>
          </a:p>
        </p:txBody>
      </p:sp>
      <p:sp>
        <p:nvSpPr>
          <p:cNvPr id="12" name="Shape 10"/>
          <p:cNvSpPr/>
          <p:nvPr/>
        </p:nvSpPr>
        <p:spPr>
          <a:xfrm>
            <a:off x="566928" y="4663440"/>
            <a:ext cx="11057839" cy="493776"/>
          </a:xfrm>
          <a:prstGeom prst="roundRect">
            <a:avLst>
              <a:gd name="adj" fmla="val 14815"/>
            </a:avLst>
          </a:prstGeom>
          <a:solidFill>
            <a:srgbClr val="141A25"/>
          </a:solidFill>
          <a:ln w="12700">
            <a:solidFill>
              <a:srgbClr val="36414F"/>
            </a:solidFill>
            <a:prstDash val="solid"/>
          </a:ln>
        </p:spPr>
      </p:sp>
      <p:sp>
        <p:nvSpPr>
          <p:cNvPr id="13" name="Text 11"/>
          <p:cNvSpPr/>
          <p:nvPr/>
        </p:nvSpPr>
        <p:spPr>
          <a:xfrm>
            <a:off x="841248" y="4663440"/>
            <a:ext cx="10509199" cy="493776"/>
          </a:xfrm>
          <a:prstGeom prst="rect">
            <a:avLst/>
          </a:prstGeom>
          <a:noFill/>
          <a:ln/>
        </p:spPr>
        <p:txBody>
          <a:bodyPr wrap="square" rtlCol="0" anchor="ctr"/>
          <a:lstStyle/>
          <a:p>
            <a:pPr indent="0" marL="0">
              <a:buNone/>
            </a:pPr>
            <a:r>
              <a:rPr lang="en-US" sz="1250" dirty="0">
                <a:solidFill>
                  <a:srgbClr val="F3F6FB"/>
                </a:solidFill>
                <a:latin typeface="Segoe UI" pitchFamily="34" charset="0"/>
                <a:ea typeface="Segoe UI" pitchFamily="34" charset="-122"/>
                <a:cs typeface="Segoe UI" pitchFamily="34" charset="-120"/>
              </a:rPr>
              <a:t>Manual FX execution: 10-15 min per trade.  Source: The Association of Corporate Treasurers</a:t>
            </a:r>
            <a:endParaRPr lang="en-US" sz="1250" dirty="0"/>
          </a:p>
        </p:txBody>
      </p:sp>
      <p:sp>
        <p:nvSpPr>
          <p:cNvPr id="14" name="Shape 12"/>
          <p:cNvSpPr/>
          <p:nvPr/>
        </p:nvSpPr>
        <p:spPr>
          <a:xfrm>
            <a:off x="566928" y="5266944"/>
            <a:ext cx="11057839" cy="493776"/>
          </a:xfrm>
          <a:prstGeom prst="roundRect">
            <a:avLst>
              <a:gd name="adj" fmla="val 14815"/>
            </a:avLst>
          </a:prstGeom>
          <a:solidFill>
            <a:srgbClr val="141A25"/>
          </a:solidFill>
          <a:ln w="12700">
            <a:solidFill>
              <a:srgbClr val="36414F"/>
            </a:solidFill>
            <a:prstDash val="solid"/>
          </a:ln>
        </p:spPr>
      </p:sp>
      <p:sp>
        <p:nvSpPr>
          <p:cNvPr id="15" name="Text 13"/>
          <p:cNvSpPr/>
          <p:nvPr/>
        </p:nvSpPr>
        <p:spPr>
          <a:xfrm>
            <a:off x="841248" y="5266944"/>
            <a:ext cx="10509199" cy="493776"/>
          </a:xfrm>
          <a:prstGeom prst="rect">
            <a:avLst/>
          </a:prstGeom>
          <a:noFill/>
          <a:ln/>
        </p:spPr>
        <p:txBody>
          <a:bodyPr wrap="square" rtlCol="0" anchor="ctr"/>
          <a:lstStyle/>
          <a:p>
            <a:pPr indent="0" marL="0">
              <a:buNone/>
            </a:pPr>
            <a:r>
              <a:rPr lang="en-US" sz="1250" dirty="0">
                <a:solidFill>
                  <a:srgbClr val="F3F6FB"/>
                </a:solidFill>
                <a:latin typeface="Segoe UI" pitchFamily="34" charset="0"/>
                <a:ea typeface="Segoe UI" pitchFamily="34" charset="-122"/>
                <a:cs typeface="Segoe UI" pitchFamily="34" charset="-120"/>
              </a:rPr>
              <a:t>Spot FX automation now ~90%.  Source: LSEG</a:t>
            </a:r>
            <a:endParaRPr lang="en-US" sz="1250" dirty="0"/>
          </a:p>
        </p:txBody>
      </p:sp>
      <p:sp>
        <p:nvSpPr>
          <p:cNvPr id="16" name="Text 14"/>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17" name="Text 15"/>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09 / 15</a:t>
            </a:r>
            <a:endParaRPr lang="en-US" sz="900" dirty="0"/>
          </a:p>
        </p:txBody>
      </p:sp>
      <p:sp>
        <p:nvSpPr>
          <p:cNvPr id="18" name="Shape 16"/>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96012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IN THE COCKPIT · AI</a:t>
            </a:r>
            <a:endParaRPr lang="en-US" sz="1200" dirty="0"/>
          </a:p>
        </p:txBody>
      </p:sp>
      <p:sp>
        <p:nvSpPr>
          <p:cNvPr id="4" name="Text 2"/>
          <p:cNvSpPr/>
          <p:nvPr/>
        </p:nvSpPr>
        <p:spPr>
          <a:xfrm>
            <a:off x="566928" y="960120"/>
            <a:ext cx="10881360" cy="731520"/>
          </a:xfrm>
          <a:prstGeom prst="rect">
            <a:avLst/>
          </a:prstGeom>
          <a:noFill/>
          <a:ln/>
        </p:spPr>
        <p:txBody>
          <a:bodyPr wrap="square" rtlCol="0" anchor="ctr"/>
          <a:lstStyle/>
          <a:p>
            <a:pPr indent="0" marL="0">
              <a:buNone/>
            </a:pPr>
            <a:r>
              <a:rPr lang="en-US" sz="3000" b="1" dirty="0">
                <a:solidFill>
                  <a:srgbClr val="F3F6FB"/>
                </a:solidFill>
                <a:latin typeface="Segoe UI Semibold" pitchFamily="34" charset="0"/>
                <a:ea typeface="Segoe UI Semibold" pitchFamily="34" charset="-122"/>
                <a:cs typeface="Segoe UI Semibold" pitchFamily="34" charset="-120"/>
              </a:rPr>
              <a:t>Then, the busywork gets a co-worker.</a:t>
            </a:r>
            <a:endParaRPr lang="en-US" sz="3000" dirty="0"/>
          </a:p>
        </p:txBody>
      </p:sp>
      <p:sp>
        <p:nvSpPr>
          <p:cNvPr id="5" name="Text 3"/>
          <p:cNvSpPr/>
          <p:nvPr/>
        </p:nvSpPr>
        <p:spPr>
          <a:xfrm>
            <a:off x="566928" y="1783080"/>
            <a:ext cx="10515600" cy="411480"/>
          </a:xfrm>
          <a:prstGeom prst="rect">
            <a:avLst/>
          </a:prstGeom>
          <a:noFill/>
          <a:ln/>
        </p:spPr>
        <p:txBody>
          <a:bodyPr wrap="square" rtlCol="0" anchor="ctr"/>
          <a:lstStyle/>
          <a:p>
            <a:pPr indent="0" marL="0">
              <a:buNone/>
            </a:pPr>
            <a:r>
              <a:rPr lang="en-US" sz="1400" i="1" dirty="0">
                <a:solidFill>
                  <a:srgbClr val="7C8A9B"/>
                </a:solidFill>
                <a:latin typeface="Segoe UI" pitchFamily="34" charset="0"/>
                <a:ea typeface="Segoe UI" pitchFamily="34" charset="-122"/>
                <a:cs typeface="Segoe UI" pitchFamily="34" charset="-120"/>
              </a:rPr>
              <a:t>The data flowed. The trades flowed. This moves the judgment work.</a:t>
            </a:r>
            <a:endParaRPr lang="en-US" sz="1400" dirty="0"/>
          </a:p>
        </p:txBody>
      </p:sp>
      <p:sp>
        <p:nvSpPr>
          <p:cNvPr id="6" name="Shape 4"/>
          <p:cNvSpPr/>
          <p:nvPr/>
        </p:nvSpPr>
        <p:spPr>
          <a:xfrm>
            <a:off x="566928" y="2377440"/>
            <a:ext cx="11057839" cy="1554480"/>
          </a:xfrm>
          <a:prstGeom prst="roundRect">
            <a:avLst>
              <a:gd name="adj" fmla="val 5294"/>
            </a:avLst>
          </a:prstGeom>
          <a:solidFill>
            <a:srgbClr val="141A25"/>
          </a:solidFill>
          <a:ln w="13970">
            <a:solidFill>
              <a:srgbClr val="36414F"/>
            </a:solidFill>
            <a:prstDash val="solid"/>
          </a:ln>
        </p:spPr>
      </p:sp>
      <p:sp>
        <p:nvSpPr>
          <p:cNvPr id="7" name="Shape 5"/>
          <p:cNvSpPr/>
          <p:nvPr/>
        </p:nvSpPr>
        <p:spPr>
          <a:xfrm>
            <a:off x="886968" y="2697480"/>
            <a:ext cx="713232" cy="713232"/>
          </a:xfrm>
          <a:prstGeom prst="roundRect">
            <a:avLst>
              <a:gd name="adj" fmla="val 14103"/>
            </a:avLst>
          </a:prstGeom>
          <a:solidFill>
            <a:srgbClr val="1B2330"/>
          </a:solidFill>
          <a:ln w="15240">
            <a:solidFill>
              <a:srgbClr val="3BE3E0"/>
            </a:solidFill>
            <a:prstDash val="solid"/>
          </a:ln>
        </p:spPr>
      </p:sp>
      <p:pic>
        <p:nvPicPr>
          <p:cNvPr id="8" name="Image 0" descr="C:/Users/neuma_p1qrsic/Repo/agentic-ops1/.scratch/icons/spark.png">    </p:cNvPr>
          <p:cNvPicPr>
            <a:picLocks noChangeAspect="1"/>
          </p:cNvPicPr>
          <p:nvPr/>
        </p:nvPicPr>
        <p:blipFill>
          <a:blip r:embed="rId1"/>
          <a:stretch>
            <a:fillRect/>
          </a:stretch>
        </p:blipFill>
        <p:spPr>
          <a:xfrm>
            <a:off x="1058144" y="2868656"/>
            <a:ext cx="370881" cy="370881"/>
          </a:xfrm>
          <a:prstGeom prst="rect">
            <a:avLst/>
          </a:prstGeom>
        </p:spPr>
      </p:pic>
      <p:sp>
        <p:nvSpPr>
          <p:cNvPr id="9" name="Text 6"/>
          <p:cNvSpPr/>
          <p:nvPr/>
        </p:nvSpPr>
        <p:spPr>
          <a:xfrm>
            <a:off x="1892808" y="2377440"/>
            <a:ext cx="9411919" cy="1554480"/>
          </a:xfrm>
          <a:prstGeom prst="rect">
            <a:avLst/>
          </a:prstGeom>
          <a:noFill/>
          <a:ln/>
        </p:spPr>
        <p:txBody>
          <a:bodyPr wrap="square" rtlCol="0" anchor="ctr"/>
          <a:lstStyle/>
          <a:p>
            <a:pPr indent="0" marL="0">
              <a:lnSpc>
                <a:spcPct val="125000"/>
              </a:lnSpc>
              <a:buNone/>
            </a:pPr>
            <a:r>
              <a:rPr lang="en-US" sz="1550" b="1" dirty="0">
                <a:solidFill>
                  <a:srgbClr val="3BE3E0"/>
                </a:solidFill>
                <a:latin typeface="Segoe UI" pitchFamily="34" charset="0"/>
                <a:ea typeface="Segoe UI" pitchFamily="34" charset="-122"/>
                <a:cs typeface="Segoe UI" pitchFamily="34" charset="-120"/>
              </a:rPr>
              <a:t>Digital Co-Worker</a:t>
            </a:r>
            <a:pPr indent="0" marL="0">
              <a:lnSpc>
                <a:spcPct val="125000"/>
              </a:lnSpc>
              <a:buNone/>
            </a:pPr>
            <a:r>
              <a:rPr lang="en-US" sz="1550" dirty="0">
                <a:solidFill>
                  <a:srgbClr val="F3F6FB"/>
                </a:solidFill>
                <a:latin typeface="Segoe UI" pitchFamily="34" charset="0"/>
                <a:ea typeface="Segoe UI" pitchFamily="34" charset="-122"/>
                <a:cs typeface="Segoe UI" pitchFamily="34" charset="-120"/>
              </a:rPr>
              <a:t> does the multi-system errands from plain chat or email, inside the same governed layer: it reads the request, pulls what it needs from your systems, does the steps, and reports back.</a:t>
            </a:r>
            <a:endParaRPr lang="en-US" sz="1550" dirty="0"/>
          </a:p>
        </p:txBody>
      </p:sp>
      <p:sp>
        <p:nvSpPr>
          <p:cNvPr id="10" name="Shape 7"/>
          <p:cNvSpPr/>
          <p:nvPr/>
        </p:nvSpPr>
        <p:spPr>
          <a:xfrm>
            <a:off x="566928" y="4251960"/>
            <a:ext cx="2558720" cy="502920"/>
          </a:xfrm>
          <a:prstGeom prst="roundRect">
            <a:avLst>
              <a:gd name="adj" fmla="val 50909"/>
            </a:avLst>
          </a:prstGeom>
          <a:solidFill>
            <a:srgbClr val="1B2330"/>
          </a:solidFill>
          <a:ln w="12700">
            <a:solidFill>
              <a:srgbClr val="36414F"/>
            </a:solidFill>
            <a:prstDash val="solid"/>
          </a:ln>
        </p:spPr>
      </p:sp>
      <p:sp>
        <p:nvSpPr>
          <p:cNvPr id="11" name="Text 8"/>
          <p:cNvSpPr/>
          <p:nvPr/>
        </p:nvSpPr>
        <p:spPr>
          <a:xfrm>
            <a:off x="566928" y="4251960"/>
            <a:ext cx="2558720" cy="502920"/>
          </a:xfrm>
          <a:prstGeom prst="rect">
            <a:avLst/>
          </a:prstGeom>
          <a:noFill/>
          <a:ln/>
        </p:spPr>
        <p:txBody>
          <a:bodyPr wrap="square" rtlCol="0" anchor="ctr"/>
          <a:lstStyle/>
          <a:p>
            <a:pPr algn="ctr" indent="0" marL="0">
              <a:buNone/>
            </a:pPr>
            <a:r>
              <a:rPr lang="en-US" sz="1250" dirty="0">
                <a:solidFill>
                  <a:srgbClr val="AAB6C7"/>
                </a:solidFill>
                <a:latin typeface="Segoe UI" pitchFamily="34" charset="0"/>
                <a:ea typeface="Segoe UI" pitchFamily="34" charset="-122"/>
                <a:cs typeface="Segoe UI" pitchFamily="34" charset="-120"/>
              </a:rPr>
              <a:t>Domain specialists</a:t>
            </a:r>
            <a:endParaRPr lang="en-US" sz="1250" dirty="0"/>
          </a:p>
        </p:txBody>
      </p:sp>
      <p:sp>
        <p:nvSpPr>
          <p:cNvPr id="12" name="Shape 9"/>
          <p:cNvSpPr/>
          <p:nvPr/>
        </p:nvSpPr>
        <p:spPr>
          <a:xfrm>
            <a:off x="3399968" y="4251960"/>
            <a:ext cx="2558720" cy="502920"/>
          </a:xfrm>
          <a:prstGeom prst="roundRect">
            <a:avLst>
              <a:gd name="adj" fmla="val 50909"/>
            </a:avLst>
          </a:prstGeom>
          <a:solidFill>
            <a:srgbClr val="1B2330"/>
          </a:solidFill>
          <a:ln w="12700">
            <a:solidFill>
              <a:srgbClr val="36414F"/>
            </a:solidFill>
            <a:prstDash val="solid"/>
          </a:ln>
        </p:spPr>
      </p:sp>
      <p:sp>
        <p:nvSpPr>
          <p:cNvPr id="13" name="Text 10"/>
          <p:cNvSpPr/>
          <p:nvPr/>
        </p:nvSpPr>
        <p:spPr>
          <a:xfrm>
            <a:off x="3399968" y="4251960"/>
            <a:ext cx="2558720" cy="502920"/>
          </a:xfrm>
          <a:prstGeom prst="rect">
            <a:avLst/>
          </a:prstGeom>
          <a:noFill/>
          <a:ln/>
        </p:spPr>
        <p:txBody>
          <a:bodyPr wrap="square" rtlCol="0" anchor="ctr"/>
          <a:lstStyle/>
          <a:p>
            <a:pPr algn="ctr" indent="0" marL="0">
              <a:buNone/>
            </a:pPr>
            <a:r>
              <a:rPr lang="en-US" sz="1250" dirty="0">
                <a:solidFill>
                  <a:srgbClr val="AAB6C7"/>
                </a:solidFill>
                <a:latin typeface="Segoe UI" pitchFamily="34" charset="0"/>
                <a:ea typeface="Segoe UI" pitchFamily="34" charset="-122"/>
                <a:cs typeface="Segoe UI" pitchFamily="34" charset="-120"/>
              </a:rPr>
              <a:t>Personal assistants</a:t>
            </a:r>
            <a:endParaRPr lang="en-US" sz="1250" dirty="0"/>
          </a:p>
        </p:txBody>
      </p:sp>
      <p:sp>
        <p:nvSpPr>
          <p:cNvPr id="14" name="Shape 11"/>
          <p:cNvSpPr/>
          <p:nvPr/>
        </p:nvSpPr>
        <p:spPr>
          <a:xfrm>
            <a:off x="6233008" y="4251960"/>
            <a:ext cx="2558720" cy="502920"/>
          </a:xfrm>
          <a:prstGeom prst="roundRect">
            <a:avLst>
              <a:gd name="adj" fmla="val 50909"/>
            </a:avLst>
          </a:prstGeom>
          <a:solidFill>
            <a:srgbClr val="1B2330"/>
          </a:solidFill>
          <a:ln w="12700">
            <a:solidFill>
              <a:srgbClr val="36414F"/>
            </a:solidFill>
            <a:prstDash val="solid"/>
          </a:ln>
        </p:spPr>
      </p:sp>
      <p:sp>
        <p:nvSpPr>
          <p:cNvPr id="15" name="Text 12"/>
          <p:cNvSpPr/>
          <p:nvPr/>
        </p:nvSpPr>
        <p:spPr>
          <a:xfrm>
            <a:off x="6233008" y="4251960"/>
            <a:ext cx="2558720" cy="502920"/>
          </a:xfrm>
          <a:prstGeom prst="rect">
            <a:avLst/>
          </a:prstGeom>
          <a:noFill/>
          <a:ln/>
        </p:spPr>
        <p:txBody>
          <a:bodyPr wrap="square" rtlCol="0" anchor="ctr"/>
          <a:lstStyle/>
          <a:p>
            <a:pPr algn="ctr" indent="0" marL="0">
              <a:buNone/>
            </a:pPr>
            <a:r>
              <a:rPr lang="en-US" sz="1250" dirty="0">
                <a:solidFill>
                  <a:srgbClr val="AAB6C7"/>
                </a:solidFill>
                <a:latin typeface="Segoe UI" pitchFamily="34" charset="0"/>
                <a:ea typeface="Segoe UI" pitchFamily="34" charset="-122"/>
                <a:cs typeface="Segoe UI" pitchFamily="34" charset="-120"/>
              </a:rPr>
              <a:t>Analysts</a:t>
            </a:r>
            <a:endParaRPr lang="en-US" sz="1250" dirty="0"/>
          </a:p>
        </p:txBody>
      </p:sp>
      <p:sp>
        <p:nvSpPr>
          <p:cNvPr id="16" name="Shape 13"/>
          <p:cNvSpPr/>
          <p:nvPr/>
        </p:nvSpPr>
        <p:spPr>
          <a:xfrm>
            <a:off x="9066047" y="4251960"/>
            <a:ext cx="2558720" cy="502920"/>
          </a:xfrm>
          <a:prstGeom prst="roundRect">
            <a:avLst>
              <a:gd name="adj" fmla="val 50909"/>
            </a:avLst>
          </a:prstGeom>
          <a:solidFill>
            <a:srgbClr val="1B2330"/>
          </a:solidFill>
          <a:ln w="12700">
            <a:solidFill>
              <a:srgbClr val="36414F"/>
            </a:solidFill>
            <a:prstDash val="solid"/>
          </a:ln>
        </p:spPr>
      </p:sp>
      <p:sp>
        <p:nvSpPr>
          <p:cNvPr id="17" name="Text 14"/>
          <p:cNvSpPr/>
          <p:nvPr/>
        </p:nvSpPr>
        <p:spPr>
          <a:xfrm>
            <a:off x="9066047" y="4251960"/>
            <a:ext cx="2558720" cy="502920"/>
          </a:xfrm>
          <a:prstGeom prst="rect">
            <a:avLst/>
          </a:prstGeom>
          <a:noFill/>
          <a:ln/>
        </p:spPr>
        <p:txBody>
          <a:bodyPr wrap="square" rtlCol="0" anchor="ctr"/>
          <a:lstStyle/>
          <a:p>
            <a:pPr algn="ctr" indent="0" marL="0">
              <a:buNone/>
            </a:pPr>
            <a:r>
              <a:rPr lang="en-US" sz="1250" dirty="0">
                <a:solidFill>
                  <a:srgbClr val="AAB6C7"/>
                </a:solidFill>
                <a:latin typeface="Segoe UI" pitchFamily="34" charset="0"/>
                <a:ea typeface="Segoe UI" pitchFamily="34" charset="-122"/>
                <a:cs typeface="Segoe UI" pitchFamily="34" charset="-120"/>
              </a:rPr>
              <a:t>Clerks</a:t>
            </a:r>
            <a:endParaRPr lang="en-US" sz="1250" dirty="0"/>
          </a:p>
        </p:txBody>
      </p:sp>
      <p:sp>
        <p:nvSpPr>
          <p:cNvPr id="18" name="Text 15"/>
          <p:cNvSpPr/>
          <p:nvPr/>
        </p:nvSpPr>
        <p:spPr>
          <a:xfrm>
            <a:off x="566928" y="5029200"/>
            <a:ext cx="11057839" cy="457200"/>
          </a:xfrm>
          <a:prstGeom prst="rect">
            <a:avLst/>
          </a:prstGeom>
          <a:noFill/>
          <a:ln/>
        </p:spPr>
        <p:txBody>
          <a:bodyPr wrap="square" rtlCol="0" anchor="ctr"/>
          <a:lstStyle/>
          <a:p>
            <a:pPr indent="0" marL="0">
              <a:buNone/>
            </a:pPr>
            <a:r>
              <a:rPr lang="en-US" sz="1500" dirty="0">
                <a:solidFill>
                  <a:srgbClr val="3BE3E0"/>
                </a:solidFill>
                <a:latin typeface="Segoe UI" pitchFamily="34" charset="0"/>
                <a:ea typeface="Segoe UI" pitchFamily="34" charset="-122"/>
                <a:cs typeface="Segoe UI" pitchFamily="34" charset="-120"/>
              </a:rPr>
              <a:t>One co-worker per person, each deep in its own area, all on your SAP data.</a:t>
            </a:r>
            <a:endParaRPr lang="en-US" sz="1500" dirty="0"/>
          </a:p>
        </p:txBody>
      </p:sp>
      <p:sp>
        <p:nvSpPr>
          <p:cNvPr id="19" name="Text 16"/>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20" name="Text 17"/>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10 / 15</a:t>
            </a:r>
            <a:endParaRPr lang="en-US" sz="900" dirty="0"/>
          </a:p>
        </p:txBody>
      </p:sp>
      <p:sp>
        <p:nvSpPr>
          <p:cNvPr id="21" name="Shape 18"/>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21B"/>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96012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HOW IT WORKS · AI</a:t>
            </a:r>
            <a:endParaRPr lang="en-US" sz="1200" dirty="0"/>
          </a:p>
        </p:txBody>
      </p:sp>
      <p:sp>
        <p:nvSpPr>
          <p:cNvPr id="4" name="Text 2"/>
          <p:cNvSpPr/>
          <p:nvPr/>
        </p:nvSpPr>
        <p:spPr>
          <a:xfrm>
            <a:off x="566928" y="960120"/>
            <a:ext cx="10881360" cy="731520"/>
          </a:xfrm>
          <a:prstGeom prst="rect">
            <a:avLst/>
          </a:prstGeom>
          <a:noFill/>
          <a:ln/>
        </p:spPr>
        <p:txBody>
          <a:bodyPr wrap="square" rtlCol="0" anchor="ctr"/>
          <a:lstStyle/>
          <a:p>
            <a:pPr indent="0" marL="0">
              <a:buNone/>
            </a:pPr>
            <a:r>
              <a:rPr lang="en-US" sz="3000" b="1" dirty="0">
                <a:solidFill>
                  <a:srgbClr val="F3F6FB"/>
                </a:solidFill>
                <a:latin typeface="Segoe UI Semibold" pitchFamily="34" charset="0"/>
                <a:ea typeface="Segoe UI Semibold" pitchFamily="34" charset="-122"/>
                <a:cs typeface="Segoe UI Semibold" pitchFamily="34" charset="-120"/>
              </a:rPr>
              <a:t>Watch one request handle itself.</a:t>
            </a:r>
            <a:endParaRPr lang="en-US" sz="3000" dirty="0"/>
          </a:p>
        </p:txBody>
      </p:sp>
      <p:sp>
        <p:nvSpPr>
          <p:cNvPr id="5" name="Shape 3"/>
          <p:cNvSpPr/>
          <p:nvPr/>
        </p:nvSpPr>
        <p:spPr>
          <a:xfrm>
            <a:off x="566928" y="2103120"/>
            <a:ext cx="2028688" cy="1965960"/>
          </a:xfrm>
          <a:prstGeom prst="roundRect">
            <a:avLst>
              <a:gd name="adj" fmla="val 7442"/>
            </a:avLst>
          </a:prstGeom>
          <a:solidFill>
            <a:srgbClr val="141A25"/>
          </a:solidFill>
          <a:ln w="13970">
            <a:solidFill>
              <a:srgbClr val="36414F"/>
            </a:solidFill>
            <a:prstDash val="solid"/>
          </a:ln>
        </p:spPr>
      </p:sp>
      <p:sp>
        <p:nvSpPr>
          <p:cNvPr id="6" name="Text 4"/>
          <p:cNvSpPr/>
          <p:nvPr/>
        </p:nvSpPr>
        <p:spPr>
          <a:xfrm>
            <a:off x="749808" y="2249424"/>
            <a:ext cx="914400" cy="329184"/>
          </a:xfrm>
          <a:prstGeom prst="rect">
            <a:avLst/>
          </a:prstGeom>
          <a:noFill/>
          <a:ln/>
        </p:spPr>
        <p:txBody>
          <a:bodyPr wrap="square" rtlCol="0" anchor="ctr"/>
          <a:lstStyle/>
          <a:p>
            <a:pPr indent="0" marL="0">
              <a:buNone/>
            </a:pPr>
            <a:r>
              <a:rPr lang="en-US" sz="1400" b="1" dirty="0">
                <a:solidFill>
                  <a:srgbClr val="3BE3E0"/>
                </a:solidFill>
                <a:latin typeface="Segoe UI Semibold" pitchFamily="34" charset="0"/>
                <a:ea typeface="Segoe UI Semibold" pitchFamily="34" charset="-122"/>
                <a:cs typeface="Segoe UI Semibold" pitchFamily="34" charset="-120"/>
              </a:rPr>
              <a:t>01</a:t>
            </a:r>
            <a:endParaRPr lang="en-US" sz="1400" dirty="0"/>
          </a:p>
        </p:txBody>
      </p:sp>
      <p:sp>
        <p:nvSpPr>
          <p:cNvPr id="7" name="Shape 5"/>
          <p:cNvSpPr/>
          <p:nvPr/>
        </p:nvSpPr>
        <p:spPr>
          <a:xfrm>
            <a:off x="749808" y="2633472"/>
            <a:ext cx="512064" cy="512064"/>
          </a:xfrm>
          <a:prstGeom prst="roundRect">
            <a:avLst>
              <a:gd name="adj" fmla="val 19643"/>
            </a:avLst>
          </a:prstGeom>
          <a:solidFill>
            <a:srgbClr val="1B2330"/>
          </a:solidFill>
          <a:ln w="15240">
            <a:solidFill>
              <a:srgbClr val="3BE3E0"/>
            </a:solidFill>
            <a:prstDash val="solid"/>
          </a:ln>
        </p:spPr>
      </p:sp>
      <p:pic>
        <p:nvPicPr>
          <p:cNvPr id="8" name="Image 0" descr="C:/Users/neuma_p1qrsic/Repo/agentic-ops1/.scratch/icons/mail.png">    </p:cNvPr>
          <p:cNvPicPr>
            <a:picLocks noChangeAspect="1"/>
          </p:cNvPicPr>
          <p:nvPr/>
        </p:nvPicPr>
        <p:blipFill>
          <a:blip r:embed="rId1"/>
          <a:stretch>
            <a:fillRect/>
          </a:stretch>
        </p:blipFill>
        <p:spPr>
          <a:xfrm>
            <a:off x="872703" y="2756367"/>
            <a:ext cx="266273" cy="266273"/>
          </a:xfrm>
          <a:prstGeom prst="rect">
            <a:avLst/>
          </a:prstGeom>
        </p:spPr>
      </p:pic>
      <p:sp>
        <p:nvSpPr>
          <p:cNvPr id="9" name="Text 6"/>
          <p:cNvSpPr/>
          <p:nvPr/>
        </p:nvSpPr>
        <p:spPr>
          <a:xfrm>
            <a:off x="749808" y="3291840"/>
            <a:ext cx="1662928" cy="365760"/>
          </a:xfrm>
          <a:prstGeom prst="rect">
            <a:avLst/>
          </a:prstGeom>
          <a:noFill/>
          <a:ln/>
        </p:spPr>
        <p:txBody>
          <a:bodyPr wrap="square" rtlCol="0" anchor="ctr"/>
          <a:lstStyle/>
          <a:p>
            <a:pPr indent="0" marL="0">
              <a:buNone/>
            </a:pPr>
            <a:r>
              <a:rPr lang="en-US" sz="1300" b="1" dirty="0">
                <a:solidFill>
                  <a:srgbClr val="F3F6FB"/>
                </a:solidFill>
                <a:latin typeface="Segoe UI Semibold" pitchFamily="34" charset="0"/>
                <a:ea typeface="Segoe UI Semibold" pitchFamily="34" charset="-122"/>
                <a:cs typeface="Segoe UI Semibold" pitchFamily="34" charset="-120"/>
              </a:rPr>
              <a:t>Email arrives</a:t>
            </a:r>
            <a:endParaRPr lang="en-US" sz="1300" dirty="0"/>
          </a:p>
        </p:txBody>
      </p:sp>
      <p:sp>
        <p:nvSpPr>
          <p:cNvPr id="10" name="Text 7"/>
          <p:cNvSpPr/>
          <p:nvPr/>
        </p:nvSpPr>
        <p:spPr>
          <a:xfrm>
            <a:off x="749808" y="3639312"/>
            <a:ext cx="1662928" cy="502920"/>
          </a:xfrm>
          <a:prstGeom prst="rect">
            <a:avLst/>
          </a:prstGeom>
          <a:noFill/>
          <a:ln/>
        </p:spPr>
        <p:txBody>
          <a:bodyPr wrap="square" rtlCol="0" anchor="ctr"/>
          <a:lstStyle/>
          <a:p>
            <a:pPr indent="0" marL="0">
              <a:lnSpc>
                <a:spcPct val="110000"/>
              </a:lnSpc>
              <a:buNone/>
            </a:pPr>
            <a:r>
              <a:rPr lang="en-US" sz="1050" dirty="0">
                <a:solidFill>
                  <a:srgbClr val="AAB6C7"/>
                </a:solidFill>
                <a:latin typeface="Segoe UI" pitchFamily="34" charset="0"/>
                <a:ea typeface="Segoe UI" pitchFamily="34" charset="-122"/>
                <a:cs typeface="Segoe UI" pitchFamily="34" charset="-120"/>
              </a:rPr>
              <a:t>a bank transfer request lands in the inbox</a:t>
            </a:r>
            <a:endParaRPr lang="en-US" sz="1050" dirty="0"/>
          </a:p>
        </p:txBody>
      </p:sp>
      <p:sp>
        <p:nvSpPr>
          <p:cNvPr id="11" name="Text 8"/>
          <p:cNvSpPr/>
          <p:nvPr/>
        </p:nvSpPr>
        <p:spPr>
          <a:xfrm>
            <a:off x="2549896" y="3063240"/>
            <a:ext cx="274320" cy="457200"/>
          </a:xfrm>
          <a:prstGeom prst="rect">
            <a:avLst/>
          </a:prstGeom>
          <a:noFill/>
          <a:ln/>
        </p:spPr>
        <p:txBody>
          <a:bodyPr wrap="square" rtlCol="0" anchor="ctr"/>
          <a:lstStyle/>
          <a:p>
            <a:pPr algn="ctr" indent="0" marL="0">
              <a:buNone/>
            </a:pPr>
            <a:r>
              <a:rPr lang="en-US" sz="1800" dirty="0">
                <a:solidFill>
                  <a:srgbClr val="3BE3E0"/>
                </a:solidFill>
                <a:latin typeface="Segoe UI" pitchFamily="34" charset="0"/>
                <a:ea typeface="Segoe UI" pitchFamily="34" charset="-122"/>
                <a:cs typeface="Segoe UI" pitchFamily="34" charset="-120"/>
              </a:rPr>
              <a:t>›</a:t>
            </a:r>
            <a:endParaRPr lang="en-US" sz="1800" dirty="0"/>
          </a:p>
        </p:txBody>
      </p:sp>
      <p:sp>
        <p:nvSpPr>
          <p:cNvPr id="12" name="Shape 9"/>
          <p:cNvSpPr/>
          <p:nvPr/>
        </p:nvSpPr>
        <p:spPr>
          <a:xfrm>
            <a:off x="2824216" y="2423160"/>
            <a:ext cx="2028688" cy="1965960"/>
          </a:xfrm>
          <a:prstGeom prst="roundRect">
            <a:avLst>
              <a:gd name="adj" fmla="val 7442"/>
            </a:avLst>
          </a:prstGeom>
          <a:solidFill>
            <a:srgbClr val="141A25"/>
          </a:solidFill>
          <a:ln w="13970">
            <a:solidFill>
              <a:srgbClr val="36414F"/>
            </a:solidFill>
            <a:prstDash val="solid"/>
          </a:ln>
        </p:spPr>
      </p:sp>
      <p:sp>
        <p:nvSpPr>
          <p:cNvPr id="13" name="Text 10"/>
          <p:cNvSpPr/>
          <p:nvPr/>
        </p:nvSpPr>
        <p:spPr>
          <a:xfrm>
            <a:off x="3007096" y="2569464"/>
            <a:ext cx="914400" cy="329184"/>
          </a:xfrm>
          <a:prstGeom prst="rect">
            <a:avLst/>
          </a:prstGeom>
          <a:noFill/>
          <a:ln/>
        </p:spPr>
        <p:txBody>
          <a:bodyPr wrap="square" rtlCol="0" anchor="ctr"/>
          <a:lstStyle/>
          <a:p>
            <a:pPr indent="0" marL="0">
              <a:buNone/>
            </a:pPr>
            <a:r>
              <a:rPr lang="en-US" sz="1400" b="1" dirty="0">
                <a:solidFill>
                  <a:srgbClr val="3BE3E0"/>
                </a:solidFill>
                <a:latin typeface="Segoe UI Semibold" pitchFamily="34" charset="0"/>
                <a:ea typeface="Segoe UI Semibold" pitchFamily="34" charset="-122"/>
                <a:cs typeface="Segoe UI Semibold" pitchFamily="34" charset="-120"/>
              </a:rPr>
              <a:t>02</a:t>
            </a:r>
            <a:endParaRPr lang="en-US" sz="1400" dirty="0"/>
          </a:p>
        </p:txBody>
      </p:sp>
      <p:sp>
        <p:nvSpPr>
          <p:cNvPr id="14" name="Shape 11"/>
          <p:cNvSpPr/>
          <p:nvPr/>
        </p:nvSpPr>
        <p:spPr>
          <a:xfrm>
            <a:off x="3007096" y="2953512"/>
            <a:ext cx="512064" cy="512064"/>
          </a:xfrm>
          <a:prstGeom prst="roundRect">
            <a:avLst>
              <a:gd name="adj" fmla="val 19643"/>
            </a:avLst>
          </a:prstGeom>
          <a:solidFill>
            <a:srgbClr val="1B2330"/>
          </a:solidFill>
          <a:ln w="15240">
            <a:solidFill>
              <a:srgbClr val="3BE3E0"/>
            </a:solidFill>
            <a:prstDash val="solid"/>
          </a:ln>
        </p:spPr>
      </p:sp>
      <p:pic>
        <p:nvPicPr>
          <p:cNvPr id="15" name="Image 1" descr="C:/Users/neuma_p1qrsic/Repo/agentic-ops1/.scratch/icons/spark.png">    </p:cNvPr>
          <p:cNvPicPr>
            <a:picLocks noChangeAspect="1"/>
          </p:cNvPicPr>
          <p:nvPr/>
        </p:nvPicPr>
        <p:blipFill>
          <a:blip r:embed="rId2"/>
          <a:stretch>
            <a:fillRect/>
          </a:stretch>
        </p:blipFill>
        <p:spPr>
          <a:xfrm>
            <a:off x="3129991" y="3076407"/>
            <a:ext cx="266273" cy="266273"/>
          </a:xfrm>
          <a:prstGeom prst="rect">
            <a:avLst/>
          </a:prstGeom>
        </p:spPr>
      </p:pic>
      <p:sp>
        <p:nvSpPr>
          <p:cNvPr id="16" name="Text 12"/>
          <p:cNvSpPr/>
          <p:nvPr/>
        </p:nvSpPr>
        <p:spPr>
          <a:xfrm>
            <a:off x="3007096" y="3611880"/>
            <a:ext cx="1662928" cy="365760"/>
          </a:xfrm>
          <a:prstGeom prst="rect">
            <a:avLst/>
          </a:prstGeom>
          <a:noFill/>
          <a:ln/>
        </p:spPr>
        <p:txBody>
          <a:bodyPr wrap="square" rtlCol="0" anchor="ctr"/>
          <a:lstStyle/>
          <a:p>
            <a:pPr indent="0" marL="0">
              <a:buNone/>
            </a:pPr>
            <a:r>
              <a:rPr lang="en-US" sz="1300" b="1" dirty="0">
                <a:solidFill>
                  <a:srgbClr val="F3F6FB"/>
                </a:solidFill>
                <a:latin typeface="Segoe UI Semibold" pitchFamily="34" charset="0"/>
                <a:ea typeface="Segoe UI Semibold" pitchFamily="34" charset="-122"/>
                <a:cs typeface="Segoe UI Semibold" pitchFamily="34" charset="-120"/>
              </a:rPr>
              <a:t>Reads &amp; summarizes</a:t>
            </a:r>
            <a:endParaRPr lang="en-US" sz="1300" dirty="0"/>
          </a:p>
        </p:txBody>
      </p:sp>
      <p:sp>
        <p:nvSpPr>
          <p:cNvPr id="17" name="Text 13"/>
          <p:cNvSpPr/>
          <p:nvPr/>
        </p:nvSpPr>
        <p:spPr>
          <a:xfrm>
            <a:off x="3007096" y="3959352"/>
            <a:ext cx="1662928" cy="502920"/>
          </a:xfrm>
          <a:prstGeom prst="rect">
            <a:avLst/>
          </a:prstGeom>
          <a:noFill/>
          <a:ln/>
        </p:spPr>
        <p:txBody>
          <a:bodyPr wrap="square" rtlCol="0" anchor="ctr"/>
          <a:lstStyle/>
          <a:p>
            <a:pPr indent="0" marL="0">
              <a:lnSpc>
                <a:spcPct val="110000"/>
              </a:lnSpc>
              <a:buNone/>
            </a:pPr>
            <a:r>
              <a:rPr lang="en-US" sz="1050" dirty="0">
                <a:solidFill>
                  <a:srgbClr val="AAB6C7"/>
                </a:solidFill>
                <a:latin typeface="Segoe UI" pitchFamily="34" charset="0"/>
                <a:ea typeface="Segoe UI" pitchFamily="34" charset="-122"/>
                <a:cs typeface="Segoe UI" pitchFamily="34" charset="-120"/>
              </a:rPr>
              <a:t>the co-worker suggests the action</a:t>
            </a:r>
            <a:endParaRPr lang="en-US" sz="1050" dirty="0"/>
          </a:p>
        </p:txBody>
      </p:sp>
      <p:sp>
        <p:nvSpPr>
          <p:cNvPr id="18" name="Text 14"/>
          <p:cNvSpPr/>
          <p:nvPr/>
        </p:nvSpPr>
        <p:spPr>
          <a:xfrm>
            <a:off x="4807184" y="3063240"/>
            <a:ext cx="274320" cy="457200"/>
          </a:xfrm>
          <a:prstGeom prst="rect">
            <a:avLst/>
          </a:prstGeom>
          <a:noFill/>
          <a:ln/>
        </p:spPr>
        <p:txBody>
          <a:bodyPr wrap="square" rtlCol="0" anchor="ctr"/>
          <a:lstStyle/>
          <a:p>
            <a:pPr algn="ctr" indent="0" marL="0">
              <a:buNone/>
            </a:pPr>
            <a:r>
              <a:rPr lang="en-US" sz="1800" dirty="0">
                <a:solidFill>
                  <a:srgbClr val="3BE3E0"/>
                </a:solidFill>
                <a:latin typeface="Segoe UI" pitchFamily="34" charset="0"/>
                <a:ea typeface="Segoe UI" pitchFamily="34" charset="-122"/>
                <a:cs typeface="Segoe UI" pitchFamily="34" charset="-120"/>
              </a:rPr>
              <a:t>›</a:t>
            </a:r>
            <a:endParaRPr lang="en-US" sz="1800" dirty="0"/>
          </a:p>
        </p:txBody>
      </p:sp>
      <p:sp>
        <p:nvSpPr>
          <p:cNvPr id="19" name="Shape 15"/>
          <p:cNvSpPr/>
          <p:nvPr/>
        </p:nvSpPr>
        <p:spPr>
          <a:xfrm>
            <a:off x="5081504" y="2103120"/>
            <a:ext cx="2028688" cy="1965960"/>
          </a:xfrm>
          <a:prstGeom prst="roundRect">
            <a:avLst>
              <a:gd name="adj" fmla="val 7442"/>
            </a:avLst>
          </a:prstGeom>
          <a:solidFill>
            <a:srgbClr val="141A25"/>
          </a:solidFill>
          <a:ln w="13970">
            <a:solidFill>
              <a:srgbClr val="36414F"/>
            </a:solidFill>
            <a:prstDash val="solid"/>
          </a:ln>
        </p:spPr>
      </p:sp>
      <p:sp>
        <p:nvSpPr>
          <p:cNvPr id="20" name="Text 16"/>
          <p:cNvSpPr/>
          <p:nvPr/>
        </p:nvSpPr>
        <p:spPr>
          <a:xfrm>
            <a:off x="5264384" y="2249424"/>
            <a:ext cx="914400" cy="329184"/>
          </a:xfrm>
          <a:prstGeom prst="rect">
            <a:avLst/>
          </a:prstGeom>
          <a:noFill/>
          <a:ln/>
        </p:spPr>
        <p:txBody>
          <a:bodyPr wrap="square" rtlCol="0" anchor="ctr"/>
          <a:lstStyle/>
          <a:p>
            <a:pPr indent="0" marL="0">
              <a:buNone/>
            </a:pPr>
            <a:r>
              <a:rPr lang="en-US" sz="1400" b="1" dirty="0">
                <a:solidFill>
                  <a:srgbClr val="3BE3E0"/>
                </a:solidFill>
                <a:latin typeface="Segoe UI Semibold" pitchFamily="34" charset="0"/>
                <a:ea typeface="Segoe UI Semibold" pitchFamily="34" charset="-122"/>
                <a:cs typeface="Segoe UI Semibold" pitchFamily="34" charset="-120"/>
              </a:rPr>
              <a:t>03</a:t>
            </a:r>
            <a:endParaRPr lang="en-US" sz="1400" dirty="0"/>
          </a:p>
        </p:txBody>
      </p:sp>
      <p:sp>
        <p:nvSpPr>
          <p:cNvPr id="21" name="Shape 17"/>
          <p:cNvSpPr/>
          <p:nvPr/>
        </p:nvSpPr>
        <p:spPr>
          <a:xfrm>
            <a:off x="5264384" y="2633472"/>
            <a:ext cx="512064" cy="512064"/>
          </a:xfrm>
          <a:prstGeom prst="roundRect">
            <a:avLst>
              <a:gd name="adj" fmla="val 19643"/>
            </a:avLst>
          </a:prstGeom>
          <a:solidFill>
            <a:srgbClr val="1B2330"/>
          </a:solidFill>
          <a:ln w="15240">
            <a:solidFill>
              <a:srgbClr val="3BE3E0"/>
            </a:solidFill>
            <a:prstDash val="solid"/>
          </a:ln>
        </p:spPr>
      </p:sp>
      <p:pic>
        <p:nvPicPr>
          <p:cNvPr id="22" name="Image 2" descr="C:/Users/neuma_p1qrsic/Repo/agentic-ops1/.scratch/icons/database.png">    </p:cNvPr>
          <p:cNvPicPr>
            <a:picLocks noChangeAspect="1"/>
          </p:cNvPicPr>
          <p:nvPr/>
        </p:nvPicPr>
        <p:blipFill>
          <a:blip r:embed="rId3"/>
          <a:stretch>
            <a:fillRect/>
          </a:stretch>
        </p:blipFill>
        <p:spPr>
          <a:xfrm>
            <a:off x="5387279" y="2756367"/>
            <a:ext cx="266273" cy="266273"/>
          </a:xfrm>
          <a:prstGeom prst="rect">
            <a:avLst/>
          </a:prstGeom>
        </p:spPr>
      </p:pic>
      <p:sp>
        <p:nvSpPr>
          <p:cNvPr id="23" name="Text 18"/>
          <p:cNvSpPr/>
          <p:nvPr/>
        </p:nvSpPr>
        <p:spPr>
          <a:xfrm>
            <a:off x="5264384" y="3291840"/>
            <a:ext cx="1662928" cy="365760"/>
          </a:xfrm>
          <a:prstGeom prst="rect">
            <a:avLst/>
          </a:prstGeom>
          <a:noFill/>
          <a:ln/>
        </p:spPr>
        <p:txBody>
          <a:bodyPr wrap="square" rtlCol="0" anchor="ctr"/>
          <a:lstStyle/>
          <a:p>
            <a:pPr indent="0" marL="0">
              <a:buNone/>
            </a:pPr>
            <a:r>
              <a:rPr lang="en-US" sz="1300" b="1" dirty="0">
                <a:solidFill>
                  <a:srgbClr val="F3F6FB"/>
                </a:solidFill>
                <a:latin typeface="Segoe UI Semibold" pitchFamily="34" charset="0"/>
                <a:ea typeface="Segoe UI Semibold" pitchFamily="34" charset="-122"/>
                <a:cs typeface="Segoe UI Semibold" pitchFamily="34" charset="-120"/>
              </a:rPr>
              <a:t>Checks cash</a:t>
            </a:r>
            <a:endParaRPr lang="en-US" sz="1300" dirty="0"/>
          </a:p>
        </p:txBody>
      </p:sp>
      <p:sp>
        <p:nvSpPr>
          <p:cNvPr id="24" name="Text 19"/>
          <p:cNvSpPr/>
          <p:nvPr/>
        </p:nvSpPr>
        <p:spPr>
          <a:xfrm>
            <a:off x="5264384" y="3639312"/>
            <a:ext cx="1662928" cy="502920"/>
          </a:xfrm>
          <a:prstGeom prst="rect">
            <a:avLst/>
          </a:prstGeom>
          <a:noFill/>
          <a:ln/>
        </p:spPr>
        <p:txBody>
          <a:bodyPr wrap="square" rtlCol="0" anchor="ctr"/>
          <a:lstStyle/>
          <a:p>
            <a:pPr indent="0" marL="0">
              <a:lnSpc>
                <a:spcPct val="110000"/>
              </a:lnSpc>
              <a:buNone/>
            </a:pPr>
            <a:r>
              <a:rPr lang="en-US" sz="1050" dirty="0">
                <a:solidFill>
                  <a:srgbClr val="AAB6C7"/>
                </a:solidFill>
                <a:latin typeface="Segoe UI" pitchFamily="34" charset="0"/>
                <a:ea typeface="Segoe UI" pitchFamily="34" charset="-122"/>
                <a:cs typeface="Segoe UI" pitchFamily="34" charset="-120"/>
              </a:rPr>
              <a:t>pulls the cash position from S/4HANA</a:t>
            </a:r>
            <a:endParaRPr lang="en-US" sz="1050" dirty="0"/>
          </a:p>
        </p:txBody>
      </p:sp>
      <p:sp>
        <p:nvSpPr>
          <p:cNvPr id="25" name="Text 20"/>
          <p:cNvSpPr/>
          <p:nvPr/>
        </p:nvSpPr>
        <p:spPr>
          <a:xfrm>
            <a:off x="7064472" y="3063240"/>
            <a:ext cx="274320" cy="457200"/>
          </a:xfrm>
          <a:prstGeom prst="rect">
            <a:avLst/>
          </a:prstGeom>
          <a:noFill/>
          <a:ln/>
        </p:spPr>
        <p:txBody>
          <a:bodyPr wrap="square" rtlCol="0" anchor="ctr"/>
          <a:lstStyle/>
          <a:p>
            <a:pPr algn="ctr" indent="0" marL="0">
              <a:buNone/>
            </a:pPr>
            <a:r>
              <a:rPr lang="en-US" sz="1800" dirty="0">
                <a:solidFill>
                  <a:srgbClr val="3BE3E0"/>
                </a:solidFill>
                <a:latin typeface="Segoe UI" pitchFamily="34" charset="0"/>
                <a:ea typeface="Segoe UI" pitchFamily="34" charset="-122"/>
                <a:cs typeface="Segoe UI" pitchFamily="34" charset="-120"/>
              </a:rPr>
              <a:t>›</a:t>
            </a:r>
            <a:endParaRPr lang="en-US" sz="1800" dirty="0"/>
          </a:p>
        </p:txBody>
      </p:sp>
      <p:sp>
        <p:nvSpPr>
          <p:cNvPr id="26" name="Shape 21"/>
          <p:cNvSpPr/>
          <p:nvPr/>
        </p:nvSpPr>
        <p:spPr>
          <a:xfrm>
            <a:off x="7338792" y="2423160"/>
            <a:ext cx="2028688" cy="1965960"/>
          </a:xfrm>
          <a:prstGeom prst="roundRect">
            <a:avLst>
              <a:gd name="adj" fmla="val 7442"/>
            </a:avLst>
          </a:prstGeom>
          <a:solidFill>
            <a:srgbClr val="141A25"/>
          </a:solidFill>
          <a:ln w="13970">
            <a:solidFill>
              <a:srgbClr val="36414F"/>
            </a:solidFill>
            <a:prstDash val="solid"/>
          </a:ln>
        </p:spPr>
      </p:sp>
      <p:sp>
        <p:nvSpPr>
          <p:cNvPr id="27" name="Text 22"/>
          <p:cNvSpPr/>
          <p:nvPr/>
        </p:nvSpPr>
        <p:spPr>
          <a:xfrm>
            <a:off x="7521672" y="2569464"/>
            <a:ext cx="914400" cy="329184"/>
          </a:xfrm>
          <a:prstGeom prst="rect">
            <a:avLst/>
          </a:prstGeom>
          <a:noFill/>
          <a:ln/>
        </p:spPr>
        <p:txBody>
          <a:bodyPr wrap="square" rtlCol="0" anchor="ctr"/>
          <a:lstStyle/>
          <a:p>
            <a:pPr indent="0" marL="0">
              <a:buNone/>
            </a:pPr>
            <a:r>
              <a:rPr lang="en-US" sz="1400" b="1" dirty="0">
                <a:solidFill>
                  <a:srgbClr val="3BE3E0"/>
                </a:solidFill>
                <a:latin typeface="Segoe UI Semibold" pitchFamily="34" charset="0"/>
                <a:ea typeface="Segoe UI Semibold" pitchFamily="34" charset="-122"/>
                <a:cs typeface="Segoe UI Semibold" pitchFamily="34" charset="-120"/>
              </a:rPr>
              <a:t>04</a:t>
            </a:r>
            <a:endParaRPr lang="en-US" sz="1400" dirty="0"/>
          </a:p>
        </p:txBody>
      </p:sp>
      <p:sp>
        <p:nvSpPr>
          <p:cNvPr id="28" name="Shape 23"/>
          <p:cNvSpPr/>
          <p:nvPr/>
        </p:nvSpPr>
        <p:spPr>
          <a:xfrm>
            <a:off x="7521672" y="2953512"/>
            <a:ext cx="512064" cy="512064"/>
          </a:xfrm>
          <a:prstGeom prst="roundRect">
            <a:avLst>
              <a:gd name="adj" fmla="val 19643"/>
            </a:avLst>
          </a:prstGeom>
          <a:solidFill>
            <a:srgbClr val="1B2330"/>
          </a:solidFill>
          <a:ln w="15240">
            <a:solidFill>
              <a:srgbClr val="3BE3E0"/>
            </a:solidFill>
            <a:prstDash val="solid"/>
          </a:ln>
        </p:spPr>
      </p:sp>
      <p:pic>
        <p:nvPicPr>
          <p:cNvPr id="29" name="Image 3" descr="C:/Users/neuma_p1qrsic/Repo/agentic-ops1/.scratch/icons/list.png">    </p:cNvPr>
          <p:cNvPicPr>
            <a:picLocks noChangeAspect="1"/>
          </p:cNvPicPr>
          <p:nvPr/>
        </p:nvPicPr>
        <p:blipFill>
          <a:blip r:embed="rId4"/>
          <a:stretch>
            <a:fillRect/>
          </a:stretch>
        </p:blipFill>
        <p:spPr>
          <a:xfrm>
            <a:off x="7644567" y="3076407"/>
            <a:ext cx="266273" cy="266273"/>
          </a:xfrm>
          <a:prstGeom prst="rect">
            <a:avLst/>
          </a:prstGeom>
        </p:spPr>
      </p:pic>
      <p:sp>
        <p:nvSpPr>
          <p:cNvPr id="30" name="Text 24"/>
          <p:cNvSpPr/>
          <p:nvPr/>
        </p:nvSpPr>
        <p:spPr>
          <a:xfrm>
            <a:off x="7521672" y="3611880"/>
            <a:ext cx="1662928" cy="365760"/>
          </a:xfrm>
          <a:prstGeom prst="rect">
            <a:avLst/>
          </a:prstGeom>
          <a:noFill/>
          <a:ln/>
        </p:spPr>
        <p:txBody>
          <a:bodyPr wrap="square" rtlCol="0" anchor="ctr"/>
          <a:lstStyle/>
          <a:p>
            <a:pPr indent="0" marL="0">
              <a:buNone/>
            </a:pPr>
            <a:r>
              <a:rPr lang="en-US" sz="1300" b="1" dirty="0">
                <a:solidFill>
                  <a:srgbClr val="F3F6FB"/>
                </a:solidFill>
                <a:latin typeface="Segoe UI Semibold" pitchFamily="34" charset="0"/>
                <a:ea typeface="Segoe UI Semibold" pitchFamily="34" charset="-122"/>
                <a:cs typeface="Segoe UI Semibold" pitchFamily="34" charset="-120"/>
              </a:rPr>
              <a:t>Books the record</a:t>
            </a:r>
            <a:endParaRPr lang="en-US" sz="1300" dirty="0"/>
          </a:p>
        </p:txBody>
      </p:sp>
      <p:sp>
        <p:nvSpPr>
          <p:cNvPr id="31" name="Text 25"/>
          <p:cNvSpPr/>
          <p:nvPr/>
        </p:nvSpPr>
        <p:spPr>
          <a:xfrm>
            <a:off x="7521672" y="3959352"/>
            <a:ext cx="1662928" cy="502920"/>
          </a:xfrm>
          <a:prstGeom prst="rect">
            <a:avLst/>
          </a:prstGeom>
          <a:noFill/>
          <a:ln/>
        </p:spPr>
        <p:txBody>
          <a:bodyPr wrap="square" rtlCol="0" anchor="ctr"/>
          <a:lstStyle/>
          <a:p>
            <a:pPr indent="0" marL="0">
              <a:lnSpc>
                <a:spcPct val="110000"/>
              </a:lnSpc>
              <a:buNone/>
            </a:pPr>
            <a:r>
              <a:rPr lang="en-US" sz="1050" dirty="0">
                <a:solidFill>
                  <a:srgbClr val="AAB6C7"/>
                </a:solidFill>
                <a:latin typeface="Segoe UI" pitchFamily="34" charset="0"/>
                <a:ea typeface="Segoe UI" pitchFamily="34" charset="-122"/>
                <a:cs typeface="Segoe UI" pitchFamily="34" charset="-120"/>
              </a:rPr>
              <a:t>creates the memo record for the payment</a:t>
            </a:r>
            <a:endParaRPr lang="en-US" sz="1050" dirty="0"/>
          </a:p>
        </p:txBody>
      </p:sp>
      <p:sp>
        <p:nvSpPr>
          <p:cNvPr id="32" name="Text 26"/>
          <p:cNvSpPr/>
          <p:nvPr/>
        </p:nvSpPr>
        <p:spPr>
          <a:xfrm>
            <a:off x="9321759" y="3063240"/>
            <a:ext cx="274320" cy="457200"/>
          </a:xfrm>
          <a:prstGeom prst="rect">
            <a:avLst/>
          </a:prstGeom>
          <a:noFill/>
          <a:ln/>
        </p:spPr>
        <p:txBody>
          <a:bodyPr wrap="square" rtlCol="0" anchor="ctr"/>
          <a:lstStyle/>
          <a:p>
            <a:pPr algn="ctr" indent="0" marL="0">
              <a:buNone/>
            </a:pPr>
            <a:r>
              <a:rPr lang="en-US" sz="1800" dirty="0">
                <a:solidFill>
                  <a:srgbClr val="3BE3E0"/>
                </a:solidFill>
                <a:latin typeface="Segoe UI" pitchFamily="34" charset="0"/>
                <a:ea typeface="Segoe UI" pitchFamily="34" charset="-122"/>
                <a:cs typeface="Segoe UI" pitchFamily="34" charset="-120"/>
              </a:rPr>
              <a:t>›</a:t>
            </a:r>
            <a:endParaRPr lang="en-US" sz="1800" dirty="0"/>
          </a:p>
        </p:txBody>
      </p:sp>
      <p:sp>
        <p:nvSpPr>
          <p:cNvPr id="33" name="Shape 27"/>
          <p:cNvSpPr/>
          <p:nvPr/>
        </p:nvSpPr>
        <p:spPr>
          <a:xfrm>
            <a:off x="9596079" y="2103120"/>
            <a:ext cx="2028688" cy="1965960"/>
          </a:xfrm>
          <a:prstGeom prst="roundRect">
            <a:avLst>
              <a:gd name="adj" fmla="val 7442"/>
            </a:avLst>
          </a:prstGeom>
          <a:solidFill>
            <a:srgbClr val="10222A"/>
          </a:solidFill>
          <a:ln w="17780">
            <a:solidFill>
              <a:srgbClr val="3BE3E0"/>
            </a:solidFill>
            <a:prstDash val="solid"/>
          </a:ln>
        </p:spPr>
      </p:sp>
      <p:sp>
        <p:nvSpPr>
          <p:cNvPr id="34" name="Text 28"/>
          <p:cNvSpPr/>
          <p:nvPr/>
        </p:nvSpPr>
        <p:spPr>
          <a:xfrm>
            <a:off x="9778959" y="2249424"/>
            <a:ext cx="914400" cy="329184"/>
          </a:xfrm>
          <a:prstGeom prst="rect">
            <a:avLst/>
          </a:prstGeom>
          <a:noFill/>
          <a:ln/>
        </p:spPr>
        <p:txBody>
          <a:bodyPr wrap="square" rtlCol="0" anchor="ctr"/>
          <a:lstStyle/>
          <a:p>
            <a:pPr indent="0" marL="0">
              <a:buNone/>
            </a:pPr>
            <a:r>
              <a:rPr lang="en-US" sz="1400" b="1" dirty="0">
                <a:solidFill>
                  <a:srgbClr val="3BE3E0"/>
                </a:solidFill>
                <a:latin typeface="Segoe UI Semibold" pitchFamily="34" charset="0"/>
                <a:ea typeface="Segoe UI Semibold" pitchFamily="34" charset="-122"/>
                <a:cs typeface="Segoe UI Semibold" pitchFamily="34" charset="-120"/>
              </a:rPr>
              <a:t>05</a:t>
            </a:r>
            <a:endParaRPr lang="en-US" sz="1400" dirty="0"/>
          </a:p>
        </p:txBody>
      </p:sp>
      <p:sp>
        <p:nvSpPr>
          <p:cNvPr id="35" name="Shape 29"/>
          <p:cNvSpPr/>
          <p:nvPr/>
        </p:nvSpPr>
        <p:spPr>
          <a:xfrm>
            <a:off x="9778959" y="2633472"/>
            <a:ext cx="512064" cy="512064"/>
          </a:xfrm>
          <a:prstGeom prst="roundRect">
            <a:avLst>
              <a:gd name="adj" fmla="val 19643"/>
            </a:avLst>
          </a:prstGeom>
          <a:solidFill>
            <a:srgbClr val="1B2330"/>
          </a:solidFill>
          <a:ln w="15240">
            <a:solidFill>
              <a:srgbClr val="3BE3E0"/>
            </a:solidFill>
            <a:prstDash val="solid"/>
          </a:ln>
        </p:spPr>
      </p:sp>
      <p:pic>
        <p:nvPicPr>
          <p:cNvPr id="36" name="Image 4" descr="C:/Users/neuma_p1qrsic/Repo/agentic-ops1/.scratch/icons/check.png">    </p:cNvPr>
          <p:cNvPicPr>
            <a:picLocks noChangeAspect="1"/>
          </p:cNvPicPr>
          <p:nvPr/>
        </p:nvPicPr>
        <p:blipFill>
          <a:blip r:embed="rId5"/>
          <a:stretch>
            <a:fillRect/>
          </a:stretch>
        </p:blipFill>
        <p:spPr>
          <a:xfrm>
            <a:off x="9901855" y="2756367"/>
            <a:ext cx="266273" cy="266273"/>
          </a:xfrm>
          <a:prstGeom prst="rect">
            <a:avLst/>
          </a:prstGeom>
        </p:spPr>
      </p:pic>
      <p:sp>
        <p:nvSpPr>
          <p:cNvPr id="37" name="Text 30"/>
          <p:cNvSpPr/>
          <p:nvPr/>
        </p:nvSpPr>
        <p:spPr>
          <a:xfrm>
            <a:off x="9778959" y="3291840"/>
            <a:ext cx="1662928" cy="365760"/>
          </a:xfrm>
          <a:prstGeom prst="rect">
            <a:avLst/>
          </a:prstGeom>
          <a:noFill/>
          <a:ln/>
        </p:spPr>
        <p:txBody>
          <a:bodyPr wrap="square" rtlCol="0" anchor="ctr"/>
          <a:lstStyle/>
          <a:p>
            <a:pPr indent="0" marL="0">
              <a:buNone/>
            </a:pPr>
            <a:r>
              <a:rPr lang="en-US" sz="1300" b="1" dirty="0">
                <a:solidFill>
                  <a:srgbClr val="F3F6FB"/>
                </a:solidFill>
                <a:latin typeface="Segoe UI Semibold" pitchFamily="34" charset="0"/>
                <a:ea typeface="Segoe UI Semibold" pitchFamily="34" charset="-122"/>
                <a:cs typeface="Segoe UI Semibold" pitchFamily="34" charset="-120"/>
              </a:rPr>
              <a:t>Confirms in chat</a:t>
            </a:r>
            <a:endParaRPr lang="en-US" sz="1300" dirty="0"/>
          </a:p>
        </p:txBody>
      </p:sp>
      <p:sp>
        <p:nvSpPr>
          <p:cNvPr id="38" name="Text 31"/>
          <p:cNvSpPr/>
          <p:nvPr/>
        </p:nvSpPr>
        <p:spPr>
          <a:xfrm>
            <a:off x="9778959" y="3639312"/>
            <a:ext cx="1662928" cy="502920"/>
          </a:xfrm>
          <a:prstGeom prst="rect">
            <a:avLst/>
          </a:prstGeom>
          <a:noFill/>
          <a:ln/>
        </p:spPr>
        <p:txBody>
          <a:bodyPr wrap="square" rtlCol="0" anchor="ctr"/>
          <a:lstStyle/>
          <a:p>
            <a:pPr indent="0" marL="0">
              <a:lnSpc>
                <a:spcPct val="110000"/>
              </a:lnSpc>
              <a:buNone/>
            </a:pPr>
            <a:r>
              <a:rPr lang="en-US" sz="1050" dirty="0">
                <a:solidFill>
                  <a:srgbClr val="AAB6C7"/>
                </a:solidFill>
                <a:latin typeface="Segoe UI" pitchFamily="34" charset="0"/>
                <a:ea typeface="Segoe UI" pitchFamily="34" charset="-122"/>
                <a:cs typeface="Segoe UI" pitchFamily="34" charset="-120"/>
              </a:rPr>
              <a:t>reports success, logged and checked</a:t>
            </a:r>
            <a:endParaRPr lang="en-US" sz="1050" dirty="0"/>
          </a:p>
        </p:txBody>
      </p:sp>
      <p:sp>
        <p:nvSpPr>
          <p:cNvPr id="39" name="Text 32"/>
          <p:cNvSpPr/>
          <p:nvPr/>
        </p:nvSpPr>
        <p:spPr>
          <a:xfrm>
            <a:off x="566928" y="4800600"/>
            <a:ext cx="7680960" cy="457200"/>
          </a:xfrm>
          <a:prstGeom prst="rect">
            <a:avLst/>
          </a:prstGeom>
          <a:noFill/>
          <a:ln/>
        </p:spPr>
        <p:txBody>
          <a:bodyPr wrap="square" rtlCol="0" anchor="ctr"/>
          <a:lstStyle/>
          <a:p>
            <a:pPr indent="0" marL="0">
              <a:buNone/>
            </a:pPr>
            <a:r>
              <a:rPr lang="en-US" sz="1500" dirty="0">
                <a:solidFill>
                  <a:srgbClr val="3BE3E0"/>
                </a:solidFill>
                <a:latin typeface="Segoe UI" pitchFamily="34" charset="0"/>
                <a:ea typeface="Segoe UI" pitchFamily="34" charset="-122"/>
                <a:cs typeface="Segoe UI" pitchFamily="34" charset="-120"/>
              </a:rPr>
              <a:t>An AI just booked into SAP. The next slide is why your auditor is fine with that.</a:t>
            </a:r>
            <a:endParaRPr lang="en-US" sz="1500" dirty="0"/>
          </a:p>
        </p:txBody>
      </p:sp>
      <p:sp>
        <p:nvSpPr>
          <p:cNvPr id="40" name="Text 33"/>
          <p:cNvSpPr/>
          <p:nvPr/>
        </p:nvSpPr>
        <p:spPr>
          <a:xfrm>
            <a:off x="7784287" y="5961888"/>
            <a:ext cx="3840480" cy="274320"/>
          </a:xfrm>
          <a:prstGeom prst="rect">
            <a:avLst/>
          </a:prstGeom>
          <a:noFill/>
          <a:ln/>
        </p:spPr>
        <p:txBody>
          <a:bodyPr wrap="square" rtlCol="0" anchor="ctr"/>
          <a:lstStyle/>
          <a:p>
            <a:pPr algn="r" indent="0" marL="0">
              <a:buNone/>
            </a:pPr>
            <a:r>
              <a:rPr lang="en-US" sz="1000" i="1" dirty="0">
                <a:solidFill>
                  <a:srgbClr val="7C8A9B"/>
                </a:solidFill>
                <a:latin typeface="Segoe UI" pitchFamily="34" charset="0"/>
                <a:ea typeface="Segoe UI" pitchFamily="34" charset="-122"/>
                <a:cs typeface="Segoe UI" pitchFamily="34" charset="-120"/>
              </a:rPr>
              <a:t>Full Digital Co-Worker deck available.</a:t>
            </a:r>
            <a:endParaRPr lang="en-US" sz="1000" dirty="0"/>
          </a:p>
        </p:txBody>
      </p:sp>
      <p:sp>
        <p:nvSpPr>
          <p:cNvPr id="41" name="Text 34"/>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42" name="Text 35"/>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11 / 15</a:t>
            </a:r>
            <a:endParaRPr lang="en-US" sz="900" dirty="0"/>
          </a:p>
        </p:txBody>
      </p:sp>
      <p:sp>
        <p:nvSpPr>
          <p:cNvPr id="43" name="Shape 36"/>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96012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WHY IT IS SAFE TO AUTOMATE</a:t>
            </a:r>
            <a:endParaRPr lang="en-US" sz="1200" dirty="0"/>
          </a:p>
        </p:txBody>
      </p:sp>
      <p:sp>
        <p:nvSpPr>
          <p:cNvPr id="4" name="Text 2"/>
          <p:cNvSpPr/>
          <p:nvPr/>
        </p:nvSpPr>
        <p:spPr>
          <a:xfrm>
            <a:off x="566928" y="960120"/>
            <a:ext cx="10789920" cy="731520"/>
          </a:xfrm>
          <a:prstGeom prst="rect">
            <a:avLst/>
          </a:prstGeom>
          <a:noFill/>
          <a:ln/>
        </p:spPr>
        <p:txBody>
          <a:bodyPr wrap="square" rtlCol="0" anchor="ctr"/>
          <a:lstStyle/>
          <a:p>
            <a:pPr indent="0" marL="0">
              <a:buNone/>
            </a:pPr>
            <a:r>
              <a:rPr lang="en-US" sz="2800" b="1" dirty="0">
                <a:solidFill>
                  <a:srgbClr val="F3F6FB"/>
                </a:solidFill>
                <a:latin typeface="Segoe UI Semibold" pitchFamily="34" charset="0"/>
                <a:ea typeface="Segoe UI Semibold" pitchFamily="34" charset="-122"/>
                <a:cs typeface="Segoe UI Semibold" pitchFamily="34" charset="-120"/>
              </a:rPr>
              <a:t>Automation you can show your auditor.</a:t>
            </a:r>
            <a:endParaRPr lang="en-US" sz="2800" dirty="0"/>
          </a:p>
        </p:txBody>
      </p:sp>
      <p:sp>
        <p:nvSpPr>
          <p:cNvPr id="5" name="Shape 3"/>
          <p:cNvSpPr/>
          <p:nvPr/>
        </p:nvSpPr>
        <p:spPr>
          <a:xfrm>
            <a:off x="566928" y="2103120"/>
            <a:ext cx="5346040" cy="1371600"/>
          </a:xfrm>
          <a:prstGeom prst="roundRect">
            <a:avLst>
              <a:gd name="adj" fmla="val 5333"/>
            </a:avLst>
          </a:prstGeom>
          <a:solidFill>
            <a:srgbClr val="141A25"/>
          </a:solidFill>
          <a:ln w="13970">
            <a:solidFill>
              <a:srgbClr val="36414F"/>
            </a:solidFill>
            <a:prstDash val="solid"/>
          </a:ln>
        </p:spPr>
      </p:sp>
      <p:sp>
        <p:nvSpPr>
          <p:cNvPr id="6" name="Shape 4"/>
          <p:cNvSpPr/>
          <p:nvPr/>
        </p:nvSpPr>
        <p:spPr>
          <a:xfrm>
            <a:off x="822960" y="2468880"/>
            <a:ext cx="566928" cy="566928"/>
          </a:xfrm>
          <a:prstGeom prst="roundRect">
            <a:avLst>
              <a:gd name="adj" fmla="val 17742"/>
            </a:avLst>
          </a:prstGeom>
          <a:solidFill>
            <a:srgbClr val="1B2330"/>
          </a:solidFill>
          <a:ln w="15240">
            <a:solidFill>
              <a:srgbClr val="3BE3E0"/>
            </a:solidFill>
            <a:prstDash val="solid"/>
          </a:ln>
        </p:spPr>
      </p:sp>
      <p:pic>
        <p:nvPicPr>
          <p:cNvPr id="7" name="Image 0" descr="C:/Users/neuma_p1qrsic/Repo/agentic-ops1/.scratch/icons/list.png">    </p:cNvPr>
          <p:cNvPicPr>
            <a:picLocks noChangeAspect="1"/>
          </p:cNvPicPr>
          <p:nvPr/>
        </p:nvPicPr>
        <p:blipFill>
          <a:blip r:embed="rId1"/>
          <a:stretch>
            <a:fillRect/>
          </a:stretch>
        </p:blipFill>
        <p:spPr>
          <a:xfrm>
            <a:off x="959023" y="2604943"/>
            <a:ext cx="294803" cy="294803"/>
          </a:xfrm>
          <a:prstGeom prst="rect">
            <a:avLst/>
          </a:prstGeom>
        </p:spPr>
      </p:pic>
      <p:sp>
        <p:nvSpPr>
          <p:cNvPr id="8" name="Text 5"/>
          <p:cNvSpPr/>
          <p:nvPr/>
        </p:nvSpPr>
        <p:spPr>
          <a:xfrm>
            <a:off x="1572768" y="2377440"/>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A full audit trail</a:t>
            </a:r>
            <a:endParaRPr lang="en-US" sz="1650" dirty="0"/>
          </a:p>
        </p:txBody>
      </p:sp>
      <p:sp>
        <p:nvSpPr>
          <p:cNvPr id="9" name="Text 6"/>
          <p:cNvSpPr/>
          <p:nvPr/>
        </p:nvSpPr>
        <p:spPr>
          <a:xfrm>
            <a:off x="1572768" y="2779776"/>
            <a:ext cx="4111600" cy="566928"/>
          </a:xfrm>
          <a:prstGeom prst="rect">
            <a:avLst/>
          </a:prstGeom>
          <a:noFill/>
          <a:ln/>
        </p:spPr>
        <p:txBody>
          <a:bodyPr wrap="square" rtlCol="0" anchor="ctr"/>
          <a:lstStyle/>
          <a:p>
            <a:pPr indent="0" marL="0">
              <a:lnSpc>
                <a:spcPct val="112000"/>
              </a:lnSpc>
              <a:buNone/>
            </a:pPr>
            <a:r>
              <a:rPr lang="en-US" sz="1250" dirty="0">
                <a:solidFill>
                  <a:srgbClr val="AAB6C7"/>
                </a:solidFill>
                <a:latin typeface="Segoe UI" pitchFamily="34" charset="0"/>
                <a:ea typeface="Segoe UI" pitchFamily="34" charset="-122"/>
                <a:cs typeface="Segoe UI" pitchFamily="34" charset="-120"/>
              </a:rPr>
              <a:t>Every rate, trade and booking you just watched is recorded, end to end.</a:t>
            </a:r>
            <a:endParaRPr lang="en-US" sz="1250" dirty="0"/>
          </a:p>
        </p:txBody>
      </p:sp>
      <p:sp>
        <p:nvSpPr>
          <p:cNvPr id="10" name="Shape 7"/>
          <p:cNvSpPr/>
          <p:nvPr/>
        </p:nvSpPr>
        <p:spPr>
          <a:xfrm>
            <a:off x="6278728" y="2103120"/>
            <a:ext cx="5346040" cy="1371600"/>
          </a:xfrm>
          <a:prstGeom prst="roundRect">
            <a:avLst>
              <a:gd name="adj" fmla="val 5333"/>
            </a:avLst>
          </a:prstGeom>
          <a:solidFill>
            <a:srgbClr val="141A25"/>
          </a:solidFill>
          <a:ln w="13970">
            <a:solidFill>
              <a:srgbClr val="36414F"/>
            </a:solidFill>
            <a:prstDash val="solid"/>
          </a:ln>
        </p:spPr>
      </p:sp>
      <p:sp>
        <p:nvSpPr>
          <p:cNvPr id="11" name="Shape 8"/>
          <p:cNvSpPr/>
          <p:nvPr/>
        </p:nvSpPr>
        <p:spPr>
          <a:xfrm>
            <a:off x="6534760" y="2468880"/>
            <a:ext cx="566928" cy="566928"/>
          </a:xfrm>
          <a:prstGeom prst="roundRect">
            <a:avLst>
              <a:gd name="adj" fmla="val 17742"/>
            </a:avLst>
          </a:prstGeom>
          <a:solidFill>
            <a:srgbClr val="1B2330"/>
          </a:solidFill>
          <a:ln w="15240">
            <a:solidFill>
              <a:srgbClr val="3BE3E0"/>
            </a:solidFill>
            <a:prstDash val="solid"/>
          </a:ln>
        </p:spPr>
      </p:sp>
      <p:pic>
        <p:nvPicPr>
          <p:cNvPr id="12" name="Image 1" descr="C:/Users/neuma_p1qrsic/Repo/agentic-ops1/.scratch/icons/shield.png">    </p:cNvPr>
          <p:cNvPicPr>
            <a:picLocks noChangeAspect="1"/>
          </p:cNvPicPr>
          <p:nvPr/>
        </p:nvPicPr>
        <p:blipFill>
          <a:blip r:embed="rId2"/>
          <a:stretch>
            <a:fillRect/>
          </a:stretch>
        </p:blipFill>
        <p:spPr>
          <a:xfrm>
            <a:off x="6670822" y="2604943"/>
            <a:ext cx="294803" cy="294803"/>
          </a:xfrm>
          <a:prstGeom prst="rect">
            <a:avLst/>
          </a:prstGeom>
        </p:spPr>
      </p:pic>
      <p:sp>
        <p:nvSpPr>
          <p:cNvPr id="13" name="Text 9"/>
          <p:cNvSpPr/>
          <p:nvPr/>
        </p:nvSpPr>
        <p:spPr>
          <a:xfrm>
            <a:off x="7284568" y="2377440"/>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Four-eye approvals</a:t>
            </a:r>
            <a:endParaRPr lang="en-US" sz="1650" dirty="0"/>
          </a:p>
        </p:txBody>
      </p:sp>
      <p:sp>
        <p:nvSpPr>
          <p:cNvPr id="14" name="Text 10"/>
          <p:cNvSpPr/>
          <p:nvPr/>
        </p:nvSpPr>
        <p:spPr>
          <a:xfrm>
            <a:off x="7284568" y="2779776"/>
            <a:ext cx="4111600" cy="566928"/>
          </a:xfrm>
          <a:prstGeom prst="rect">
            <a:avLst/>
          </a:prstGeom>
          <a:noFill/>
          <a:ln/>
        </p:spPr>
        <p:txBody>
          <a:bodyPr wrap="square" rtlCol="0" anchor="ctr"/>
          <a:lstStyle/>
          <a:p>
            <a:pPr indent="0" marL="0">
              <a:lnSpc>
                <a:spcPct val="112000"/>
              </a:lnSpc>
              <a:buNone/>
            </a:pPr>
            <a:r>
              <a:rPr lang="en-US" sz="1250" dirty="0">
                <a:solidFill>
                  <a:srgbClr val="AAB6C7"/>
                </a:solidFill>
                <a:latin typeface="Segoe UI" pitchFamily="34" charset="0"/>
                <a:ea typeface="Segoe UI" pitchFamily="34" charset="-122"/>
                <a:cs typeface="Segoe UI" pitchFamily="34" charset="-120"/>
              </a:rPr>
              <a:t>The moves that matter wait for a second person.</a:t>
            </a:r>
            <a:endParaRPr lang="en-US" sz="1250" dirty="0"/>
          </a:p>
        </p:txBody>
      </p:sp>
      <p:sp>
        <p:nvSpPr>
          <p:cNvPr id="15" name="Shape 11"/>
          <p:cNvSpPr/>
          <p:nvPr/>
        </p:nvSpPr>
        <p:spPr>
          <a:xfrm>
            <a:off x="566928" y="3703320"/>
            <a:ext cx="5346040" cy="1371600"/>
          </a:xfrm>
          <a:prstGeom prst="roundRect">
            <a:avLst>
              <a:gd name="adj" fmla="val 5333"/>
            </a:avLst>
          </a:prstGeom>
          <a:solidFill>
            <a:srgbClr val="141A25"/>
          </a:solidFill>
          <a:ln w="13970">
            <a:solidFill>
              <a:srgbClr val="36414F"/>
            </a:solidFill>
            <a:prstDash val="solid"/>
          </a:ln>
        </p:spPr>
      </p:sp>
      <p:sp>
        <p:nvSpPr>
          <p:cNvPr id="16" name="Shape 12"/>
          <p:cNvSpPr/>
          <p:nvPr/>
        </p:nvSpPr>
        <p:spPr>
          <a:xfrm>
            <a:off x="822960" y="4069080"/>
            <a:ext cx="566928" cy="566928"/>
          </a:xfrm>
          <a:prstGeom prst="roundRect">
            <a:avLst>
              <a:gd name="adj" fmla="val 17742"/>
            </a:avLst>
          </a:prstGeom>
          <a:solidFill>
            <a:srgbClr val="1B2330"/>
          </a:solidFill>
          <a:ln w="15240">
            <a:solidFill>
              <a:srgbClr val="3BE3E0"/>
            </a:solidFill>
            <a:prstDash val="solid"/>
          </a:ln>
        </p:spPr>
      </p:sp>
      <p:pic>
        <p:nvPicPr>
          <p:cNvPr id="17" name="Image 2" descr="C:/Users/neuma_p1qrsic/Repo/agentic-ops1/.scratch/icons/eye.png">    </p:cNvPr>
          <p:cNvPicPr>
            <a:picLocks noChangeAspect="1"/>
          </p:cNvPicPr>
          <p:nvPr/>
        </p:nvPicPr>
        <p:blipFill>
          <a:blip r:embed="rId3"/>
          <a:stretch>
            <a:fillRect/>
          </a:stretch>
        </p:blipFill>
        <p:spPr>
          <a:xfrm>
            <a:off x="959023" y="4205143"/>
            <a:ext cx="294803" cy="294803"/>
          </a:xfrm>
          <a:prstGeom prst="rect">
            <a:avLst/>
          </a:prstGeom>
        </p:spPr>
      </p:pic>
      <p:sp>
        <p:nvSpPr>
          <p:cNvPr id="18" name="Text 13"/>
          <p:cNvSpPr/>
          <p:nvPr/>
        </p:nvSpPr>
        <p:spPr>
          <a:xfrm>
            <a:off x="1572768" y="3977640"/>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Checks before anything posts</a:t>
            </a:r>
            <a:endParaRPr lang="en-US" sz="1650" dirty="0"/>
          </a:p>
        </p:txBody>
      </p:sp>
      <p:sp>
        <p:nvSpPr>
          <p:cNvPr id="19" name="Text 14"/>
          <p:cNvSpPr/>
          <p:nvPr/>
        </p:nvSpPr>
        <p:spPr>
          <a:xfrm>
            <a:off x="1572768" y="4379976"/>
            <a:ext cx="4111600" cy="566928"/>
          </a:xfrm>
          <a:prstGeom prst="rect">
            <a:avLst/>
          </a:prstGeom>
          <a:noFill/>
          <a:ln/>
        </p:spPr>
        <p:txBody>
          <a:bodyPr wrap="square" rtlCol="0" anchor="ctr"/>
          <a:lstStyle/>
          <a:p>
            <a:pPr indent="0" marL="0">
              <a:lnSpc>
                <a:spcPct val="112000"/>
              </a:lnSpc>
              <a:buNone/>
            </a:pPr>
            <a:r>
              <a:rPr lang="en-US" sz="1250" dirty="0">
                <a:solidFill>
                  <a:srgbClr val="AAB6C7"/>
                </a:solidFill>
                <a:latin typeface="Segoe UI" pitchFamily="34" charset="0"/>
                <a:ea typeface="Segoe UI" pitchFamily="34" charset="-122"/>
                <a:cs typeface="Segoe UI" pitchFamily="34" charset="-120"/>
              </a:rPr>
              <a:t>Odd or bad data is held back, never passed on unchecked.</a:t>
            </a:r>
            <a:endParaRPr lang="en-US" sz="1250" dirty="0"/>
          </a:p>
        </p:txBody>
      </p:sp>
      <p:sp>
        <p:nvSpPr>
          <p:cNvPr id="20" name="Shape 15"/>
          <p:cNvSpPr/>
          <p:nvPr/>
        </p:nvSpPr>
        <p:spPr>
          <a:xfrm>
            <a:off x="6278728" y="3703320"/>
            <a:ext cx="5346040" cy="1371600"/>
          </a:xfrm>
          <a:prstGeom prst="roundRect">
            <a:avLst>
              <a:gd name="adj" fmla="val 5333"/>
            </a:avLst>
          </a:prstGeom>
          <a:solidFill>
            <a:srgbClr val="141A25"/>
          </a:solidFill>
          <a:ln w="13970">
            <a:solidFill>
              <a:srgbClr val="36414F"/>
            </a:solidFill>
            <a:prstDash val="solid"/>
          </a:ln>
        </p:spPr>
      </p:sp>
      <p:sp>
        <p:nvSpPr>
          <p:cNvPr id="21" name="Shape 16"/>
          <p:cNvSpPr/>
          <p:nvPr/>
        </p:nvSpPr>
        <p:spPr>
          <a:xfrm>
            <a:off x="6534760" y="4069080"/>
            <a:ext cx="566928" cy="566928"/>
          </a:xfrm>
          <a:prstGeom prst="roundRect">
            <a:avLst>
              <a:gd name="adj" fmla="val 17742"/>
            </a:avLst>
          </a:prstGeom>
          <a:solidFill>
            <a:srgbClr val="1B2330"/>
          </a:solidFill>
          <a:ln w="15240">
            <a:solidFill>
              <a:srgbClr val="3BE3E0"/>
            </a:solidFill>
            <a:prstDash val="solid"/>
          </a:ln>
        </p:spPr>
      </p:sp>
      <p:pic>
        <p:nvPicPr>
          <p:cNvPr id="22" name="Image 3" descr="C:/Users/neuma_p1qrsic/Repo/agentic-ops1/.scratch/icons/blocks.png">    </p:cNvPr>
          <p:cNvPicPr>
            <a:picLocks noChangeAspect="1"/>
          </p:cNvPicPr>
          <p:nvPr/>
        </p:nvPicPr>
        <p:blipFill>
          <a:blip r:embed="rId4"/>
          <a:stretch>
            <a:fillRect/>
          </a:stretch>
        </p:blipFill>
        <p:spPr>
          <a:xfrm>
            <a:off x="6670822" y="4205143"/>
            <a:ext cx="294803" cy="294803"/>
          </a:xfrm>
          <a:prstGeom prst="rect">
            <a:avLst/>
          </a:prstGeom>
        </p:spPr>
      </p:pic>
      <p:sp>
        <p:nvSpPr>
          <p:cNvPr id="23" name="Text 17"/>
          <p:cNvSpPr/>
          <p:nvPr/>
        </p:nvSpPr>
        <p:spPr>
          <a:xfrm>
            <a:off x="7284568" y="3977640"/>
            <a:ext cx="4111600" cy="384048"/>
          </a:xfrm>
          <a:prstGeom prst="rect">
            <a:avLst/>
          </a:prstGeom>
          <a:noFill/>
          <a:ln/>
        </p:spPr>
        <p:txBody>
          <a:bodyPr wrap="square" rtlCol="0" anchor="ctr"/>
          <a:lstStyle/>
          <a:p>
            <a:pPr indent="0" marL="0">
              <a:buNone/>
            </a:pPr>
            <a:r>
              <a:rPr lang="en-US" sz="1650" b="1" dirty="0">
                <a:solidFill>
                  <a:srgbClr val="F3F6FB"/>
                </a:solidFill>
                <a:latin typeface="Segoe UI Semibold" pitchFamily="34" charset="0"/>
                <a:ea typeface="Segoe UI Semibold" pitchFamily="34" charset="-122"/>
                <a:cs typeface="Segoe UI Semibold" pitchFamily="34" charset="-120"/>
              </a:rPr>
              <a:t>No code to change it</a:t>
            </a:r>
            <a:endParaRPr lang="en-US" sz="1650" dirty="0"/>
          </a:p>
        </p:txBody>
      </p:sp>
      <p:sp>
        <p:nvSpPr>
          <p:cNvPr id="24" name="Text 18"/>
          <p:cNvSpPr/>
          <p:nvPr/>
        </p:nvSpPr>
        <p:spPr>
          <a:xfrm>
            <a:off x="7284568" y="4379976"/>
            <a:ext cx="4111600" cy="566928"/>
          </a:xfrm>
          <a:prstGeom prst="rect">
            <a:avLst/>
          </a:prstGeom>
          <a:noFill/>
          <a:ln/>
        </p:spPr>
        <p:txBody>
          <a:bodyPr wrap="square" rtlCol="0" anchor="ctr"/>
          <a:lstStyle/>
          <a:p>
            <a:pPr indent="0" marL="0">
              <a:lnSpc>
                <a:spcPct val="112000"/>
              </a:lnSpc>
              <a:buNone/>
            </a:pPr>
            <a:r>
              <a:rPr lang="en-US" sz="1250" dirty="0">
                <a:solidFill>
                  <a:srgbClr val="AAB6C7"/>
                </a:solidFill>
                <a:latin typeface="Segoe UI" pitchFamily="34" charset="0"/>
                <a:ea typeface="Segoe UI" pitchFamily="34" charset="-122"/>
                <a:cs typeface="Segoe UI" pitchFamily="34" charset="-120"/>
              </a:rPr>
              <a:t>Treasury owns the rules. No IT project.</a:t>
            </a:r>
            <a:endParaRPr lang="en-US" sz="1250" dirty="0"/>
          </a:p>
        </p:txBody>
      </p:sp>
      <p:sp>
        <p:nvSpPr>
          <p:cNvPr id="25" name="Shape 19"/>
          <p:cNvSpPr/>
          <p:nvPr/>
        </p:nvSpPr>
        <p:spPr>
          <a:xfrm>
            <a:off x="566928" y="5440680"/>
            <a:ext cx="1554480" cy="502920"/>
          </a:xfrm>
          <a:prstGeom prst="roundRect">
            <a:avLst>
              <a:gd name="adj" fmla="val 18182"/>
            </a:avLst>
          </a:prstGeom>
          <a:solidFill>
            <a:srgbClr val="1B2330"/>
          </a:solidFill>
          <a:ln w="15240">
            <a:solidFill>
              <a:srgbClr val="3BE3E0"/>
            </a:solidFill>
            <a:prstDash val="solid"/>
          </a:ln>
        </p:spPr>
      </p:sp>
      <p:pic>
        <p:nvPicPr>
          <p:cNvPr id="26" name="Image 4" descr="C:/Users/neuma_p1qrsic/Repo/agentic-ops1/.scratch/icons/lock.png">    </p:cNvPr>
          <p:cNvPicPr>
            <a:picLocks noChangeAspect="1"/>
          </p:cNvPicPr>
          <p:nvPr/>
        </p:nvPicPr>
        <p:blipFill>
          <a:blip r:embed="rId5"/>
          <a:stretch>
            <a:fillRect/>
          </a:stretch>
        </p:blipFill>
        <p:spPr>
          <a:xfrm>
            <a:off x="694944" y="5568696"/>
            <a:ext cx="256032" cy="256032"/>
          </a:xfrm>
          <a:prstGeom prst="rect">
            <a:avLst/>
          </a:prstGeom>
        </p:spPr>
      </p:pic>
      <p:sp>
        <p:nvSpPr>
          <p:cNvPr id="27" name="Text 20"/>
          <p:cNvSpPr/>
          <p:nvPr/>
        </p:nvSpPr>
        <p:spPr>
          <a:xfrm>
            <a:off x="978408" y="5440680"/>
            <a:ext cx="1143000" cy="502920"/>
          </a:xfrm>
          <a:prstGeom prst="rect">
            <a:avLst/>
          </a:prstGeom>
          <a:noFill/>
          <a:ln/>
        </p:spPr>
        <p:txBody>
          <a:bodyPr wrap="square" rtlCol="0" anchor="ctr"/>
          <a:lstStyle/>
          <a:p>
            <a:pPr indent="0" marL="0">
              <a:buNone/>
            </a:pPr>
            <a:r>
              <a:rPr lang="en-US" sz="1250" b="1" dirty="0">
                <a:solidFill>
                  <a:srgbClr val="F3F6FB"/>
                </a:solidFill>
                <a:latin typeface="Segoe UI Semibold" pitchFamily="34" charset="0"/>
                <a:ea typeface="Segoe UI Semibold" pitchFamily="34" charset="-122"/>
                <a:cs typeface="Segoe UI Semibold" pitchFamily="34" charset="-120"/>
              </a:rPr>
              <a:t>ISO 27001</a:t>
            </a:r>
            <a:endParaRPr lang="en-US" sz="1250" dirty="0"/>
          </a:p>
        </p:txBody>
      </p:sp>
      <p:sp>
        <p:nvSpPr>
          <p:cNvPr id="28" name="Shape 21"/>
          <p:cNvSpPr/>
          <p:nvPr/>
        </p:nvSpPr>
        <p:spPr>
          <a:xfrm>
            <a:off x="2304288" y="5440680"/>
            <a:ext cx="1554480" cy="502920"/>
          </a:xfrm>
          <a:prstGeom prst="roundRect">
            <a:avLst>
              <a:gd name="adj" fmla="val 18182"/>
            </a:avLst>
          </a:prstGeom>
          <a:solidFill>
            <a:srgbClr val="1B2330"/>
          </a:solidFill>
          <a:ln w="15240">
            <a:solidFill>
              <a:srgbClr val="3BE3E0"/>
            </a:solidFill>
            <a:prstDash val="solid"/>
          </a:ln>
        </p:spPr>
      </p:sp>
      <p:pic>
        <p:nvPicPr>
          <p:cNvPr id="29" name="Image 5" descr="C:/Users/neuma_p1qrsic/Repo/agentic-ops1/.scratch/icons/lock.png">    </p:cNvPr>
          <p:cNvPicPr>
            <a:picLocks noChangeAspect="1"/>
          </p:cNvPicPr>
          <p:nvPr/>
        </p:nvPicPr>
        <p:blipFill>
          <a:blip r:embed="rId6"/>
          <a:stretch>
            <a:fillRect/>
          </a:stretch>
        </p:blipFill>
        <p:spPr>
          <a:xfrm>
            <a:off x="2432304" y="5568696"/>
            <a:ext cx="256032" cy="256032"/>
          </a:xfrm>
          <a:prstGeom prst="rect">
            <a:avLst/>
          </a:prstGeom>
        </p:spPr>
      </p:pic>
      <p:sp>
        <p:nvSpPr>
          <p:cNvPr id="30" name="Text 22"/>
          <p:cNvSpPr/>
          <p:nvPr/>
        </p:nvSpPr>
        <p:spPr>
          <a:xfrm>
            <a:off x="2715768" y="5440680"/>
            <a:ext cx="1143000" cy="502920"/>
          </a:xfrm>
          <a:prstGeom prst="rect">
            <a:avLst/>
          </a:prstGeom>
          <a:noFill/>
          <a:ln/>
        </p:spPr>
        <p:txBody>
          <a:bodyPr wrap="square" rtlCol="0" anchor="ctr"/>
          <a:lstStyle/>
          <a:p>
            <a:pPr indent="0" marL="0">
              <a:buNone/>
            </a:pPr>
            <a:r>
              <a:rPr lang="en-US" sz="1250" b="1" dirty="0">
                <a:solidFill>
                  <a:srgbClr val="F3F6FB"/>
                </a:solidFill>
                <a:latin typeface="Segoe UI Semibold" pitchFamily="34" charset="0"/>
                <a:ea typeface="Segoe UI Semibold" pitchFamily="34" charset="-122"/>
                <a:cs typeface="Segoe UI Semibold" pitchFamily="34" charset="-120"/>
              </a:rPr>
              <a:t>SOC 1</a:t>
            </a:r>
            <a:endParaRPr lang="en-US" sz="1250" dirty="0"/>
          </a:p>
        </p:txBody>
      </p:sp>
      <p:sp>
        <p:nvSpPr>
          <p:cNvPr id="31" name="Text 23"/>
          <p:cNvSpPr/>
          <p:nvPr/>
        </p:nvSpPr>
        <p:spPr>
          <a:xfrm>
            <a:off x="4224528" y="5440680"/>
            <a:ext cx="7315200" cy="502920"/>
          </a:xfrm>
          <a:prstGeom prst="rect">
            <a:avLst/>
          </a:prstGeom>
          <a:noFill/>
          <a:ln/>
        </p:spPr>
        <p:txBody>
          <a:bodyPr wrap="square" rtlCol="0" anchor="ctr"/>
          <a:lstStyle/>
          <a:p>
            <a:pPr indent="0" marL="0">
              <a:buNone/>
            </a:pPr>
            <a:r>
              <a:rPr lang="en-US" sz="1300" dirty="0">
                <a:solidFill>
                  <a:srgbClr val="AAB6C7"/>
                </a:solidFill>
                <a:latin typeface="Segoe UI" pitchFamily="34" charset="0"/>
                <a:ea typeface="Segoe UI" pitchFamily="34" charset="-122"/>
                <a:cs typeface="Segoe UI" pitchFamily="34" charset="-120"/>
              </a:rPr>
              <a:t>The security controls your auditors already expect.</a:t>
            </a:r>
            <a:endParaRPr lang="en-US" sz="1300" dirty="0"/>
          </a:p>
        </p:txBody>
      </p:sp>
      <p:sp>
        <p:nvSpPr>
          <p:cNvPr id="32" name="Text 24"/>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33" name="Text 25"/>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12 / 15</a:t>
            </a:r>
            <a:endParaRPr lang="en-US" sz="900" dirty="0"/>
          </a:p>
        </p:txBody>
      </p:sp>
      <p:sp>
        <p:nvSpPr>
          <p:cNvPr id="34" name="Shape 26"/>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21B"/>
        </a:solidFill>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3" name="Text 1"/>
          <p:cNvSpPr/>
          <p:nvPr/>
        </p:nvSpPr>
        <p:spPr>
          <a:xfrm>
            <a:off x="713232" y="512064"/>
            <a:ext cx="96012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WHAT IT RUNS ON</a:t>
            </a:r>
            <a:endParaRPr lang="en-US" sz="1200" dirty="0"/>
          </a:p>
        </p:txBody>
      </p:sp>
      <p:sp>
        <p:nvSpPr>
          <p:cNvPr id="4" name="Text 2"/>
          <p:cNvSpPr/>
          <p:nvPr/>
        </p:nvSpPr>
        <p:spPr>
          <a:xfrm>
            <a:off x="566928" y="960120"/>
            <a:ext cx="10789920" cy="731520"/>
          </a:xfrm>
          <a:prstGeom prst="rect">
            <a:avLst/>
          </a:prstGeom>
          <a:noFill/>
          <a:ln/>
        </p:spPr>
        <p:txBody>
          <a:bodyPr wrap="square" rtlCol="0" anchor="ctr"/>
          <a:lstStyle/>
          <a:p>
            <a:pPr indent="0" marL="0">
              <a:buNone/>
            </a:pPr>
            <a:r>
              <a:rPr lang="en-US" sz="2900" b="1" dirty="0">
                <a:solidFill>
                  <a:srgbClr val="F3F6FB"/>
                </a:solidFill>
                <a:latin typeface="Segoe UI Semibold" pitchFamily="34" charset="0"/>
                <a:ea typeface="Segoe UI Semibold" pitchFamily="34" charset="-122"/>
                <a:cs typeface="Segoe UI Semibold" pitchFamily="34" charset="-120"/>
              </a:rPr>
              <a:t>Under the hood, it is one platform: </a:t>
            </a:r>
            <a:pPr indent="0" marL="0">
              <a:buNone/>
            </a:pPr>
            <a:r>
              <a:rPr lang="en-US" sz="2900" b="1" dirty="0">
                <a:solidFill>
                  <a:srgbClr val="3BE3E0"/>
                </a:solidFill>
                <a:latin typeface="Segoe UI Semibold" pitchFamily="34" charset="0"/>
                <a:ea typeface="Segoe UI Semibold" pitchFamily="34" charset="-122"/>
                <a:cs typeface="Segoe UI Semibold" pitchFamily="34" charset="-120"/>
              </a:rPr>
              <a:t>OnePilot</a:t>
            </a:r>
            <a:pPr indent="0" marL="0">
              <a:buNone/>
            </a:pPr>
            <a:r>
              <a:rPr lang="en-US" sz="2900" b="1" dirty="0">
                <a:solidFill>
                  <a:srgbClr val="F3F6FB"/>
                </a:solidFill>
                <a:latin typeface="Segoe UI Semibold" pitchFamily="34" charset="0"/>
                <a:ea typeface="Segoe UI Semibold" pitchFamily="34" charset="-122"/>
                <a:cs typeface="Segoe UI Semibold" pitchFamily="34" charset="-120"/>
              </a:rPr>
              <a:t>.</a:t>
            </a:r>
            <a:endParaRPr lang="en-US" sz="2900" dirty="0"/>
          </a:p>
        </p:txBody>
      </p:sp>
      <p:sp>
        <p:nvSpPr>
          <p:cNvPr id="5" name="Text 3"/>
          <p:cNvSpPr/>
          <p:nvPr/>
        </p:nvSpPr>
        <p:spPr>
          <a:xfrm>
            <a:off x="566928" y="1828800"/>
            <a:ext cx="10607040" cy="960120"/>
          </a:xfrm>
          <a:prstGeom prst="rect">
            <a:avLst/>
          </a:prstGeom>
          <a:noFill/>
          <a:ln/>
        </p:spPr>
        <p:txBody>
          <a:bodyPr wrap="square" rtlCol="0" anchor="ctr"/>
          <a:lstStyle/>
          <a:p>
            <a:pPr indent="0" marL="0">
              <a:lnSpc>
                <a:spcPct val="130000"/>
              </a:lnSpc>
              <a:buNone/>
            </a:pPr>
            <a:r>
              <a:rPr lang="en-US" sz="1600" dirty="0">
                <a:solidFill>
                  <a:srgbClr val="AAB6C7"/>
                </a:solidFill>
                <a:latin typeface="Segoe UI" pitchFamily="34" charset="0"/>
                <a:ea typeface="Segoe UI" pitchFamily="34" charset="-122"/>
                <a:cs typeface="Segoe UI" pitchFamily="34" charset="-120"/>
              </a:rPr>
              <a:t>OnePilot is the layer underneath. It moves your data cleanly between systems, both ways, across SAP and everything else, with the checks and the AI built in. One way to connect to all of it:</a:t>
            </a:r>
            <a:endParaRPr lang="en-US" sz="1600" dirty="0"/>
          </a:p>
        </p:txBody>
      </p:sp>
      <p:sp>
        <p:nvSpPr>
          <p:cNvPr id="6" name="Shape 4"/>
          <p:cNvSpPr/>
          <p:nvPr/>
        </p:nvSpPr>
        <p:spPr>
          <a:xfrm>
            <a:off x="566928" y="3063240"/>
            <a:ext cx="2558720" cy="1417320"/>
          </a:xfrm>
          <a:prstGeom prst="roundRect">
            <a:avLst>
              <a:gd name="adj" fmla="val 6452"/>
            </a:avLst>
          </a:prstGeom>
          <a:solidFill>
            <a:srgbClr val="141A25"/>
          </a:solidFill>
          <a:ln w="13970">
            <a:solidFill>
              <a:srgbClr val="36414F"/>
            </a:solidFill>
            <a:prstDash val="solid"/>
          </a:ln>
        </p:spPr>
      </p:sp>
      <p:pic>
        <p:nvPicPr>
          <p:cNvPr id="7" name="Image 0" descr="C:/Users/neuma_p1qrsic/Repo/agentic-ops1/.scratch/icons/database.png">    </p:cNvPr>
          <p:cNvPicPr>
            <a:picLocks noChangeAspect="1"/>
          </p:cNvPicPr>
          <p:nvPr/>
        </p:nvPicPr>
        <p:blipFill>
          <a:blip r:embed="rId1"/>
          <a:stretch>
            <a:fillRect/>
          </a:stretch>
        </p:blipFill>
        <p:spPr>
          <a:xfrm>
            <a:off x="1571968" y="3319272"/>
            <a:ext cx="548640" cy="548640"/>
          </a:xfrm>
          <a:prstGeom prst="rect">
            <a:avLst/>
          </a:prstGeom>
        </p:spPr>
      </p:pic>
      <p:sp>
        <p:nvSpPr>
          <p:cNvPr id="8" name="Text 5"/>
          <p:cNvSpPr/>
          <p:nvPr/>
        </p:nvSpPr>
        <p:spPr>
          <a:xfrm>
            <a:off x="640080" y="3931920"/>
            <a:ext cx="2412416" cy="457200"/>
          </a:xfrm>
          <a:prstGeom prst="rect">
            <a:avLst/>
          </a:prstGeom>
          <a:noFill/>
          <a:ln/>
        </p:spPr>
        <p:txBody>
          <a:bodyPr wrap="square" rtlCol="0" anchor="ctr"/>
          <a:lstStyle/>
          <a:p>
            <a:pPr algn="ctr" indent="0" marL="0">
              <a:buNone/>
            </a:pPr>
            <a:r>
              <a:rPr lang="en-US" sz="1300" dirty="0">
                <a:solidFill>
                  <a:srgbClr val="F3F6FB"/>
                </a:solidFill>
                <a:latin typeface="Segoe UI" pitchFamily="34" charset="0"/>
                <a:ea typeface="Segoe UI" pitchFamily="34" charset="-122"/>
                <a:cs typeface="Segoe UI" pitchFamily="34" charset="-120"/>
              </a:rPr>
              <a:t>SAP systems</a:t>
            </a:r>
            <a:endParaRPr lang="en-US" sz="1300" dirty="0"/>
          </a:p>
        </p:txBody>
      </p:sp>
      <p:sp>
        <p:nvSpPr>
          <p:cNvPr id="9" name="Shape 6"/>
          <p:cNvSpPr/>
          <p:nvPr/>
        </p:nvSpPr>
        <p:spPr>
          <a:xfrm>
            <a:off x="3399968" y="3063240"/>
            <a:ext cx="2558720" cy="1417320"/>
          </a:xfrm>
          <a:prstGeom prst="roundRect">
            <a:avLst>
              <a:gd name="adj" fmla="val 6452"/>
            </a:avLst>
          </a:prstGeom>
          <a:solidFill>
            <a:srgbClr val="141A25"/>
          </a:solidFill>
          <a:ln w="13970">
            <a:solidFill>
              <a:srgbClr val="36414F"/>
            </a:solidFill>
            <a:prstDash val="solid"/>
          </a:ln>
        </p:spPr>
      </p:sp>
      <p:pic>
        <p:nvPicPr>
          <p:cNvPr id="10" name="Image 1" descr="C:/Users/neuma_p1qrsic/Repo/agentic-ops1/.scratch/icons/sheet.png">    </p:cNvPr>
          <p:cNvPicPr>
            <a:picLocks noChangeAspect="1"/>
          </p:cNvPicPr>
          <p:nvPr/>
        </p:nvPicPr>
        <p:blipFill>
          <a:blip r:embed="rId2"/>
          <a:stretch>
            <a:fillRect/>
          </a:stretch>
        </p:blipFill>
        <p:spPr>
          <a:xfrm>
            <a:off x="4405008" y="3319272"/>
            <a:ext cx="548640" cy="548640"/>
          </a:xfrm>
          <a:prstGeom prst="rect">
            <a:avLst/>
          </a:prstGeom>
        </p:spPr>
      </p:pic>
      <p:sp>
        <p:nvSpPr>
          <p:cNvPr id="11" name="Text 7"/>
          <p:cNvSpPr/>
          <p:nvPr/>
        </p:nvSpPr>
        <p:spPr>
          <a:xfrm>
            <a:off x="3473120" y="3931920"/>
            <a:ext cx="2412416" cy="457200"/>
          </a:xfrm>
          <a:prstGeom prst="rect">
            <a:avLst/>
          </a:prstGeom>
          <a:noFill/>
          <a:ln/>
        </p:spPr>
        <p:txBody>
          <a:bodyPr wrap="square" rtlCol="0" anchor="ctr"/>
          <a:lstStyle/>
          <a:p>
            <a:pPr algn="ctr" indent="0" marL="0">
              <a:buNone/>
            </a:pPr>
            <a:r>
              <a:rPr lang="en-US" sz="1300" dirty="0">
                <a:solidFill>
                  <a:srgbClr val="F3F6FB"/>
                </a:solidFill>
                <a:latin typeface="Segoe UI" pitchFamily="34" charset="0"/>
                <a:ea typeface="Segoe UI" pitchFamily="34" charset="-122"/>
                <a:cs typeface="Segoe UI" pitchFamily="34" charset="-120"/>
              </a:rPr>
              <a:t>Spreadsheets &amp; files</a:t>
            </a:r>
            <a:endParaRPr lang="en-US" sz="1300" dirty="0"/>
          </a:p>
        </p:txBody>
      </p:sp>
      <p:sp>
        <p:nvSpPr>
          <p:cNvPr id="12" name="Shape 8"/>
          <p:cNvSpPr/>
          <p:nvPr/>
        </p:nvSpPr>
        <p:spPr>
          <a:xfrm>
            <a:off x="6233008" y="3063240"/>
            <a:ext cx="2558720" cy="1417320"/>
          </a:xfrm>
          <a:prstGeom prst="roundRect">
            <a:avLst>
              <a:gd name="adj" fmla="val 6452"/>
            </a:avLst>
          </a:prstGeom>
          <a:solidFill>
            <a:srgbClr val="141A25"/>
          </a:solidFill>
          <a:ln w="13970">
            <a:solidFill>
              <a:srgbClr val="36414F"/>
            </a:solidFill>
            <a:prstDash val="solid"/>
          </a:ln>
        </p:spPr>
      </p:sp>
      <p:pic>
        <p:nvPicPr>
          <p:cNvPr id="13" name="Image 2" descr="C:/Users/neuma_p1qrsic/Repo/agentic-ops1/.scratch/icons/mail.png">    </p:cNvPr>
          <p:cNvPicPr>
            <a:picLocks noChangeAspect="1"/>
          </p:cNvPicPr>
          <p:nvPr/>
        </p:nvPicPr>
        <p:blipFill>
          <a:blip r:embed="rId3"/>
          <a:stretch>
            <a:fillRect/>
          </a:stretch>
        </p:blipFill>
        <p:spPr>
          <a:xfrm>
            <a:off x="7238047" y="3319272"/>
            <a:ext cx="548640" cy="548640"/>
          </a:xfrm>
          <a:prstGeom prst="rect">
            <a:avLst/>
          </a:prstGeom>
        </p:spPr>
      </p:pic>
      <p:sp>
        <p:nvSpPr>
          <p:cNvPr id="14" name="Text 9"/>
          <p:cNvSpPr/>
          <p:nvPr/>
        </p:nvSpPr>
        <p:spPr>
          <a:xfrm>
            <a:off x="6306160" y="3931920"/>
            <a:ext cx="2412416" cy="457200"/>
          </a:xfrm>
          <a:prstGeom prst="rect">
            <a:avLst/>
          </a:prstGeom>
          <a:noFill/>
          <a:ln/>
        </p:spPr>
        <p:txBody>
          <a:bodyPr wrap="square" rtlCol="0" anchor="ctr"/>
          <a:lstStyle/>
          <a:p>
            <a:pPr algn="ctr" indent="0" marL="0">
              <a:buNone/>
            </a:pPr>
            <a:r>
              <a:rPr lang="en-US" sz="1300" dirty="0">
                <a:solidFill>
                  <a:srgbClr val="F3F6FB"/>
                </a:solidFill>
                <a:latin typeface="Segoe UI" pitchFamily="34" charset="0"/>
                <a:ea typeface="Segoe UI" pitchFamily="34" charset="-122"/>
                <a:cs typeface="Segoe UI" pitchFamily="34" charset="-120"/>
              </a:rPr>
              <a:t>Email</a:t>
            </a:r>
            <a:endParaRPr lang="en-US" sz="1300" dirty="0"/>
          </a:p>
        </p:txBody>
      </p:sp>
      <p:sp>
        <p:nvSpPr>
          <p:cNvPr id="15" name="Shape 10"/>
          <p:cNvSpPr/>
          <p:nvPr/>
        </p:nvSpPr>
        <p:spPr>
          <a:xfrm>
            <a:off x="9066047" y="3063240"/>
            <a:ext cx="2558720" cy="1417320"/>
          </a:xfrm>
          <a:prstGeom prst="roundRect">
            <a:avLst>
              <a:gd name="adj" fmla="val 6452"/>
            </a:avLst>
          </a:prstGeom>
          <a:solidFill>
            <a:srgbClr val="141A25"/>
          </a:solidFill>
          <a:ln w="13970">
            <a:solidFill>
              <a:srgbClr val="36414F"/>
            </a:solidFill>
            <a:prstDash val="solid"/>
          </a:ln>
        </p:spPr>
      </p:sp>
      <p:pic>
        <p:nvPicPr>
          <p:cNvPr id="16" name="Image 3" descr="C:/Users/neuma_p1qrsic/Repo/agentic-ops1/.scratch/icons/globe.png">    </p:cNvPr>
          <p:cNvPicPr>
            <a:picLocks noChangeAspect="1"/>
          </p:cNvPicPr>
          <p:nvPr/>
        </p:nvPicPr>
        <p:blipFill>
          <a:blip r:embed="rId4"/>
          <a:stretch>
            <a:fillRect/>
          </a:stretch>
        </p:blipFill>
        <p:spPr>
          <a:xfrm>
            <a:off x="10071087" y="3319272"/>
            <a:ext cx="548640" cy="548640"/>
          </a:xfrm>
          <a:prstGeom prst="rect">
            <a:avLst/>
          </a:prstGeom>
        </p:spPr>
      </p:pic>
      <p:sp>
        <p:nvSpPr>
          <p:cNvPr id="17" name="Text 11"/>
          <p:cNvSpPr/>
          <p:nvPr/>
        </p:nvSpPr>
        <p:spPr>
          <a:xfrm>
            <a:off x="9139199" y="3931920"/>
            <a:ext cx="2412416" cy="457200"/>
          </a:xfrm>
          <a:prstGeom prst="rect">
            <a:avLst/>
          </a:prstGeom>
          <a:noFill/>
          <a:ln/>
        </p:spPr>
        <p:txBody>
          <a:bodyPr wrap="square" rtlCol="0" anchor="ctr"/>
          <a:lstStyle/>
          <a:p>
            <a:pPr algn="ctr" indent="0" marL="0">
              <a:buNone/>
            </a:pPr>
            <a:r>
              <a:rPr lang="en-US" sz="1300" dirty="0">
                <a:solidFill>
                  <a:srgbClr val="F3F6FB"/>
                </a:solidFill>
                <a:latin typeface="Segoe UI" pitchFamily="34" charset="0"/>
                <a:ea typeface="Segoe UI" pitchFamily="34" charset="-122"/>
                <a:cs typeface="Segoe UI" pitchFamily="34" charset="-120"/>
              </a:rPr>
              <a:t>Web &amp; APIs</a:t>
            </a:r>
            <a:endParaRPr lang="en-US" sz="1300" dirty="0"/>
          </a:p>
        </p:txBody>
      </p:sp>
      <p:sp>
        <p:nvSpPr>
          <p:cNvPr id="18" name="Text 12"/>
          <p:cNvSpPr/>
          <p:nvPr/>
        </p:nvSpPr>
        <p:spPr>
          <a:xfrm>
            <a:off x="566928" y="4709160"/>
            <a:ext cx="11057839" cy="457200"/>
          </a:xfrm>
          <a:prstGeom prst="rect">
            <a:avLst/>
          </a:prstGeom>
          <a:noFill/>
          <a:ln/>
        </p:spPr>
        <p:txBody>
          <a:bodyPr wrap="square" rtlCol="0" anchor="ctr"/>
          <a:lstStyle/>
          <a:p>
            <a:pPr indent="0" marL="0">
              <a:buNone/>
            </a:pPr>
            <a:r>
              <a:rPr lang="en-US" sz="1400" dirty="0">
                <a:solidFill>
                  <a:srgbClr val="AAB6C7"/>
                </a:solidFill>
                <a:latin typeface="Segoe UI" pitchFamily="34" charset="0"/>
                <a:ea typeface="Segoe UI" pitchFamily="34" charset="-122"/>
                <a:cs typeface="Segoe UI" pitchFamily="34" charset="-120"/>
              </a:rPr>
              <a:t>Customer teams build on OnePilot directly today. TreasuryCentral is the same platform with the treasury cockpit on top.</a:t>
            </a:r>
            <a:endParaRPr lang="en-US" sz="1400" dirty="0"/>
          </a:p>
        </p:txBody>
      </p:sp>
      <p:sp>
        <p:nvSpPr>
          <p:cNvPr id="19" name="Text 13"/>
          <p:cNvSpPr/>
          <p:nvPr/>
        </p:nvSpPr>
        <p:spPr>
          <a:xfrm>
            <a:off x="566928" y="5212080"/>
            <a:ext cx="7680960" cy="457200"/>
          </a:xfrm>
          <a:prstGeom prst="rect">
            <a:avLst/>
          </a:prstGeom>
          <a:noFill/>
          <a:ln/>
        </p:spPr>
        <p:txBody>
          <a:bodyPr wrap="square" rtlCol="0" anchor="ctr"/>
          <a:lstStyle/>
          <a:p>
            <a:pPr indent="0" marL="0">
              <a:buNone/>
            </a:pPr>
            <a:r>
              <a:rPr lang="en-US" sz="1500" b="1" dirty="0">
                <a:solidFill>
                  <a:srgbClr val="3BE3E0"/>
                </a:solidFill>
                <a:latin typeface="Segoe UI" pitchFamily="34" charset="0"/>
                <a:ea typeface="Segoe UI" pitchFamily="34" charset="-122"/>
                <a:cs typeface="Segoe UI" pitchFamily="34" charset="-120"/>
              </a:rPr>
              <a:t>Start with one app. The layer comes with it. </a:t>
            </a:r>
            <a:pPr indent="0" marL="0">
              <a:buNone/>
            </a:pPr>
            <a:r>
              <a:rPr lang="en-US" sz="1500" dirty="0">
                <a:solidFill>
                  <a:srgbClr val="AAB6C7"/>
                </a:solidFill>
                <a:latin typeface="Segoe UI" pitchFamily="34" charset="0"/>
                <a:ea typeface="Segoe UI" pitchFamily="34" charset="-122"/>
                <a:cs typeface="Segoe UI" pitchFamily="34" charset="-120"/>
              </a:rPr>
              <a:t>The second and third land on a layer that is already there.</a:t>
            </a:r>
            <a:endParaRPr lang="en-US" sz="1500" dirty="0"/>
          </a:p>
        </p:txBody>
      </p:sp>
      <p:sp>
        <p:nvSpPr>
          <p:cNvPr id="20" name="Text 14"/>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21" name="Text 15"/>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13 / 15</a:t>
            </a:r>
            <a:endParaRPr lang="en-US" sz="900" dirty="0"/>
          </a:p>
        </p:txBody>
      </p:sp>
      <p:sp>
        <p:nvSpPr>
          <p:cNvPr id="22" name="Shape 16"/>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E14"/>
        </a:solidFill>
      </p:bgPr>
    </p:bg>
    <p:spTree>
      <p:nvGrpSpPr>
        <p:cNvPr id="1" name=""/>
        <p:cNvGrpSpPr/>
        <p:nvPr/>
      </p:nvGrpSpPr>
      <p:grpSpPr>
        <a:xfrm>
          <a:off x="0" y="0"/>
          <a:ext cx="0" cy="0"/>
          <a:chOff x="0" y="0"/>
          <a:chExt cx="0" cy="0"/>
        </a:xfrm>
      </p:grpSpPr>
      <p:pic>
        <p:nvPicPr>
          <p:cNvPr id="2" name="Image 0" descr="C:/Users/neuma_p1qrsic/Repo/agentic-ops1/.scratch/logo/favicon.png">    </p:cNvPr>
          <p:cNvPicPr>
            <a:picLocks noChangeAspect="1"/>
          </p:cNvPicPr>
          <p:nvPr/>
        </p:nvPicPr>
        <p:blipFill>
          <a:blip r:embed="rId1"/>
          <a:stretch>
            <a:fillRect/>
          </a:stretch>
        </p:blipFill>
        <p:spPr>
          <a:xfrm>
            <a:off x="11313871" y="502920"/>
            <a:ext cx="310896" cy="310896"/>
          </a:xfrm>
          <a:prstGeom prst="rect">
            <a:avLst/>
          </a:prstGeom>
        </p:spPr>
      </p:pic>
      <p:sp>
        <p:nvSpPr>
          <p:cNvPr id="3" name="Shape 0"/>
          <p:cNvSpPr/>
          <p:nvPr/>
        </p:nvSpPr>
        <p:spPr>
          <a:xfrm>
            <a:off x="566928" y="585216"/>
            <a:ext cx="45720" cy="219456"/>
          </a:xfrm>
          <a:prstGeom prst="rect">
            <a:avLst/>
          </a:prstGeom>
          <a:solidFill>
            <a:srgbClr val="3BE3E0"/>
          </a:solidFill>
          <a:ln w="12700">
            <a:solidFill>
              <a:srgbClr val="333333"/>
            </a:solidFill>
            <a:prstDash val="solid"/>
          </a:ln>
        </p:spPr>
      </p:sp>
      <p:sp>
        <p:nvSpPr>
          <p:cNvPr id="4" name="Text 1"/>
          <p:cNvSpPr/>
          <p:nvPr/>
        </p:nvSpPr>
        <p:spPr>
          <a:xfrm>
            <a:off x="713232" y="512064"/>
            <a:ext cx="9601200" cy="329184"/>
          </a:xfrm>
          <a:prstGeom prst="rect">
            <a:avLst/>
          </a:prstGeom>
          <a:noFill/>
          <a:ln/>
        </p:spPr>
        <p:txBody>
          <a:bodyPr wrap="square" rtlCol="0" anchor="ctr"/>
          <a:lstStyle/>
          <a:p>
            <a:pPr algn="l" indent="0" marL="0">
              <a:buNone/>
            </a:pPr>
            <a:r>
              <a:rPr lang="en-US" sz="1200" b="1" spc="200" kern="0" dirty="0">
                <a:solidFill>
                  <a:srgbClr val="3BE3E0"/>
                </a:solidFill>
                <a:latin typeface="Segoe UI Semibold" pitchFamily="34" charset="0"/>
                <a:ea typeface="Segoe UI Semibold" pitchFamily="34" charset="-122"/>
                <a:cs typeface="Segoe UI Semibold" pitchFamily="34" charset="-120"/>
              </a:rPr>
              <a:t>PARTNERS AND CUSTOMERS</a:t>
            </a:r>
            <a:endParaRPr lang="en-US" sz="1200" dirty="0"/>
          </a:p>
        </p:txBody>
      </p:sp>
      <p:sp>
        <p:nvSpPr>
          <p:cNvPr id="5" name="Text 2"/>
          <p:cNvSpPr/>
          <p:nvPr/>
        </p:nvSpPr>
        <p:spPr>
          <a:xfrm>
            <a:off x="566928" y="960120"/>
            <a:ext cx="10881360" cy="731520"/>
          </a:xfrm>
          <a:prstGeom prst="rect">
            <a:avLst/>
          </a:prstGeom>
          <a:noFill/>
          <a:ln/>
        </p:spPr>
        <p:txBody>
          <a:bodyPr wrap="square" rtlCol="0" anchor="ctr"/>
          <a:lstStyle/>
          <a:p>
            <a:pPr indent="0" marL="0">
              <a:buNone/>
            </a:pPr>
            <a:r>
              <a:rPr lang="en-US" sz="2800" b="1" dirty="0">
                <a:solidFill>
                  <a:srgbClr val="F3F6FB"/>
                </a:solidFill>
                <a:latin typeface="Segoe UI Semibold" pitchFamily="34" charset="0"/>
                <a:ea typeface="Segoe UI Semibold" pitchFamily="34" charset="-122"/>
                <a:cs typeface="Segoe UI Semibold" pitchFamily="34" charset="-120"/>
              </a:rPr>
              <a:t>The data, the platform, and the teams behind it.</a:t>
            </a:r>
            <a:endParaRPr lang="en-US" sz="2800" dirty="0"/>
          </a:p>
        </p:txBody>
      </p:sp>
      <p:sp>
        <p:nvSpPr>
          <p:cNvPr id="6" name="Text 3"/>
          <p:cNvSpPr/>
          <p:nvPr/>
        </p:nvSpPr>
        <p:spPr>
          <a:xfrm>
            <a:off x="566928" y="2148840"/>
            <a:ext cx="3108960" cy="640080"/>
          </a:xfrm>
          <a:prstGeom prst="rect">
            <a:avLst/>
          </a:prstGeom>
          <a:noFill/>
          <a:ln/>
        </p:spPr>
        <p:txBody>
          <a:bodyPr wrap="square" rtlCol="0" anchor="ctr"/>
          <a:lstStyle/>
          <a:p>
            <a:pPr indent="0" marL="0">
              <a:buNone/>
            </a:pPr>
            <a:r>
              <a:rPr lang="en-US" sz="1200" spc="200" kern="0" dirty="0">
                <a:solidFill>
                  <a:srgbClr val="7C8A9B"/>
                </a:solidFill>
                <a:latin typeface="Segoe UI Semibold" pitchFamily="34" charset="0"/>
                <a:ea typeface="Segoe UI Semibold" pitchFamily="34" charset="-122"/>
                <a:cs typeface="Segoe UI Semibold" pitchFamily="34" charset="-120"/>
              </a:rPr>
              <a:t>TECHNOLOGY PARTNER</a:t>
            </a:r>
            <a:endParaRPr lang="en-US" sz="1200" dirty="0"/>
          </a:p>
        </p:txBody>
      </p:sp>
      <p:sp>
        <p:nvSpPr>
          <p:cNvPr id="7" name="Shape 4"/>
          <p:cNvSpPr/>
          <p:nvPr/>
        </p:nvSpPr>
        <p:spPr>
          <a:xfrm>
            <a:off x="3858768" y="2148840"/>
            <a:ext cx="1417320" cy="640080"/>
          </a:xfrm>
          <a:prstGeom prst="roundRect">
            <a:avLst>
              <a:gd name="adj" fmla="val 20000"/>
            </a:avLst>
          </a:prstGeom>
          <a:solidFill>
            <a:srgbClr val="FFFFFF"/>
          </a:solidFill>
          <a:ln w="9525">
            <a:solidFill>
              <a:srgbClr val="36414F"/>
            </a:solidFill>
            <a:prstDash val="solid"/>
          </a:ln>
        </p:spPr>
      </p:sp>
      <p:pic>
        <p:nvPicPr>
          <p:cNvPr id="8" name="Image 1" descr="C:/Users/neuma_p1qrsic/Repo/agentic-ops1/.scratch/deckgen/logos/sap.png">    </p:cNvPr>
          <p:cNvPicPr>
            <a:picLocks noChangeAspect="1"/>
          </p:cNvPicPr>
          <p:nvPr/>
        </p:nvPicPr>
        <p:blipFill>
          <a:blip r:embed="rId2"/>
          <a:stretch>
            <a:fillRect/>
          </a:stretch>
        </p:blipFill>
        <p:spPr>
          <a:xfrm>
            <a:off x="4140977" y="2257654"/>
            <a:ext cx="852902" cy="422453"/>
          </a:xfrm>
          <a:prstGeom prst="rect">
            <a:avLst/>
          </a:prstGeom>
        </p:spPr>
      </p:pic>
      <p:sp>
        <p:nvSpPr>
          <p:cNvPr id="9" name="Text 5"/>
          <p:cNvSpPr/>
          <p:nvPr/>
        </p:nvSpPr>
        <p:spPr>
          <a:xfrm>
            <a:off x="566928" y="3246120"/>
            <a:ext cx="3108960" cy="640080"/>
          </a:xfrm>
          <a:prstGeom prst="rect">
            <a:avLst/>
          </a:prstGeom>
          <a:noFill/>
          <a:ln/>
        </p:spPr>
        <p:txBody>
          <a:bodyPr wrap="square" rtlCol="0" anchor="ctr"/>
          <a:lstStyle/>
          <a:p>
            <a:pPr indent="0" marL="0">
              <a:buNone/>
            </a:pPr>
            <a:r>
              <a:rPr lang="en-US" sz="1200" spc="200" kern="0" dirty="0">
                <a:solidFill>
                  <a:srgbClr val="7C8A9B"/>
                </a:solidFill>
                <a:latin typeface="Segoe UI Semibold" pitchFamily="34" charset="0"/>
                <a:ea typeface="Segoe UI Semibold" pitchFamily="34" charset="-122"/>
                <a:cs typeface="Segoe UI Semibold" pitchFamily="34" charset="-120"/>
              </a:rPr>
              <a:t>TRUSTED BY TEAMS AT</a:t>
            </a:r>
            <a:endParaRPr lang="en-US" sz="1200" dirty="0"/>
          </a:p>
        </p:txBody>
      </p:sp>
      <p:sp>
        <p:nvSpPr>
          <p:cNvPr id="10" name="Shape 6"/>
          <p:cNvSpPr/>
          <p:nvPr/>
        </p:nvSpPr>
        <p:spPr>
          <a:xfrm>
            <a:off x="3858768" y="3246120"/>
            <a:ext cx="1417320" cy="640080"/>
          </a:xfrm>
          <a:prstGeom prst="roundRect">
            <a:avLst>
              <a:gd name="adj" fmla="val 20000"/>
            </a:avLst>
          </a:prstGeom>
          <a:solidFill>
            <a:srgbClr val="FFFFFF"/>
          </a:solidFill>
          <a:ln w="9525">
            <a:solidFill>
              <a:srgbClr val="36414F"/>
            </a:solidFill>
            <a:prstDash val="solid"/>
          </a:ln>
        </p:spPr>
      </p:sp>
      <p:pic>
        <p:nvPicPr>
          <p:cNvPr id="11" name="Image 2" descr="C:/Users/neuma_p1qrsic/Repo/agentic-ops1/.scratch/deckgen/logos/nestle.png">    </p:cNvPr>
          <p:cNvPicPr>
            <a:picLocks noChangeAspect="1"/>
          </p:cNvPicPr>
          <p:nvPr/>
        </p:nvPicPr>
        <p:blipFill>
          <a:blip r:embed="rId3"/>
          <a:stretch>
            <a:fillRect/>
          </a:stretch>
        </p:blipFill>
        <p:spPr>
          <a:xfrm>
            <a:off x="3986327" y="3406357"/>
            <a:ext cx="1162202" cy="319606"/>
          </a:xfrm>
          <a:prstGeom prst="rect">
            <a:avLst/>
          </a:prstGeom>
        </p:spPr>
      </p:pic>
      <p:sp>
        <p:nvSpPr>
          <p:cNvPr id="12" name="Shape 7"/>
          <p:cNvSpPr/>
          <p:nvPr/>
        </p:nvSpPr>
        <p:spPr>
          <a:xfrm>
            <a:off x="5413248" y="3246120"/>
            <a:ext cx="1417320" cy="640080"/>
          </a:xfrm>
          <a:prstGeom prst="roundRect">
            <a:avLst>
              <a:gd name="adj" fmla="val 20000"/>
            </a:avLst>
          </a:prstGeom>
          <a:solidFill>
            <a:srgbClr val="FFFFFF"/>
          </a:solidFill>
          <a:ln w="9525">
            <a:solidFill>
              <a:srgbClr val="36414F"/>
            </a:solidFill>
            <a:prstDash val="solid"/>
          </a:ln>
        </p:spPr>
      </p:sp>
      <p:pic>
        <p:nvPicPr>
          <p:cNvPr id="13" name="Image 3" descr="C:/Users/neuma_p1qrsic/Repo/agentic-ops1/.scratch/deckgen/logos/ford.png">    </p:cNvPr>
          <p:cNvPicPr>
            <a:picLocks noChangeAspect="1"/>
          </p:cNvPicPr>
          <p:nvPr/>
        </p:nvPicPr>
        <p:blipFill>
          <a:blip r:embed="rId4"/>
          <a:stretch>
            <a:fillRect/>
          </a:stretch>
        </p:blipFill>
        <p:spPr>
          <a:xfrm>
            <a:off x="5540807" y="3356873"/>
            <a:ext cx="1162202" cy="418574"/>
          </a:xfrm>
          <a:prstGeom prst="rect">
            <a:avLst/>
          </a:prstGeom>
        </p:spPr>
      </p:pic>
      <p:sp>
        <p:nvSpPr>
          <p:cNvPr id="14" name="Shape 8"/>
          <p:cNvSpPr/>
          <p:nvPr/>
        </p:nvSpPr>
        <p:spPr>
          <a:xfrm>
            <a:off x="6967728" y="3246120"/>
            <a:ext cx="1417320" cy="640080"/>
          </a:xfrm>
          <a:prstGeom prst="roundRect">
            <a:avLst>
              <a:gd name="adj" fmla="val 20000"/>
            </a:avLst>
          </a:prstGeom>
          <a:solidFill>
            <a:srgbClr val="FFFFFF"/>
          </a:solidFill>
          <a:ln w="9525">
            <a:solidFill>
              <a:srgbClr val="36414F"/>
            </a:solidFill>
            <a:prstDash val="solid"/>
          </a:ln>
        </p:spPr>
      </p:sp>
      <p:pic>
        <p:nvPicPr>
          <p:cNvPr id="15" name="Image 4" descr="C:/Users/neuma_p1qrsic/Repo/agentic-ops1/.scratch/deckgen/logos/siemens.png">    </p:cNvPr>
          <p:cNvPicPr>
            <a:picLocks noChangeAspect="1"/>
          </p:cNvPicPr>
          <p:nvPr/>
        </p:nvPicPr>
        <p:blipFill>
          <a:blip r:embed="rId5"/>
          <a:stretch>
            <a:fillRect/>
          </a:stretch>
        </p:blipFill>
        <p:spPr>
          <a:xfrm>
            <a:off x="7095287" y="3427694"/>
            <a:ext cx="1162202" cy="276931"/>
          </a:xfrm>
          <a:prstGeom prst="rect">
            <a:avLst/>
          </a:prstGeom>
        </p:spPr>
      </p:pic>
      <p:sp>
        <p:nvSpPr>
          <p:cNvPr id="16" name="Shape 9"/>
          <p:cNvSpPr/>
          <p:nvPr/>
        </p:nvSpPr>
        <p:spPr>
          <a:xfrm>
            <a:off x="8522208" y="3246120"/>
            <a:ext cx="1417320" cy="640080"/>
          </a:xfrm>
          <a:prstGeom prst="roundRect">
            <a:avLst>
              <a:gd name="adj" fmla="val 20000"/>
            </a:avLst>
          </a:prstGeom>
          <a:solidFill>
            <a:srgbClr val="FFFFFF"/>
          </a:solidFill>
          <a:ln w="9525">
            <a:solidFill>
              <a:srgbClr val="36414F"/>
            </a:solidFill>
            <a:prstDash val="solid"/>
          </a:ln>
        </p:spPr>
      </p:sp>
      <p:pic>
        <p:nvPicPr>
          <p:cNvPr id="17" name="Image 5" descr="C:/Users/neuma_p1qrsic/Repo/agentic-ops1/.scratch/deckgen/logos/yeti.png">    </p:cNvPr>
          <p:cNvPicPr>
            <a:picLocks noChangeAspect="1"/>
          </p:cNvPicPr>
          <p:nvPr/>
        </p:nvPicPr>
        <p:blipFill>
          <a:blip r:embed="rId6"/>
          <a:stretch>
            <a:fillRect/>
          </a:stretch>
        </p:blipFill>
        <p:spPr>
          <a:xfrm>
            <a:off x="8649767" y="3406811"/>
            <a:ext cx="1162202" cy="318698"/>
          </a:xfrm>
          <a:prstGeom prst="rect">
            <a:avLst/>
          </a:prstGeom>
        </p:spPr>
      </p:pic>
      <p:sp>
        <p:nvSpPr>
          <p:cNvPr id="18" name="Shape 10"/>
          <p:cNvSpPr/>
          <p:nvPr/>
        </p:nvSpPr>
        <p:spPr>
          <a:xfrm>
            <a:off x="10076688" y="3246120"/>
            <a:ext cx="1417320" cy="640080"/>
          </a:xfrm>
          <a:prstGeom prst="roundRect">
            <a:avLst>
              <a:gd name="adj" fmla="val 20000"/>
            </a:avLst>
          </a:prstGeom>
          <a:solidFill>
            <a:srgbClr val="FFFFFF"/>
          </a:solidFill>
          <a:ln w="9525">
            <a:solidFill>
              <a:srgbClr val="36414F"/>
            </a:solidFill>
            <a:prstDash val="solid"/>
          </a:ln>
        </p:spPr>
      </p:sp>
      <p:pic>
        <p:nvPicPr>
          <p:cNvPr id="19" name="Image 6" descr="C:/Users/neuma_p1qrsic/Repo/agentic-ops1/.scratch/deckgen/logos/bat.png">    </p:cNvPr>
          <p:cNvPicPr>
            <a:picLocks noChangeAspect="1"/>
          </p:cNvPicPr>
          <p:nvPr/>
        </p:nvPicPr>
        <p:blipFill>
          <a:blip r:embed="rId7"/>
          <a:stretch>
            <a:fillRect/>
          </a:stretch>
        </p:blipFill>
        <p:spPr>
          <a:xfrm>
            <a:off x="10289257" y="3354934"/>
            <a:ext cx="992183" cy="422453"/>
          </a:xfrm>
          <a:prstGeom prst="rect">
            <a:avLst/>
          </a:prstGeom>
        </p:spPr>
      </p:pic>
      <p:sp>
        <p:nvSpPr>
          <p:cNvPr id="20" name="Text 11"/>
          <p:cNvSpPr/>
          <p:nvPr/>
        </p:nvSpPr>
        <p:spPr>
          <a:xfrm>
            <a:off x="566928" y="4343400"/>
            <a:ext cx="3108960" cy="640080"/>
          </a:xfrm>
          <a:prstGeom prst="rect">
            <a:avLst/>
          </a:prstGeom>
          <a:noFill/>
          <a:ln/>
        </p:spPr>
        <p:txBody>
          <a:bodyPr wrap="square" rtlCol="0" anchor="ctr"/>
          <a:lstStyle/>
          <a:p>
            <a:pPr indent="0" marL="0">
              <a:buNone/>
            </a:pPr>
            <a:r>
              <a:rPr lang="en-US" sz="1200" spc="200" kern="0" dirty="0">
                <a:solidFill>
                  <a:srgbClr val="7C8A9B"/>
                </a:solidFill>
                <a:latin typeface="Segoe UI Semibold" pitchFamily="34" charset="0"/>
                <a:ea typeface="Segoe UI Semibold" pitchFamily="34" charset="-122"/>
                <a:cs typeface="Segoe UI Semibold" pitchFamily="34" charset="-120"/>
              </a:rPr>
              <a:t>MARKET DATA PROVIDERS</a:t>
            </a:r>
            <a:endParaRPr lang="en-US" sz="1200" dirty="0"/>
          </a:p>
        </p:txBody>
      </p:sp>
      <p:sp>
        <p:nvSpPr>
          <p:cNvPr id="21" name="Shape 12"/>
          <p:cNvSpPr/>
          <p:nvPr/>
        </p:nvSpPr>
        <p:spPr>
          <a:xfrm>
            <a:off x="3858768" y="4343400"/>
            <a:ext cx="1417320" cy="640080"/>
          </a:xfrm>
          <a:prstGeom prst="roundRect">
            <a:avLst>
              <a:gd name="adj" fmla="val 20000"/>
            </a:avLst>
          </a:prstGeom>
          <a:solidFill>
            <a:srgbClr val="FFFFFF"/>
          </a:solidFill>
          <a:ln w="9525">
            <a:solidFill>
              <a:srgbClr val="36414F"/>
            </a:solidFill>
            <a:prstDash val="solid"/>
          </a:ln>
        </p:spPr>
      </p:sp>
      <p:pic>
        <p:nvPicPr>
          <p:cNvPr id="22" name="Image 7" descr="C:/Users/neuma_p1qrsic/Repo/agentic-ops1/.scratch/deckgen/logos/bloomberg.png">    </p:cNvPr>
          <p:cNvPicPr>
            <a:picLocks noChangeAspect="1"/>
          </p:cNvPicPr>
          <p:nvPr/>
        </p:nvPicPr>
        <p:blipFill>
          <a:blip r:embed="rId8"/>
          <a:stretch>
            <a:fillRect/>
          </a:stretch>
        </p:blipFill>
        <p:spPr>
          <a:xfrm>
            <a:off x="3986327" y="4546312"/>
            <a:ext cx="1162202" cy="234256"/>
          </a:xfrm>
          <a:prstGeom prst="rect">
            <a:avLst/>
          </a:prstGeom>
        </p:spPr>
      </p:pic>
      <p:sp>
        <p:nvSpPr>
          <p:cNvPr id="23" name="Shape 13"/>
          <p:cNvSpPr/>
          <p:nvPr/>
        </p:nvSpPr>
        <p:spPr>
          <a:xfrm>
            <a:off x="5413248" y="4343400"/>
            <a:ext cx="1417320" cy="640080"/>
          </a:xfrm>
          <a:prstGeom prst="roundRect">
            <a:avLst>
              <a:gd name="adj" fmla="val 20000"/>
            </a:avLst>
          </a:prstGeom>
          <a:solidFill>
            <a:srgbClr val="FFFFFF"/>
          </a:solidFill>
          <a:ln w="9525">
            <a:solidFill>
              <a:srgbClr val="36414F"/>
            </a:solidFill>
            <a:prstDash val="solid"/>
          </a:ln>
        </p:spPr>
      </p:sp>
      <p:pic>
        <p:nvPicPr>
          <p:cNvPr id="24" name="Image 8" descr="C:/Users/neuma_p1qrsic/Repo/agentic-ops1/.scratch/deckgen/logos/lseg.png">    </p:cNvPr>
          <p:cNvPicPr>
            <a:picLocks noChangeAspect="1"/>
          </p:cNvPicPr>
          <p:nvPr/>
        </p:nvPicPr>
        <p:blipFill>
          <a:blip r:embed="rId9"/>
          <a:stretch>
            <a:fillRect/>
          </a:stretch>
        </p:blipFill>
        <p:spPr>
          <a:xfrm>
            <a:off x="5540807" y="4510640"/>
            <a:ext cx="1162202" cy="305599"/>
          </a:xfrm>
          <a:prstGeom prst="rect">
            <a:avLst/>
          </a:prstGeom>
        </p:spPr>
      </p:pic>
      <p:sp>
        <p:nvSpPr>
          <p:cNvPr id="25" name="Shape 14"/>
          <p:cNvSpPr/>
          <p:nvPr/>
        </p:nvSpPr>
        <p:spPr>
          <a:xfrm>
            <a:off x="6967728" y="4343400"/>
            <a:ext cx="1417320" cy="640080"/>
          </a:xfrm>
          <a:prstGeom prst="roundRect">
            <a:avLst>
              <a:gd name="adj" fmla="val 20000"/>
            </a:avLst>
          </a:prstGeom>
          <a:solidFill>
            <a:srgbClr val="FFFFFF"/>
          </a:solidFill>
          <a:ln w="9525">
            <a:solidFill>
              <a:srgbClr val="36414F"/>
            </a:solidFill>
            <a:prstDash val="solid"/>
          </a:ln>
        </p:spPr>
      </p:sp>
      <p:pic>
        <p:nvPicPr>
          <p:cNvPr id="26" name="Image 9" descr="C:/Users/neuma_p1qrsic/Repo/agentic-ops1/.scratch/deckgen/logos/ice.png">    </p:cNvPr>
          <p:cNvPicPr>
            <a:picLocks noChangeAspect="1"/>
          </p:cNvPicPr>
          <p:nvPr/>
        </p:nvPicPr>
        <p:blipFill>
          <a:blip r:embed="rId10"/>
          <a:stretch>
            <a:fillRect/>
          </a:stretch>
        </p:blipFill>
        <p:spPr>
          <a:xfrm>
            <a:off x="7465162" y="4452214"/>
            <a:ext cx="422453" cy="422453"/>
          </a:xfrm>
          <a:prstGeom prst="rect">
            <a:avLst/>
          </a:prstGeom>
        </p:spPr>
      </p:pic>
      <p:sp>
        <p:nvSpPr>
          <p:cNvPr id="27" name="Shape 15"/>
          <p:cNvSpPr/>
          <p:nvPr/>
        </p:nvSpPr>
        <p:spPr>
          <a:xfrm>
            <a:off x="8522208" y="4343400"/>
            <a:ext cx="1417320" cy="640080"/>
          </a:xfrm>
          <a:prstGeom prst="roundRect">
            <a:avLst>
              <a:gd name="adj" fmla="val 20000"/>
            </a:avLst>
          </a:prstGeom>
          <a:solidFill>
            <a:srgbClr val="FFFFFF"/>
          </a:solidFill>
          <a:ln w="9525">
            <a:solidFill>
              <a:srgbClr val="36414F"/>
            </a:solidFill>
            <a:prstDash val="solid"/>
          </a:ln>
        </p:spPr>
      </p:sp>
      <p:pic>
        <p:nvPicPr>
          <p:cNvPr id="28" name="Image 10" descr="C:/Users/neuma_p1qrsic/Repo/agentic-ops1/.scratch/deckgen/logos/cme.png">    </p:cNvPr>
          <p:cNvPicPr>
            <a:picLocks noChangeAspect="1"/>
          </p:cNvPicPr>
          <p:nvPr/>
        </p:nvPicPr>
        <p:blipFill>
          <a:blip r:embed="rId11"/>
          <a:stretch>
            <a:fillRect/>
          </a:stretch>
        </p:blipFill>
        <p:spPr>
          <a:xfrm>
            <a:off x="8649767" y="4574005"/>
            <a:ext cx="1162202" cy="178870"/>
          </a:xfrm>
          <a:prstGeom prst="rect">
            <a:avLst/>
          </a:prstGeom>
        </p:spPr>
      </p:pic>
      <p:sp>
        <p:nvSpPr>
          <p:cNvPr id="29" name="Text 16"/>
          <p:cNvSpPr/>
          <p:nvPr/>
        </p:nvSpPr>
        <p:spPr>
          <a:xfrm>
            <a:off x="566928" y="5349240"/>
            <a:ext cx="11057839" cy="457200"/>
          </a:xfrm>
          <a:prstGeom prst="rect">
            <a:avLst/>
          </a:prstGeom>
          <a:noFill/>
          <a:ln/>
        </p:spPr>
        <p:txBody>
          <a:bodyPr wrap="square" rtlCol="0" anchor="ctr"/>
          <a:lstStyle/>
          <a:p>
            <a:pPr indent="0" marL="0">
              <a:buNone/>
            </a:pPr>
            <a:r>
              <a:rPr lang="en-US" sz="1350" dirty="0">
                <a:solidFill>
                  <a:srgbClr val="AAB6C7"/>
                </a:solidFill>
                <a:latin typeface="Segoe UI" pitchFamily="34" charset="0"/>
                <a:ea typeface="Segoe UI" pitchFamily="34" charset="-122"/>
                <a:cs typeface="Segoe UI" pitchFamily="34" charset="-120"/>
              </a:rPr>
              <a:t>An SAP co-innovation partner. The cockpit runs on SAP's own cloud, so it sits inside your landscape.</a:t>
            </a:r>
            <a:endParaRPr lang="en-US" sz="1350" dirty="0"/>
          </a:p>
        </p:txBody>
      </p:sp>
      <p:sp>
        <p:nvSpPr>
          <p:cNvPr id="30" name="Text 17"/>
          <p:cNvSpPr/>
          <p:nvPr/>
        </p:nvSpPr>
        <p:spPr>
          <a:xfrm>
            <a:off x="566928" y="6400800"/>
            <a:ext cx="8229600" cy="274320"/>
          </a:xfrm>
          <a:prstGeom prst="rect">
            <a:avLst/>
          </a:prstGeom>
          <a:noFill/>
          <a:ln/>
        </p:spPr>
        <p:txBody>
          <a:bodyPr wrap="square" rtlCol="0" anchor="ctr"/>
          <a:lstStyle/>
          <a:p>
            <a:pPr algn="l" indent="0" marL="0">
              <a:buNone/>
            </a:pPr>
            <a:r>
              <a:rPr lang="en-US" sz="900" b="1" dirty="0">
                <a:solidFill>
                  <a:srgbClr val="AAB6C7"/>
                </a:solidFill>
                <a:latin typeface="Segoe UI" pitchFamily="34" charset="0"/>
                <a:ea typeface="Segoe UI" pitchFamily="34" charset="-122"/>
                <a:cs typeface="Segoe UI" pitchFamily="34" charset="-120"/>
              </a:rPr>
              <a:t>Brisken</a:t>
            </a:r>
            <a:pPr algn="l" indent="0" marL="0">
              <a:buNone/>
            </a:pPr>
            <a:r>
              <a:rPr lang="en-US" sz="900" dirty="0">
                <a:solidFill>
                  <a:srgbClr val="7C8A9B"/>
                </a:solidFill>
                <a:latin typeface="Segoe UI" pitchFamily="34" charset="0"/>
                <a:ea typeface="Segoe UI" pitchFamily="34" charset="-122"/>
                <a:cs typeface="Segoe UI" pitchFamily="34" charset="-120"/>
              </a:rPr>
              <a:t>   TreasuryCentral, powered by OnePilot</a:t>
            </a:r>
            <a:endParaRPr lang="en-US" sz="900" dirty="0"/>
          </a:p>
        </p:txBody>
      </p:sp>
      <p:sp>
        <p:nvSpPr>
          <p:cNvPr id="31" name="Text 18"/>
          <p:cNvSpPr/>
          <p:nvPr/>
        </p:nvSpPr>
        <p:spPr>
          <a:xfrm>
            <a:off x="10527487" y="6400800"/>
            <a:ext cx="1097280" cy="274320"/>
          </a:xfrm>
          <a:prstGeom prst="rect">
            <a:avLst/>
          </a:prstGeom>
          <a:noFill/>
          <a:ln/>
        </p:spPr>
        <p:txBody>
          <a:bodyPr wrap="square" rtlCol="0" anchor="ctr"/>
          <a:lstStyle/>
          <a:p>
            <a:pPr algn="r" indent="0" marL="0">
              <a:buNone/>
            </a:pPr>
            <a:r>
              <a:rPr lang="en-US" sz="900" dirty="0">
                <a:solidFill>
                  <a:srgbClr val="AAB6C7"/>
                </a:solidFill>
                <a:latin typeface="Segoe UI" pitchFamily="34" charset="0"/>
                <a:ea typeface="Segoe UI" pitchFamily="34" charset="-122"/>
                <a:cs typeface="Segoe UI" pitchFamily="34" charset="-120"/>
              </a:rPr>
              <a:t>14 / 15</a:t>
            </a:r>
            <a:endParaRPr lang="en-US" sz="900" dirty="0"/>
          </a:p>
        </p:txBody>
      </p:sp>
      <p:sp>
        <p:nvSpPr>
          <p:cNvPr id="32" name="Shape 19"/>
          <p:cNvSpPr/>
          <p:nvPr/>
        </p:nvSpPr>
        <p:spPr>
          <a:xfrm>
            <a:off x="566928" y="6327648"/>
            <a:ext cx="11057839" cy="0"/>
          </a:xfrm>
          <a:prstGeom prst="line">
            <a:avLst/>
          </a:prstGeom>
          <a:noFill/>
          <a:ln w="9525">
            <a:solidFill>
              <a:srgbClr val="36414F"/>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3072384" y="1280160"/>
            <a:ext cx="6035040" cy="6035040"/>
          </a:xfrm>
          <a:prstGeom prst="ellipse">
            <a:avLst/>
          </a:prstGeom>
          <a:solidFill>
            <a:srgbClr val="3BE3E0">
              <a:alpha val="7000"/>
            </a:srgbClr>
          </a:solidFill>
          <a:ln w="12700">
            <a:solidFill>
              <a:srgbClr val="333333"/>
            </a:solidFill>
            <a:prstDash val="solid"/>
          </a:ln>
        </p:spPr>
      </p:sp>
      <p:sp>
        <p:nvSpPr>
          <p:cNvPr id="3" name="Shape 1"/>
          <p:cNvSpPr/>
          <p:nvPr/>
        </p:nvSpPr>
        <p:spPr>
          <a:xfrm>
            <a:off x="4443984" y="2651760"/>
            <a:ext cx="3291840" cy="3291840"/>
          </a:xfrm>
          <a:prstGeom prst="ellipse">
            <a:avLst/>
          </a:prstGeom>
          <a:solidFill>
            <a:srgbClr val="3BE3E0">
              <a:alpha val="12000"/>
            </a:srgbClr>
          </a:solidFill>
          <a:ln w="12700">
            <a:solidFill>
              <a:srgbClr val="333333"/>
            </a:solidFill>
            <a:prstDash val="solid"/>
          </a:ln>
        </p:spPr>
      </p:sp>
      <p:pic>
        <p:nvPicPr>
          <p:cNvPr id="4" name="Image 0" descr="C:/Users/neuma_p1qrsic/Repo/agentic-ops1/.scratch/brisken-logo-light.png">    </p:cNvPr>
          <p:cNvPicPr>
            <a:picLocks noChangeAspect="1"/>
          </p:cNvPicPr>
          <p:nvPr/>
        </p:nvPicPr>
        <p:blipFill>
          <a:blip r:embed="rId1"/>
          <a:stretch>
            <a:fillRect/>
          </a:stretch>
        </p:blipFill>
        <p:spPr>
          <a:xfrm>
            <a:off x="5312664" y="1280160"/>
            <a:ext cx="1554480" cy="338328"/>
          </a:xfrm>
          <a:prstGeom prst="rect">
            <a:avLst/>
          </a:prstGeom>
        </p:spPr>
      </p:pic>
      <p:sp>
        <p:nvSpPr>
          <p:cNvPr id="5" name="Text 2"/>
          <p:cNvSpPr/>
          <p:nvPr/>
        </p:nvSpPr>
        <p:spPr>
          <a:xfrm>
            <a:off x="914400" y="2331720"/>
            <a:ext cx="10360152" cy="1005840"/>
          </a:xfrm>
          <a:prstGeom prst="rect">
            <a:avLst/>
          </a:prstGeom>
          <a:noFill/>
          <a:ln/>
        </p:spPr>
        <p:txBody>
          <a:bodyPr wrap="square" rtlCol="0" anchor="ctr"/>
          <a:lstStyle/>
          <a:p>
            <a:pPr algn="ctr" indent="0" marL="0">
              <a:buNone/>
            </a:pPr>
            <a:r>
              <a:rPr lang="en-US" sz="5200" b="1" dirty="0">
                <a:solidFill>
                  <a:srgbClr val="F3F6FB"/>
                </a:solidFill>
                <a:latin typeface="Segoe UI Semibold" pitchFamily="34" charset="0"/>
                <a:ea typeface="Segoe UI Semibold" pitchFamily="34" charset="-122"/>
                <a:cs typeface="Segoe UI Semibold" pitchFamily="34" charset="-120"/>
              </a:rPr>
              <a:t>Built to stay done.</a:t>
            </a:r>
            <a:endParaRPr lang="en-US" sz="5200" dirty="0"/>
          </a:p>
        </p:txBody>
      </p:sp>
      <p:sp>
        <p:nvSpPr>
          <p:cNvPr id="6" name="Text 3"/>
          <p:cNvSpPr/>
          <p:nvPr/>
        </p:nvSpPr>
        <p:spPr>
          <a:xfrm>
            <a:off x="1645920" y="3429000"/>
            <a:ext cx="8897112" cy="548640"/>
          </a:xfrm>
          <a:prstGeom prst="rect">
            <a:avLst/>
          </a:prstGeom>
          <a:noFill/>
          <a:ln/>
        </p:spPr>
        <p:txBody>
          <a:bodyPr wrap="square" rtlCol="0" anchor="ctr"/>
          <a:lstStyle/>
          <a:p>
            <a:pPr algn="ctr" indent="0" marL="0">
              <a:lnSpc>
                <a:spcPct val="125000"/>
              </a:lnSpc>
              <a:buNone/>
            </a:pPr>
            <a:r>
              <a:rPr lang="en-US" sz="1700" dirty="0">
                <a:solidFill>
                  <a:srgbClr val="C4CEDA"/>
                </a:solidFill>
                <a:latin typeface="Segoe UI" pitchFamily="34" charset="0"/>
                <a:ea typeface="Segoe UI" pitchFamily="34" charset="-122"/>
                <a:cs typeface="Segoe UI" pitchFamily="34" charset="-120"/>
              </a:rPr>
              <a:t>Thirty minutes: we walk your team through the cockpit, live on a real system.</a:t>
            </a:r>
            <a:endParaRPr lang="en-US" sz="1700" dirty="0"/>
          </a:p>
        </p:txBody>
      </p:sp>
      <p:sp>
        <p:nvSpPr>
          <p:cNvPr id="7" name="Text 4"/>
          <p:cNvSpPr/>
          <p:nvPr/>
        </p:nvSpPr>
        <p:spPr>
          <a:xfrm>
            <a:off x="1645920" y="4023360"/>
            <a:ext cx="8897112" cy="457200"/>
          </a:xfrm>
          <a:prstGeom prst="rect">
            <a:avLst/>
          </a:prstGeom>
          <a:noFill/>
          <a:ln/>
        </p:spPr>
        <p:txBody>
          <a:bodyPr wrap="square" rtlCol="0" anchor="ctr"/>
          <a:lstStyle/>
          <a:p>
            <a:pPr algn="ctr" indent="0" marL="0">
              <a:buNone/>
            </a:pPr>
            <a:r>
              <a:rPr lang="en-US" sz="1250" dirty="0">
                <a:solidFill>
                  <a:srgbClr val="7C8A9B"/>
                </a:solidFill>
                <a:latin typeface="Segoe UI" pitchFamily="34" charset="0"/>
                <a:ea typeface="Segoe UI" pitchFamily="34" charset="-122"/>
                <a:cs typeface="Segoe UI" pitchFamily="34" charset="-120"/>
              </a:rPr>
              <a:t>Deep-dive decks available for Market Data Hub, Smart Trading and Digital Co-Worker.</a:t>
            </a:r>
            <a:endParaRPr lang="en-US" sz="1250" dirty="0"/>
          </a:p>
        </p:txBody>
      </p:sp>
      <p:sp>
        <p:nvSpPr>
          <p:cNvPr id="8" name="Shape 5"/>
          <p:cNvSpPr/>
          <p:nvPr/>
        </p:nvSpPr>
        <p:spPr>
          <a:xfrm>
            <a:off x="3575304" y="4754880"/>
            <a:ext cx="5029200" cy="658368"/>
          </a:xfrm>
          <a:prstGeom prst="roundRect">
            <a:avLst>
              <a:gd name="adj" fmla="val 50000"/>
            </a:avLst>
          </a:prstGeom>
          <a:solidFill>
            <a:srgbClr val="3BE3E0"/>
          </a:solidFill>
          <a:ln w="12700">
            <a:solidFill>
              <a:srgbClr val="333333"/>
            </a:solidFill>
            <a:prstDash val="solid"/>
          </a:ln>
        </p:spPr>
      </p:sp>
      <p:sp>
        <p:nvSpPr>
          <p:cNvPr id="9" name="Text 6"/>
          <p:cNvSpPr/>
          <p:nvPr/>
        </p:nvSpPr>
        <p:spPr>
          <a:xfrm>
            <a:off x="3575304" y="4754880"/>
            <a:ext cx="5029200" cy="658368"/>
          </a:xfrm>
          <a:prstGeom prst="rect">
            <a:avLst/>
          </a:prstGeom>
          <a:noFill/>
          <a:ln/>
        </p:spPr>
        <p:txBody>
          <a:bodyPr wrap="square" rtlCol="0" anchor="ctr"/>
          <a:lstStyle/>
          <a:p>
            <a:pPr algn="ctr" indent="0" marL="0">
              <a:buNone/>
            </a:pPr>
            <a:r>
              <a:rPr lang="en-US" sz="1500" b="1" dirty="0">
                <a:solidFill>
                  <a:srgbClr val="07222A"/>
                </a:solidFill>
                <a:latin typeface="Segoe UI" pitchFamily="34" charset="0"/>
                <a:ea typeface="Segoe UI" pitchFamily="34" charset="-122"/>
                <a:cs typeface="Segoe UI" pitchFamily="34" charset="-120"/>
              </a:rPr>
              <a:t>Dirk Neumann   ·   dirk.neumann@brisken.com</a:t>
            </a:r>
            <a:endParaRPr lang="en-US" sz="1500" dirty="0"/>
          </a:p>
        </p:txBody>
      </p:sp>
      <p:sp>
        <p:nvSpPr>
          <p:cNvPr id="10" name="Text 7"/>
          <p:cNvSpPr/>
          <p:nvPr/>
        </p:nvSpPr>
        <p:spPr>
          <a:xfrm>
            <a:off x="914400" y="5623560"/>
            <a:ext cx="10360152" cy="365760"/>
          </a:xfrm>
          <a:prstGeom prst="rect">
            <a:avLst/>
          </a:prstGeom>
          <a:noFill/>
          <a:ln/>
        </p:spPr>
        <p:txBody>
          <a:bodyPr wrap="square" rtlCol="0" anchor="ctr"/>
          <a:lstStyle/>
          <a:p>
            <a:pPr algn="ctr" indent="0" marL="0">
              <a:buNone/>
            </a:pPr>
            <a:r>
              <a:rPr lang="en-US" sz="1150" dirty="0">
                <a:solidFill>
                  <a:srgbClr val="AAB6C7"/>
                </a:solidFill>
                <a:latin typeface="Segoe UI" pitchFamily="34" charset="0"/>
                <a:ea typeface="Segoe UI" pitchFamily="34" charset="-122"/>
                <a:cs typeface="Segoe UI" pitchFamily="34" charset="-120"/>
              </a:rPr>
              <a:t>brisken.com   ·   Houston, TX</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36004C6954FC41BFA5A9934AAC0872" ma:contentTypeVersion="24" ma:contentTypeDescription="Create a new document." ma:contentTypeScope="" ma:versionID="1cf73f14b085dc989d6ca704a5f7b696">
  <xsd:schema xmlns:xsd="http://www.w3.org/2001/XMLSchema" xmlns:xs="http://www.w3.org/2001/XMLSchema" xmlns:p="http://schemas.microsoft.com/office/2006/metadata/properties" xmlns:ns1="http://schemas.microsoft.com/sharepoint/v3" xmlns:ns2="f7c12939-211d-4aac-95d7-b8d38b675650" xmlns:ns3="e9089a15-9498-4149-a6f3-b4bc8e4d21ac" targetNamespace="http://schemas.microsoft.com/office/2006/metadata/properties" ma:root="true" ma:fieldsID="d257115e6736aa2126af141fdcd75720" ns1:_="" ns2:_="" ns3:_="">
    <xsd:import namespace="http://schemas.microsoft.com/sharepoint/v3"/>
    <xsd:import namespace="f7c12939-211d-4aac-95d7-b8d38b675650"/>
    <xsd:import namespace="e9089a15-9498-4149-a6f3-b4bc8e4d21a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element ref="ns2:MediaServiceLocation" minOccurs="0"/>
                <xsd:element ref="ns3:TaxCatchAll" minOccurs="0"/>
                <xsd:element ref="ns2:lcf76f155ced4ddcb4097134ff3c332f" minOccurs="0"/>
                <xsd:element ref="ns1:_ip_UnifiedCompliancePolicyProperties" minOccurs="0"/>
                <xsd:element ref="ns1:_ip_UnifiedCompliancePolicyUIAc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7c12939-211d-4aac-95d7-b8d38b6756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hidden="true" ma:internalName="MediaServiceKeyPoints" ma:readOnly="true">
      <xsd:simpleType>
        <xsd:restriction base="dms:Note"/>
      </xsd:simpleType>
    </xsd:element>
    <xsd:element name="MediaServiceAutoTags" ma:index="12" nillable="true" ma:displayName="Tags" ma:hidden="true" ma:internalName="MediaServiceAutoTags" ma:readOnly="true">
      <xsd:simpleType>
        <xsd:restriction base="dms:Text"/>
      </xsd:simpleType>
    </xsd:element>
    <xsd:element name="MediaServiceOCR" ma:index="13" nillable="true" ma:displayName="Extracted Text" ma:hidden="true" ma:internalName="MediaServiceOCR"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9" nillable="true" ma:displayName="Length (seconds)" ma:hidden="true" ma:internalName="MediaLengthInSeconds" ma:readOnly="true">
      <xsd:simpleType>
        <xsd:restriction base="dms:Unknown"/>
      </xsd:simpleType>
    </xsd:element>
    <xsd:element name="MediaServiceLocation" ma:index="20" nillable="true" ma:displayName="Location" ma:hidden="true"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0fd6ee07-b435-4fc4-a9c7-316946df4b7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9089a15-9498-4149-a6f3-b4bc8e4d21ac" elementFormDefault="qualified">
    <xsd:import namespace="http://schemas.microsoft.com/office/2006/documentManagement/types"/>
    <xsd:import namespace="http://schemas.microsoft.com/office/infopath/2007/PartnerControls"/>
    <xsd:element name="SharedWithUsers" ma:index="17"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hidden="true" ma:internalName="SharedWithDetails" ma:readOnly="true">
      <xsd:simpleType>
        <xsd:restriction base="dms:Note"/>
      </xsd:simpleType>
    </xsd:element>
    <xsd:element name="TaxCatchAll" ma:index="21" nillable="true" ma:displayName="Taxonomy Catch All Column" ma:hidden="true" ma:list="{3ed79911-b83d-417d-9b12-a1fdc4449e3b}" ma:internalName="TaxCatchAll" ma:showField="CatchAllData" ma:web="e9089a15-9498-4149-a6f3-b4bc8e4d21a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7c12939-211d-4aac-95d7-b8d38b675650">
      <Terms xmlns="http://schemas.microsoft.com/office/infopath/2007/PartnerControls"/>
    </lcf76f155ced4ddcb4097134ff3c332f>
    <TaxCatchAll xmlns="e9089a15-9498-4149-a6f3-b4bc8e4d21ac"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79740FEE-ABB1-4C7E-9A4F-69385A9D93FC}"/>
</file>

<file path=customXml/itemProps2.xml><?xml version="1.0" encoding="utf-8"?>
<ds:datastoreItem xmlns:ds="http://schemas.openxmlformats.org/officeDocument/2006/customXml" ds:itemID="{2D55DB39-A15F-462F-889B-975A03870C34}"/>
</file>

<file path=customXml/itemProps3.xml><?xml version="1.0" encoding="utf-8"?>
<ds:datastoreItem xmlns:ds="http://schemas.openxmlformats.org/officeDocument/2006/customXml" ds:itemID="{378DF8E0-4237-4419-9F33-3DC8997B4806}"/>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Brisken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Brisken</dc:creator>
  <cp:lastModifiedBy>Brisken</cp:lastModifiedBy>
  <cp:revision>1</cp:revision>
  <dcterms:created xsi:type="dcterms:W3CDTF">2026-07-11T18:29:38Z</dcterms:created>
  <dcterms:modified xsi:type="dcterms:W3CDTF">2026-07-11T18:29:38Z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0x0101002E36004C6954FC41BFA5A9934AAC0872</vt:lpwstr>
  </property>
</Properties>
</file>