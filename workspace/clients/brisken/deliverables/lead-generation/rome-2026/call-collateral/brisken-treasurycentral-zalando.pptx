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5"/>
  </p:notesMasterIdLst>
  <p:sldIdLst>
    <p:sldId id="256" r:id="rId5"/>
    <p:sldId id="257" r:id="rId6"/>
    <p:sldId id="258" r:id="rId7"/>
    <p:sldId id="259" r:id="rId8"/>
    <p:sldId id="260" r:id="rId9"/>
    <p:sldId id="261" r:id="rId10"/>
    <p:sldId id="262" r:id="rId11"/>
    <p:sldId id="263" r:id="rId12"/>
    <p:sldId id="264" r:id="rId13"/>
    <p:sldId id="265"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4610"/>
  </p:normalViewPr>
  <p:slideViewPr>
    <p:cSldViewPr snapToGrid="0" snapToObjects="1">
      <p:cViewPr varScale="1">
        <p:scale>
          <a:sx n="123" d="100"/>
          <a:sy n="123" d="100"/>
        </p:scale>
        <p:origin x="6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rk Neumann" userId="3f083bcb-a186-44d0-81a0-918c73b145d9" providerId="ADAL" clId="{C1336F6D-DB6E-5C4A-B60A-95CF733899A6}"/>
    <pc:docChg chg="custSel modSld">
      <pc:chgData name="Dirk Neumann" userId="3f083bcb-a186-44d0-81a0-918c73b145d9" providerId="ADAL" clId="{C1336F6D-DB6E-5C4A-B60A-95CF733899A6}" dt="2026-07-10T12:16:45.626" v="45" actId="20577"/>
      <pc:docMkLst>
        <pc:docMk/>
      </pc:docMkLst>
      <pc:sldChg chg="delSp modSp mod">
        <pc:chgData name="Dirk Neumann" userId="3f083bcb-a186-44d0-81a0-918c73b145d9" providerId="ADAL" clId="{C1336F6D-DB6E-5C4A-B60A-95CF733899A6}" dt="2026-07-10T12:16:45.626" v="45" actId="20577"/>
        <pc:sldMkLst>
          <pc:docMk/>
          <pc:sldMk cId="0" sldId="263"/>
        </pc:sldMkLst>
        <pc:spChg chg="mod">
          <ac:chgData name="Dirk Neumann" userId="3f083bcb-a186-44d0-81a0-918c73b145d9" providerId="ADAL" clId="{C1336F6D-DB6E-5C4A-B60A-95CF733899A6}" dt="2026-07-10T12:16:45.626" v="45" actId="20577"/>
          <ac:spMkLst>
            <pc:docMk/>
            <pc:sldMk cId="0" sldId="263"/>
            <ac:spMk id="6" creationId="{00000000-0000-0000-0000-000000000000}"/>
          </ac:spMkLst>
        </pc:spChg>
        <pc:spChg chg="mod">
          <ac:chgData name="Dirk Neumann" userId="3f083bcb-a186-44d0-81a0-918c73b145d9" providerId="ADAL" clId="{C1336F6D-DB6E-5C4A-B60A-95CF733899A6}" dt="2026-07-10T12:16:04.052" v="30" actId="3064"/>
          <ac:spMkLst>
            <pc:docMk/>
            <pc:sldMk cId="0" sldId="263"/>
            <ac:spMk id="12" creationId="{00000000-0000-0000-0000-000000000000}"/>
          </ac:spMkLst>
        </pc:spChg>
        <pc:picChg chg="del">
          <ac:chgData name="Dirk Neumann" userId="3f083bcb-a186-44d0-81a0-918c73b145d9" providerId="ADAL" clId="{C1336F6D-DB6E-5C4A-B60A-95CF733899A6}" dt="2026-07-10T12:14:38.658" v="0" actId="478"/>
          <ac:picMkLst>
            <pc:docMk/>
            <pc:sldMk cId="0" sldId="263"/>
            <ac:picMk id="13"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7703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7.png"/><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9.png"/><Relationship Id="rId5" Type="http://schemas.openxmlformats.org/officeDocument/2006/relationships/image" Target="../media/image2.png"/><Relationship Id="rId6"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5.png"/><Relationship Id="rId4" Type="http://schemas.openxmlformats.org/officeDocument/2006/relationships/image" Target="../media/image14.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23.png"/><Relationship Id="rId5" Type="http://schemas.openxmlformats.org/officeDocument/2006/relationships/image" Target="../media/image2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14.png"/><Relationship Id="rId5" Type="http://schemas.openxmlformats.org/officeDocument/2006/relationships/image" Target="../media/image22.png"/><Relationship Id="rId6"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6949440" y="-1097280"/>
            <a:ext cx="6035040" cy="6035040"/>
          </a:xfrm>
          <a:prstGeom prst="ellipse">
            <a:avLst/>
          </a:prstGeom>
          <a:solidFill>
            <a:srgbClr val="3BE3E0">
              <a:alpha val="7000"/>
            </a:srgbClr>
          </a:solidFill>
          <a:ln w="12700">
            <a:solidFill>
              <a:srgbClr val="333333"/>
            </a:solidFill>
            <a:prstDash val="solid"/>
          </a:ln>
        </p:spPr>
        <p:txBody>
          <a:bodyPr/>
          <a:lstStyle/>
          <a:p>
            <a:endParaRPr lang="en-US"/>
          </a:p>
        </p:txBody>
      </p:sp>
      <p:sp>
        <p:nvSpPr>
          <p:cNvPr id="3" name="Shape 1"/>
          <p:cNvSpPr/>
          <p:nvPr/>
        </p:nvSpPr>
        <p:spPr>
          <a:xfrm>
            <a:off x="8321040" y="274320"/>
            <a:ext cx="3291840" cy="3291840"/>
          </a:xfrm>
          <a:prstGeom prst="ellipse">
            <a:avLst/>
          </a:prstGeom>
          <a:solidFill>
            <a:srgbClr val="3BE3E0">
              <a:alpha val="12000"/>
            </a:srgbClr>
          </a:solidFill>
          <a:ln w="12700">
            <a:solidFill>
              <a:srgbClr val="333333"/>
            </a:solidFill>
            <a:prstDash val="solid"/>
          </a:ln>
        </p:spPr>
        <p:txBody>
          <a:bodyPr/>
          <a:lstStyle/>
          <a:p>
            <a:endParaRPr lang="en-US"/>
          </a:p>
        </p:txBody>
      </p:sp>
      <p:sp>
        <p:nvSpPr>
          <p:cNvPr id="4" name="Shape 2"/>
          <p:cNvSpPr/>
          <p:nvPr/>
        </p:nvSpPr>
        <p:spPr>
          <a:xfrm>
            <a:off x="-1737360" y="3017520"/>
            <a:ext cx="6035040" cy="6035040"/>
          </a:xfrm>
          <a:prstGeom prst="ellipse">
            <a:avLst/>
          </a:prstGeom>
          <a:solidFill>
            <a:srgbClr val="5A6BFF">
              <a:alpha val="7000"/>
            </a:srgbClr>
          </a:solidFill>
          <a:ln w="12700">
            <a:solidFill>
              <a:srgbClr val="333333"/>
            </a:solidFill>
            <a:prstDash val="solid"/>
          </a:ln>
        </p:spPr>
        <p:txBody>
          <a:bodyPr/>
          <a:lstStyle/>
          <a:p>
            <a:endParaRPr lang="en-US"/>
          </a:p>
        </p:txBody>
      </p:sp>
      <p:sp>
        <p:nvSpPr>
          <p:cNvPr id="5" name="Shape 3"/>
          <p:cNvSpPr/>
          <p:nvPr/>
        </p:nvSpPr>
        <p:spPr>
          <a:xfrm>
            <a:off x="-365760" y="4389120"/>
            <a:ext cx="3291840" cy="3291840"/>
          </a:xfrm>
          <a:prstGeom prst="ellipse">
            <a:avLst/>
          </a:prstGeom>
          <a:solidFill>
            <a:srgbClr val="5A6BFF">
              <a:alpha val="12000"/>
            </a:srgbClr>
          </a:solidFill>
          <a:ln w="12700">
            <a:solidFill>
              <a:srgbClr val="333333"/>
            </a:solidFill>
            <a:prstDash val="solid"/>
          </a:ln>
        </p:spPr>
        <p:txBody>
          <a:bodyPr/>
          <a:lstStyle/>
          <a:p>
            <a:endParaRPr lang="en-US"/>
          </a:p>
        </p:txBody>
      </p:sp>
      <p:pic>
        <p:nvPicPr>
          <p:cNvPr id="6" name="Image 0" descr="C:/Users/neuma_p1qrsic/Repo/agentic-ops1/.scratch/brisken-logo-light.png"/>
          <p:cNvPicPr>
            <a:picLocks noChangeAspect="1"/>
          </p:cNvPicPr>
          <p:nvPr/>
        </p:nvPicPr>
        <p:blipFill>
          <a:blip r:embed="rId3"/>
          <a:stretch>
            <a:fillRect/>
          </a:stretch>
        </p:blipFill>
        <p:spPr>
          <a:xfrm>
            <a:off x="566928" y="548640"/>
            <a:ext cx="1417320" cy="310896"/>
          </a:xfrm>
          <a:prstGeom prst="rect">
            <a:avLst/>
          </a:prstGeom>
        </p:spPr>
      </p:pic>
      <p:sp>
        <p:nvSpPr>
          <p:cNvPr id="7" name="Shape 4"/>
          <p:cNvSpPr/>
          <p:nvPr/>
        </p:nvSpPr>
        <p:spPr>
          <a:xfrm>
            <a:off x="8058607" y="502920"/>
            <a:ext cx="3566160" cy="420624"/>
          </a:xfrm>
          <a:prstGeom prst="roundRect">
            <a:avLst>
              <a:gd name="adj" fmla="val 50000"/>
            </a:avLst>
          </a:prstGeom>
          <a:solidFill>
            <a:srgbClr val="141A25"/>
          </a:solidFill>
          <a:ln w="12700">
            <a:solidFill>
              <a:srgbClr val="36414F"/>
            </a:solidFill>
            <a:prstDash val="solid"/>
          </a:ln>
        </p:spPr>
        <p:txBody>
          <a:bodyPr/>
          <a:lstStyle/>
          <a:p>
            <a:endParaRPr lang="en-US"/>
          </a:p>
        </p:txBody>
      </p:sp>
      <p:sp>
        <p:nvSpPr>
          <p:cNvPr id="8" name="Text 5"/>
          <p:cNvSpPr/>
          <p:nvPr/>
        </p:nvSpPr>
        <p:spPr>
          <a:xfrm>
            <a:off x="8058607" y="502920"/>
            <a:ext cx="3566160" cy="420624"/>
          </a:xfrm>
          <a:prstGeom prst="rect">
            <a:avLst/>
          </a:prstGeom>
          <a:noFill/>
          <a:ln/>
        </p:spPr>
        <p:txBody>
          <a:bodyPr wrap="square" rtlCol="0" anchor="ctr"/>
          <a:lstStyle/>
          <a:p>
            <a:pPr marL="0" indent="0" algn="ctr">
              <a:buNone/>
            </a:pPr>
            <a:r>
              <a:rPr lang="en-US" sz="1100" dirty="0">
                <a:solidFill>
                  <a:srgbClr val="7C8A9B"/>
                </a:solidFill>
                <a:latin typeface="Segoe UI" pitchFamily="34" charset="0"/>
                <a:ea typeface="Segoe UI" pitchFamily="34" charset="-122"/>
                <a:cs typeface="Segoe UI" pitchFamily="34" charset="-120"/>
              </a:rPr>
              <a:t>Prepared for  </a:t>
            </a:r>
            <a:r>
              <a:rPr lang="en-US" sz="1100" b="1" dirty="0">
                <a:solidFill>
                  <a:srgbClr val="F3F6FB"/>
                </a:solidFill>
                <a:latin typeface="Segoe UI" pitchFamily="34" charset="0"/>
                <a:ea typeface="Segoe UI" pitchFamily="34" charset="-122"/>
                <a:cs typeface="Segoe UI" pitchFamily="34" charset="-120"/>
              </a:rPr>
              <a:t>Zalando  ·  Lokesh Doggala</a:t>
            </a:r>
            <a:endParaRPr lang="en-US" sz="1100" dirty="0"/>
          </a:p>
        </p:txBody>
      </p:sp>
      <p:sp>
        <p:nvSpPr>
          <p:cNvPr id="9" name="Shape 6"/>
          <p:cNvSpPr/>
          <p:nvPr/>
        </p:nvSpPr>
        <p:spPr>
          <a:xfrm>
            <a:off x="566928" y="2532888"/>
            <a:ext cx="45720" cy="219456"/>
          </a:xfrm>
          <a:prstGeom prst="rect">
            <a:avLst/>
          </a:prstGeom>
          <a:solidFill>
            <a:srgbClr val="3BE3E0"/>
          </a:solidFill>
          <a:ln w="12700">
            <a:solidFill>
              <a:srgbClr val="333333"/>
            </a:solidFill>
            <a:prstDash val="solid"/>
          </a:ln>
        </p:spPr>
        <p:txBody>
          <a:bodyPr/>
          <a:lstStyle/>
          <a:p>
            <a:endParaRPr lang="en-US"/>
          </a:p>
        </p:txBody>
      </p:sp>
      <p:sp>
        <p:nvSpPr>
          <p:cNvPr id="10" name="Text 7"/>
          <p:cNvSpPr/>
          <p:nvPr/>
        </p:nvSpPr>
        <p:spPr>
          <a:xfrm>
            <a:off x="713232" y="2459736"/>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ONEPILOT · TREASURYCENTRAL</a:t>
            </a:r>
            <a:endParaRPr lang="en-US" sz="1200" dirty="0"/>
          </a:p>
        </p:txBody>
      </p:sp>
      <p:sp>
        <p:nvSpPr>
          <p:cNvPr id="11" name="Text 8"/>
          <p:cNvSpPr/>
          <p:nvPr/>
        </p:nvSpPr>
        <p:spPr>
          <a:xfrm>
            <a:off x="539496" y="2788920"/>
            <a:ext cx="11338560" cy="1280160"/>
          </a:xfrm>
          <a:prstGeom prst="rect">
            <a:avLst/>
          </a:prstGeom>
          <a:noFill/>
          <a:ln/>
        </p:spPr>
        <p:txBody>
          <a:bodyPr wrap="square" rtlCol="0" anchor="ctr"/>
          <a:lstStyle/>
          <a:p>
            <a:pPr marL="0" indent="0">
              <a:buNone/>
            </a:pPr>
            <a:r>
              <a:rPr lang="en-US" sz="6600" b="1" dirty="0">
                <a:solidFill>
                  <a:srgbClr val="F3F6FB"/>
                </a:solidFill>
                <a:latin typeface="Segoe UI Semibold" pitchFamily="34" charset="0"/>
                <a:ea typeface="Segoe UI Semibold" pitchFamily="34" charset="-122"/>
                <a:cs typeface="Segoe UI Semibold" pitchFamily="34" charset="-120"/>
              </a:rPr>
              <a:t>TreasuryCentral</a:t>
            </a:r>
            <a:endParaRPr lang="en-US" sz="6600" dirty="0"/>
          </a:p>
        </p:txBody>
      </p:sp>
      <p:sp>
        <p:nvSpPr>
          <p:cNvPr id="12" name="Text 9"/>
          <p:cNvSpPr/>
          <p:nvPr/>
        </p:nvSpPr>
        <p:spPr>
          <a:xfrm>
            <a:off x="566928" y="4160520"/>
            <a:ext cx="10424160" cy="822960"/>
          </a:xfrm>
          <a:prstGeom prst="rect">
            <a:avLst/>
          </a:prstGeom>
          <a:noFill/>
          <a:ln/>
        </p:spPr>
        <p:txBody>
          <a:bodyPr wrap="square" rtlCol="0" anchor="t"/>
          <a:lstStyle/>
          <a:p>
            <a:pPr marL="0" indent="0">
              <a:lnSpc>
                <a:spcPct val="115000"/>
              </a:lnSpc>
              <a:buNone/>
            </a:pPr>
            <a:r>
              <a:rPr lang="en-US" sz="2000" dirty="0">
                <a:solidFill>
                  <a:srgbClr val="AAB6C7"/>
                </a:solidFill>
                <a:latin typeface="Segoe UI" pitchFamily="34" charset="0"/>
                <a:ea typeface="Segoe UI" pitchFamily="34" charset="-122"/>
                <a:cs typeface="Segoe UI" pitchFamily="34" charset="-120"/>
              </a:rPr>
              <a:t>One cockpit for the whole treasury, on your live SAP data. </a:t>
            </a:r>
            <a:r>
              <a:rPr lang="en-US" sz="2000" dirty="0">
                <a:solidFill>
                  <a:srgbClr val="3BE3E0"/>
                </a:solidFill>
                <a:latin typeface="Segoe UI" pitchFamily="34" charset="0"/>
                <a:ea typeface="Segoe UI" pitchFamily="34" charset="-122"/>
                <a:cs typeface="Segoe UI" pitchFamily="34" charset="-120"/>
              </a:rPr>
              <a:t>Market data, trading and AI, in one governed layer.</a:t>
            </a:r>
            <a:endParaRPr lang="en-US" sz="2000" dirty="0"/>
          </a:p>
        </p:txBody>
      </p:sp>
      <p:sp>
        <p:nvSpPr>
          <p:cNvPr id="13" name="Shape 10"/>
          <p:cNvSpPr/>
          <p:nvPr/>
        </p:nvSpPr>
        <p:spPr>
          <a:xfrm>
            <a:off x="566928" y="5532120"/>
            <a:ext cx="566928" cy="566928"/>
          </a:xfrm>
          <a:prstGeom prst="roundRect">
            <a:avLst>
              <a:gd name="adj" fmla="val 17742"/>
            </a:avLst>
          </a:prstGeom>
          <a:solidFill>
            <a:srgbClr val="1B2330"/>
          </a:solidFill>
          <a:ln w="15240">
            <a:solidFill>
              <a:srgbClr val="3BE3E0"/>
            </a:solidFill>
            <a:prstDash val="solid"/>
          </a:ln>
        </p:spPr>
        <p:txBody>
          <a:bodyPr/>
          <a:lstStyle/>
          <a:p>
            <a:endParaRPr lang="en-US"/>
          </a:p>
        </p:txBody>
      </p:sp>
      <p:pic>
        <p:nvPicPr>
          <p:cNvPr id="14" name="Image 1" descr="C:/Users/neuma_p1qrsic/Repo/agentic-ops1/.scratch/icons/database.png"/>
          <p:cNvPicPr>
            <a:picLocks noChangeAspect="1"/>
          </p:cNvPicPr>
          <p:nvPr/>
        </p:nvPicPr>
        <p:blipFill>
          <a:blip r:embed="rId4"/>
          <a:stretch>
            <a:fillRect/>
          </a:stretch>
        </p:blipFill>
        <p:spPr>
          <a:xfrm>
            <a:off x="702991" y="5668183"/>
            <a:ext cx="294803" cy="294803"/>
          </a:xfrm>
          <a:prstGeom prst="rect">
            <a:avLst/>
          </a:prstGeom>
        </p:spPr>
      </p:pic>
      <p:sp>
        <p:nvSpPr>
          <p:cNvPr id="15" name="Text 11"/>
          <p:cNvSpPr/>
          <p:nvPr/>
        </p:nvSpPr>
        <p:spPr>
          <a:xfrm>
            <a:off x="1252728" y="5532120"/>
            <a:ext cx="2468880" cy="566928"/>
          </a:xfrm>
          <a:prstGeom prst="rect">
            <a:avLst/>
          </a:prstGeom>
          <a:noFill/>
          <a:ln/>
        </p:spPr>
        <p:txBody>
          <a:bodyPr wrap="square" rtlCol="0" anchor="ctr"/>
          <a:lstStyle/>
          <a:p>
            <a:pPr marL="0" indent="0">
              <a:buNone/>
            </a:pPr>
            <a:r>
              <a:rPr lang="en-US" sz="1300" dirty="0">
                <a:solidFill>
                  <a:srgbClr val="F3F6FB"/>
                </a:solidFill>
                <a:latin typeface="Segoe UI" pitchFamily="34" charset="0"/>
                <a:ea typeface="Segoe UI" pitchFamily="34" charset="-122"/>
                <a:cs typeface="Segoe UI" pitchFamily="34" charset="-120"/>
              </a:rPr>
              <a:t>Your live SAP data</a:t>
            </a:r>
            <a:endParaRPr lang="en-US" sz="1300" dirty="0"/>
          </a:p>
        </p:txBody>
      </p:sp>
      <p:sp>
        <p:nvSpPr>
          <p:cNvPr id="16" name="Shape 12"/>
          <p:cNvSpPr/>
          <p:nvPr/>
        </p:nvSpPr>
        <p:spPr>
          <a:xfrm>
            <a:off x="3630168" y="5815584"/>
            <a:ext cx="640080" cy="0"/>
          </a:xfrm>
          <a:prstGeom prst="line">
            <a:avLst/>
          </a:prstGeom>
          <a:noFill/>
          <a:ln w="25400">
            <a:solidFill>
              <a:srgbClr val="3BE3E0"/>
            </a:solidFill>
            <a:prstDash val="solid"/>
            <a:tailEnd type="triangle"/>
          </a:ln>
        </p:spPr>
        <p:txBody>
          <a:bodyPr/>
          <a:lstStyle/>
          <a:p>
            <a:endParaRPr lang="en-US"/>
          </a:p>
        </p:txBody>
      </p:sp>
      <p:sp>
        <p:nvSpPr>
          <p:cNvPr id="17" name="Text 13"/>
          <p:cNvSpPr/>
          <p:nvPr/>
        </p:nvSpPr>
        <p:spPr>
          <a:xfrm>
            <a:off x="4361688" y="5532120"/>
            <a:ext cx="2103120" cy="566928"/>
          </a:xfrm>
          <a:prstGeom prst="rect">
            <a:avLst/>
          </a:prstGeom>
          <a:noFill/>
          <a:ln/>
        </p:spPr>
        <p:txBody>
          <a:bodyPr wrap="square" rtlCol="0" anchor="ctr"/>
          <a:lstStyle/>
          <a:p>
            <a:pPr marL="0" indent="0" algn="ctr">
              <a:buNone/>
            </a:pPr>
            <a:r>
              <a:rPr lang="en-US" sz="1200" i="1" dirty="0">
                <a:solidFill>
                  <a:srgbClr val="3BE3E0"/>
                </a:solidFill>
                <a:latin typeface="Segoe UI" pitchFamily="34" charset="0"/>
                <a:ea typeface="Segoe UI" pitchFamily="34" charset="-122"/>
                <a:cs typeface="Segoe UI" pitchFamily="34" charset="-120"/>
              </a:rPr>
              <a:t>TreasuryCentral</a:t>
            </a:r>
            <a:endParaRPr lang="en-US" sz="1200" dirty="0"/>
          </a:p>
        </p:txBody>
      </p:sp>
      <p:sp>
        <p:nvSpPr>
          <p:cNvPr id="18" name="Shape 14"/>
          <p:cNvSpPr/>
          <p:nvPr/>
        </p:nvSpPr>
        <p:spPr>
          <a:xfrm>
            <a:off x="6510528" y="5815584"/>
            <a:ext cx="640080" cy="0"/>
          </a:xfrm>
          <a:prstGeom prst="line">
            <a:avLst/>
          </a:prstGeom>
          <a:noFill/>
          <a:ln w="25400">
            <a:solidFill>
              <a:srgbClr val="3BE3E0"/>
            </a:solidFill>
            <a:prstDash val="solid"/>
            <a:tailEnd type="triangle"/>
          </a:ln>
        </p:spPr>
        <p:txBody>
          <a:bodyPr/>
          <a:lstStyle/>
          <a:p>
            <a:endParaRPr lang="en-US"/>
          </a:p>
        </p:txBody>
      </p:sp>
      <p:sp>
        <p:nvSpPr>
          <p:cNvPr id="19" name="Shape 15"/>
          <p:cNvSpPr/>
          <p:nvPr/>
        </p:nvSpPr>
        <p:spPr>
          <a:xfrm>
            <a:off x="7287768" y="5532120"/>
            <a:ext cx="566928" cy="566928"/>
          </a:xfrm>
          <a:prstGeom prst="roundRect">
            <a:avLst>
              <a:gd name="adj" fmla="val 17742"/>
            </a:avLst>
          </a:prstGeom>
          <a:solidFill>
            <a:srgbClr val="1B2330"/>
          </a:solidFill>
          <a:ln w="15240">
            <a:solidFill>
              <a:srgbClr val="3BE3E0"/>
            </a:solidFill>
            <a:prstDash val="solid"/>
          </a:ln>
        </p:spPr>
        <p:txBody>
          <a:bodyPr/>
          <a:lstStyle/>
          <a:p>
            <a:endParaRPr lang="en-US"/>
          </a:p>
        </p:txBody>
      </p:sp>
      <p:pic>
        <p:nvPicPr>
          <p:cNvPr id="20" name="Image 2" descr="C:/Users/neuma_p1qrsic/Repo/agentic-ops1/.scratch/icons/gauge.png"/>
          <p:cNvPicPr>
            <a:picLocks noChangeAspect="1"/>
          </p:cNvPicPr>
          <p:nvPr/>
        </p:nvPicPr>
        <p:blipFill>
          <a:blip r:embed="rId5"/>
          <a:stretch>
            <a:fillRect/>
          </a:stretch>
        </p:blipFill>
        <p:spPr>
          <a:xfrm>
            <a:off x="7423831" y="5668183"/>
            <a:ext cx="294803" cy="294803"/>
          </a:xfrm>
          <a:prstGeom prst="rect">
            <a:avLst/>
          </a:prstGeom>
        </p:spPr>
      </p:pic>
      <p:sp>
        <p:nvSpPr>
          <p:cNvPr id="21" name="Text 16"/>
          <p:cNvSpPr/>
          <p:nvPr/>
        </p:nvSpPr>
        <p:spPr>
          <a:xfrm>
            <a:off x="7973568" y="5532120"/>
            <a:ext cx="3108960" cy="566928"/>
          </a:xfrm>
          <a:prstGeom prst="rect">
            <a:avLst/>
          </a:prstGeom>
          <a:noFill/>
          <a:ln/>
        </p:spPr>
        <p:txBody>
          <a:bodyPr wrap="square" rtlCol="0" anchor="ctr"/>
          <a:lstStyle/>
          <a:p>
            <a:pPr marL="0" indent="0">
              <a:buNone/>
            </a:pPr>
            <a:r>
              <a:rPr lang="en-US" sz="1300" dirty="0">
                <a:solidFill>
                  <a:srgbClr val="F3F6FB"/>
                </a:solidFill>
                <a:latin typeface="Segoe UI" pitchFamily="34" charset="0"/>
                <a:ea typeface="Segoe UI" pitchFamily="34" charset="-122"/>
                <a:cs typeface="Segoe UI" pitchFamily="34" charset="-120"/>
              </a:rPr>
              <a:t>Every treasury decision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3" name="Text 1"/>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THE PROBLEM</a:t>
            </a:r>
            <a:endParaRPr lang="en-US" sz="1200" dirty="0"/>
          </a:p>
        </p:txBody>
      </p:sp>
      <p:sp>
        <p:nvSpPr>
          <p:cNvPr id="4" name="Text 2"/>
          <p:cNvSpPr/>
          <p:nvPr/>
        </p:nvSpPr>
        <p:spPr>
          <a:xfrm>
            <a:off x="566928" y="960120"/>
            <a:ext cx="10881360" cy="1463040"/>
          </a:xfrm>
          <a:prstGeom prst="rect">
            <a:avLst/>
          </a:prstGeom>
          <a:noFill/>
          <a:ln/>
        </p:spPr>
        <p:txBody>
          <a:bodyPr wrap="square" rtlCol="0" anchor="ctr"/>
          <a:lstStyle/>
          <a:p>
            <a:pPr marL="0" indent="0">
              <a:lnSpc>
                <a:spcPct val="105000"/>
              </a:lnSpc>
              <a:buNone/>
            </a:pPr>
            <a:r>
              <a:rPr lang="en-US" sz="3300" b="1" dirty="0">
                <a:solidFill>
                  <a:srgbClr val="F3F6FB"/>
                </a:solidFill>
                <a:latin typeface="Segoe UI Semibold" pitchFamily="34" charset="0"/>
                <a:ea typeface="Segoe UI Semibold" pitchFamily="34" charset="-122"/>
                <a:cs typeface="Segoe UI Semibold" pitchFamily="34" charset="-120"/>
              </a:rPr>
              <a:t>Treasury is expected to deliver on SAP, fast.
</a:t>
            </a:r>
            <a:r>
              <a:rPr lang="en-US" sz="3300" b="1" dirty="0">
                <a:solidFill>
                  <a:srgbClr val="3BE3E0"/>
                </a:solidFill>
                <a:latin typeface="Segoe UI Semibold" pitchFamily="34" charset="0"/>
                <a:ea typeface="Segoe UI Semibold" pitchFamily="34" charset="-122"/>
                <a:cs typeface="Segoe UI Semibold" pitchFamily="34" charset="-120"/>
              </a:rPr>
              <a:t>The data behind it lives in a dozen places.</a:t>
            </a:r>
            <a:endParaRPr lang="en-US" sz="3300" dirty="0"/>
          </a:p>
        </p:txBody>
      </p:sp>
      <p:sp>
        <p:nvSpPr>
          <p:cNvPr id="5" name="Shape 3"/>
          <p:cNvSpPr/>
          <p:nvPr/>
        </p:nvSpPr>
        <p:spPr>
          <a:xfrm>
            <a:off x="566928" y="3246120"/>
            <a:ext cx="3246120" cy="1874520"/>
          </a:xfrm>
          <a:prstGeom prst="roundRect">
            <a:avLst>
              <a:gd name="adj" fmla="val 4390"/>
            </a:avLst>
          </a:prstGeom>
          <a:solidFill>
            <a:srgbClr val="141A25"/>
          </a:solidFill>
          <a:ln w="13970">
            <a:solidFill>
              <a:srgbClr val="36414F"/>
            </a:solidFill>
            <a:prstDash val="solid"/>
          </a:ln>
        </p:spPr>
        <p:txBody>
          <a:bodyPr/>
          <a:lstStyle/>
          <a:p>
            <a:endParaRPr lang="en-US"/>
          </a:p>
        </p:txBody>
      </p:sp>
      <p:sp>
        <p:nvSpPr>
          <p:cNvPr id="6" name="Shape 4"/>
          <p:cNvSpPr/>
          <p:nvPr/>
        </p:nvSpPr>
        <p:spPr>
          <a:xfrm>
            <a:off x="841248" y="3566160"/>
            <a:ext cx="603504" cy="603504"/>
          </a:xfrm>
          <a:prstGeom prst="roundRect">
            <a:avLst>
              <a:gd name="adj" fmla="val 16667"/>
            </a:avLst>
          </a:prstGeom>
          <a:solidFill>
            <a:srgbClr val="1B2330"/>
          </a:solidFill>
          <a:ln w="15240">
            <a:solidFill>
              <a:srgbClr val="3BE3E0"/>
            </a:solidFill>
            <a:prstDash val="solid"/>
          </a:ln>
        </p:spPr>
        <p:txBody>
          <a:bodyPr/>
          <a:lstStyle/>
          <a:p>
            <a:endParaRPr lang="en-US"/>
          </a:p>
        </p:txBody>
      </p:sp>
      <p:pic>
        <p:nvPicPr>
          <p:cNvPr id="7" name="Image 0" descr="C:/Users/neuma_p1qrsic/Repo/agentic-ops1/.scratch/icons/venue.png"/>
          <p:cNvPicPr>
            <a:picLocks noChangeAspect="1"/>
          </p:cNvPicPr>
          <p:nvPr/>
        </p:nvPicPr>
        <p:blipFill>
          <a:blip r:embed="rId3"/>
          <a:stretch>
            <a:fillRect/>
          </a:stretch>
        </p:blipFill>
        <p:spPr>
          <a:xfrm>
            <a:off x="986089" y="3711001"/>
            <a:ext cx="313822" cy="313822"/>
          </a:xfrm>
          <a:prstGeom prst="rect">
            <a:avLst/>
          </a:prstGeom>
        </p:spPr>
      </p:pic>
      <p:sp>
        <p:nvSpPr>
          <p:cNvPr id="8" name="Text 5"/>
          <p:cNvSpPr/>
          <p:nvPr/>
        </p:nvSpPr>
        <p:spPr>
          <a:xfrm>
            <a:off x="841248" y="4343400"/>
            <a:ext cx="2697480" cy="365760"/>
          </a:xfrm>
          <a:prstGeom prst="rect">
            <a:avLst/>
          </a:prstGeom>
          <a:noFill/>
          <a:ln/>
        </p:spPr>
        <p:txBody>
          <a:bodyPr wrap="square" rtlCol="0" anchor="ctr"/>
          <a:lstStyle/>
          <a:p>
            <a:pPr marL="0" indent="0">
              <a:buNone/>
            </a:pPr>
            <a:r>
              <a:rPr lang="en-US" sz="1500" b="1" dirty="0">
                <a:solidFill>
                  <a:srgbClr val="F3F6FB"/>
                </a:solidFill>
                <a:latin typeface="Segoe UI Semibold" pitchFamily="34" charset="0"/>
                <a:ea typeface="Segoe UI Semibold" pitchFamily="34" charset="-122"/>
                <a:cs typeface="Segoe UI Semibold" pitchFamily="34" charset="-120"/>
              </a:rPr>
              <a:t>Your sources</a:t>
            </a:r>
            <a:endParaRPr lang="en-US" sz="1500" dirty="0"/>
          </a:p>
        </p:txBody>
      </p:sp>
      <p:sp>
        <p:nvSpPr>
          <p:cNvPr id="9" name="Text 6"/>
          <p:cNvSpPr/>
          <p:nvPr/>
        </p:nvSpPr>
        <p:spPr>
          <a:xfrm>
            <a:off x="841248" y="4663440"/>
            <a:ext cx="2697480" cy="457200"/>
          </a:xfrm>
          <a:prstGeom prst="rect">
            <a:avLst/>
          </a:prstGeom>
          <a:noFill/>
          <a:ln/>
        </p:spPr>
        <p:txBody>
          <a:bodyPr wrap="square" rtlCol="0" anchor="ctr"/>
          <a:lstStyle/>
          <a:p>
            <a:pPr marL="0" indent="0">
              <a:buNone/>
            </a:pPr>
            <a:r>
              <a:rPr lang="en-US" sz="1200" dirty="0">
                <a:solidFill>
                  <a:srgbClr val="AAB6C7"/>
                </a:solidFill>
                <a:latin typeface="Segoe UI" pitchFamily="34" charset="0"/>
                <a:ea typeface="Segoe UI" pitchFamily="34" charset="-122"/>
                <a:cs typeface="Segoe UI" pitchFamily="34" charset="-120"/>
              </a:rPr>
              <a:t>Banks, market data, trading venues, internal systems</a:t>
            </a:r>
            <a:endParaRPr lang="en-US" sz="1200" dirty="0"/>
          </a:p>
        </p:txBody>
      </p:sp>
      <p:sp>
        <p:nvSpPr>
          <p:cNvPr id="10" name="Shape 7"/>
          <p:cNvSpPr/>
          <p:nvPr/>
        </p:nvSpPr>
        <p:spPr>
          <a:xfrm>
            <a:off x="4270248" y="3246120"/>
            <a:ext cx="3657600" cy="1874520"/>
          </a:xfrm>
          <a:prstGeom prst="roundRect">
            <a:avLst>
              <a:gd name="adj" fmla="val 4390"/>
            </a:avLst>
          </a:prstGeom>
          <a:solidFill>
            <a:srgbClr val="24190E"/>
          </a:solidFill>
          <a:ln w="17780">
            <a:solidFill>
              <a:srgbClr val="FFC96B"/>
            </a:solidFill>
            <a:prstDash val="dash"/>
          </a:ln>
        </p:spPr>
        <p:txBody>
          <a:bodyPr/>
          <a:lstStyle/>
          <a:p>
            <a:endParaRPr lang="en-US"/>
          </a:p>
        </p:txBody>
      </p:sp>
      <p:pic>
        <p:nvPicPr>
          <p:cNvPr id="11" name="Image 1" descr="C:/Users/neuma_p1qrsic/Repo/agentic-ops1/.scratch/icons/gap.png"/>
          <p:cNvPicPr>
            <a:picLocks noChangeAspect="1"/>
          </p:cNvPicPr>
          <p:nvPr/>
        </p:nvPicPr>
        <p:blipFill>
          <a:blip r:embed="rId4"/>
          <a:stretch>
            <a:fillRect/>
          </a:stretch>
        </p:blipFill>
        <p:spPr>
          <a:xfrm>
            <a:off x="5797296" y="3538728"/>
            <a:ext cx="603504" cy="603504"/>
          </a:xfrm>
          <a:prstGeom prst="rect">
            <a:avLst/>
          </a:prstGeom>
        </p:spPr>
      </p:pic>
      <p:sp>
        <p:nvSpPr>
          <p:cNvPr id="12" name="Text 8"/>
          <p:cNvSpPr/>
          <p:nvPr/>
        </p:nvSpPr>
        <p:spPr>
          <a:xfrm>
            <a:off x="4270248" y="4270248"/>
            <a:ext cx="3657600" cy="365760"/>
          </a:xfrm>
          <a:prstGeom prst="rect">
            <a:avLst/>
          </a:prstGeom>
          <a:noFill/>
          <a:ln/>
        </p:spPr>
        <p:txBody>
          <a:bodyPr wrap="square" rtlCol="0" anchor="ctr"/>
          <a:lstStyle/>
          <a:p>
            <a:pPr marL="0" indent="0" algn="ctr">
              <a:buNone/>
            </a:pPr>
            <a:r>
              <a:rPr lang="en-US" sz="1500" b="1" dirty="0">
                <a:solidFill>
                  <a:srgbClr val="FFC96B"/>
                </a:solidFill>
                <a:latin typeface="Segoe UI Semibold" pitchFamily="34" charset="0"/>
                <a:ea typeface="Segoe UI Semibold" pitchFamily="34" charset="-122"/>
                <a:cs typeface="Segoe UI Semibold" pitchFamily="34" charset="-120"/>
              </a:rPr>
              <a:t>The manual middle</a:t>
            </a:r>
            <a:endParaRPr lang="en-US" sz="1500" dirty="0"/>
          </a:p>
        </p:txBody>
      </p:sp>
      <p:sp>
        <p:nvSpPr>
          <p:cNvPr id="13" name="Text 9"/>
          <p:cNvSpPr/>
          <p:nvPr/>
        </p:nvSpPr>
        <p:spPr>
          <a:xfrm>
            <a:off x="4590288" y="4617720"/>
            <a:ext cx="3017520" cy="457200"/>
          </a:xfrm>
          <a:prstGeom prst="rect">
            <a:avLst/>
          </a:prstGeom>
          <a:noFill/>
          <a:ln/>
        </p:spPr>
        <p:txBody>
          <a:bodyPr wrap="square" rtlCol="0" anchor="ctr"/>
          <a:lstStyle/>
          <a:p>
            <a:pPr marL="0" indent="0" algn="ctr">
              <a:lnSpc>
                <a:spcPct val="105000"/>
              </a:lnSpc>
              <a:buNone/>
            </a:pPr>
            <a:r>
              <a:rPr lang="en-US" sz="1200" dirty="0">
                <a:solidFill>
                  <a:srgbClr val="F3F6FB"/>
                </a:solidFill>
                <a:latin typeface="Segoe UI" pitchFamily="34" charset="0"/>
                <a:ea typeface="Segoe UI" pitchFamily="34" charset="-122"/>
                <a:cs typeface="Segoe UI" pitchFamily="34" charset="-120"/>
              </a:rPr>
              <a:t>re-keying rates, reconciling positions, chasing bad values, posting by hand</a:t>
            </a:r>
            <a:endParaRPr lang="en-US" sz="1200" dirty="0"/>
          </a:p>
        </p:txBody>
      </p:sp>
      <p:sp>
        <p:nvSpPr>
          <p:cNvPr id="14" name="Shape 10"/>
          <p:cNvSpPr/>
          <p:nvPr/>
        </p:nvSpPr>
        <p:spPr>
          <a:xfrm>
            <a:off x="8385048" y="3246120"/>
            <a:ext cx="3239719" cy="1874520"/>
          </a:xfrm>
          <a:prstGeom prst="roundRect">
            <a:avLst>
              <a:gd name="adj" fmla="val 4390"/>
            </a:avLst>
          </a:prstGeom>
          <a:solidFill>
            <a:srgbClr val="141A25"/>
          </a:solidFill>
          <a:ln w="13970">
            <a:solidFill>
              <a:srgbClr val="36414F"/>
            </a:solidFill>
            <a:prstDash val="solid"/>
          </a:ln>
        </p:spPr>
        <p:txBody>
          <a:bodyPr/>
          <a:lstStyle/>
          <a:p>
            <a:endParaRPr lang="en-US"/>
          </a:p>
        </p:txBody>
      </p:sp>
      <p:sp>
        <p:nvSpPr>
          <p:cNvPr id="15" name="Shape 11"/>
          <p:cNvSpPr/>
          <p:nvPr/>
        </p:nvSpPr>
        <p:spPr>
          <a:xfrm>
            <a:off x="8659368" y="3566160"/>
            <a:ext cx="603504" cy="603504"/>
          </a:xfrm>
          <a:prstGeom prst="roundRect">
            <a:avLst>
              <a:gd name="adj" fmla="val 16667"/>
            </a:avLst>
          </a:prstGeom>
          <a:solidFill>
            <a:srgbClr val="1B2330"/>
          </a:solidFill>
          <a:ln w="15240">
            <a:solidFill>
              <a:srgbClr val="3BE3E0"/>
            </a:solidFill>
            <a:prstDash val="solid"/>
          </a:ln>
        </p:spPr>
        <p:txBody>
          <a:bodyPr/>
          <a:lstStyle/>
          <a:p>
            <a:endParaRPr lang="en-US"/>
          </a:p>
        </p:txBody>
      </p:sp>
      <p:pic>
        <p:nvPicPr>
          <p:cNvPr id="16" name="Image 2" descr="C:/Users/neuma_p1qrsic/Repo/agentic-ops1/.scratch/icons/database.png"/>
          <p:cNvPicPr>
            <a:picLocks noChangeAspect="1"/>
          </p:cNvPicPr>
          <p:nvPr/>
        </p:nvPicPr>
        <p:blipFill>
          <a:blip r:embed="rId5"/>
          <a:stretch>
            <a:fillRect/>
          </a:stretch>
        </p:blipFill>
        <p:spPr>
          <a:xfrm>
            <a:off x="8804209" y="3711001"/>
            <a:ext cx="313822" cy="313822"/>
          </a:xfrm>
          <a:prstGeom prst="rect">
            <a:avLst/>
          </a:prstGeom>
        </p:spPr>
      </p:pic>
      <p:sp>
        <p:nvSpPr>
          <p:cNvPr id="17" name="Text 12"/>
          <p:cNvSpPr/>
          <p:nvPr/>
        </p:nvSpPr>
        <p:spPr>
          <a:xfrm>
            <a:off x="8659368" y="4343400"/>
            <a:ext cx="2691079" cy="365760"/>
          </a:xfrm>
          <a:prstGeom prst="rect">
            <a:avLst/>
          </a:prstGeom>
          <a:noFill/>
          <a:ln/>
        </p:spPr>
        <p:txBody>
          <a:bodyPr wrap="square" rtlCol="0" anchor="ctr"/>
          <a:lstStyle/>
          <a:p>
            <a:pPr marL="0" indent="0">
              <a:buNone/>
            </a:pPr>
            <a:r>
              <a:rPr lang="en-US" sz="1500" b="1" dirty="0">
                <a:solidFill>
                  <a:srgbClr val="F3F6FB"/>
                </a:solidFill>
                <a:latin typeface="Segoe UI Semibold" pitchFamily="34" charset="0"/>
                <a:ea typeface="Segoe UI Semibold" pitchFamily="34" charset="-122"/>
                <a:cs typeface="Segoe UI Semibold" pitchFamily="34" charset="-120"/>
              </a:rPr>
              <a:t>Your systems</a:t>
            </a:r>
            <a:endParaRPr lang="en-US" sz="1500" dirty="0"/>
          </a:p>
        </p:txBody>
      </p:sp>
      <p:sp>
        <p:nvSpPr>
          <p:cNvPr id="18" name="Text 13"/>
          <p:cNvSpPr/>
          <p:nvPr/>
        </p:nvSpPr>
        <p:spPr>
          <a:xfrm>
            <a:off x="8659368" y="4663440"/>
            <a:ext cx="2691079" cy="457200"/>
          </a:xfrm>
          <a:prstGeom prst="rect">
            <a:avLst/>
          </a:prstGeom>
          <a:noFill/>
          <a:ln/>
        </p:spPr>
        <p:txBody>
          <a:bodyPr wrap="square" rtlCol="0" anchor="ctr"/>
          <a:lstStyle/>
          <a:p>
            <a:pPr marL="0" indent="0">
              <a:buNone/>
            </a:pPr>
            <a:r>
              <a:rPr lang="en-US" sz="1200" dirty="0">
                <a:solidFill>
                  <a:srgbClr val="AAB6C7"/>
                </a:solidFill>
                <a:latin typeface="Segoe UI" pitchFamily="34" charset="0"/>
                <a:ea typeface="Segoe UI" pitchFamily="34" charset="-122"/>
                <a:cs typeface="Segoe UI" pitchFamily="34" charset="-120"/>
              </a:rPr>
              <a:t>SAP S/4HANA, TRM, analytics, non-SAP apps</a:t>
            </a:r>
            <a:endParaRPr lang="en-US" sz="1200" dirty="0"/>
          </a:p>
        </p:txBody>
      </p:sp>
      <p:sp>
        <p:nvSpPr>
          <p:cNvPr id="19" name="Shape 14"/>
          <p:cNvSpPr/>
          <p:nvPr/>
        </p:nvSpPr>
        <p:spPr>
          <a:xfrm>
            <a:off x="3813048" y="4183380"/>
            <a:ext cx="457200" cy="0"/>
          </a:xfrm>
          <a:prstGeom prst="line">
            <a:avLst/>
          </a:prstGeom>
          <a:noFill/>
          <a:ln w="25400">
            <a:solidFill>
              <a:srgbClr val="FFC96B"/>
            </a:solidFill>
            <a:prstDash val="solid"/>
            <a:tailEnd type="triangle"/>
          </a:ln>
        </p:spPr>
        <p:txBody>
          <a:bodyPr/>
          <a:lstStyle/>
          <a:p>
            <a:endParaRPr lang="en-US"/>
          </a:p>
        </p:txBody>
      </p:sp>
      <p:sp>
        <p:nvSpPr>
          <p:cNvPr id="20" name="Shape 15"/>
          <p:cNvSpPr/>
          <p:nvPr/>
        </p:nvSpPr>
        <p:spPr>
          <a:xfrm>
            <a:off x="7927848" y="4183380"/>
            <a:ext cx="457200" cy="0"/>
          </a:xfrm>
          <a:prstGeom prst="line">
            <a:avLst/>
          </a:prstGeom>
          <a:noFill/>
          <a:ln w="25400">
            <a:solidFill>
              <a:srgbClr val="FFC96B"/>
            </a:solidFill>
            <a:prstDash val="solid"/>
            <a:tailEnd type="triangle"/>
          </a:ln>
        </p:spPr>
        <p:txBody>
          <a:bodyPr/>
          <a:lstStyle/>
          <a:p>
            <a:endParaRPr lang="en-US"/>
          </a:p>
        </p:txBody>
      </p:sp>
      <p:sp>
        <p:nvSpPr>
          <p:cNvPr id="21" name="Text 16"/>
          <p:cNvSpPr/>
          <p:nvPr/>
        </p:nvSpPr>
        <p:spPr>
          <a:xfrm>
            <a:off x="566928" y="5532120"/>
            <a:ext cx="11057839" cy="457200"/>
          </a:xfrm>
          <a:prstGeom prst="rect">
            <a:avLst/>
          </a:prstGeom>
          <a:noFill/>
          <a:ln/>
        </p:spPr>
        <p:txBody>
          <a:bodyPr wrap="square" rtlCol="0" anchor="ctr"/>
          <a:lstStyle/>
          <a:p>
            <a:pPr marL="0" indent="0">
              <a:buNone/>
            </a:pPr>
            <a:r>
              <a:rPr lang="en-US" sz="1600" dirty="0">
                <a:solidFill>
                  <a:srgbClr val="3BE3E0"/>
                </a:solidFill>
                <a:latin typeface="Segoe UI" pitchFamily="34" charset="0"/>
                <a:ea typeface="Segoe UI" pitchFamily="34" charset="-122"/>
                <a:cs typeface="Segoe UI" pitchFamily="34" charset="-120"/>
              </a:rPr>
              <a:t>TreasuryCentral is that middle, so one clean, governed set of data drives every treasury decision on its own.</a:t>
            </a:r>
            <a:endParaRPr lang="en-US" sz="1600" dirty="0"/>
          </a:p>
        </p:txBody>
      </p:sp>
      <p:sp>
        <p:nvSpPr>
          <p:cNvPr id="22" name="Text 17"/>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TreasuryCentral, powered by OnePilot</a:t>
            </a:r>
            <a:endParaRPr lang="en-US" sz="900" dirty="0"/>
          </a:p>
        </p:txBody>
      </p:sp>
      <p:sp>
        <p:nvSpPr>
          <p:cNvPr id="23" name="Text 18"/>
          <p:cNvSpPr/>
          <p:nvPr/>
        </p:nvSpPr>
        <p:spPr>
          <a:xfrm>
            <a:off x="10527487" y="6400800"/>
            <a:ext cx="1097280" cy="274320"/>
          </a:xfrm>
          <a:prstGeom prst="rect">
            <a:avLst/>
          </a:prstGeom>
          <a:noFill/>
          <a:ln/>
        </p:spPr>
        <p:txBody>
          <a:bodyPr wrap="square" rtlCol="0" anchor="ctr"/>
          <a:lstStyle/>
          <a:p>
            <a:pPr marL="0" indent="0" algn="r">
              <a:buNone/>
            </a:pPr>
            <a:r>
              <a:rPr lang="en-US" sz="900" dirty="0">
                <a:solidFill>
                  <a:srgbClr val="AAB6C7"/>
                </a:solidFill>
                <a:latin typeface="Segoe UI" pitchFamily="34" charset="0"/>
                <a:ea typeface="Segoe UI" pitchFamily="34" charset="-122"/>
                <a:cs typeface="Segoe UI" pitchFamily="34" charset="-120"/>
              </a:rPr>
              <a:t>02 / 10</a:t>
            </a:r>
            <a:endParaRPr lang="en-US" sz="900" dirty="0"/>
          </a:p>
        </p:txBody>
      </p:sp>
      <p:sp>
        <p:nvSpPr>
          <p:cNvPr id="24" name="Shape 19"/>
          <p:cNvSpPr/>
          <p:nvPr/>
        </p:nvSpPr>
        <p:spPr>
          <a:xfrm>
            <a:off x="566928" y="6327648"/>
            <a:ext cx="11057839" cy="0"/>
          </a:xfrm>
          <a:prstGeom prst="line">
            <a:avLst/>
          </a:prstGeom>
          <a:noFill/>
          <a:ln w="9525">
            <a:solidFill>
              <a:srgbClr val="36414F"/>
            </a:solidFill>
            <a:prstDash val="solid"/>
          </a:ln>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3" name="Text 1"/>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THE SOLUTION</a:t>
            </a:r>
            <a:endParaRPr lang="en-US" sz="1200" dirty="0"/>
          </a:p>
        </p:txBody>
      </p:sp>
      <p:sp>
        <p:nvSpPr>
          <p:cNvPr id="4" name="Text 2"/>
          <p:cNvSpPr/>
          <p:nvPr/>
        </p:nvSpPr>
        <p:spPr>
          <a:xfrm>
            <a:off x="566928" y="960120"/>
            <a:ext cx="10972800" cy="731520"/>
          </a:xfrm>
          <a:prstGeom prst="rect">
            <a:avLst/>
          </a:prstGeom>
          <a:noFill/>
          <a:ln/>
        </p:spPr>
        <p:txBody>
          <a:bodyPr wrap="square" rtlCol="0" anchor="ctr"/>
          <a:lstStyle/>
          <a:p>
            <a:pPr marL="0" indent="0">
              <a:buNone/>
            </a:pPr>
            <a:r>
              <a:rPr lang="en-US" sz="3000" b="1" dirty="0">
                <a:solidFill>
                  <a:srgbClr val="F3F6FB"/>
                </a:solidFill>
                <a:latin typeface="Segoe UI Semibold" pitchFamily="34" charset="0"/>
                <a:ea typeface="Segoe UI Semibold" pitchFamily="34" charset="-122"/>
                <a:cs typeface="Segoe UI Semibold" pitchFamily="34" charset="-120"/>
              </a:rPr>
              <a:t>One cockpit for the whole treasury.</a:t>
            </a:r>
            <a:endParaRPr lang="en-US" sz="3000" dirty="0"/>
          </a:p>
        </p:txBody>
      </p:sp>
      <p:sp>
        <p:nvSpPr>
          <p:cNvPr id="5" name="Text 3"/>
          <p:cNvSpPr/>
          <p:nvPr/>
        </p:nvSpPr>
        <p:spPr>
          <a:xfrm>
            <a:off x="566928" y="1783080"/>
            <a:ext cx="10881360" cy="960120"/>
          </a:xfrm>
          <a:prstGeom prst="rect">
            <a:avLst/>
          </a:prstGeom>
          <a:noFill/>
          <a:ln/>
        </p:spPr>
        <p:txBody>
          <a:bodyPr wrap="square" rtlCol="0" anchor="t"/>
          <a:lstStyle/>
          <a:p>
            <a:pPr marL="0" indent="0">
              <a:lnSpc>
                <a:spcPct val="128000"/>
              </a:lnSpc>
              <a:buNone/>
            </a:pPr>
            <a:r>
              <a:rPr lang="en-US" sz="1650" dirty="0">
                <a:solidFill>
                  <a:srgbClr val="AAB6C7"/>
                </a:solidFill>
                <a:latin typeface="Segoe UI" pitchFamily="34" charset="0"/>
                <a:ea typeface="Segoe UI" pitchFamily="34" charset="-122"/>
                <a:cs typeface="Segoe UI" pitchFamily="34" charset="-120"/>
              </a:rPr>
              <a:t>The command center your team runs treasury from, on live SAP data, with market data, trading, and AI automation and orchestration around it. </a:t>
            </a:r>
            <a:r>
              <a:rPr lang="en-US" sz="1650" dirty="0">
                <a:solidFill>
                  <a:srgbClr val="3BE3E0"/>
                </a:solidFill>
                <a:latin typeface="Segoe UI" pitchFamily="34" charset="0"/>
                <a:ea typeface="Segoe UI" pitchFamily="34" charset="-122"/>
                <a:cs typeface="Segoe UI" pitchFamily="34" charset="-120"/>
              </a:rPr>
              <a:t>All live with customers today, not on a roadmap.</a:t>
            </a:r>
            <a:endParaRPr lang="en-US" sz="1650" dirty="0"/>
          </a:p>
        </p:txBody>
      </p:sp>
      <p:sp>
        <p:nvSpPr>
          <p:cNvPr id="6" name="Shape 4"/>
          <p:cNvSpPr/>
          <p:nvPr/>
        </p:nvSpPr>
        <p:spPr>
          <a:xfrm>
            <a:off x="566928" y="3200400"/>
            <a:ext cx="3442106" cy="1737360"/>
          </a:xfrm>
          <a:prstGeom prst="roundRect">
            <a:avLst>
              <a:gd name="adj" fmla="val 4737"/>
            </a:avLst>
          </a:prstGeom>
          <a:solidFill>
            <a:srgbClr val="141A25"/>
          </a:solidFill>
          <a:ln w="13970">
            <a:solidFill>
              <a:srgbClr val="36414F"/>
            </a:solidFill>
            <a:prstDash val="solid"/>
          </a:ln>
        </p:spPr>
        <p:txBody>
          <a:bodyPr/>
          <a:lstStyle/>
          <a:p>
            <a:endParaRPr lang="en-US"/>
          </a:p>
        </p:txBody>
      </p:sp>
      <p:sp>
        <p:nvSpPr>
          <p:cNvPr id="7" name="Shape 5"/>
          <p:cNvSpPr/>
          <p:nvPr/>
        </p:nvSpPr>
        <p:spPr>
          <a:xfrm>
            <a:off x="841248" y="3493008"/>
            <a:ext cx="603504" cy="603504"/>
          </a:xfrm>
          <a:prstGeom prst="roundRect">
            <a:avLst>
              <a:gd name="adj" fmla="val 16667"/>
            </a:avLst>
          </a:prstGeom>
          <a:solidFill>
            <a:srgbClr val="1B2330"/>
          </a:solidFill>
          <a:ln w="15240">
            <a:solidFill>
              <a:srgbClr val="3BE3E0"/>
            </a:solidFill>
            <a:prstDash val="solid"/>
          </a:ln>
        </p:spPr>
        <p:txBody>
          <a:bodyPr/>
          <a:lstStyle/>
          <a:p>
            <a:endParaRPr lang="en-US"/>
          </a:p>
        </p:txBody>
      </p:sp>
      <p:pic>
        <p:nvPicPr>
          <p:cNvPr id="8" name="Image 0" descr="C:/Users/neuma_p1qrsic/Repo/agentic-ops1/.scratch/icons/link.png"/>
          <p:cNvPicPr>
            <a:picLocks noChangeAspect="1"/>
          </p:cNvPicPr>
          <p:nvPr/>
        </p:nvPicPr>
        <p:blipFill>
          <a:blip r:embed="rId3"/>
          <a:stretch>
            <a:fillRect/>
          </a:stretch>
        </p:blipFill>
        <p:spPr>
          <a:xfrm>
            <a:off x="986089" y="3637849"/>
            <a:ext cx="313822" cy="313822"/>
          </a:xfrm>
          <a:prstGeom prst="rect">
            <a:avLst/>
          </a:prstGeom>
        </p:spPr>
      </p:pic>
      <p:sp>
        <p:nvSpPr>
          <p:cNvPr id="9" name="Text 6"/>
          <p:cNvSpPr/>
          <p:nvPr/>
        </p:nvSpPr>
        <p:spPr>
          <a:xfrm>
            <a:off x="1572768" y="3511296"/>
            <a:ext cx="2253386" cy="566928"/>
          </a:xfrm>
          <a:prstGeom prst="rect">
            <a:avLst/>
          </a:prstGeom>
          <a:noFill/>
          <a:ln/>
        </p:spPr>
        <p:txBody>
          <a:bodyPr wrap="square" rtlCol="0" anchor="ctr"/>
          <a:lstStyle/>
          <a:p>
            <a:pPr marL="0" indent="0">
              <a:buNone/>
            </a:pPr>
            <a:r>
              <a:rPr lang="en-US" sz="1700" b="1" dirty="0">
                <a:solidFill>
                  <a:srgbClr val="F3F6FB"/>
                </a:solidFill>
                <a:latin typeface="Segoe UI Semibold" pitchFamily="34" charset="0"/>
                <a:ea typeface="Segoe UI Semibold" pitchFamily="34" charset="-122"/>
                <a:cs typeface="Segoe UI Semibold" pitchFamily="34" charset="-120"/>
              </a:rPr>
              <a:t>Market data</a:t>
            </a:r>
            <a:endParaRPr lang="en-US" sz="1700" dirty="0"/>
          </a:p>
        </p:txBody>
      </p:sp>
      <p:sp>
        <p:nvSpPr>
          <p:cNvPr id="10" name="Text 7"/>
          <p:cNvSpPr/>
          <p:nvPr/>
        </p:nvSpPr>
        <p:spPr>
          <a:xfrm>
            <a:off x="841248" y="4224528"/>
            <a:ext cx="2893466" cy="594360"/>
          </a:xfrm>
          <a:prstGeom prst="rect">
            <a:avLst/>
          </a:prstGeom>
          <a:noFill/>
          <a:ln/>
        </p:spPr>
        <p:txBody>
          <a:bodyPr wrap="square" rtlCol="0" anchor="t"/>
          <a:lstStyle/>
          <a:p>
            <a:pPr marL="0" indent="0">
              <a:lnSpc>
                <a:spcPct val="112000"/>
              </a:lnSpc>
              <a:buNone/>
            </a:pPr>
            <a:r>
              <a:rPr lang="en-US" sz="1250" dirty="0">
                <a:solidFill>
                  <a:srgbClr val="AAB6C7"/>
                </a:solidFill>
                <a:latin typeface="Segoe UI" pitchFamily="34" charset="0"/>
                <a:ea typeface="Segoe UI" pitchFamily="34" charset="-122"/>
                <a:cs typeface="Segoe UI" pitchFamily="34" charset="-120"/>
              </a:rPr>
              <a:t>Every rate and reference, curated once</a:t>
            </a:r>
            <a:endParaRPr lang="en-US" sz="1250" dirty="0"/>
          </a:p>
        </p:txBody>
      </p:sp>
      <p:sp>
        <p:nvSpPr>
          <p:cNvPr id="11" name="Shape 8"/>
          <p:cNvSpPr/>
          <p:nvPr/>
        </p:nvSpPr>
        <p:spPr>
          <a:xfrm>
            <a:off x="4374794" y="3200400"/>
            <a:ext cx="3442106" cy="1737360"/>
          </a:xfrm>
          <a:prstGeom prst="roundRect">
            <a:avLst>
              <a:gd name="adj" fmla="val 4737"/>
            </a:avLst>
          </a:prstGeom>
          <a:solidFill>
            <a:srgbClr val="141A25"/>
          </a:solidFill>
          <a:ln w="13970">
            <a:solidFill>
              <a:srgbClr val="36414F"/>
            </a:solidFill>
            <a:prstDash val="solid"/>
          </a:ln>
        </p:spPr>
        <p:txBody>
          <a:bodyPr/>
          <a:lstStyle/>
          <a:p>
            <a:endParaRPr lang="en-US"/>
          </a:p>
        </p:txBody>
      </p:sp>
      <p:sp>
        <p:nvSpPr>
          <p:cNvPr id="12" name="Shape 9"/>
          <p:cNvSpPr/>
          <p:nvPr/>
        </p:nvSpPr>
        <p:spPr>
          <a:xfrm>
            <a:off x="4649114" y="3493008"/>
            <a:ext cx="603504" cy="603504"/>
          </a:xfrm>
          <a:prstGeom prst="roundRect">
            <a:avLst>
              <a:gd name="adj" fmla="val 16667"/>
            </a:avLst>
          </a:prstGeom>
          <a:solidFill>
            <a:srgbClr val="1B2330"/>
          </a:solidFill>
          <a:ln w="15240">
            <a:solidFill>
              <a:srgbClr val="3BE3E0"/>
            </a:solidFill>
            <a:prstDash val="solid"/>
          </a:ln>
        </p:spPr>
        <p:txBody>
          <a:bodyPr/>
          <a:lstStyle/>
          <a:p>
            <a:endParaRPr lang="en-US"/>
          </a:p>
        </p:txBody>
      </p:sp>
      <p:pic>
        <p:nvPicPr>
          <p:cNvPr id="13" name="Image 1" descr="C:/Users/neuma_p1qrsic/Repo/agentic-ops1/.scratch/icons/merge.png"/>
          <p:cNvPicPr>
            <a:picLocks noChangeAspect="1"/>
          </p:cNvPicPr>
          <p:nvPr/>
        </p:nvPicPr>
        <p:blipFill>
          <a:blip r:embed="rId4"/>
          <a:stretch>
            <a:fillRect/>
          </a:stretch>
        </p:blipFill>
        <p:spPr>
          <a:xfrm>
            <a:off x="4793955" y="3637849"/>
            <a:ext cx="313822" cy="313822"/>
          </a:xfrm>
          <a:prstGeom prst="rect">
            <a:avLst/>
          </a:prstGeom>
        </p:spPr>
      </p:pic>
      <p:sp>
        <p:nvSpPr>
          <p:cNvPr id="14" name="Text 10"/>
          <p:cNvSpPr/>
          <p:nvPr/>
        </p:nvSpPr>
        <p:spPr>
          <a:xfrm>
            <a:off x="5380634" y="3511296"/>
            <a:ext cx="2253386" cy="566928"/>
          </a:xfrm>
          <a:prstGeom prst="rect">
            <a:avLst/>
          </a:prstGeom>
          <a:noFill/>
          <a:ln/>
        </p:spPr>
        <p:txBody>
          <a:bodyPr wrap="square" rtlCol="0" anchor="ctr"/>
          <a:lstStyle/>
          <a:p>
            <a:pPr marL="0" indent="0">
              <a:buNone/>
            </a:pPr>
            <a:r>
              <a:rPr lang="en-US" sz="1700" b="1" dirty="0">
                <a:solidFill>
                  <a:srgbClr val="F3F6FB"/>
                </a:solidFill>
                <a:latin typeface="Segoe UI Semibold" pitchFamily="34" charset="0"/>
                <a:ea typeface="Segoe UI Semibold" pitchFamily="34" charset="-122"/>
                <a:cs typeface="Segoe UI Semibold" pitchFamily="34" charset="-120"/>
              </a:rPr>
              <a:t>Trading</a:t>
            </a:r>
            <a:endParaRPr lang="en-US" sz="1700" dirty="0"/>
          </a:p>
        </p:txBody>
      </p:sp>
      <p:sp>
        <p:nvSpPr>
          <p:cNvPr id="15" name="Text 11"/>
          <p:cNvSpPr/>
          <p:nvPr/>
        </p:nvSpPr>
        <p:spPr>
          <a:xfrm>
            <a:off x="4649114" y="4224528"/>
            <a:ext cx="2893466" cy="594360"/>
          </a:xfrm>
          <a:prstGeom prst="rect">
            <a:avLst/>
          </a:prstGeom>
          <a:noFill/>
          <a:ln/>
        </p:spPr>
        <p:txBody>
          <a:bodyPr wrap="square" rtlCol="0" anchor="t"/>
          <a:lstStyle/>
          <a:p>
            <a:pPr marL="0" indent="0">
              <a:lnSpc>
                <a:spcPct val="112000"/>
              </a:lnSpc>
              <a:buNone/>
            </a:pPr>
            <a:r>
              <a:rPr lang="en-US" sz="1250" dirty="0">
                <a:solidFill>
                  <a:srgbClr val="AAB6C7"/>
                </a:solidFill>
                <a:latin typeface="Segoe UI" pitchFamily="34" charset="0"/>
                <a:ea typeface="Segoe UI" pitchFamily="34" charset="-122"/>
                <a:cs typeface="Segoe UI" pitchFamily="34" charset="-120"/>
              </a:rPr>
              <a:t>From capture to the deal in SAP</a:t>
            </a:r>
            <a:endParaRPr lang="en-US" sz="1250" dirty="0"/>
          </a:p>
        </p:txBody>
      </p:sp>
      <p:sp>
        <p:nvSpPr>
          <p:cNvPr id="16" name="Shape 12"/>
          <p:cNvSpPr/>
          <p:nvPr/>
        </p:nvSpPr>
        <p:spPr>
          <a:xfrm>
            <a:off x="8182661" y="3200400"/>
            <a:ext cx="3442106" cy="1737360"/>
          </a:xfrm>
          <a:prstGeom prst="roundRect">
            <a:avLst>
              <a:gd name="adj" fmla="val 4737"/>
            </a:avLst>
          </a:prstGeom>
          <a:solidFill>
            <a:srgbClr val="141A25"/>
          </a:solidFill>
          <a:ln w="13970">
            <a:solidFill>
              <a:srgbClr val="36414F"/>
            </a:solidFill>
            <a:prstDash val="solid"/>
          </a:ln>
        </p:spPr>
        <p:txBody>
          <a:bodyPr/>
          <a:lstStyle/>
          <a:p>
            <a:endParaRPr lang="en-US"/>
          </a:p>
        </p:txBody>
      </p:sp>
      <p:sp>
        <p:nvSpPr>
          <p:cNvPr id="17" name="Shape 13"/>
          <p:cNvSpPr/>
          <p:nvPr/>
        </p:nvSpPr>
        <p:spPr>
          <a:xfrm>
            <a:off x="8456981" y="3493008"/>
            <a:ext cx="603504" cy="603504"/>
          </a:xfrm>
          <a:prstGeom prst="roundRect">
            <a:avLst>
              <a:gd name="adj" fmla="val 16667"/>
            </a:avLst>
          </a:prstGeom>
          <a:solidFill>
            <a:srgbClr val="1B2330"/>
          </a:solidFill>
          <a:ln w="15240">
            <a:solidFill>
              <a:srgbClr val="3BE3E0"/>
            </a:solidFill>
            <a:prstDash val="solid"/>
          </a:ln>
        </p:spPr>
        <p:txBody>
          <a:bodyPr/>
          <a:lstStyle/>
          <a:p>
            <a:endParaRPr lang="en-US"/>
          </a:p>
        </p:txBody>
      </p:sp>
      <p:pic>
        <p:nvPicPr>
          <p:cNvPr id="18" name="Image 2" descr="C:/Users/neuma_p1qrsic/Repo/agentic-ops1/.scratch/icons/spark.png"/>
          <p:cNvPicPr>
            <a:picLocks noChangeAspect="1"/>
          </p:cNvPicPr>
          <p:nvPr/>
        </p:nvPicPr>
        <p:blipFill>
          <a:blip r:embed="rId5"/>
          <a:stretch>
            <a:fillRect/>
          </a:stretch>
        </p:blipFill>
        <p:spPr>
          <a:xfrm>
            <a:off x="8601822" y="3637849"/>
            <a:ext cx="313822" cy="313822"/>
          </a:xfrm>
          <a:prstGeom prst="rect">
            <a:avLst/>
          </a:prstGeom>
        </p:spPr>
      </p:pic>
      <p:sp>
        <p:nvSpPr>
          <p:cNvPr id="19" name="Text 14"/>
          <p:cNvSpPr/>
          <p:nvPr/>
        </p:nvSpPr>
        <p:spPr>
          <a:xfrm>
            <a:off x="9188501" y="3511296"/>
            <a:ext cx="2253386" cy="566928"/>
          </a:xfrm>
          <a:prstGeom prst="rect">
            <a:avLst/>
          </a:prstGeom>
          <a:noFill/>
          <a:ln/>
        </p:spPr>
        <p:txBody>
          <a:bodyPr wrap="square" rtlCol="0" anchor="ctr"/>
          <a:lstStyle/>
          <a:p>
            <a:pPr marL="0" indent="0">
              <a:buNone/>
            </a:pPr>
            <a:r>
              <a:rPr lang="en-US" sz="1700" b="1" dirty="0">
                <a:solidFill>
                  <a:srgbClr val="F3F6FB"/>
                </a:solidFill>
                <a:latin typeface="Segoe UI Semibold" pitchFamily="34" charset="0"/>
                <a:ea typeface="Segoe UI Semibold" pitchFamily="34" charset="-122"/>
                <a:cs typeface="Segoe UI Semibold" pitchFamily="34" charset="-120"/>
              </a:rPr>
              <a:t>AI automation</a:t>
            </a:r>
            <a:endParaRPr lang="en-US" sz="1700" dirty="0"/>
          </a:p>
        </p:txBody>
      </p:sp>
      <p:sp>
        <p:nvSpPr>
          <p:cNvPr id="20" name="Text 15"/>
          <p:cNvSpPr/>
          <p:nvPr/>
        </p:nvSpPr>
        <p:spPr>
          <a:xfrm>
            <a:off x="8456981" y="4224528"/>
            <a:ext cx="2893466" cy="594360"/>
          </a:xfrm>
          <a:prstGeom prst="rect">
            <a:avLst/>
          </a:prstGeom>
          <a:noFill/>
          <a:ln/>
        </p:spPr>
        <p:txBody>
          <a:bodyPr wrap="square" rtlCol="0" anchor="t"/>
          <a:lstStyle/>
          <a:p>
            <a:pPr marL="0" indent="0">
              <a:lnSpc>
                <a:spcPct val="112000"/>
              </a:lnSpc>
              <a:buNone/>
            </a:pPr>
            <a:r>
              <a:rPr lang="en-US" sz="1250" dirty="0">
                <a:solidFill>
                  <a:srgbClr val="AAB6C7"/>
                </a:solidFill>
                <a:latin typeface="Segoe UI" pitchFamily="34" charset="0"/>
                <a:ea typeface="Segoe UI" pitchFamily="34" charset="-122"/>
                <a:cs typeface="Segoe UI" pitchFamily="34" charset="-120"/>
              </a:rPr>
              <a:t>Digital co-workers on your SAP data</a:t>
            </a:r>
            <a:endParaRPr lang="en-US" sz="1250" dirty="0"/>
          </a:p>
        </p:txBody>
      </p:sp>
      <p:sp>
        <p:nvSpPr>
          <p:cNvPr id="21" name="Shape 16"/>
          <p:cNvSpPr/>
          <p:nvPr/>
        </p:nvSpPr>
        <p:spPr>
          <a:xfrm>
            <a:off x="566928" y="5212080"/>
            <a:ext cx="11057839" cy="749808"/>
          </a:xfrm>
          <a:prstGeom prst="roundRect">
            <a:avLst>
              <a:gd name="adj" fmla="val 9756"/>
            </a:avLst>
          </a:prstGeom>
          <a:solidFill>
            <a:srgbClr val="10222A"/>
          </a:solidFill>
          <a:ln w="16510">
            <a:solidFill>
              <a:srgbClr val="3BE3E0"/>
            </a:solidFill>
            <a:prstDash val="solid"/>
          </a:ln>
        </p:spPr>
        <p:txBody>
          <a:bodyPr/>
          <a:lstStyle/>
          <a:p>
            <a:endParaRPr lang="en-US"/>
          </a:p>
        </p:txBody>
      </p:sp>
      <p:pic>
        <p:nvPicPr>
          <p:cNvPr id="22" name="Image 3" descr="C:/Users/neuma_p1qrsic/Repo/agentic-ops1/.scratch/logo/favicon.png"/>
          <p:cNvPicPr>
            <a:picLocks noChangeAspect="1"/>
          </p:cNvPicPr>
          <p:nvPr/>
        </p:nvPicPr>
        <p:blipFill>
          <a:blip r:embed="rId6"/>
          <a:stretch>
            <a:fillRect/>
          </a:stretch>
        </p:blipFill>
        <p:spPr>
          <a:xfrm>
            <a:off x="859536" y="5431536"/>
            <a:ext cx="310896" cy="310896"/>
          </a:xfrm>
          <a:prstGeom prst="rect">
            <a:avLst/>
          </a:prstGeom>
        </p:spPr>
      </p:pic>
      <p:sp>
        <p:nvSpPr>
          <p:cNvPr id="23" name="Text 17"/>
          <p:cNvSpPr/>
          <p:nvPr/>
        </p:nvSpPr>
        <p:spPr>
          <a:xfrm>
            <a:off x="1389888" y="5212080"/>
            <a:ext cx="9960559" cy="749808"/>
          </a:xfrm>
          <a:prstGeom prst="rect">
            <a:avLst/>
          </a:prstGeom>
          <a:noFill/>
          <a:ln/>
        </p:spPr>
        <p:txBody>
          <a:bodyPr wrap="square" rtlCol="0" anchor="ctr"/>
          <a:lstStyle/>
          <a:p>
            <a:pPr marL="0" indent="0">
              <a:lnSpc>
                <a:spcPct val="110000"/>
              </a:lnSpc>
              <a:buNone/>
            </a:pPr>
            <a:r>
              <a:rPr lang="en-US" sz="1400" dirty="0">
                <a:solidFill>
                  <a:srgbClr val="AAB6C7"/>
                </a:solidFill>
                <a:latin typeface="Segoe UI" pitchFamily="34" charset="0"/>
                <a:ea typeface="Segoe UI" pitchFamily="34" charset="-122"/>
                <a:cs typeface="Segoe UI" pitchFamily="34" charset="-120"/>
              </a:rPr>
              <a:t>All of it runs on </a:t>
            </a:r>
            <a:r>
              <a:rPr lang="en-US" sz="1400" b="1" dirty="0">
                <a:solidFill>
                  <a:srgbClr val="3BE3E0"/>
                </a:solidFill>
                <a:latin typeface="Segoe UI" pitchFamily="34" charset="0"/>
                <a:ea typeface="Segoe UI" pitchFamily="34" charset="-122"/>
                <a:cs typeface="Segoe UI" pitchFamily="34" charset="-120"/>
              </a:rPr>
              <a:t>OnePilot</a:t>
            </a:r>
            <a:r>
              <a:rPr lang="en-US" sz="1400" dirty="0">
                <a:solidFill>
                  <a:srgbClr val="F3F6FB"/>
                </a:solidFill>
                <a:latin typeface="Segoe UI" pitchFamily="34" charset="0"/>
                <a:ea typeface="Segoe UI" pitchFamily="34" charset="-122"/>
                <a:cs typeface="Segoe UI" pitchFamily="34" charset="-120"/>
              </a:rPr>
              <a:t>, on your own live SAP data (S/4HANA, ECC, TRM), checked and logged on every value.</a:t>
            </a:r>
            <a:endParaRPr lang="en-US" sz="1400" dirty="0"/>
          </a:p>
        </p:txBody>
      </p:sp>
      <p:sp>
        <p:nvSpPr>
          <p:cNvPr id="24" name="Text 18"/>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TreasuryCentral, powered by OnePilot</a:t>
            </a:r>
            <a:endParaRPr lang="en-US" sz="900" dirty="0"/>
          </a:p>
        </p:txBody>
      </p:sp>
      <p:sp>
        <p:nvSpPr>
          <p:cNvPr id="25" name="Text 19"/>
          <p:cNvSpPr/>
          <p:nvPr/>
        </p:nvSpPr>
        <p:spPr>
          <a:xfrm>
            <a:off x="10527487" y="6400800"/>
            <a:ext cx="1097280" cy="274320"/>
          </a:xfrm>
          <a:prstGeom prst="rect">
            <a:avLst/>
          </a:prstGeom>
          <a:noFill/>
          <a:ln/>
        </p:spPr>
        <p:txBody>
          <a:bodyPr wrap="square" rtlCol="0" anchor="ctr"/>
          <a:lstStyle/>
          <a:p>
            <a:pPr marL="0" indent="0" algn="r">
              <a:buNone/>
            </a:pPr>
            <a:r>
              <a:rPr lang="en-US" sz="900" dirty="0">
                <a:solidFill>
                  <a:srgbClr val="AAB6C7"/>
                </a:solidFill>
                <a:latin typeface="Segoe UI" pitchFamily="34" charset="0"/>
                <a:ea typeface="Segoe UI" pitchFamily="34" charset="-122"/>
                <a:cs typeface="Segoe UI" pitchFamily="34" charset="-120"/>
              </a:rPr>
              <a:t>03 / 10</a:t>
            </a:r>
            <a:endParaRPr lang="en-US" sz="900" dirty="0"/>
          </a:p>
        </p:txBody>
      </p:sp>
      <p:sp>
        <p:nvSpPr>
          <p:cNvPr id="26" name="Shape 20"/>
          <p:cNvSpPr/>
          <p:nvPr/>
        </p:nvSpPr>
        <p:spPr>
          <a:xfrm>
            <a:off x="566928" y="6327648"/>
            <a:ext cx="11057839" cy="0"/>
          </a:xfrm>
          <a:prstGeom prst="line">
            <a:avLst/>
          </a:prstGeom>
          <a:noFill/>
          <a:ln w="9525">
            <a:solidFill>
              <a:srgbClr val="36414F"/>
            </a:solidFill>
            <a:prstDash val="solid"/>
          </a:ln>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21B"/>
        </a:solidFill>
        <a:effectLst/>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3" name="Text 1"/>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WHAT RUNS IN IT</a:t>
            </a:r>
            <a:endParaRPr lang="en-US" sz="1200" dirty="0"/>
          </a:p>
        </p:txBody>
      </p:sp>
      <p:sp>
        <p:nvSpPr>
          <p:cNvPr id="4" name="Text 2"/>
          <p:cNvSpPr/>
          <p:nvPr/>
        </p:nvSpPr>
        <p:spPr>
          <a:xfrm>
            <a:off x="566928" y="960120"/>
            <a:ext cx="10972800" cy="731520"/>
          </a:xfrm>
          <a:prstGeom prst="rect">
            <a:avLst/>
          </a:prstGeom>
          <a:noFill/>
          <a:ln/>
        </p:spPr>
        <p:txBody>
          <a:bodyPr wrap="square" rtlCol="0" anchor="ctr"/>
          <a:lstStyle/>
          <a:p>
            <a:pPr marL="0" indent="0">
              <a:buNone/>
            </a:pPr>
            <a:r>
              <a:rPr lang="en-US" sz="2900" b="1" dirty="0">
                <a:solidFill>
                  <a:srgbClr val="F3F6FB"/>
                </a:solidFill>
                <a:latin typeface="Segoe UI Semibold" pitchFamily="34" charset="0"/>
                <a:ea typeface="Segoe UI Semibold" pitchFamily="34" charset="-122"/>
                <a:cs typeface="Segoe UI Semibold" pitchFamily="34" charset="-120"/>
              </a:rPr>
              <a:t>Three engines, one governed layer.</a:t>
            </a:r>
            <a:endParaRPr lang="en-US" sz="2900" dirty="0"/>
          </a:p>
        </p:txBody>
      </p:sp>
      <p:sp>
        <p:nvSpPr>
          <p:cNvPr id="5" name="Shape 3"/>
          <p:cNvSpPr/>
          <p:nvPr/>
        </p:nvSpPr>
        <p:spPr>
          <a:xfrm>
            <a:off x="566928" y="2148840"/>
            <a:ext cx="3472586" cy="2971800"/>
          </a:xfrm>
          <a:prstGeom prst="roundRect">
            <a:avLst>
              <a:gd name="adj" fmla="val 2769"/>
            </a:avLst>
          </a:prstGeom>
          <a:solidFill>
            <a:srgbClr val="141A25"/>
          </a:solidFill>
          <a:ln w="13970">
            <a:solidFill>
              <a:srgbClr val="36414F"/>
            </a:solidFill>
            <a:prstDash val="solid"/>
          </a:ln>
        </p:spPr>
        <p:txBody>
          <a:bodyPr/>
          <a:lstStyle/>
          <a:p>
            <a:endParaRPr lang="en-US"/>
          </a:p>
        </p:txBody>
      </p:sp>
      <p:sp>
        <p:nvSpPr>
          <p:cNvPr id="6" name="Shape 4"/>
          <p:cNvSpPr/>
          <p:nvPr/>
        </p:nvSpPr>
        <p:spPr>
          <a:xfrm>
            <a:off x="841248" y="2459736"/>
            <a:ext cx="713232" cy="713232"/>
          </a:xfrm>
          <a:prstGeom prst="roundRect">
            <a:avLst>
              <a:gd name="adj" fmla="val 14103"/>
            </a:avLst>
          </a:prstGeom>
          <a:solidFill>
            <a:srgbClr val="1B2330"/>
          </a:solidFill>
          <a:ln w="15240">
            <a:solidFill>
              <a:srgbClr val="3BE3E0"/>
            </a:solidFill>
            <a:prstDash val="solid"/>
          </a:ln>
        </p:spPr>
        <p:txBody>
          <a:bodyPr/>
          <a:lstStyle/>
          <a:p>
            <a:endParaRPr lang="en-US"/>
          </a:p>
        </p:txBody>
      </p:sp>
      <p:pic>
        <p:nvPicPr>
          <p:cNvPr id="7" name="Image 0" descr="C:/Users/neuma_p1qrsic/Repo/agentic-ops1/.scratch/icons/link.png"/>
          <p:cNvPicPr>
            <a:picLocks noChangeAspect="1"/>
          </p:cNvPicPr>
          <p:nvPr/>
        </p:nvPicPr>
        <p:blipFill>
          <a:blip r:embed="rId3"/>
          <a:stretch>
            <a:fillRect/>
          </a:stretch>
        </p:blipFill>
        <p:spPr>
          <a:xfrm>
            <a:off x="1012424" y="2630912"/>
            <a:ext cx="370881" cy="370881"/>
          </a:xfrm>
          <a:prstGeom prst="rect">
            <a:avLst/>
          </a:prstGeom>
        </p:spPr>
      </p:pic>
      <p:sp>
        <p:nvSpPr>
          <p:cNvPr id="8" name="Text 5"/>
          <p:cNvSpPr/>
          <p:nvPr/>
        </p:nvSpPr>
        <p:spPr>
          <a:xfrm>
            <a:off x="841248" y="3319272"/>
            <a:ext cx="2923946" cy="658368"/>
          </a:xfrm>
          <a:prstGeom prst="rect">
            <a:avLst/>
          </a:prstGeom>
          <a:noFill/>
          <a:ln/>
        </p:spPr>
        <p:txBody>
          <a:bodyPr wrap="square" rtlCol="0" anchor="t"/>
          <a:lstStyle/>
          <a:p>
            <a:pPr marL="0" indent="0">
              <a:buNone/>
            </a:pPr>
            <a:r>
              <a:rPr lang="en-US" sz="1800" b="1" dirty="0">
                <a:solidFill>
                  <a:srgbClr val="F3F6FB"/>
                </a:solidFill>
                <a:latin typeface="Segoe UI Semibold" pitchFamily="34" charset="0"/>
                <a:ea typeface="Segoe UI Semibold" pitchFamily="34" charset="-122"/>
                <a:cs typeface="Segoe UI Semibold" pitchFamily="34" charset="-120"/>
              </a:rPr>
              <a:t>Market Data Hub</a:t>
            </a:r>
            <a:endParaRPr lang="en-US" sz="1800" dirty="0"/>
          </a:p>
        </p:txBody>
      </p:sp>
      <p:sp>
        <p:nvSpPr>
          <p:cNvPr id="9" name="Text 6"/>
          <p:cNvSpPr/>
          <p:nvPr/>
        </p:nvSpPr>
        <p:spPr>
          <a:xfrm>
            <a:off x="841248" y="3995928"/>
            <a:ext cx="2923946" cy="1005840"/>
          </a:xfrm>
          <a:prstGeom prst="rect">
            <a:avLst/>
          </a:prstGeom>
          <a:noFill/>
          <a:ln/>
        </p:spPr>
        <p:txBody>
          <a:bodyPr wrap="square" rtlCol="0" anchor="t"/>
          <a:lstStyle/>
          <a:p>
            <a:pPr marL="0" indent="0">
              <a:lnSpc>
                <a:spcPct val="120000"/>
              </a:lnSpc>
              <a:buNone/>
            </a:pPr>
            <a:r>
              <a:rPr lang="en-US" sz="1300" dirty="0">
                <a:solidFill>
                  <a:srgbClr val="AAB6C7"/>
                </a:solidFill>
                <a:latin typeface="Segoe UI" pitchFamily="34" charset="0"/>
                <a:ea typeface="Segoe UI" pitchFamily="34" charset="-122"/>
                <a:cs typeface="Segoe UI" pitchFamily="34" charset="-120"/>
              </a:rPr>
              <a:t>Every rate and reference you rely on, from any source to every system.</a:t>
            </a:r>
            <a:endParaRPr lang="en-US" sz="1300" dirty="0"/>
          </a:p>
        </p:txBody>
      </p:sp>
      <p:sp>
        <p:nvSpPr>
          <p:cNvPr id="10" name="Shape 7"/>
          <p:cNvSpPr/>
          <p:nvPr/>
        </p:nvSpPr>
        <p:spPr>
          <a:xfrm>
            <a:off x="841248" y="4517136"/>
            <a:ext cx="648691" cy="402336"/>
          </a:xfrm>
          <a:prstGeom prst="roundRect">
            <a:avLst>
              <a:gd name="adj" fmla="val 31818"/>
            </a:avLst>
          </a:prstGeom>
          <a:solidFill>
            <a:srgbClr val="FFFFFF"/>
          </a:solidFill>
          <a:ln w="9525">
            <a:solidFill>
              <a:srgbClr val="36414F"/>
            </a:solidFill>
            <a:prstDash val="solid"/>
          </a:ln>
        </p:spPr>
        <p:txBody>
          <a:bodyPr/>
          <a:lstStyle/>
          <a:p>
            <a:endParaRPr lang="en-US"/>
          </a:p>
        </p:txBody>
      </p:sp>
      <p:pic>
        <p:nvPicPr>
          <p:cNvPr id="11" name="Image 1" descr="C:/Users/neuma_p1qrsic/Repo/agentic-ops1/.scratch/deckgen/logos/bloomberg.png"/>
          <p:cNvPicPr>
            <a:picLocks noChangeAspect="1"/>
          </p:cNvPicPr>
          <p:nvPr/>
        </p:nvPicPr>
        <p:blipFill>
          <a:blip r:embed="rId4"/>
          <a:stretch>
            <a:fillRect/>
          </a:stretch>
        </p:blipFill>
        <p:spPr>
          <a:xfrm>
            <a:off x="899630" y="4664696"/>
            <a:ext cx="531926" cy="107216"/>
          </a:xfrm>
          <a:prstGeom prst="rect">
            <a:avLst/>
          </a:prstGeom>
        </p:spPr>
      </p:pic>
      <p:sp>
        <p:nvSpPr>
          <p:cNvPr id="12" name="Shape 8"/>
          <p:cNvSpPr/>
          <p:nvPr/>
        </p:nvSpPr>
        <p:spPr>
          <a:xfrm>
            <a:off x="1599667" y="4517136"/>
            <a:ext cx="648691" cy="402336"/>
          </a:xfrm>
          <a:prstGeom prst="roundRect">
            <a:avLst>
              <a:gd name="adj" fmla="val 31818"/>
            </a:avLst>
          </a:prstGeom>
          <a:solidFill>
            <a:srgbClr val="FFFFFF"/>
          </a:solidFill>
          <a:ln w="9525">
            <a:solidFill>
              <a:srgbClr val="36414F"/>
            </a:solidFill>
            <a:prstDash val="solid"/>
          </a:ln>
        </p:spPr>
        <p:txBody>
          <a:bodyPr/>
          <a:lstStyle/>
          <a:p>
            <a:endParaRPr lang="en-US"/>
          </a:p>
        </p:txBody>
      </p:sp>
      <p:pic>
        <p:nvPicPr>
          <p:cNvPr id="13" name="Image 2" descr="C:/Users/neuma_p1qrsic/Repo/agentic-ops1/.scratch/deckgen/logos/lseg.png"/>
          <p:cNvPicPr>
            <a:picLocks noChangeAspect="1"/>
          </p:cNvPicPr>
          <p:nvPr/>
        </p:nvPicPr>
        <p:blipFill>
          <a:blip r:embed="rId5"/>
          <a:stretch>
            <a:fillRect/>
          </a:stretch>
        </p:blipFill>
        <p:spPr>
          <a:xfrm>
            <a:off x="1658049" y="4648369"/>
            <a:ext cx="531926" cy="139869"/>
          </a:xfrm>
          <a:prstGeom prst="rect">
            <a:avLst/>
          </a:prstGeom>
        </p:spPr>
      </p:pic>
      <p:sp>
        <p:nvSpPr>
          <p:cNvPr id="14" name="Shape 9"/>
          <p:cNvSpPr/>
          <p:nvPr/>
        </p:nvSpPr>
        <p:spPr>
          <a:xfrm>
            <a:off x="2358085" y="4517136"/>
            <a:ext cx="648691" cy="402336"/>
          </a:xfrm>
          <a:prstGeom prst="roundRect">
            <a:avLst>
              <a:gd name="adj" fmla="val 31818"/>
            </a:avLst>
          </a:prstGeom>
          <a:solidFill>
            <a:srgbClr val="FFFFFF"/>
          </a:solidFill>
          <a:ln w="9525">
            <a:solidFill>
              <a:srgbClr val="36414F"/>
            </a:solidFill>
            <a:prstDash val="solid"/>
          </a:ln>
        </p:spPr>
        <p:txBody>
          <a:bodyPr/>
          <a:lstStyle/>
          <a:p>
            <a:endParaRPr lang="en-US"/>
          </a:p>
        </p:txBody>
      </p:sp>
      <p:pic>
        <p:nvPicPr>
          <p:cNvPr id="15" name="Image 3" descr="C:/Users/neuma_p1qrsic/Repo/agentic-ops1/.scratch/deckgen/logos/ice.png"/>
          <p:cNvPicPr>
            <a:picLocks noChangeAspect="1"/>
          </p:cNvPicPr>
          <p:nvPr/>
        </p:nvPicPr>
        <p:blipFill>
          <a:blip r:embed="rId6"/>
          <a:stretch>
            <a:fillRect/>
          </a:stretch>
        </p:blipFill>
        <p:spPr>
          <a:xfrm>
            <a:off x="2549660" y="4585533"/>
            <a:ext cx="265542" cy="265542"/>
          </a:xfrm>
          <a:prstGeom prst="rect">
            <a:avLst/>
          </a:prstGeom>
        </p:spPr>
      </p:pic>
      <p:sp>
        <p:nvSpPr>
          <p:cNvPr id="16" name="Shape 10"/>
          <p:cNvSpPr/>
          <p:nvPr/>
        </p:nvSpPr>
        <p:spPr>
          <a:xfrm>
            <a:off x="3116504" y="4517136"/>
            <a:ext cx="648691" cy="402336"/>
          </a:xfrm>
          <a:prstGeom prst="roundRect">
            <a:avLst>
              <a:gd name="adj" fmla="val 31818"/>
            </a:avLst>
          </a:prstGeom>
          <a:solidFill>
            <a:srgbClr val="FFFFFF"/>
          </a:solidFill>
          <a:ln w="9525">
            <a:solidFill>
              <a:srgbClr val="36414F"/>
            </a:solidFill>
            <a:prstDash val="solid"/>
          </a:ln>
        </p:spPr>
        <p:txBody>
          <a:bodyPr/>
          <a:lstStyle/>
          <a:p>
            <a:endParaRPr lang="en-US"/>
          </a:p>
        </p:txBody>
      </p:sp>
      <p:pic>
        <p:nvPicPr>
          <p:cNvPr id="17" name="Image 4" descr="C:/Users/neuma_p1qrsic/Repo/agentic-ops1/.scratch/deckgen/logos/cme.png"/>
          <p:cNvPicPr>
            <a:picLocks noChangeAspect="1"/>
          </p:cNvPicPr>
          <p:nvPr/>
        </p:nvPicPr>
        <p:blipFill>
          <a:blip r:embed="rId7"/>
          <a:stretch>
            <a:fillRect/>
          </a:stretch>
        </p:blipFill>
        <p:spPr>
          <a:xfrm>
            <a:off x="3174886" y="4677371"/>
            <a:ext cx="531926" cy="81867"/>
          </a:xfrm>
          <a:prstGeom prst="rect">
            <a:avLst/>
          </a:prstGeom>
        </p:spPr>
      </p:pic>
      <p:sp>
        <p:nvSpPr>
          <p:cNvPr id="18" name="Shape 11"/>
          <p:cNvSpPr/>
          <p:nvPr/>
        </p:nvSpPr>
        <p:spPr>
          <a:xfrm>
            <a:off x="4359554" y="2148840"/>
            <a:ext cx="3472586" cy="2971800"/>
          </a:xfrm>
          <a:prstGeom prst="roundRect">
            <a:avLst>
              <a:gd name="adj" fmla="val 2769"/>
            </a:avLst>
          </a:prstGeom>
          <a:solidFill>
            <a:srgbClr val="141A25"/>
          </a:solidFill>
          <a:ln w="13970">
            <a:solidFill>
              <a:srgbClr val="36414F"/>
            </a:solidFill>
            <a:prstDash val="solid"/>
          </a:ln>
        </p:spPr>
        <p:txBody>
          <a:bodyPr/>
          <a:lstStyle/>
          <a:p>
            <a:endParaRPr lang="en-US"/>
          </a:p>
        </p:txBody>
      </p:sp>
      <p:sp>
        <p:nvSpPr>
          <p:cNvPr id="19" name="Shape 12"/>
          <p:cNvSpPr/>
          <p:nvPr/>
        </p:nvSpPr>
        <p:spPr>
          <a:xfrm>
            <a:off x="4633874" y="2459736"/>
            <a:ext cx="713232" cy="713232"/>
          </a:xfrm>
          <a:prstGeom prst="roundRect">
            <a:avLst>
              <a:gd name="adj" fmla="val 14103"/>
            </a:avLst>
          </a:prstGeom>
          <a:solidFill>
            <a:srgbClr val="1B2330"/>
          </a:solidFill>
          <a:ln w="15240">
            <a:solidFill>
              <a:srgbClr val="3BE3E0"/>
            </a:solidFill>
            <a:prstDash val="solid"/>
          </a:ln>
        </p:spPr>
        <p:txBody>
          <a:bodyPr/>
          <a:lstStyle/>
          <a:p>
            <a:endParaRPr lang="en-US"/>
          </a:p>
        </p:txBody>
      </p:sp>
      <p:pic>
        <p:nvPicPr>
          <p:cNvPr id="20" name="Image 5" descr="C:/Users/neuma_p1qrsic/Repo/agentic-ops1/.scratch/icons/merge.png"/>
          <p:cNvPicPr>
            <a:picLocks noChangeAspect="1"/>
          </p:cNvPicPr>
          <p:nvPr/>
        </p:nvPicPr>
        <p:blipFill>
          <a:blip r:embed="rId8"/>
          <a:stretch>
            <a:fillRect/>
          </a:stretch>
        </p:blipFill>
        <p:spPr>
          <a:xfrm>
            <a:off x="4805050" y="2630912"/>
            <a:ext cx="370881" cy="370881"/>
          </a:xfrm>
          <a:prstGeom prst="rect">
            <a:avLst/>
          </a:prstGeom>
        </p:spPr>
      </p:pic>
      <p:sp>
        <p:nvSpPr>
          <p:cNvPr id="21" name="Text 13"/>
          <p:cNvSpPr/>
          <p:nvPr/>
        </p:nvSpPr>
        <p:spPr>
          <a:xfrm>
            <a:off x="4633874" y="3319272"/>
            <a:ext cx="2923946" cy="658368"/>
          </a:xfrm>
          <a:prstGeom prst="rect">
            <a:avLst/>
          </a:prstGeom>
          <a:noFill/>
          <a:ln/>
        </p:spPr>
        <p:txBody>
          <a:bodyPr wrap="square" rtlCol="0" anchor="t"/>
          <a:lstStyle/>
          <a:p>
            <a:pPr marL="0" indent="0">
              <a:buNone/>
            </a:pPr>
            <a:r>
              <a:rPr lang="en-US" sz="1800" b="1" dirty="0">
                <a:solidFill>
                  <a:srgbClr val="F3F6FB"/>
                </a:solidFill>
                <a:latin typeface="Segoe UI Semibold" pitchFamily="34" charset="0"/>
                <a:ea typeface="Segoe UI Semibold" pitchFamily="34" charset="-122"/>
                <a:cs typeface="Segoe UI Semibold" pitchFamily="34" charset="-120"/>
              </a:rPr>
              <a:t>Smart Trading</a:t>
            </a:r>
            <a:endParaRPr lang="en-US" sz="1800" dirty="0"/>
          </a:p>
        </p:txBody>
      </p:sp>
      <p:sp>
        <p:nvSpPr>
          <p:cNvPr id="22" name="Text 14"/>
          <p:cNvSpPr/>
          <p:nvPr/>
        </p:nvSpPr>
        <p:spPr>
          <a:xfrm>
            <a:off x="4633874" y="3995928"/>
            <a:ext cx="2923946" cy="1005840"/>
          </a:xfrm>
          <a:prstGeom prst="rect">
            <a:avLst/>
          </a:prstGeom>
          <a:noFill/>
          <a:ln/>
        </p:spPr>
        <p:txBody>
          <a:bodyPr wrap="square" rtlCol="0" anchor="t"/>
          <a:lstStyle/>
          <a:p>
            <a:pPr marL="0" indent="0">
              <a:lnSpc>
                <a:spcPct val="120000"/>
              </a:lnSpc>
              <a:buNone/>
            </a:pPr>
            <a:r>
              <a:rPr lang="en-US" sz="1300" dirty="0">
                <a:solidFill>
                  <a:srgbClr val="AAB6C7"/>
                </a:solidFill>
                <a:latin typeface="Segoe UI" pitchFamily="34" charset="0"/>
                <a:ea typeface="Segoe UI" pitchFamily="34" charset="-122"/>
                <a:cs typeface="Segoe UI" pitchFamily="34" charset="-120"/>
              </a:rPr>
              <a:t>The manual middle between your trading venues and SAP, closed. From capture through to the deal in SAP.</a:t>
            </a:r>
            <a:endParaRPr lang="en-US" sz="1300" dirty="0"/>
          </a:p>
        </p:txBody>
      </p:sp>
      <p:sp>
        <p:nvSpPr>
          <p:cNvPr id="23" name="Shape 15"/>
          <p:cNvSpPr/>
          <p:nvPr/>
        </p:nvSpPr>
        <p:spPr>
          <a:xfrm>
            <a:off x="8152181" y="2148840"/>
            <a:ext cx="3472586" cy="2971800"/>
          </a:xfrm>
          <a:prstGeom prst="roundRect">
            <a:avLst>
              <a:gd name="adj" fmla="val 2769"/>
            </a:avLst>
          </a:prstGeom>
          <a:solidFill>
            <a:srgbClr val="141A25"/>
          </a:solidFill>
          <a:ln w="13970">
            <a:solidFill>
              <a:srgbClr val="36414F"/>
            </a:solidFill>
            <a:prstDash val="solid"/>
          </a:ln>
        </p:spPr>
        <p:txBody>
          <a:bodyPr/>
          <a:lstStyle/>
          <a:p>
            <a:endParaRPr lang="en-US"/>
          </a:p>
        </p:txBody>
      </p:sp>
      <p:sp>
        <p:nvSpPr>
          <p:cNvPr id="24" name="Shape 16"/>
          <p:cNvSpPr/>
          <p:nvPr/>
        </p:nvSpPr>
        <p:spPr>
          <a:xfrm>
            <a:off x="8426501" y="2459736"/>
            <a:ext cx="713232" cy="713232"/>
          </a:xfrm>
          <a:prstGeom prst="roundRect">
            <a:avLst>
              <a:gd name="adj" fmla="val 14103"/>
            </a:avLst>
          </a:prstGeom>
          <a:solidFill>
            <a:srgbClr val="1B2330"/>
          </a:solidFill>
          <a:ln w="15240">
            <a:solidFill>
              <a:srgbClr val="3BE3E0"/>
            </a:solidFill>
            <a:prstDash val="solid"/>
          </a:ln>
        </p:spPr>
        <p:txBody>
          <a:bodyPr/>
          <a:lstStyle/>
          <a:p>
            <a:endParaRPr lang="en-US"/>
          </a:p>
        </p:txBody>
      </p:sp>
      <p:pic>
        <p:nvPicPr>
          <p:cNvPr id="25" name="Image 6" descr="C:/Users/neuma_p1qrsic/Repo/agentic-ops1/.scratch/icons/spark.png"/>
          <p:cNvPicPr>
            <a:picLocks noChangeAspect="1"/>
          </p:cNvPicPr>
          <p:nvPr/>
        </p:nvPicPr>
        <p:blipFill>
          <a:blip r:embed="rId9"/>
          <a:stretch>
            <a:fillRect/>
          </a:stretch>
        </p:blipFill>
        <p:spPr>
          <a:xfrm>
            <a:off x="8597676" y="2630912"/>
            <a:ext cx="370881" cy="370881"/>
          </a:xfrm>
          <a:prstGeom prst="rect">
            <a:avLst/>
          </a:prstGeom>
        </p:spPr>
      </p:pic>
      <p:sp>
        <p:nvSpPr>
          <p:cNvPr id="26" name="Text 17"/>
          <p:cNvSpPr/>
          <p:nvPr/>
        </p:nvSpPr>
        <p:spPr>
          <a:xfrm>
            <a:off x="8426501" y="3319272"/>
            <a:ext cx="2923946" cy="658368"/>
          </a:xfrm>
          <a:prstGeom prst="rect">
            <a:avLst/>
          </a:prstGeom>
          <a:noFill/>
          <a:ln/>
        </p:spPr>
        <p:txBody>
          <a:bodyPr wrap="square" rtlCol="0" anchor="t"/>
          <a:lstStyle/>
          <a:p>
            <a:pPr marL="0" indent="0">
              <a:buNone/>
            </a:pPr>
            <a:r>
              <a:rPr lang="en-US" sz="1800" b="1" dirty="0">
                <a:solidFill>
                  <a:srgbClr val="F3F6FB"/>
                </a:solidFill>
                <a:latin typeface="Segoe UI Semibold" pitchFamily="34" charset="0"/>
                <a:ea typeface="Segoe UI Semibold" pitchFamily="34" charset="-122"/>
                <a:cs typeface="Segoe UI Semibold" pitchFamily="34" charset="-120"/>
              </a:rPr>
              <a:t>AI automation &amp; orchestration</a:t>
            </a:r>
            <a:endParaRPr lang="en-US" sz="1800" dirty="0"/>
          </a:p>
        </p:txBody>
      </p:sp>
      <p:sp>
        <p:nvSpPr>
          <p:cNvPr id="27" name="Text 18"/>
          <p:cNvSpPr/>
          <p:nvPr/>
        </p:nvSpPr>
        <p:spPr>
          <a:xfrm>
            <a:off x="8426501" y="3995928"/>
            <a:ext cx="2923946" cy="1005840"/>
          </a:xfrm>
          <a:prstGeom prst="rect">
            <a:avLst/>
          </a:prstGeom>
          <a:noFill/>
          <a:ln/>
        </p:spPr>
        <p:txBody>
          <a:bodyPr wrap="square" rtlCol="0" anchor="t"/>
          <a:lstStyle/>
          <a:p>
            <a:pPr marL="0" indent="0">
              <a:lnSpc>
                <a:spcPct val="120000"/>
              </a:lnSpc>
              <a:buNone/>
            </a:pPr>
            <a:r>
              <a:rPr lang="en-US" sz="1300" dirty="0">
                <a:solidFill>
                  <a:srgbClr val="AAB6C7"/>
                </a:solidFill>
                <a:latin typeface="Segoe UI" pitchFamily="34" charset="0"/>
                <a:ea typeface="Segoe UI" pitchFamily="34" charset="-122"/>
                <a:cs typeface="Segoe UI" pitchFamily="34" charset="-120"/>
              </a:rPr>
              <a:t>Digital co-workers that read, decide and post on your own SAP data: remittance advice, intercompany funding, and more.</a:t>
            </a:r>
            <a:endParaRPr lang="en-US" sz="1300" dirty="0"/>
          </a:p>
        </p:txBody>
      </p:sp>
      <p:sp>
        <p:nvSpPr>
          <p:cNvPr id="28" name="Text 19"/>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TreasuryCentral, powered by OnePilot</a:t>
            </a:r>
            <a:endParaRPr lang="en-US" sz="900" dirty="0"/>
          </a:p>
        </p:txBody>
      </p:sp>
      <p:sp>
        <p:nvSpPr>
          <p:cNvPr id="29" name="Text 20"/>
          <p:cNvSpPr/>
          <p:nvPr/>
        </p:nvSpPr>
        <p:spPr>
          <a:xfrm>
            <a:off x="10527487" y="6400800"/>
            <a:ext cx="1097280" cy="274320"/>
          </a:xfrm>
          <a:prstGeom prst="rect">
            <a:avLst/>
          </a:prstGeom>
          <a:noFill/>
          <a:ln/>
        </p:spPr>
        <p:txBody>
          <a:bodyPr wrap="square" rtlCol="0" anchor="ctr"/>
          <a:lstStyle/>
          <a:p>
            <a:pPr marL="0" indent="0" algn="r">
              <a:buNone/>
            </a:pPr>
            <a:r>
              <a:rPr lang="en-US" sz="900" dirty="0">
                <a:solidFill>
                  <a:srgbClr val="AAB6C7"/>
                </a:solidFill>
                <a:latin typeface="Segoe UI" pitchFamily="34" charset="0"/>
                <a:ea typeface="Segoe UI" pitchFamily="34" charset="-122"/>
                <a:cs typeface="Segoe UI" pitchFamily="34" charset="-120"/>
              </a:rPr>
              <a:t>04 / 10</a:t>
            </a:r>
            <a:endParaRPr lang="en-US" sz="900" dirty="0"/>
          </a:p>
        </p:txBody>
      </p:sp>
      <p:sp>
        <p:nvSpPr>
          <p:cNvPr id="30" name="Shape 21"/>
          <p:cNvSpPr/>
          <p:nvPr/>
        </p:nvSpPr>
        <p:spPr>
          <a:xfrm>
            <a:off x="566928" y="6327648"/>
            <a:ext cx="11057839" cy="0"/>
          </a:xfrm>
          <a:prstGeom prst="line">
            <a:avLst/>
          </a:prstGeom>
          <a:noFill/>
          <a:ln w="9525">
            <a:solidFill>
              <a:srgbClr val="36414F"/>
            </a:solidFill>
            <a:prstDash val="solid"/>
          </a:ln>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3" name="Text 1"/>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HOW IT FITS TOGETHER</a:t>
            </a:r>
            <a:endParaRPr lang="en-US" sz="1200" dirty="0"/>
          </a:p>
        </p:txBody>
      </p:sp>
      <p:sp>
        <p:nvSpPr>
          <p:cNvPr id="4" name="Text 2"/>
          <p:cNvSpPr/>
          <p:nvPr/>
        </p:nvSpPr>
        <p:spPr>
          <a:xfrm>
            <a:off x="566928" y="960120"/>
            <a:ext cx="10881360" cy="731520"/>
          </a:xfrm>
          <a:prstGeom prst="rect">
            <a:avLst/>
          </a:prstGeom>
          <a:noFill/>
          <a:ln/>
        </p:spPr>
        <p:txBody>
          <a:bodyPr wrap="square" rtlCol="0" anchor="ctr"/>
          <a:lstStyle/>
          <a:p>
            <a:pPr marL="0" indent="0">
              <a:buNone/>
            </a:pPr>
            <a:r>
              <a:rPr lang="en-US" sz="2800" b="1" dirty="0">
                <a:solidFill>
                  <a:srgbClr val="F3F6FB"/>
                </a:solidFill>
                <a:latin typeface="Segoe UI Semibold" pitchFamily="34" charset="0"/>
                <a:ea typeface="Segoe UI Semibold" pitchFamily="34" charset="-122"/>
                <a:cs typeface="Segoe UI Semibold" pitchFamily="34" charset="-120"/>
              </a:rPr>
              <a:t>One layer between your sources and SAP. Both ways.</a:t>
            </a:r>
            <a:endParaRPr lang="en-US" sz="2800" dirty="0"/>
          </a:p>
        </p:txBody>
      </p:sp>
      <p:sp>
        <p:nvSpPr>
          <p:cNvPr id="5" name="Shape 3"/>
          <p:cNvSpPr/>
          <p:nvPr/>
        </p:nvSpPr>
        <p:spPr>
          <a:xfrm>
            <a:off x="566928" y="2148840"/>
            <a:ext cx="3063240" cy="2514600"/>
          </a:xfrm>
          <a:prstGeom prst="roundRect">
            <a:avLst>
              <a:gd name="adj" fmla="val 3273"/>
            </a:avLst>
          </a:prstGeom>
          <a:solidFill>
            <a:srgbClr val="141A25"/>
          </a:solidFill>
          <a:ln w="13970">
            <a:solidFill>
              <a:srgbClr val="36414F"/>
            </a:solidFill>
            <a:prstDash val="solid"/>
          </a:ln>
        </p:spPr>
        <p:txBody>
          <a:bodyPr/>
          <a:lstStyle/>
          <a:p>
            <a:endParaRPr lang="en-US"/>
          </a:p>
        </p:txBody>
      </p:sp>
      <p:sp>
        <p:nvSpPr>
          <p:cNvPr id="6" name="Shape 4"/>
          <p:cNvSpPr/>
          <p:nvPr/>
        </p:nvSpPr>
        <p:spPr>
          <a:xfrm>
            <a:off x="841248" y="2423160"/>
            <a:ext cx="548640" cy="548640"/>
          </a:xfrm>
          <a:prstGeom prst="roundRect">
            <a:avLst>
              <a:gd name="adj" fmla="val 18333"/>
            </a:avLst>
          </a:prstGeom>
          <a:solidFill>
            <a:srgbClr val="1B2330"/>
          </a:solidFill>
          <a:ln w="15240">
            <a:solidFill>
              <a:srgbClr val="3BE3E0"/>
            </a:solidFill>
            <a:prstDash val="solid"/>
          </a:ln>
        </p:spPr>
        <p:txBody>
          <a:bodyPr/>
          <a:lstStyle/>
          <a:p>
            <a:endParaRPr lang="en-US"/>
          </a:p>
        </p:txBody>
      </p:sp>
      <p:pic>
        <p:nvPicPr>
          <p:cNvPr id="7" name="Image 0" descr="C:/Users/neuma_p1qrsic/Repo/agentic-ops1/.scratch/icons/venue.png"/>
          <p:cNvPicPr>
            <a:picLocks noChangeAspect="1"/>
          </p:cNvPicPr>
          <p:nvPr/>
        </p:nvPicPr>
        <p:blipFill>
          <a:blip r:embed="rId3"/>
          <a:stretch>
            <a:fillRect/>
          </a:stretch>
        </p:blipFill>
        <p:spPr>
          <a:xfrm>
            <a:off x="972922" y="2554834"/>
            <a:ext cx="285293" cy="285293"/>
          </a:xfrm>
          <a:prstGeom prst="rect">
            <a:avLst/>
          </a:prstGeom>
        </p:spPr>
      </p:pic>
      <p:sp>
        <p:nvSpPr>
          <p:cNvPr id="8" name="Text 5"/>
          <p:cNvSpPr/>
          <p:nvPr/>
        </p:nvSpPr>
        <p:spPr>
          <a:xfrm>
            <a:off x="1527048" y="2423160"/>
            <a:ext cx="1920240" cy="548640"/>
          </a:xfrm>
          <a:prstGeom prst="rect">
            <a:avLst/>
          </a:prstGeom>
          <a:noFill/>
          <a:ln/>
        </p:spPr>
        <p:txBody>
          <a:bodyPr wrap="square" rtlCol="0" anchor="ctr"/>
          <a:lstStyle/>
          <a:p>
            <a:pPr marL="0" indent="0">
              <a:buNone/>
            </a:pPr>
            <a:r>
              <a:rPr lang="en-US" sz="1350" b="1" dirty="0">
                <a:solidFill>
                  <a:srgbClr val="F3F6FB"/>
                </a:solidFill>
                <a:latin typeface="Segoe UI Semibold" pitchFamily="34" charset="0"/>
                <a:ea typeface="Segoe UI Semibold" pitchFamily="34" charset="-122"/>
                <a:cs typeface="Segoe UI Semibold" pitchFamily="34" charset="-120"/>
              </a:rPr>
              <a:t>Sources &amp; feeds</a:t>
            </a:r>
            <a:endParaRPr lang="en-US" sz="1350" dirty="0"/>
          </a:p>
        </p:txBody>
      </p:sp>
      <p:sp>
        <p:nvSpPr>
          <p:cNvPr id="9" name="Text 6"/>
          <p:cNvSpPr/>
          <p:nvPr/>
        </p:nvSpPr>
        <p:spPr>
          <a:xfrm>
            <a:off x="841248" y="3200400"/>
            <a:ext cx="2606040" cy="1371600"/>
          </a:xfrm>
          <a:prstGeom prst="rect">
            <a:avLst/>
          </a:prstGeom>
          <a:noFill/>
          <a:ln/>
        </p:spPr>
        <p:txBody>
          <a:bodyPr wrap="square" rtlCol="0" anchor="ctr"/>
          <a:lstStyle/>
          <a:p>
            <a:pPr marL="0" indent="0">
              <a:lnSpc>
                <a:spcPct val="125000"/>
              </a:lnSpc>
              <a:buNone/>
            </a:pPr>
            <a:r>
              <a:rPr lang="en-US" sz="1300" dirty="0">
                <a:solidFill>
                  <a:srgbClr val="AAB6C7"/>
                </a:solidFill>
                <a:latin typeface="Segoe UI" pitchFamily="34" charset="0"/>
                <a:ea typeface="Segoe UI" pitchFamily="34" charset="-122"/>
                <a:cs typeface="Segoe UI" pitchFamily="34" charset="-120"/>
              </a:rPr>
              <a:t>Banks, market data,</a:t>
            </a:r>
            <a:endParaRPr lang="en-US" sz="1300" dirty="0"/>
          </a:p>
          <a:p>
            <a:pPr marL="0" indent="0">
              <a:lnSpc>
                <a:spcPct val="125000"/>
              </a:lnSpc>
              <a:buNone/>
            </a:pPr>
            <a:r>
              <a:rPr lang="en-US" sz="1300" dirty="0">
                <a:solidFill>
                  <a:srgbClr val="AAB6C7"/>
                </a:solidFill>
                <a:latin typeface="Segoe UI" pitchFamily="34" charset="0"/>
                <a:ea typeface="Segoe UI" pitchFamily="34" charset="-122"/>
                <a:cs typeface="Segoe UI" pitchFamily="34" charset="-120"/>
              </a:rPr>
              <a:t>trading venues, central</a:t>
            </a:r>
            <a:endParaRPr lang="en-US" sz="1300" dirty="0"/>
          </a:p>
          <a:p>
            <a:pPr marL="0" indent="0">
              <a:lnSpc>
                <a:spcPct val="125000"/>
              </a:lnSpc>
              <a:buNone/>
            </a:pPr>
            <a:r>
              <a:rPr lang="en-US" sz="1300" dirty="0">
                <a:solidFill>
                  <a:srgbClr val="AAB6C7"/>
                </a:solidFill>
                <a:latin typeface="Segoe UI" pitchFamily="34" charset="0"/>
                <a:ea typeface="Segoe UI" pitchFamily="34" charset="-122"/>
                <a:cs typeface="Segoe UI" pitchFamily="34" charset="-120"/>
              </a:rPr>
              <a:t>banks, websites, internal</a:t>
            </a:r>
            <a:endParaRPr lang="en-US" sz="1300" dirty="0"/>
          </a:p>
        </p:txBody>
      </p:sp>
      <p:sp>
        <p:nvSpPr>
          <p:cNvPr id="10" name="Shape 7"/>
          <p:cNvSpPr/>
          <p:nvPr/>
        </p:nvSpPr>
        <p:spPr>
          <a:xfrm>
            <a:off x="4087368" y="2148840"/>
            <a:ext cx="3566160" cy="2514600"/>
          </a:xfrm>
          <a:prstGeom prst="roundRect">
            <a:avLst>
              <a:gd name="adj" fmla="val 3273"/>
            </a:avLst>
          </a:prstGeom>
          <a:solidFill>
            <a:srgbClr val="10222A"/>
          </a:solidFill>
          <a:ln w="19050">
            <a:solidFill>
              <a:srgbClr val="3BE3E0"/>
            </a:solidFill>
            <a:prstDash val="solid"/>
          </a:ln>
        </p:spPr>
        <p:txBody>
          <a:bodyPr/>
          <a:lstStyle/>
          <a:p>
            <a:endParaRPr lang="en-US"/>
          </a:p>
        </p:txBody>
      </p:sp>
      <p:pic>
        <p:nvPicPr>
          <p:cNvPr id="11" name="Image 1" descr="C:/Users/neuma_p1qrsic/Repo/agentic-ops1/.scratch/logo/favicon.png"/>
          <p:cNvPicPr>
            <a:picLocks noChangeAspect="1"/>
          </p:cNvPicPr>
          <p:nvPr/>
        </p:nvPicPr>
        <p:blipFill>
          <a:blip r:embed="rId4"/>
          <a:stretch>
            <a:fillRect/>
          </a:stretch>
        </p:blipFill>
        <p:spPr>
          <a:xfrm>
            <a:off x="5650992" y="2514600"/>
            <a:ext cx="438912" cy="438912"/>
          </a:xfrm>
          <a:prstGeom prst="rect">
            <a:avLst/>
          </a:prstGeom>
        </p:spPr>
      </p:pic>
      <p:sp>
        <p:nvSpPr>
          <p:cNvPr id="12" name="Text 8"/>
          <p:cNvSpPr/>
          <p:nvPr/>
        </p:nvSpPr>
        <p:spPr>
          <a:xfrm>
            <a:off x="4087368" y="3063240"/>
            <a:ext cx="3566160" cy="411480"/>
          </a:xfrm>
          <a:prstGeom prst="rect">
            <a:avLst/>
          </a:prstGeom>
          <a:noFill/>
          <a:ln/>
        </p:spPr>
        <p:txBody>
          <a:bodyPr wrap="square" rtlCol="0" anchor="ctr"/>
          <a:lstStyle/>
          <a:p>
            <a:pPr marL="0" indent="0" algn="ctr">
              <a:buNone/>
            </a:pPr>
            <a:r>
              <a:rPr lang="en-US" sz="2000" b="1" dirty="0">
                <a:solidFill>
                  <a:srgbClr val="F3F6FB"/>
                </a:solidFill>
                <a:latin typeface="Segoe UI Semibold" pitchFamily="34" charset="0"/>
                <a:ea typeface="Segoe UI Semibold" pitchFamily="34" charset="-122"/>
                <a:cs typeface="Segoe UI Semibold" pitchFamily="34" charset="-120"/>
              </a:rPr>
              <a:t>TreasuryCentral</a:t>
            </a:r>
            <a:endParaRPr lang="en-US" sz="2000" dirty="0"/>
          </a:p>
        </p:txBody>
      </p:sp>
      <p:sp>
        <p:nvSpPr>
          <p:cNvPr id="13" name="Text 9"/>
          <p:cNvSpPr/>
          <p:nvPr/>
        </p:nvSpPr>
        <p:spPr>
          <a:xfrm>
            <a:off x="4087368" y="3447288"/>
            <a:ext cx="3566160" cy="320040"/>
          </a:xfrm>
          <a:prstGeom prst="rect">
            <a:avLst/>
          </a:prstGeom>
          <a:noFill/>
          <a:ln/>
        </p:spPr>
        <p:txBody>
          <a:bodyPr wrap="square" rtlCol="0" anchor="ctr"/>
          <a:lstStyle/>
          <a:p>
            <a:pPr marL="0" indent="0" algn="ctr">
              <a:buNone/>
            </a:pPr>
            <a:r>
              <a:rPr lang="en-US" sz="1350" dirty="0">
                <a:solidFill>
                  <a:srgbClr val="3BE3E0"/>
                </a:solidFill>
                <a:latin typeface="Segoe UI" pitchFamily="34" charset="0"/>
                <a:ea typeface="Segoe UI" pitchFamily="34" charset="-122"/>
                <a:cs typeface="Segoe UI" pitchFamily="34" charset="-120"/>
              </a:rPr>
              <a:t>on OnePilot</a:t>
            </a:r>
            <a:endParaRPr lang="en-US" sz="1350" dirty="0"/>
          </a:p>
        </p:txBody>
      </p:sp>
      <p:sp>
        <p:nvSpPr>
          <p:cNvPr id="14" name="Text 10"/>
          <p:cNvSpPr/>
          <p:nvPr/>
        </p:nvSpPr>
        <p:spPr>
          <a:xfrm>
            <a:off x="4087368" y="3813048"/>
            <a:ext cx="3566160" cy="685800"/>
          </a:xfrm>
          <a:prstGeom prst="rect">
            <a:avLst/>
          </a:prstGeom>
          <a:noFill/>
          <a:ln/>
        </p:spPr>
        <p:txBody>
          <a:bodyPr wrap="square" rtlCol="0" anchor="ctr"/>
          <a:lstStyle/>
          <a:p>
            <a:pPr marL="0" indent="0" algn="ctr">
              <a:lnSpc>
                <a:spcPct val="110000"/>
              </a:lnSpc>
              <a:buNone/>
            </a:pPr>
            <a:r>
              <a:rPr lang="en-US" sz="1200" dirty="0">
                <a:solidFill>
                  <a:srgbClr val="AAB6C7"/>
                </a:solidFill>
                <a:latin typeface="Segoe UI" pitchFamily="34" charset="0"/>
                <a:ea typeface="Segoe UI" pitchFamily="34" charset="-122"/>
                <a:cs typeface="Segoe UI" pitchFamily="34" charset="-120"/>
              </a:rPr>
              <a:t>runs inside your SAP landscape,</a:t>
            </a:r>
            <a:endParaRPr lang="en-US" sz="1200" dirty="0"/>
          </a:p>
          <a:p>
            <a:pPr marL="0" indent="0" algn="ctr">
              <a:lnSpc>
                <a:spcPct val="110000"/>
              </a:lnSpc>
              <a:buNone/>
            </a:pPr>
            <a:r>
              <a:rPr lang="en-US" sz="1200" dirty="0">
                <a:solidFill>
                  <a:srgbClr val="AAB6C7"/>
                </a:solidFill>
                <a:latin typeface="Segoe UI" pitchFamily="34" charset="0"/>
                <a:ea typeface="Segoe UI" pitchFamily="34" charset="-122"/>
                <a:cs typeface="Segoe UI" pitchFamily="34" charset="-120"/>
              </a:rPr>
              <a:t>checks and logs every value</a:t>
            </a:r>
            <a:endParaRPr lang="en-US" sz="1200" dirty="0"/>
          </a:p>
        </p:txBody>
      </p:sp>
      <p:sp>
        <p:nvSpPr>
          <p:cNvPr id="15" name="Shape 11"/>
          <p:cNvSpPr/>
          <p:nvPr/>
        </p:nvSpPr>
        <p:spPr>
          <a:xfrm>
            <a:off x="8110728" y="2148840"/>
            <a:ext cx="3514039" cy="2514600"/>
          </a:xfrm>
          <a:prstGeom prst="roundRect">
            <a:avLst>
              <a:gd name="adj" fmla="val 3273"/>
            </a:avLst>
          </a:prstGeom>
          <a:solidFill>
            <a:srgbClr val="141A25"/>
          </a:solidFill>
          <a:ln w="13970">
            <a:solidFill>
              <a:srgbClr val="36414F"/>
            </a:solidFill>
            <a:prstDash val="solid"/>
          </a:ln>
        </p:spPr>
        <p:txBody>
          <a:bodyPr/>
          <a:lstStyle/>
          <a:p>
            <a:endParaRPr lang="en-US"/>
          </a:p>
        </p:txBody>
      </p:sp>
      <p:sp>
        <p:nvSpPr>
          <p:cNvPr id="16" name="Shape 12"/>
          <p:cNvSpPr/>
          <p:nvPr/>
        </p:nvSpPr>
        <p:spPr>
          <a:xfrm>
            <a:off x="8385048" y="2423160"/>
            <a:ext cx="548640" cy="548640"/>
          </a:xfrm>
          <a:prstGeom prst="roundRect">
            <a:avLst>
              <a:gd name="adj" fmla="val 18333"/>
            </a:avLst>
          </a:prstGeom>
          <a:solidFill>
            <a:srgbClr val="1B2330"/>
          </a:solidFill>
          <a:ln w="15240">
            <a:solidFill>
              <a:srgbClr val="3BE3E0"/>
            </a:solidFill>
            <a:prstDash val="solid"/>
          </a:ln>
        </p:spPr>
        <p:txBody>
          <a:bodyPr/>
          <a:lstStyle/>
          <a:p>
            <a:endParaRPr lang="en-US"/>
          </a:p>
        </p:txBody>
      </p:sp>
      <p:pic>
        <p:nvPicPr>
          <p:cNvPr id="17" name="Image 2" descr="C:/Users/neuma_p1qrsic/Repo/agentic-ops1/.scratch/icons/database.png"/>
          <p:cNvPicPr>
            <a:picLocks noChangeAspect="1"/>
          </p:cNvPicPr>
          <p:nvPr/>
        </p:nvPicPr>
        <p:blipFill>
          <a:blip r:embed="rId5"/>
          <a:stretch>
            <a:fillRect/>
          </a:stretch>
        </p:blipFill>
        <p:spPr>
          <a:xfrm>
            <a:off x="8516722" y="2554834"/>
            <a:ext cx="285293" cy="285293"/>
          </a:xfrm>
          <a:prstGeom prst="rect">
            <a:avLst/>
          </a:prstGeom>
        </p:spPr>
      </p:pic>
      <p:sp>
        <p:nvSpPr>
          <p:cNvPr id="18" name="Text 13"/>
          <p:cNvSpPr/>
          <p:nvPr/>
        </p:nvSpPr>
        <p:spPr>
          <a:xfrm>
            <a:off x="9070848" y="2423160"/>
            <a:ext cx="2325319" cy="548640"/>
          </a:xfrm>
          <a:prstGeom prst="rect">
            <a:avLst/>
          </a:prstGeom>
          <a:noFill/>
          <a:ln/>
        </p:spPr>
        <p:txBody>
          <a:bodyPr wrap="square" rtlCol="0" anchor="ctr"/>
          <a:lstStyle/>
          <a:p>
            <a:pPr marL="0" indent="0">
              <a:buNone/>
            </a:pPr>
            <a:r>
              <a:rPr lang="en-US" sz="1350" b="1" dirty="0">
                <a:solidFill>
                  <a:srgbClr val="F3F6FB"/>
                </a:solidFill>
                <a:latin typeface="Segoe UI Semibold" pitchFamily="34" charset="0"/>
                <a:ea typeface="Segoe UI Semibold" pitchFamily="34" charset="-122"/>
                <a:cs typeface="Segoe UI Semibold" pitchFamily="34" charset="-120"/>
              </a:rPr>
              <a:t>Systems &amp; analytics</a:t>
            </a:r>
            <a:endParaRPr lang="en-US" sz="1350" dirty="0"/>
          </a:p>
        </p:txBody>
      </p:sp>
      <p:sp>
        <p:nvSpPr>
          <p:cNvPr id="19" name="Text 14"/>
          <p:cNvSpPr/>
          <p:nvPr/>
        </p:nvSpPr>
        <p:spPr>
          <a:xfrm>
            <a:off x="8385048" y="3200400"/>
            <a:ext cx="3011119" cy="1371600"/>
          </a:xfrm>
          <a:prstGeom prst="rect">
            <a:avLst/>
          </a:prstGeom>
          <a:noFill/>
          <a:ln/>
        </p:spPr>
        <p:txBody>
          <a:bodyPr wrap="square" rtlCol="0" anchor="ctr"/>
          <a:lstStyle/>
          <a:p>
            <a:pPr marL="0" indent="0">
              <a:lnSpc>
                <a:spcPct val="125000"/>
              </a:lnSpc>
              <a:buNone/>
            </a:pPr>
            <a:r>
              <a:rPr lang="en-US" sz="1300" dirty="0">
                <a:solidFill>
                  <a:srgbClr val="AAB6C7"/>
                </a:solidFill>
                <a:latin typeface="Segoe UI" pitchFamily="34" charset="0"/>
                <a:ea typeface="Segoe UI" pitchFamily="34" charset="-122"/>
                <a:cs typeface="Segoe UI" pitchFamily="34" charset="-120"/>
              </a:rPr>
              <a:t>SAP ECC, S/4HANA, TRM,</a:t>
            </a:r>
            <a:endParaRPr lang="en-US" sz="1300" dirty="0"/>
          </a:p>
          <a:p>
            <a:pPr marL="0" indent="0">
              <a:lnSpc>
                <a:spcPct val="125000"/>
              </a:lnSpc>
              <a:buNone/>
            </a:pPr>
            <a:r>
              <a:rPr lang="en-US" sz="1300" dirty="0">
                <a:solidFill>
                  <a:srgbClr val="AAB6C7"/>
                </a:solidFill>
                <a:latin typeface="Segoe UI" pitchFamily="34" charset="0"/>
                <a:ea typeface="Segoe UI" pitchFamily="34" charset="-122"/>
                <a:cs typeface="Segoe UI" pitchFamily="34" charset="-120"/>
              </a:rPr>
              <a:t>non-SAP apps, databases,</a:t>
            </a:r>
            <a:endParaRPr lang="en-US" sz="1300" dirty="0"/>
          </a:p>
          <a:p>
            <a:pPr marL="0" indent="0">
              <a:lnSpc>
                <a:spcPct val="125000"/>
              </a:lnSpc>
              <a:buNone/>
            </a:pPr>
            <a:r>
              <a:rPr lang="en-US" sz="1300" dirty="0">
                <a:solidFill>
                  <a:srgbClr val="AAB6C7"/>
                </a:solidFill>
                <a:latin typeface="Segoe UI" pitchFamily="34" charset="0"/>
                <a:ea typeface="Segoe UI" pitchFamily="34" charset="-122"/>
                <a:cs typeface="Segoe UI" pitchFamily="34" charset="-120"/>
              </a:rPr>
              <a:t>Analytics Cloud</a:t>
            </a:r>
            <a:endParaRPr lang="en-US" sz="1300" dirty="0"/>
          </a:p>
        </p:txBody>
      </p:sp>
      <p:sp>
        <p:nvSpPr>
          <p:cNvPr id="20" name="Shape 15"/>
          <p:cNvSpPr/>
          <p:nvPr/>
        </p:nvSpPr>
        <p:spPr>
          <a:xfrm>
            <a:off x="3630168" y="3406140"/>
            <a:ext cx="457200" cy="0"/>
          </a:xfrm>
          <a:prstGeom prst="line">
            <a:avLst/>
          </a:prstGeom>
          <a:noFill/>
          <a:ln w="19050">
            <a:solidFill>
              <a:srgbClr val="3BE3E0"/>
            </a:solidFill>
            <a:prstDash val="solid"/>
            <a:headEnd type="triangle"/>
            <a:tailEnd type="triangle"/>
          </a:ln>
        </p:spPr>
        <p:txBody>
          <a:bodyPr/>
          <a:lstStyle/>
          <a:p>
            <a:endParaRPr lang="en-US"/>
          </a:p>
        </p:txBody>
      </p:sp>
      <p:sp>
        <p:nvSpPr>
          <p:cNvPr id="21" name="Shape 16"/>
          <p:cNvSpPr/>
          <p:nvPr/>
        </p:nvSpPr>
        <p:spPr>
          <a:xfrm>
            <a:off x="7653528" y="3406140"/>
            <a:ext cx="457200" cy="0"/>
          </a:xfrm>
          <a:prstGeom prst="line">
            <a:avLst/>
          </a:prstGeom>
          <a:noFill/>
          <a:ln w="19050">
            <a:solidFill>
              <a:srgbClr val="3BE3E0"/>
            </a:solidFill>
            <a:prstDash val="solid"/>
            <a:headEnd type="triangle"/>
            <a:tailEnd type="triangle"/>
          </a:ln>
        </p:spPr>
        <p:txBody>
          <a:bodyPr/>
          <a:lstStyle/>
          <a:p>
            <a:endParaRPr lang="en-US"/>
          </a:p>
        </p:txBody>
      </p:sp>
      <p:sp>
        <p:nvSpPr>
          <p:cNvPr id="22" name="Shape 17"/>
          <p:cNvSpPr/>
          <p:nvPr/>
        </p:nvSpPr>
        <p:spPr>
          <a:xfrm>
            <a:off x="566928" y="4956048"/>
            <a:ext cx="11057839" cy="914400"/>
          </a:xfrm>
          <a:prstGeom prst="roundRect">
            <a:avLst>
              <a:gd name="adj" fmla="val 8000"/>
            </a:avLst>
          </a:prstGeom>
          <a:solidFill>
            <a:srgbClr val="141A25"/>
          </a:solidFill>
          <a:ln w="13970">
            <a:solidFill>
              <a:srgbClr val="36414F"/>
            </a:solidFill>
            <a:prstDash val="solid"/>
          </a:ln>
        </p:spPr>
        <p:txBody>
          <a:bodyPr/>
          <a:lstStyle/>
          <a:p>
            <a:endParaRPr lang="en-US"/>
          </a:p>
        </p:txBody>
      </p:sp>
      <p:pic>
        <p:nvPicPr>
          <p:cNvPr id="23" name="Image 3" descr="C:/Users/neuma_p1qrsic/Repo/agentic-ops1/.scratch/icons/shield.png"/>
          <p:cNvPicPr>
            <a:picLocks noChangeAspect="1"/>
          </p:cNvPicPr>
          <p:nvPr/>
        </p:nvPicPr>
        <p:blipFill>
          <a:blip r:embed="rId6"/>
          <a:stretch>
            <a:fillRect/>
          </a:stretch>
        </p:blipFill>
        <p:spPr>
          <a:xfrm>
            <a:off x="841248" y="5212080"/>
            <a:ext cx="402336" cy="402336"/>
          </a:xfrm>
          <a:prstGeom prst="rect">
            <a:avLst/>
          </a:prstGeom>
        </p:spPr>
      </p:pic>
      <p:sp>
        <p:nvSpPr>
          <p:cNvPr id="24" name="Text 18"/>
          <p:cNvSpPr/>
          <p:nvPr/>
        </p:nvSpPr>
        <p:spPr>
          <a:xfrm>
            <a:off x="1435608" y="4956048"/>
            <a:ext cx="9914839" cy="914400"/>
          </a:xfrm>
          <a:prstGeom prst="rect">
            <a:avLst/>
          </a:prstGeom>
          <a:noFill/>
          <a:ln/>
        </p:spPr>
        <p:txBody>
          <a:bodyPr wrap="square" rtlCol="0" anchor="ctr"/>
          <a:lstStyle/>
          <a:p>
            <a:pPr marL="0" indent="0">
              <a:lnSpc>
                <a:spcPct val="110000"/>
              </a:lnSpc>
              <a:buNone/>
            </a:pPr>
            <a:r>
              <a:rPr lang="en-US" sz="1350" dirty="0">
                <a:solidFill>
                  <a:srgbClr val="F3F6FB"/>
                </a:solidFill>
                <a:latin typeface="Segoe UI" pitchFamily="34" charset="0"/>
                <a:ea typeface="Segoe UI" pitchFamily="34" charset="-122"/>
                <a:cs typeface="Segoe UI" pitchFamily="34" charset="-120"/>
              </a:rPr>
              <a:t>Every value is validated, checked for anomalies and logged: a full audit trail, segregation of duty, no-code rules, ISO 27001 and SOC 1.</a:t>
            </a:r>
            <a:endParaRPr lang="en-US" sz="1350" dirty="0"/>
          </a:p>
        </p:txBody>
      </p:sp>
      <p:sp>
        <p:nvSpPr>
          <p:cNvPr id="25" name="Text 19"/>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TreasuryCentral, powered by OnePilot</a:t>
            </a:r>
            <a:endParaRPr lang="en-US" sz="900" dirty="0"/>
          </a:p>
        </p:txBody>
      </p:sp>
      <p:sp>
        <p:nvSpPr>
          <p:cNvPr id="26" name="Text 20"/>
          <p:cNvSpPr/>
          <p:nvPr/>
        </p:nvSpPr>
        <p:spPr>
          <a:xfrm>
            <a:off x="10527487" y="6400800"/>
            <a:ext cx="1097280" cy="274320"/>
          </a:xfrm>
          <a:prstGeom prst="rect">
            <a:avLst/>
          </a:prstGeom>
          <a:noFill/>
          <a:ln/>
        </p:spPr>
        <p:txBody>
          <a:bodyPr wrap="square" rtlCol="0" anchor="ctr"/>
          <a:lstStyle/>
          <a:p>
            <a:pPr marL="0" indent="0" algn="r">
              <a:buNone/>
            </a:pPr>
            <a:r>
              <a:rPr lang="en-US" sz="900" dirty="0">
                <a:solidFill>
                  <a:srgbClr val="AAB6C7"/>
                </a:solidFill>
                <a:latin typeface="Segoe UI" pitchFamily="34" charset="0"/>
                <a:ea typeface="Segoe UI" pitchFamily="34" charset="-122"/>
                <a:cs typeface="Segoe UI" pitchFamily="34" charset="-120"/>
              </a:rPr>
              <a:t>05 / 10</a:t>
            </a:r>
            <a:endParaRPr lang="en-US" sz="900" dirty="0"/>
          </a:p>
        </p:txBody>
      </p:sp>
      <p:sp>
        <p:nvSpPr>
          <p:cNvPr id="27" name="Shape 21"/>
          <p:cNvSpPr/>
          <p:nvPr/>
        </p:nvSpPr>
        <p:spPr>
          <a:xfrm>
            <a:off x="566928" y="6327648"/>
            <a:ext cx="11057839" cy="0"/>
          </a:xfrm>
          <a:prstGeom prst="line">
            <a:avLst/>
          </a:prstGeom>
          <a:noFill/>
          <a:ln w="9525">
            <a:solidFill>
              <a:srgbClr val="36414F"/>
            </a:solidFill>
            <a:prstDash val="solid"/>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3" name="Text 1"/>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WHY IT IS SAFE TO AUTOMATE</a:t>
            </a:r>
            <a:endParaRPr lang="en-US" sz="1200" dirty="0"/>
          </a:p>
        </p:txBody>
      </p:sp>
      <p:sp>
        <p:nvSpPr>
          <p:cNvPr id="4" name="Text 2"/>
          <p:cNvSpPr/>
          <p:nvPr/>
        </p:nvSpPr>
        <p:spPr>
          <a:xfrm>
            <a:off x="566928" y="960120"/>
            <a:ext cx="10789920" cy="731520"/>
          </a:xfrm>
          <a:prstGeom prst="rect">
            <a:avLst/>
          </a:prstGeom>
          <a:noFill/>
          <a:ln/>
        </p:spPr>
        <p:txBody>
          <a:bodyPr wrap="square" rtlCol="0" anchor="ctr"/>
          <a:lstStyle/>
          <a:p>
            <a:pPr marL="0" indent="0">
              <a:buNone/>
            </a:pPr>
            <a:r>
              <a:rPr lang="en-US" sz="2800" b="1" dirty="0">
                <a:solidFill>
                  <a:srgbClr val="F3F6FB"/>
                </a:solidFill>
                <a:latin typeface="Segoe UI Semibold" pitchFamily="34" charset="0"/>
                <a:ea typeface="Segoe UI Semibold" pitchFamily="34" charset="-122"/>
                <a:cs typeface="Segoe UI Semibold" pitchFamily="34" charset="-120"/>
              </a:rPr>
              <a:t>The controls are built in, not bolted on.</a:t>
            </a:r>
            <a:endParaRPr lang="en-US" sz="2800" dirty="0"/>
          </a:p>
        </p:txBody>
      </p:sp>
      <p:sp>
        <p:nvSpPr>
          <p:cNvPr id="5" name="Shape 3"/>
          <p:cNvSpPr/>
          <p:nvPr/>
        </p:nvSpPr>
        <p:spPr>
          <a:xfrm>
            <a:off x="566928" y="2194560"/>
            <a:ext cx="5346040" cy="1188720"/>
          </a:xfrm>
          <a:prstGeom prst="roundRect">
            <a:avLst>
              <a:gd name="adj" fmla="val 6154"/>
            </a:avLst>
          </a:prstGeom>
          <a:solidFill>
            <a:srgbClr val="141A25"/>
          </a:solidFill>
          <a:ln w="13970">
            <a:solidFill>
              <a:srgbClr val="36414F"/>
            </a:solidFill>
            <a:prstDash val="solid"/>
          </a:ln>
        </p:spPr>
        <p:txBody>
          <a:bodyPr/>
          <a:lstStyle/>
          <a:p>
            <a:endParaRPr lang="en-US"/>
          </a:p>
        </p:txBody>
      </p:sp>
      <p:sp>
        <p:nvSpPr>
          <p:cNvPr id="6" name="Shape 4"/>
          <p:cNvSpPr/>
          <p:nvPr/>
        </p:nvSpPr>
        <p:spPr>
          <a:xfrm>
            <a:off x="822960" y="2496312"/>
            <a:ext cx="566928" cy="566928"/>
          </a:xfrm>
          <a:prstGeom prst="roundRect">
            <a:avLst>
              <a:gd name="adj" fmla="val 17742"/>
            </a:avLst>
          </a:prstGeom>
          <a:solidFill>
            <a:srgbClr val="1B2330"/>
          </a:solidFill>
          <a:ln w="15240">
            <a:solidFill>
              <a:srgbClr val="3BE3E0"/>
            </a:solidFill>
            <a:prstDash val="solid"/>
          </a:ln>
        </p:spPr>
        <p:txBody>
          <a:bodyPr/>
          <a:lstStyle/>
          <a:p>
            <a:endParaRPr lang="en-US"/>
          </a:p>
        </p:txBody>
      </p:sp>
      <p:pic>
        <p:nvPicPr>
          <p:cNvPr id="7" name="Image 0" descr="C:/Users/neuma_p1qrsic/Repo/agentic-ops1/.scratch/icons/list.png"/>
          <p:cNvPicPr>
            <a:picLocks noChangeAspect="1"/>
          </p:cNvPicPr>
          <p:nvPr/>
        </p:nvPicPr>
        <p:blipFill>
          <a:blip r:embed="rId3"/>
          <a:stretch>
            <a:fillRect/>
          </a:stretch>
        </p:blipFill>
        <p:spPr>
          <a:xfrm>
            <a:off x="959023" y="2632375"/>
            <a:ext cx="294803" cy="294803"/>
          </a:xfrm>
          <a:prstGeom prst="rect">
            <a:avLst/>
          </a:prstGeom>
        </p:spPr>
      </p:pic>
      <p:sp>
        <p:nvSpPr>
          <p:cNvPr id="8" name="Text 5"/>
          <p:cNvSpPr/>
          <p:nvPr/>
        </p:nvSpPr>
        <p:spPr>
          <a:xfrm>
            <a:off x="1572768" y="2414016"/>
            <a:ext cx="4111600" cy="384048"/>
          </a:xfrm>
          <a:prstGeom prst="rect">
            <a:avLst/>
          </a:prstGeom>
          <a:noFill/>
          <a:ln/>
        </p:spPr>
        <p:txBody>
          <a:bodyPr wrap="square" rtlCol="0" anchor="ctr"/>
          <a:lstStyle/>
          <a:p>
            <a:pPr marL="0" indent="0">
              <a:buNone/>
            </a:pPr>
            <a:r>
              <a:rPr lang="en-US" sz="1650" b="1" dirty="0">
                <a:solidFill>
                  <a:srgbClr val="F3F6FB"/>
                </a:solidFill>
                <a:latin typeface="Segoe UI Semibold" pitchFamily="34" charset="0"/>
                <a:ea typeface="Segoe UI Semibold" pitchFamily="34" charset="-122"/>
                <a:cs typeface="Segoe UI Semibold" pitchFamily="34" charset="-120"/>
              </a:rPr>
              <a:t>A full audit trail</a:t>
            </a:r>
            <a:endParaRPr lang="en-US" sz="1650" dirty="0"/>
          </a:p>
        </p:txBody>
      </p:sp>
      <p:sp>
        <p:nvSpPr>
          <p:cNvPr id="9" name="Text 6"/>
          <p:cNvSpPr/>
          <p:nvPr/>
        </p:nvSpPr>
        <p:spPr>
          <a:xfrm>
            <a:off x="1572768" y="2798064"/>
            <a:ext cx="4111600" cy="45720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Every value and every change is recorded, end to end.</a:t>
            </a:r>
            <a:endParaRPr lang="en-US" sz="1250" dirty="0"/>
          </a:p>
        </p:txBody>
      </p:sp>
      <p:sp>
        <p:nvSpPr>
          <p:cNvPr id="10" name="Shape 7"/>
          <p:cNvSpPr/>
          <p:nvPr/>
        </p:nvSpPr>
        <p:spPr>
          <a:xfrm>
            <a:off x="6278728" y="2194560"/>
            <a:ext cx="5346040" cy="1188720"/>
          </a:xfrm>
          <a:prstGeom prst="roundRect">
            <a:avLst>
              <a:gd name="adj" fmla="val 6154"/>
            </a:avLst>
          </a:prstGeom>
          <a:solidFill>
            <a:srgbClr val="141A25"/>
          </a:solidFill>
          <a:ln w="13970">
            <a:solidFill>
              <a:srgbClr val="36414F"/>
            </a:solidFill>
            <a:prstDash val="solid"/>
          </a:ln>
        </p:spPr>
        <p:txBody>
          <a:bodyPr/>
          <a:lstStyle/>
          <a:p>
            <a:endParaRPr lang="en-US"/>
          </a:p>
        </p:txBody>
      </p:sp>
      <p:sp>
        <p:nvSpPr>
          <p:cNvPr id="11" name="Shape 8"/>
          <p:cNvSpPr/>
          <p:nvPr/>
        </p:nvSpPr>
        <p:spPr>
          <a:xfrm>
            <a:off x="6534760" y="2496312"/>
            <a:ext cx="566928" cy="566928"/>
          </a:xfrm>
          <a:prstGeom prst="roundRect">
            <a:avLst>
              <a:gd name="adj" fmla="val 17742"/>
            </a:avLst>
          </a:prstGeom>
          <a:solidFill>
            <a:srgbClr val="1B2330"/>
          </a:solidFill>
          <a:ln w="15240">
            <a:solidFill>
              <a:srgbClr val="3BE3E0"/>
            </a:solidFill>
            <a:prstDash val="solid"/>
          </a:ln>
        </p:spPr>
        <p:txBody>
          <a:bodyPr/>
          <a:lstStyle/>
          <a:p>
            <a:endParaRPr lang="en-US"/>
          </a:p>
        </p:txBody>
      </p:sp>
      <p:pic>
        <p:nvPicPr>
          <p:cNvPr id="12" name="Image 1" descr="C:/Users/neuma_p1qrsic/Repo/agentic-ops1/.scratch/icons/shield.png"/>
          <p:cNvPicPr>
            <a:picLocks noChangeAspect="1"/>
          </p:cNvPicPr>
          <p:nvPr/>
        </p:nvPicPr>
        <p:blipFill>
          <a:blip r:embed="rId4"/>
          <a:stretch>
            <a:fillRect/>
          </a:stretch>
        </p:blipFill>
        <p:spPr>
          <a:xfrm>
            <a:off x="6670822" y="2632375"/>
            <a:ext cx="294803" cy="294803"/>
          </a:xfrm>
          <a:prstGeom prst="rect">
            <a:avLst/>
          </a:prstGeom>
        </p:spPr>
      </p:pic>
      <p:sp>
        <p:nvSpPr>
          <p:cNvPr id="13" name="Text 9"/>
          <p:cNvSpPr/>
          <p:nvPr/>
        </p:nvSpPr>
        <p:spPr>
          <a:xfrm>
            <a:off x="7284568" y="2414016"/>
            <a:ext cx="4111600" cy="384048"/>
          </a:xfrm>
          <a:prstGeom prst="rect">
            <a:avLst/>
          </a:prstGeom>
          <a:noFill/>
          <a:ln/>
        </p:spPr>
        <p:txBody>
          <a:bodyPr wrap="square" rtlCol="0" anchor="ctr"/>
          <a:lstStyle/>
          <a:p>
            <a:pPr marL="0" indent="0">
              <a:buNone/>
            </a:pPr>
            <a:r>
              <a:rPr lang="en-US" sz="1650" b="1" dirty="0">
                <a:solidFill>
                  <a:srgbClr val="F3F6FB"/>
                </a:solidFill>
                <a:latin typeface="Segoe UI Semibold" pitchFamily="34" charset="0"/>
                <a:ea typeface="Segoe UI Semibold" pitchFamily="34" charset="-122"/>
                <a:cs typeface="Segoe UI Semibold" pitchFamily="34" charset="-120"/>
              </a:rPr>
              <a:t>Segregation of duty</a:t>
            </a:r>
            <a:endParaRPr lang="en-US" sz="1650" dirty="0"/>
          </a:p>
        </p:txBody>
      </p:sp>
      <p:sp>
        <p:nvSpPr>
          <p:cNvPr id="14" name="Text 10"/>
          <p:cNvSpPr/>
          <p:nvPr/>
        </p:nvSpPr>
        <p:spPr>
          <a:xfrm>
            <a:off x="7284568" y="2798064"/>
            <a:ext cx="4111600" cy="45720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The changes that matter need a second person.</a:t>
            </a:r>
            <a:endParaRPr lang="en-US" sz="1250" dirty="0"/>
          </a:p>
        </p:txBody>
      </p:sp>
      <p:sp>
        <p:nvSpPr>
          <p:cNvPr id="15" name="Shape 11"/>
          <p:cNvSpPr/>
          <p:nvPr/>
        </p:nvSpPr>
        <p:spPr>
          <a:xfrm>
            <a:off x="566928" y="3547872"/>
            <a:ext cx="5346040" cy="1188720"/>
          </a:xfrm>
          <a:prstGeom prst="roundRect">
            <a:avLst>
              <a:gd name="adj" fmla="val 6154"/>
            </a:avLst>
          </a:prstGeom>
          <a:solidFill>
            <a:srgbClr val="141A25"/>
          </a:solidFill>
          <a:ln w="13970">
            <a:solidFill>
              <a:srgbClr val="36414F"/>
            </a:solidFill>
            <a:prstDash val="solid"/>
          </a:ln>
        </p:spPr>
        <p:txBody>
          <a:bodyPr/>
          <a:lstStyle/>
          <a:p>
            <a:endParaRPr lang="en-US"/>
          </a:p>
        </p:txBody>
      </p:sp>
      <p:sp>
        <p:nvSpPr>
          <p:cNvPr id="16" name="Shape 12"/>
          <p:cNvSpPr/>
          <p:nvPr/>
        </p:nvSpPr>
        <p:spPr>
          <a:xfrm>
            <a:off x="822960" y="3849624"/>
            <a:ext cx="566928" cy="566928"/>
          </a:xfrm>
          <a:prstGeom prst="roundRect">
            <a:avLst>
              <a:gd name="adj" fmla="val 17742"/>
            </a:avLst>
          </a:prstGeom>
          <a:solidFill>
            <a:srgbClr val="1B2330"/>
          </a:solidFill>
          <a:ln w="15240">
            <a:solidFill>
              <a:srgbClr val="3BE3E0"/>
            </a:solidFill>
            <a:prstDash val="solid"/>
          </a:ln>
        </p:spPr>
        <p:txBody>
          <a:bodyPr/>
          <a:lstStyle/>
          <a:p>
            <a:endParaRPr lang="en-US"/>
          </a:p>
        </p:txBody>
      </p:sp>
      <p:pic>
        <p:nvPicPr>
          <p:cNvPr id="17" name="Image 2" descr="C:/Users/neuma_p1qrsic/Repo/agentic-ops1/.scratch/icons/eye.png"/>
          <p:cNvPicPr>
            <a:picLocks noChangeAspect="1"/>
          </p:cNvPicPr>
          <p:nvPr/>
        </p:nvPicPr>
        <p:blipFill>
          <a:blip r:embed="rId5"/>
          <a:stretch>
            <a:fillRect/>
          </a:stretch>
        </p:blipFill>
        <p:spPr>
          <a:xfrm>
            <a:off x="959023" y="3985687"/>
            <a:ext cx="294803" cy="294803"/>
          </a:xfrm>
          <a:prstGeom prst="rect">
            <a:avLst/>
          </a:prstGeom>
        </p:spPr>
      </p:pic>
      <p:sp>
        <p:nvSpPr>
          <p:cNvPr id="18" name="Text 13"/>
          <p:cNvSpPr/>
          <p:nvPr/>
        </p:nvSpPr>
        <p:spPr>
          <a:xfrm>
            <a:off x="1572768" y="3767328"/>
            <a:ext cx="4111600" cy="384048"/>
          </a:xfrm>
          <a:prstGeom prst="rect">
            <a:avLst/>
          </a:prstGeom>
          <a:noFill/>
          <a:ln/>
        </p:spPr>
        <p:txBody>
          <a:bodyPr wrap="square" rtlCol="0" anchor="ctr"/>
          <a:lstStyle/>
          <a:p>
            <a:pPr marL="0" indent="0">
              <a:buNone/>
            </a:pPr>
            <a:r>
              <a:rPr lang="en-US" sz="1650" b="1" dirty="0">
                <a:solidFill>
                  <a:srgbClr val="F3F6FB"/>
                </a:solidFill>
                <a:latin typeface="Segoe UI Semibold" pitchFamily="34" charset="0"/>
                <a:ea typeface="Segoe UI Semibold" pitchFamily="34" charset="-122"/>
                <a:cs typeface="Segoe UI Semibold" pitchFamily="34" charset="-120"/>
              </a:rPr>
              <a:t>Automatic checks</a:t>
            </a:r>
            <a:endParaRPr lang="en-US" sz="1650" dirty="0"/>
          </a:p>
        </p:txBody>
      </p:sp>
      <p:sp>
        <p:nvSpPr>
          <p:cNvPr id="19" name="Text 14"/>
          <p:cNvSpPr/>
          <p:nvPr/>
        </p:nvSpPr>
        <p:spPr>
          <a:xfrm>
            <a:off x="1572768" y="4151376"/>
            <a:ext cx="4111600" cy="45720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Odd or bad data is caught before it reaches a system.</a:t>
            </a:r>
            <a:endParaRPr lang="en-US" sz="1250" dirty="0"/>
          </a:p>
        </p:txBody>
      </p:sp>
      <p:sp>
        <p:nvSpPr>
          <p:cNvPr id="20" name="Shape 15"/>
          <p:cNvSpPr/>
          <p:nvPr/>
        </p:nvSpPr>
        <p:spPr>
          <a:xfrm>
            <a:off x="6278728" y="3547872"/>
            <a:ext cx="5346040" cy="1188720"/>
          </a:xfrm>
          <a:prstGeom prst="roundRect">
            <a:avLst>
              <a:gd name="adj" fmla="val 6154"/>
            </a:avLst>
          </a:prstGeom>
          <a:solidFill>
            <a:srgbClr val="141A25"/>
          </a:solidFill>
          <a:ln w="13970">
            <a:solidFill>
              <a:srgbClr val="36414F"/>
            </a:solidFill>
            <a:prstDash val="solid"/>
          </a:ln>
        </p:spPr>
        <p:txBody>
          <a:bodyPr/>
          <a:lstStyle/>
          <a:p>
            <a:endParaRPr lang="en-US"/>
          </a:p>
        </p:txBody>
      </p:sp>
      <p:sp>
        <p:nvSpPr>
          <p:cNvPr id="21" name="Shape 16"/>
          <p:cNvSpPr/>
          <p:nvPr/>
        </p:nvSpPr>
        <p:spPr>
          <a:xfrm>
            <a:off x="6534760" y="3849624"/>
            <a:ext cx="566928" cy="566928"/>
          </a:xfrm>
          <a:prstGeom prst="roundRect">
            <a:avLst>
              <a:gd name="adj" fmla="val 17742"/>
            </a:avLst>
          </a:prstGeom>
          <a:solidFill>
            <a:srgbClr val="1B2330"/>
          </a:solidFill>
          <a:ln w="15240">
            <a:solidFill>
              <a:srgbClr val="3BE3E0"/>
            </a:solidFill>
            <a:prstDash val="solid"/>
          </a:ln>
        </p:spPr>
        <p:txBody>
          <a:bodyPr/>
          <a:lstStyle/>
          <a:p>
            <a:endParaRPr lang="en-US"/>
          </a:p>
        </p:txBody>
      </p:sp>
      <p:pic>
        <p:nvPicPr>
          <p:cNvPr id="22" name="Image 3" descr="C:/Users/neuma_p1qrsic/Repo/agentic-ops1/.scratch/icons/bell.png"/>
          <p:cNvPicPr>
            <a:picLocks noChangeAspect="1"/>
          </p:cNvPicPr>
          <p:nvPr/>
        </p:nvPicPr>
        <p:blipFill>
          <a:blip r:embed="rId6"/>
          <a:stretch>
            <a:fillRect/>
          </a:stretch>
        </p:blipFill>
        <p:spPr>
          <a:xfrm>
            <a:off x="6670822" y="3985687"/>
            <a:ext cx="294803" cy="294803"/>
          </a:xfrm>
          <a:prstGeom prst="rect">
            <a:avLst/>
          </a:prstGeom>
        </p:spPr>
      </p:pic>
      <p:sp>
        <p:nvSpPr>
          <p:cNvPr id="23" name="Text 17"/>
          <p:cNvSpPr/>
          <p:nvPr/>
        </p:nvSpPr>
        <p:spPr>
          <a:xfrm>
            <a:off x="7284568" y="3767328"/>
            <a:ext cx="4111600" cy="384048"/>
          </a:xfrm>
          <a:prstGeom prst="rect">
            <a:avLst/>
          </a:prstGeom>
          <a:noFill/>
          <a:ln/>
        </p:spPr>
        <p:txBody>
          <a:bodyPr wrap="square" rtlCol="0" anchor="ctr"/>
          <a:lstStyle/>
          <a:p>
            <a:pPr marL="0" indent="0">
              <a:buNone/>
            </a:pPr>
            <a:r>
              <a:rPr lang="en-US" sz="1650" b="1" dirty="0">
                <a:solidFill>
                  <a:srgbClr val="F3F6FB"/>
                </a:solidFill>
                <a:latin typeface="Segoe UI Semibold" pitchFamily="34" charset="0"/>
                <a:ea typeface="Segoe UI Semibold" pitchFamily="34" charset="-122"/>
                <a:cs typeface="Segoe UI Semibold" pitchFamily="34" charset="-120"/>
              </a:rPr>
              <a:t>Alerts on exceptions</a:t>
            </a:r>
            <a:endParaRPr lang="en-US" sz="1650" dirty="0"/>
          </a:p>
        </p:txBody>
      </p:sp>
      <p:sp>
        <p:nvSpPr>
          <p:cNvPr id="24" name="Text 18"/>
          <p:cNvSpPr/>
          <p:nvPr/>
        </p:nvSpPr>
        <p:spPr>
          <a:xfrm>
            <a:off x="7284568" y="4151376"/>
            <a:ext cx="4111600" cy="45720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You hear about the odd one out; the rest just runs.</a:t>
            </a:r>
            <a:endParaRPr lang="en-US" sz="1250" dirty="0"/>
          </a:p>
        </p:txBody>
      </p:sp>
      <p:sp>
        <p:nvSpPr>
          <p:cNvPr id="25" name="Shape 19"/>
          <p:cNvSpPr/>
          <p:nvPr/>
        </p:nvSpPr>
        <p:spPr>
          <a:xfrm>
            <a:off x="566928" y="4901184"/>
            <a:ext cx="5346040" cy="1188720"/>
          </a:xfrm>
          <a:prstGeom prst="roundRect">
            <a:avLst>
              <a:gd name="adj" fmla="val 6154"/>
            </a:avLst>
          </a:prstGeom>
          <a:solidFill>
            <a:srgbClr val="141A25"/>
          </a:solidFill>
          <a:ln w="13970">
            <a:solidFill>
              <a:srgbClr val="36414F"/>
            </a:solidFill>
            <a:prstDash val="solid"/>
          </a:ln>
        </p:spPr>
        <p:txBody>
          <a:bodyPr/>
          <a:lstStyle/>
          <a:p>
            <a:endParaRPr lang="en-US"/>
          </a:p>
        </p:txBody>
      </p:sp>
      <p:sp>
        <p:nvSpPr>
          <p:cNvPr id="26" name="Shape 20"/>
          <p:cNvSpPr/>
          <p:nvPr/>
        </p:nvSpPr>
        <p:spPr>
          <a:xfrm>
            <a:off x="822960" y="5202936"/>
            <a:ext cx="566928" cy="566928"/>
          </a:xfrm>
          <a:prstGeom prst="roundRect">
            <a:avLst>
              <a:gd name="adj" fmla="val 17742"/>
            </a:avLst>
          </a:prstGeom>
          <a:solidFill>
            <a:srgbClr val="1B2330"/>
          </a:solidFill>
          <a:ln w="15240">
            <a:solidFill>
              <a:srgbClr val="3BE3E0"/>
            </a:solidFill>
            <a:prstDash val="solid"/>
          </a:ln>
        </p:spPr>
        <p:txBody>
          <a:bodyPr/>
          <a:lstStyle/>
          <a:p>
            <a:endParaRPr lang="en-US"/>
          </a:p>
        </p:txBody>
      </p:sp>
      <p:pic>
        <p:nvPicPr>
          <p:cNvPr id="27" name="Image 4" descr="C:/Users/neuma_p1qrsic/Repo/agentic-ops1/.scratch/icons/blocks.png"/>
          <p:cNvPicPr>
            <a:picLocks noChangeAspect="1"/>
          </p:cNvPicPr>
          <p:nvPr/>
        </p:nvPicPr>
        <p:blipFill>
          <a:blip r:embed="rId7"/>
          <a:stretch>
            <a:fillRect/>
          </a:stretch>
        </p:blipFill>
        <p:spPr>
          <a:xfrm>
            <a:off x="959023" y="5338999"/>
            <a:ext cx="294803" cy="294803"/>
          </a:xfrm>
          <a:prstGeom prst="rect">
            <a:avLst/>
          </a:prstGeom>
        </p:spPr>
      </p:pic>
      <p:sp>
        <p:nvSpPr>
          <p:cNvPr id="28" name="Text 21"/>
          <p:cNvSpPr/>
          <p:nvPr/>
        </p:nvSpPr>
        <p:spPr>
          <a:xfrm>
            <a:off x="1572768" y="5120640"/>
            <a:ext cx="4111600" cy="384048"/>
          </a:xfrm>
          <a:prstGeom prst="rect">
            <a:avLst/>
          </a:prstGeom>
          <a:noFill/>
          <a:ln/>
        </p:spPr>
        <p:txBody>
          <a:bodyPr wrap="square" rtlCol="0" anchor="ctr"/>
          <a:lstStyle/>
          <a:p>
            <a:pPr marL="0" indent="0">
              <a:buNone/>
            </a:pPr>
            <a:r>
              <a:rPr lang="en-US" sz="1650" b="1" dirty="0">
                <a:solidFill>
                  <a:srgbClr val="F3F6FB"/>
                </a:solidFill>
                <a:latin typeface="Segoe UI Semibold" pitchFamily="34" charset="0"/>
                <a:ea typeface="Segoe UI Semibold" pitchFamily="34" charset="-122"/>
                <a:cs typeface="Segoe UI Semibold" pitchFamily="34" charset="-120"/>
              </a:rPr>
              <a:t>No code to change it</a:t>
            </a:r>
            <a:endParaRPr lang="en-US" sz="1650" dirty="0"/>
          </a:p>
        </p:txBody>
      </p:sp>
      <p:sp>
        <p:nvSpPr>
          <p:cNvPr id="29" name="Text 22"/>
          <p:cNvSpPr/>
          <p:nvPr/>
        </p:nvSpPr>
        <p:spPr>
          <a:xfrm>
            <a:off x="1572768" y="5504688"/>
            <a:ext cx="4111600" cy="45720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Your rules, changed by your team, no IT project.</a:t>
            </a:r>
            <a:endParaRPr lang="en-US" sz="1250" dirty="0"/>
          </a:p>
        </p:txBody>
      </p:sp>
      <p:sp>
        <p:nvSpPr>
          <p:cNvPr id="30" name="Shape 23"/>
          <p:cNvSpPr/>
          <p:nvPr/>
        </p:nvSpPr>
        <p:spPr>
          <a:xfrm>
            <a:off x="6278728" y="4901184"/>
            <a:ext cx="5346040" cy="1188720"/>
          </a:xfrm>
          <a:prstGeom prst="roundRect">
            <a:avLst>
              <a:gd name="adj" fmla="val 6154"/>
            </a:avLst>
          </a:prstGeom>
          <a:solidFill>
            <a:srgbClr val="141A25"/>
          </a:solidFill>
          <a:ln w="13970">
            <a:solidFill>
              <a:srgbClr val="36414F"/>
            </a:solidFill>
            <a:prstDash val="solid"/>
          </a:ln>
        </p:spPr>
        <p:txBody>
          <a:bodyPr/>
          <a:lstStyle/>
          <a:p>
            <a:endParaRPr lang="en-US"/>
          </a:p>
        </p:txBody>
      </p:sp>
      <p:sp>
        <p:nvSpPr>
          <p:cNvPr id="31" name="Shape 24"/>
          <p:cNvSpPr/>
          <p:nvPr/>
        </p:nvSpPr>
        <p:spPr>
          <a:xfrm>
            <a:off x="6534760" y="5202936"/>
            <a:ext cx="566928" cy="566928"/>
          </a:xfrm>
          <a:prstGeom prst="roundRect">
            <a:avLst>
              <a:gd name="adj" fmla="val 17742"/>
            </a:avLst>
          </a:prstGeom>
          <a:solidFill>
            <a:srgbClr val="1B2330"/>
          </a:solidFill>
          <a:ln w="15240">
            <a:solidFill>
              <a:srgbClr val="3BE3E0"/>
            </a:solidFill>
            <a:prstDash val="solid"/>
          </a:ln>
        </p:spPr>
        <p:txBody>
          <a:bodyPr/>
          <a:lstStyle/>
          <a:p>
            <a:endParaRPr lang="en-US"/>
          </a:p>
        </p:txBody>
      </p:sp>
      <p:pic>
        <p:nvPicPr>
          <p:cNvPr id="32" name="Image 5" descr="C:/Users/neuma_p1qrsic/Repo/agentic-ops1/.scratch/icons/lock.png"/>
          <p:cNvPicPr>
            <a:picLocks noChangeAspect="1"/>
          </p:cNvPicPr>
          <p:nvPr/>
        </p:nvPicPr>
        <p:blipFill>
          <a:blip r:embed="rId8"/>
          <a:stretch>
            <a:fillRect/>
          </a:stretch>
        </p:blipFill>
        <p:spPr>
          <a:xfrm>
            <a:off x="6670822" y="5338999"/>
            <a:ext cx="294803" cy="294803"/>
          </a:xfrm>
          <a:prstGeom prst="rect">
            <a:avLst/>
          </a:prstGeom>
        </p:spPr>
      </p:pic>
      <p:sp>
        <p:nvSpPr>
          <p:cNvPr id="33" name="Text 25"/>
          <p:cNvSpPr/>
          <p:nvPr/>
        </p:nvSpPr>
        <p:spPr>
          <a:xfrm>
            <a:off x="7284568" y="5120640"/>
            <a:ext cx="4111600" cy="384048"/>
          </a:xfrm>
          <a:prstGeom prst="rect">
            <a:avLst/>
          </a:prstGeom>
          <a:noFill/>
          <a:ln/>
        </p:spPr>
        <p:txBody>
          <a:bodyPr wrap="square" rtlCol="0" anchor="ctr"/>
          <a:lstStyle/>
          <a:p>
            <a:pPr marL="0" indent="0">
              <a:buNone/>
            </a:pPr>
            <a:r>
              <a:rPr lang="en-US" sz="1650" b="1" dirty="0">
                <a:solidFill>
                  <a:srgbClr val="F3F6FB"/>
                </a:solidFill>
                <a:latin typeface="Segoe UI Semibold" pitchFamily="34" charset="0"/>
                <a:ea typeface="Segoe UI Semibold" pitchFamily="34" charset="-122"/>
                <a:cs typeface="Segoe UI Semibold" pitchFamily="34" charset="-120"/>
              </a:rPr>
              <a:t>ISO 27001 and SOC 1</a:t>
            </a:r>
            <a:endParaRPr lang="en-US" sz="1650" dirty="0"/>
          </a:p>
        </p:txBody>
      </p:sp>
      <p:sp>
        <p:nvSpPr>
          <p:cNvPr id="34" name="Text 26"/>
          <p:cNvSpPr/>
          <p:nvPr/>
        </p:nvSpPr>
        <p:spPr>
          <a:xfrm>
            <a:off x="7284568" y="5504688"/>
            <a:ext cx="4111600" cy="45720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The security controls your auditors already expect.</a:t>
            </a:r>
            <a:endParaRPr lang="en-US" sz="1250" dirty="0"/>
          </a:p>
        </p:txBody>
      </p:sp>
      <p:sp>
        <p:nvSpPr>
          <p:cNvPr id="35" name="Text 27"/>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TreasuryCentral, powered by OnePilot</a:t>
            </a:r>
            <a:endParaRPr lang="en-US" sz="900" dirty="0"/>
          </a:p>
        </p:txBody>
      </p:sp>
      <p:sp>
        <p:nvSpPr>
          <p:cNvPr id="36" name="Text 28"/>
          <p:cNvSpPr/>
          <p:nvPr/>
        </p:nvSpPr>
        <p:spPr>
          <a:xfrm>
            <a:off x="10527487" y="6400800"/>
            <a:ext cx="1097280" cy="274320"/>
          </a:xfrm>
          <a:prstGeom prst="rect">
            <a:avLst/>
          </a:prstGeom>
          <a:noFill/>
          <a:ln/>
        </p:spPr>
        <p:txBody>
          <a:bodyPr wrap="square" rtlCol="0" anchor="ctr"/>
          <a:lstStyle/>
          <a:p>
            <a:pPr marL="0" indent="0" algn="r">
              <a:buNone/>
            </a:pPr>
            <a:r>
              <a:rPr lang="en-US" sz="900" dirty="0">
                <a:solidFill>
                  <a:srgbClr val="AAB6C7"/>
                </a:solidFill>
                <a:latin typeface="Segoe UI" pitchFamily="34" charset="0"/>
                <a:ea typeface="Segoe UI" pitchFamily="34" charset="-122"/>
                <a:cs typeface="Segoe UI" pitchFamily="34" charset="-120"/>
              </a:rPr>
              <a:t>06 / 10</a:t>
            </a:r>
            <a:endParaRPr lang="en-US" sz="900" dirty="0"/>
          </a:p>
        </p:txBody>
      </p:sp>
      <p:sp>
        <p:nvSpPr>
          <p:cNvPr id="37" name="Shape 29"/>
          <p:cNvSpPr/>
          <p:nvPr/>
        </p:nvSpPr>
        <p:spPr>
          <a:xfrm>
            <a:off x="566928" y="6327648"/>
            <a:ext cx="11057839" cy="0"/>
          </a:xfrm>
          <a:prstGeom prst="line">
            <a:avLst/>
          </a:prstGeom>
          <a:noFill/>
          <a:ln w="9525">
            <a:solidFill>
              <a:srgbClr val="36414F"/>
            </a:solidFill>
            <a:prstDash val="solid"/>
          </a:ln>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21B"/>
        </a:solidFill>
        <a:effectLst/>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3" name="Text 1"/>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WHAT IT RUNS ON</a:t>
            </a:r>
            <a:endParaRPr lang="en-US" sz="1200" dirty="0"/>
          </a:p>
        </p:txBody>
      </p:sp>
      <p:sp>
        <p:nvSpPr>
          <p:cNvPr id="4" name="Text 2"/>
          <p:cNvSpPr/>
          <p:nvPr/>
        </p:nvSpPr>
        <p:spPr>
          <a:xfrm>
            <a:off x="566928" y="960120"/>
            <a:ext cx="10789920" cy="731520"/>
          </a:xfrm>
          <a:prstGeom prst="rect">
            <a:avLst/>
          </a:prstGeom>
          <a:noFill/>
          <a:ln/>
        </p:spPr>
        <p:txBody>
          <a:bodyPr wrap="square" rtlCol="0" anchor="ctr"/>
          <a:lstStyle/>
          <a:p>
            <a:pPr marL="0" indent="0">
              <a:buNone/>
            </a:pPr>
            <a:r>
              <a:rPr lang="en-US" sz="2900" b="1" dirty="0">
                <a:solidFill>
                  <a:srgbClr val="F3F6FB"/>
                </a:solidFill>
                <a:latin typeface="Segoe UI Semibold" pitchFamily="34" charset="0"/>
                <a:ea typeface="Segoe UI Semibold" pitchFamily="34" charset="-122"/>
                <a:cs typeface="Segoe UI Semibold" pitchFamily="34" charset="-120"/>
              </a:rPr>
              <a:t>TreasuryCentral is powered by </a:t>
            </a:r>
            <a:r>
              <a:rPr lang="en-US" sz="2900" b="1" dirty="0">
                <a:solidFill>
                  <a:srgbClr val="3BE3E0"/>
                </a:solidFill>
                <a:latin typeface="Segoe UI Semibold" pitchFamily="34" charset="0"/>
                <a:ea typeface="Segoe UI Semibold" pitchFamily="34" charset="-122"/>
                <a:cs typeface="Segoe UI Semibold" pitchFamily="34" charset="-120"/>
              </a:rPr>
              <a:t>OnePilot</a:t>
            </a:r>
            <a:r>
              <a:rPr lang="en-US" sz="2900" b="1" dirty="0">
                <a:solidFill>
                  <a:srgbClr val="F3F6FB"/>
                </a:solidFill>
                <a:latin typeface="Segoe UI Semibold" pitchFamily="34" charset="0"/>
                <a:ea typeface="Segoe UI Semibold" pitchFamily="34" charset="-122"/>
                <a:cs typeface="Segoe UI Semibold" pitchFamily="34" charset="-120"/>
              </a:rPr>
              <a:t>.</a:t>
            </a:r>
            <a:endParaRPr lang="en-US" sz="2900" dirty="0"/>
          </a:p>
        </p:txBody>
      </p:sp>
      <p:sp>
        <p:nvSpPr>
          <p:cNvPr id="5" name="Text 3"/>
          <p:cNvSpPr/>
          <p:nvPr/>
        </p:nvSpPr>
        <p:spPr>
          <a:xfrm>
            <a:off x="566928" y="1828800"/>
            <a:ext cx="10607040" cy="960120"/>
          </a:xfrm>
          <a:prstGeom prst="rect">
            <a:avLst/>
          </a:prstGeom>
          <a:noFill/>
          <a:ln/>
        </p:spPr>
        <p:txBody>
          <a:bodyPr wrap="square" rtlCol="0" anchor="ctr"/>
          <a:lstStyle/>
          <a:p>
            <a:pPr marL="0" indent="0">
              <a:lnSpc>
                <a:spcPct val="130000"/>
              </a:lnSpc>
              <a:buNone/>
            </a:pPr>
            <a:r>
              <a:rPr lang="en-US" sz="1600" dirty="0">
                <a:solidFill>
                  <a:srgbClr val="AAB6C7"/>
                </a:solidFill>
                <a:latin typeface="Segoe UI" pitchFamily="34" charset="0"/>
                <a:ea typeface="Segoe UI" pitchFamily="34" charset="-122"/>
                <a:cs typeface="Segoe UI" pitchFamily="34" charset="-120"/>
              </a:rPr>
              <a:t>OnePilot is the layer underneath. It moves your data cleanly between systems, both ways, across SAP and everything else, with the checks and the AI built in. One way to connect to all of it:</a:t>
            </a:r>
            <a:endParaRPr lang="en-US" sz="1600" dirty="0"/>
          </a:p>
        </p:txBody>
      </p:sp>
      <p:sp>
        <p:nvSpPr>
          <p:cNvPr id="6" name="Shape 4"/>
          <p:cNvSpPr/>
          <p:nvPr/>
        </p:nvSpPr>
        <p:spPr>
          <a:xfrm>
            <a:off x="566928" y="3200400"/>
            <a:ext cx="1992112" cy="1554480"/>
          </a:xfrm>
          <a:prstGeom prst="roundRect">
            <a:avLst>
              <a:gd name="adj" fmla="val 5882"/>
            </a:avLst>
          </a:prstGeom>
          <a:solidFill>
            <a:srgbClr val="141A25"/>
          </a:solidFill>
          <a:ln w="13970">
            <a:solidFill>
              <a:srgbClr val="36414F"/>
            </a:solidFill>
            <a:prstDash val="solid"/>
          </a:ln>
        </p:spPr>
        <p:txBody>
          <a:bodyPr/>
          <a:lstStyle/>
          <a:p>
            <a:endParaRPr lang="en-US"/>
          </a:p>
        </p:txBody>
      </p:sp>
      <p:pic>
        <p:nvPicPr>
          <p:cNvPr id="7" name="Image 0" descr="C:/Users/neuma_p1qrsic/Repo/agentic-ops1/.scratch/icons/database.png"/>
          <p:cNvPicPr>
            <a:picLocks noChangeAspect="1"/>
          </p:cNvPicPr>
          <p:nvPr/>
        </p:nvPicPr>
        <p:blipFill>
          <a:blip r:embed="rId3"/>
          <a:stretch>
            <a:fillRect/>
          </a:stretch>
        </p:blipFill>
        <p:spPr>
          <a:xfrm>
            <a:off x="1252088" y="3493008"/>
            <a:ext cx="621792" cy="621792"/>
          </a:xfrm>
          <a:prstGeom prst="rect">
            <a:avLst/>
          </a:prstGeom>
        </p:spPr>
      </p:pic>
      <p:sp>
        <p:nvSpPr>
          <p:cNvPr id="8" name="Text 5"/>
          <p:cNvSpPr/>
          <p:nvPr/>
        </p:nvSpPr>
        <p:spPr>
          <a:xfrm>
            <a:off x="640080" y="4187952"/>
            <a:ext cx="1845808" cy="457200"/>
          </a:xfrm>
          <a:prstGeom prst="rect">
            <a:avLst/>
          </a:prstGeom>
          <a:noFill/>
          <a:ln/>
        </p:spPr>
        <p:txBody>
          <a:bodyPr wrap="square" rtlCol="0" anchor="ctr"/>
          <a:lstStyle/>
          <a:p>
            <a:pPr marL="0" indent="0" algn="ctr">
              <a:buNone/>
            </a:pPr>
            <a:r>
              <a:rPr lang="en-US" sz="1300" dirty="0">
                <a:solidFill>
                  <a:srgbClr val="F3F6FB"/>
                </a:solidFill>
                <a:latin typeface="Segoe UI" pitchFamily="34" charset="0"/>
                <a:ea typeface="Segoe UI" pitchFamily="34" charset="-122"/>
                <a:cs typeface="Segoe UI" pitchFamily="34" charset="-120"/>
              </a:rPr>
              <a:t>SAP systems</a:t>
            </a:r>
            <a:endParaRPr lang="en-US" sz="1300" dirty="0"/>
          </a:p>
        </p:txBody>
      </p:sp>
      <p:sp>
        <p:nvSpPr>
          <p:cNvPr id="9" name="Shape 6"/>
          <p:cNvSpPr/>
          <p:nvPr/>
        </p:nvSpPr>
        <p:spPr>
          <a:xfrm>
            <a:off x="2833360" y="3200400"/>
            <a:ext cx="1992112" cy="1554480"/>
          </a:xfrm>
          <a:prstGeom prst="roundRect">
            <a:avLst>
              <a:gd name="adj" fmla="val 5882"/>
            </a:avLst>
          </a:prstGeom>
          <a:solidFill>
            <a:srgbClr val="141A25"/>
          </a:solidFill>
          <a:ln w="13970">
            <a:solidFill>
              <a:srgbClr val="36414F"/>
            </a:solidFill>
            <a:prstDash val="solid"/>
          </a:ln>
        </p:spPr>
        <p:txBody>
          <a:bodyPr/>
          <a:lstStyle/>
          <a:p>
            <a:endParaRPr lang="en-US"/>
          </a:p>
        </p:txBody>
      </p:sp>
      <p:pic>
        <p:nvPicPr>
          <p:cNvPr id="10" name="Image 1" descr="C:/Users/neuma_p1qrsic/Repo/agentic-ops1/.scratch/icons/sheet.png"/>
          <p:cNvPicPr>
            <a:picLocks noChangeAspect="1"/>
          </p:cNvPicPr>
          <p:nvPr/>
        </p:nvPicPr>
        <p:blipFill>
          <a:blip r:embed="rId4"/>
          <a:stretch>
            <a:fillRect/>
          </a:stretch>
        </p:blipFill>
        <p:spPr>
          <a:xfrm>
            <a:off x="3518520" y="3493008"/>
            <a:ext cx="621792" cy="621792"/>
          </a:xfrm>
          <a:prstGeom prst="rect">
            <a:avLst/>
          </a:prstGeom>
        </p:spPr>
      </p:pic>
      <p:sp>
        <p:nvSpPr>
          <p:cNvPr id="11" name="Text 7"/>
          <p:cNvSpPr/>
          <p:nvPr/>
        </p:nvSpPr>
        <p:spPr>
          <a:xfrm>
            <a:off x="2906512" y="4187952"/>
            <a:ext cx="1845808" cy="457200"/>
          </a:xfrm>
          <a:prstGeom prst="rect">
            <a:avLst/>
          </a:prstGeom>
          <a:noFill/>
          <a:ln/>
        </p:spPr>
        <p:txBody>
          <a:bodyPr wrap="square" rtlCol="0" anchor="ctr"/>
          <a:lstStyle/>
          <a:p>
            <a:pPr marL="0" indent="0" algn="ctr">
              <a:buNone/>
            </a:pPr>
            <a:r>
              <a:rPr lang="en-US" sz="1300" dirty="0">
                <a:solidFill>
                  <a:srgbClr val="F3F6FB"/>
                </a:solidFill>
                <a:latin typeface="Segoe UI" pitchFamily="34" charset="0"/>
                <a:ea typeface="Segoe UI" pitchFamily="34" charset="-122"/>
                <a:cs typeface="Segoe UI" pitchFamily="34" charset="-120"/>
              </a:rPr>
              <a:t>Spreadsheets &amp; files</a:t>
            </a:r>
            <a:endParaRPr lang="en-US" sz="1300" dirty="0"/>
          </a:p>
        </p:txBody>
      </p:sp>
      <p:sp>
        <p:nvSpPr>
          <p:cNvPr id="12" name="Shape 8"/>
          <p:cNvSpPr/>
          <p:nvPr/>
        </p:nvSpPr>
        <p:spPr>
          <a:xfrm>
            <a:off x="5099792" y="3200400"/>
            <a:ext cx="1992112" cy="1554480"/>
          </a:xfrm>
          <a:prstGeom prst="roundRect">
            <a:avLst>
              <a:gd name="adj" fmla="val 5882"/>
            </a:avLst>
          </a:prstGeom>
          <a:solidFill>
            <a:srgbClr val="141A25"/>
          </a:solidFill>
          <a:ln w="13970">
            <a:solidFill>
              <a:srgbClr val="36414F"/>
            </a:solidFill>
            <a:prstDash val="solid"/>
          </a:ln>
        </p:spPr>
        <p:txBody>
          <a:bodyPr/>
          <a:lstStyle/>
          <a:p>
            <a:endParaRPr lang="en-US"/>
          </a:p>
        </p:txBody>
      </p:sp>
      <p:pic>
        <p:nvPicPr>
          <p:cNvPr id="13" name="Image 2" descr="C:/Users/neuma_p1qrsic/Repo/agentic-ops1/.scratch/icons/mail.png"/>
          <p:cNvPicPr>
            <a:picLocks noChangeAspect="1"/>
          </p:cNvPicPr>
          <p:nvPr/>
        </p:nvPicPr>
        <p:blipFill>
          <a:blip r:embed="rId5"/>
          <a:stretch>
            <a:fillRect/>
          </a:stretch>
        </p:blipFill>
        <p:spPr>
          <a:xfrm>
            <a:off x="5784952" y="3493008"/>
            <a:ext cx="621792" cy="621792"/>
          </a:xfrm>
          <a:prstGeom prst="rect">
            <a:avLst/>
          </a:prstGeom>
        </p:spPr>
      </p:pic>
      <p:sp>
        <p:nvSpPr>
          <p:cNvPr id="14" name="Text 9"/>
          <p:cNvSpPr/>
          <p:nvPr/>
        </p:nvSpPr>
        <p:spPr>
          <a:xfrm>
            <a:off x="5172944" y="4187952"/>
            <a:ext cx="1845808" cy="457200"/>
          </a:xfrm>
          <a:prstGeom prst="rect">
            <a:avLst/>
          </a:prstGeom>
          <a:noFill/>
          <a:ln/>
        </p:spPr>
        <p:txBody>
          <a:bodyPr wrap="square" rtlCol="0" anchor="ctr"/>
          <a:lstStyle/>
          <a:p>
            <a:pPr marL="0" indent="0" algn="ctr">
              <a:buNone/>
            </a:pPr>
            <a:r>
              <a:rPr lang="en-US" sz="1300" dirty="0">
                <a:solidFill>
                  <a:srgbClr val="F3F6FB"/>
                </a:solidFill>
                <a:latin typeface="Segoe UI" pitchFamily="34" charset="0"/>
                <a:ea typeface="Segoe UI" pitchFamily="34" charset="-122"/>
                <a:cs typeface="Segoe UI" pitchFamily="34" charset="-120"/>
              </a:rPr>
              <a:t>Email</a:t>
            </a:r>
            <a:endParaRPr lang="en-US" sz="1300" dirty="0"/>
          </a:p>
        </p:txBody>
      </p:sp>
      <p:sp>
        <p:nvSpPr>
          <p:cNvPr id="15" name="Shape 10"/>
          <p:cNvSpPr/>
          <p:nvPr/>
        </p:nvSpPr>
        <p:spPr>
          <a:xfrm>
            <a:off x="7366224" y="3200400"/>
            <a:ext cx="1992112" cy="1554480"/>
          </a:xfrm>
          <a:prstGeom prst="roundRect">
            <a:avLst>
              <a:gd name="adj" fmla="val 5882"/>
            </a:avLst>
          </a:prstGeom>
          <a:solidFill>
            <a:srgbClr val="141A25"/>
          </a:solidFill>
          <a:ln w="13970">
            <a:solidFill>
              <a:srgbClr val="36414F"/>
            </a:solidFill>
            <a:prstDash val="solid"/>
          </a:ln>
        </p:spPr>
        <p:txBody>
          <a:bodyPr/>
          <a:lstStyle/>
          <a:p>
            <a:endParaRPr lang="en-US"/>
          </a:p>
        </p:txBody>
      </p:sp>
      <p:pic>
        <p:nvPicPr>
          <p:cNvPr id="16" name="Image 3" descr="C:/Users/neuma_p1qrsic/Repo/agentic-ops1/.scratch/icons/globe.png"/>
          <p:cNvPicPr>
            <a:picLocks noChangeAspect="1"/>
          </p:cNvPicPr>
          <p:nvPr/>
        </p:nvPicPr>
        <p:blipFill>
          <a:blip r:embed="rId6"/>
          <a:stretch>
            <a:fillRect/>
          </a:stretch>
        </p:blipFill>
        <p:spPr>
          <a:xfrm>
            <a:off x="8051383" y="3493008"/>
            <a:ext cx="621792" cy="621792"/>
          </a:xfrm>
          <a:prstGeom prst="rect">
            <a:avLst/>
          </a:prstGeom>
        </p:spPr>
      </p:pic>
      <p:sp>
        <p:nvSpPr>
          <p:cNvPr id="17" name="Text 11"/>
          <p:cNvSpPr/>
          <p:nvPr/>
        </p:nvSpPr>
        <p:spPr>
          <a:xfrm>
            <a:off x="7439376" y="4187952"/>
            <a:ext cx="1845808" cy="457200"/>
          </a:xfrm>
          <a:prstGeom prst="rect">
            <a:avLst/>
          </a:prstGeom>
          <a:noFill/>
          <a:ln/>
        </p:spPr>
        <p:txBody>
          <a:bodyPr wrap="square" rtlCol="0" anchor="ctr"/>
          <a:lstStyle/>
          <a:p>
            <a:pPr marL="0" indent="0" algn="ctr">
              <a:buNone/>
            </a:pPr>
            <a:r>
              <a:rPr lang="en-US" sz="1300" dirty="0">
                <a:solidFill>
                  <a:srgbClr val="F3F6FB"/>
                </a:solidFill>
                <a:latin typeface="Segoe UI" pitchFamily="34" charset="0"/>
                <a:ea typeface="Segoe UI" pitchFamily="34" charset="-122"/>
                <a:cs typeface="Segoe UI" pitchFamily="34" charset="-120"/>
              </a:rPr>
              <a:t>Web &amp; APIs</a:t>
            </a:r>
            <a:endParaRPr lang="en-US" sz="1300" dirty="0"/>
          </a:p>
        </p:txBody>
      </p:sp>
      <p:sp>
        <p:nvSpPr>
          <p:cNvPr id="18" name="Shape 12"/>
          <p:cNvSpPr/>
          <p:nvPr/>
        </p:nvSpPr>
        <p:spPr>
          <a:xfrm>
            <a:off x="9632655" y="3200400"/>
            <a:ext cx="1992112" cy="1554480"/>
          </a:xfrm>
          <a:prstGeom prst="roundRect">
            <a:avLst>
              <a:gd name="adj" fmla="val 5882"/>
            </a:avLst>
          </a:prstGeom>
          <a:solidFill>
            <a:srgbClr val="141A25"/>
          </a:solidFill>
          <a:ln w="13970">
            <a:solidFill>
              <a:srgbClr val="36414F"/>
            </a:solidFill>
            <a:prstDash val="solid"/>
          </a:ln>
        </p:spPr>
        <p:txBody>
          <a:bodyPr/>
          <a:lstStyle/>
          <a:p>
            <a:endParaRPr lang="en-US"/>
          </a:p>
        </p:txBody>
      </p:sp>
      <p:pic>
        <p:nvPicPr>
          <p:cNvPr id="19" name="Image 4" descr="C:/Users/neuma_p1qrsic/Repo/agentic-ops1/.scratch/icons/spark.png"/>
          <p:cNvPicPr>
            <a:picLocks noChangeAspect="1"/>
          </p:cNvPicPr>
          <p:nvPr/>
        </p:nvPicPr>
        <p:blipFill>
          <a:blip r:embed="rId7"/>
          <a:stretch>
            <a:fillRect/>
          </a:stretch>
        </p:blipFill>
        <p:spPr>
          <a:xfrm>
            <a:off x="10317815" y="3493008"/>
            <a:ext cx="621792" cy="621792"/>
          </a:xfrm>
          <a:prstGeom prst="rect">
            <a:avLst/>
          </a:prstGeom>
        </p:spPr>
      </p:pic>
      <p:sp>
        <p:nvSpPr>
          <p:cNvPr id="20" name="Text 13"/>
          <p:cNvSpPr/>
          <p:nvPr/>
        </p:nvSpPr>
        <p:spPr>
          <a:xfrm>
            <a:off x="9705807" y="4187952"/>
            <a:ext cx="1845808" cy="457200"/>
          </a:xfrm>
          <a:prstGeom prst="rect">
            <a:avLst/>
          </a:prstGeom>
          <a:noFill/>
          <a:ln/>
        </p:spPr>
        <p:txBody>
          <a:bodyPr wrap="square" rtlCol="0" anchor="ctr"/>
          <a:lstStyle/>
          <a:p>
            <a:pPr marL="0" indent="0" algn="ctr">
              <a:buNone/>
            </a:pPr>
            <a:r>
              <a:rPr lang="en-US" sz="1300" dirty="0">
                <a:solidFill>
                  <a:srgbClr val="F3F6FB"/>
                </a:solidFill>
                <a:latin typeface="Segoe UI" pitchFamily="34" charset="0"/>
                <a:ea typeface="Segoe UI" pitchFamily="34" charset="-122"/>
                <a:cs typeface="Segoe UI" pitchFamily="34" charset="-120"/>
              </a:rPr>
              <a:t>AI</a:t>
            </a:r>
            <a:endParaRPr lang="en-US" sz="1300" dirty="0"/>
          </a:p>
        </p:txBody>
      </p:sp>
      <p:sp>
        <p:nvSpPr>
          <p:cNvPr id="21" name="Text 14"/>
          <p:cNvSpPr/>
          <p:nvPr/>
        </p:nvSpPr>
        <p:spPr>
          <a:xfrm>
            <a:off x="566928" y="5120640"/>
            <a:ext cx="11057839" cy="457200"/>
          </a:xfrm>
          <a:prstGeom prst="rect">
            <a:avLst/>
          </a:prstGeom>
          <a:noFill/>
          <a:ln/>
        </p:spPr>
        <p:txBody>
          <a:bodyPr wrap="square" rtlCol="0" anchor="ctr"/>
          <a:lstStyle/>
          <a:p>
            <a:pPr marL="0" indent="0">
              <a:buNone/>
            </a:pPr>
            <a:r>
              <a:rPr lang="en-US" sz="1500" b="1" dirty="0">
                <a:solidFill>
                  <a:srgbClr val="3BE3E0"/>
                </a:solidFill>
                <a:latin typeface="Segoe UI" pitchFamily="34" charset="0"/>
                <a:ea typeface="Segoe UI" pitchFamily="34" charset="-122"/>
                <a:cs typeface="Segoe UI" pitchFamily="34" charset="-120"/>
              </a:rPr>
              <a:t>Live in weeks, not a rebuild. </a:t>
            </a:r>
            <a:r>
              <a:rPr lang="en-US" sz="1500" dirty="0">
                <a:solidFill>
                  <a:srgbClr val="AAB6C7"/>
                </a:solidFill>
                <a:latin typeface="Segoe UI" pitchFamily="34" charset="0"/>
                <a:ea typeface="Segoe UI" pitchFamily="34" charset="-122"/>
                <a:cs typeface="Segoe UI" pitchFamily="34" charset="-120"/>
              </a:rPr>
              <a:t>It sits inside your SAP landscape, not beside it.</a:t>
            </a:r>
            <a:endParaRPr lang="en-US" sz="1500" dirty="0"/>
          </a:p>
        </p:txBody>
      </p:sp>
      <p:sp>
        <p:nvSpPr>
          <p:cNvPr id="22" name="Text 15"/>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TreasuryCentral, powered by OnePilot</a:t>
            </a:r>
            <a:endParaRPr lang="en-US" sz="900" dirty="0"/>
          </a:p>
        </p:txBody>
      </p:sp>
      <p:sp>
        <p:nvSpPr>
          <p:cNvPr id="23" name="Text 16"/>
          <p:cNvSpPr/>
          <p:nvPr/>
        </p:nvSpPr>
        <p:spPr>
          <a:xfrm>
            <a:off x="10527487" y="6400800"/>
            <a:ext cx="1097280" cy="274320"/>
          </a:xfrm>
          <a:prstGeom prst="rect">
            <a:avLst/>
          </a:prstGeom>
          <a:noFill/>
          <a:ln/>
        </p:spPr>
        <p:txBody>
          <a:bodyPr wrap="square" rtlCol="0" anchor="ctr"/>
          <a:lstStyle/>
          <a:p>
            <a:pPr marL="0" indent="0" algn="r">
              <a:buNone/>
            </a:pPr>
            <a:r>
              <a:rPr lang="en-US" sz="900" dirty="0">
                <a:solidFill>
                  <a:srgbClr val="AAB6C7"/>
                </a:solidFill>
                <a:latin typeface="Segoe UI" pitchFamily="34" charset="0"/>
                <a:ea typeface="Segoe UI" pitchFamily="34" charset="-122"/>
                <a:cs typeface="Segoe UI" pitchFamily="34" charset="-120"/>
              </a:rPr>
              <a:t>07 / 10</a:t>
            </a:r>
            <a:endParaRPr lang="en-US" sz="900" dirty="0"/>
          </a:p>
        </p:txBody>
      </p:sp>
      <p:sp>
        <p:nvSpPr>
          <p:cNvPr id="24" name="Shape 17"/>
          <p:cNvSpPr/>
          <p:nvPr/>
        </p:nvSpPr>
        <p:spPr>
          <a:xfrm>
            <a:off x="566928" y="6327648"/>
            <a:ext cx="11057839" cy="0"/>
          </a:xfrm>
          <a:prstGeom prst="line">
            <a:avLst/>
          </a:prstGeom>
          <a:noFill/>
          <a:ln w="9525">
            <a:solidFill>
              <a:srgbClr val="36414F"/>
            </a:solidFill>
            <a:prstDash val="solid"/>
          </a:ln>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E14"/>
        </a:solidFill>
        <a:effectLst/>
      </p:bgPr>
    </p:bg>
    <p:spTree>
      <p:nvGrpSpPr>
        <p:cNvPr id="1" name=""/>
        <p:cNvGrpSpPr/>
        <p:nvPr/>
      </p:nvGrpSpPr>
      <p:grpSpPr>
        <a:xfrm>
          <a:off x="0" y="0"/>
          <a:ext cx="0" cy="0"/>
          <a:chOff x="0" y="0"/>
          <a:chExt cx="0" cy="0"/>
        </a:xfrm>
      </p:grpSpPr>
      <p:pic>
        <p:nvPicPr>
          <p:cNvPr id="2" name="Image 0" descr="C:/Users/neuma_p1qrsic/Repo/agentic-ops1/.scratch/logo/favicon.png"/>
          <p:cNvPicPr>
            <a:picLocks noChangeAspect="1"/>
          </p:cNvPicPr>
          <p:nvPr/>
        </p:nvPicPr>
        <p:blipFill>
          <a:blip r:embed="rId3"/>
          <a:stretch>
            <a:fillRect/>
          </a:stretch>
        </p:blipFill>
        <p:spPr>
          <a:xfrm>
            <a:off x="11313871" y="502920"/>
            <a:ext cx="310896" cy="310896"/>
          </a:xfrm>
          <a:prstGeom prst="rect">
            <a:avLst/>
          </a:prstGeom>
        </p:spPr>
      </p:pic>
      <p:sp>
        <p:nvSpPr>
          <p:cNvPr id="3" name="Shape 0"/>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4" name="Text 1"/>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PROVEN WHERE IT COUNTS</a:t>
            </a:r>
            <a:endParaRPr lang="en-US" sz="1200" dirty="0"/>
          </a:p>
        </p:txBody>
      </p:sp>
      <p:sp>
        <p:nvSpPr>
          <p:cNvPr id="5" name="Text 2"/>
          <p:cNvSpPr/>
          <p:nvPr/>
        </p:nvSpPr>
        <p:spPr>
          <a:xfrm>
            <a:off x="566928" y="960120"/>
            <a:ext cx="10881360" cy="731520"/>
          </a:xfrm>
          <a:prstGeom prst="rect">
            <a:avLst/>
          </a:prstGeom>
          <a:noFill/>
          <a:ln/>
        </p:spPr>
        <p:txBody>
          <a:bodyPr wrap="square" rtlCol="0" anchor="ctr"/>
          <a:lstStyle/>
          <a:p>
            <a:pPr marL="0" indent="0">
              <a:buNone/>
            </a:pPr>
            <a:r>
              <a:rPr lang="en-US" sz="2900" b="1" dirty="0">
                <a:solidFill>
                  <a:srgbClr val="F3F6FB"/>
                </a:solidFill>
                <a:latin typeface="Segoe UI Semibold" pitchFamily="34" charset="0"/>
                <a:ea typeface="Segoe UI Semibold" pitchFamily="34" charset="-122"/>
                <a:cs typeface="Segoe UI Semibold" pitchFamily="34" charset="-120"/>
              </a:rPr>
              <a:t>Live with customers today, not on a roadmap.</a:t>
            </a:r>
            <a:endParaRPr lang="en-US" sz="2900" dirty="0"/>
          </a:p>
        </p:txBody>
      </p:sp>
      <p:sp>
        <p:nvSpPr>
          <p:cNvPr id="6" name="Text 3"/>
          <p:cNvSpPr/>
          <p:nvPr/>
        </p:nvSpPr>
        <p:spPr>
          <a:xfrm>
            <a:off x="566928" y="1810512"/>
            <a:ext cx="10698480" cy="1005840"/>
          </a:xfrm>
          <a:prstGeom prst="rect">
            <a:avLst/>
          </a:prstGeom>
          <a:noFill/>
          <a:ln/>
        </p:spPr>
        <p:txBody>
          <a:bodyPr wrap="square" rtlCol="0" anchor="ctr"/>
          <a:lstStyle/>
          <a:p>
            <a:pPr marL="0" indent="0">
              <a:lnSpc>
                <a:spcPct val="128000"/>
              </a:lnSpc>
              <a:buNone/>
            </a:pPr>
            <a:r>
              <a:rPr lang="en-US" sz="1600" dirty="0">
                <a:solidFill>
                  <a:srgbClr val="AAB6C7"/>
                </a:solidFill>
                <a:latin typeface="Segoe UI" pitchFamily="34" charset="0"/>
                <a:ea typeface="Segoe UI" pitchFamily="34" charset="-122"/>
                <a:cs typeface="Segoe UI" pitchFamily="34" charset="-120"/>
              </a:rPr>
              <a:t>Customer teams build on OnePilot directly, SAP and non-SAP, on-prem included, and move at the speed of their own ideas rather than a vendor roadmap.</a:t>
            </a:r>
            <a:r>
              <a:rPr lang="en-US" sz="1600">
                <a:solidFill>
                  <a:srgbClr val="AAB6C7"/>
                </a:solidFill>
                <a:latin typeface="Segoe UI" pitchFamily="34" charset="0"/>
                <a:ea typeface="Segoe UI" pitchFamily="34" charset="-122"/>
                <a:cs typeface="Segoe UI" pitchFamily="34" charset="-120"/>
              </a:rPr>
              <a:t/>
            </a:r>
            <a:r>
              <a:rPr lang="en-US" sz="1600" dirty="0">
                <a:solidFill>
                  <a:srgbClr val="AAB6C7"/>
                </a:solidFill>
                <a:latin typeface="Segoe UI" pitchFamily="34" charset="0"/>
                <a:ea typeface="Segoe UI" pitchFamily="34" charset="-122"/>
                <a:cs typeface="Segoe UI" pitchFamily="34" charset="-120"/>
              </a:rPr>
              <a:t/>
            </a:r>
            <a:endParaRPr lang="en-US" sz="1600" dirty="0"/>
          </a:p>
        </p:txBody>
      </p:sp>
      <p:sp>
        <p:nvSpPr>
          <p:cNvPr id="7" name="Shape 4"/>
          <p:cNvSpPr/>
          <p:nvPr/>
        </p:nvSpPr>
        <p:spPr>
          <a:xfrm>
            <a:off x="566928" y="3108960"/>
            <a:ext cx="11057839" cy="1325880"/>
          </a:xfrm>
          <a:prstGeom prst="roundRect">
            <a:avLst>
              <a:gd name="adj" fmla="val 6207"/>
            </a:avLst>
          </a:prstGeom>
          <a:solidFill>
            <a:srgbClr val="141A25"/>
          </a:solidFill>
          <a:ln w="13970">
            <a:solidFill>
              <a:srgbClr val="36414F"/>
            </a:solidFill>
            <a:prstDash val="solid"/>
          </a:ln>
        </p:spPr>
        <p:txBody>
          <a:bodyPr/>
          <a:lstStyle/>
          <a:p>
            <a:endParaRPr lang="en-US"/>
          </a:p>
        </p:txBody>
      </p:sp>
      <p:pic>
        <p:nvPicPr>
          <p:cNvPr id="8" name="Image 1" descr="C:/Users/neuma_p1qrsic/Repo/agentic-ops1/.scratch/icons/target.png"/>
          <p:cNvPicPr>
            <a:picLocks noChangeAspect="1"/>
          </p:cNvPicPr>
          <p:nvPr/>
        </p:nvPicPr>
        <p:blipFill>
          <a:blip r:embed="rId4"/>
          <a:stretch>
            <a:fillRect/>
          </a:stretch>
        </p:blipFill>
        <p:spPr>
          <a:xfrm>
            <a:off x="877824" y="3566160"/>
            <a:ext cx="420624" cy="420624"/>
          </a:xfrm>
          <a:prstGeom prst="rect">
            <a:avLst/>
          </a:prstGeom>
        </p:spPr>
      </p:pic>
      <p:sp>
        <p:nvSpPr>
          <p:cNvPr id="9" name="Text 5"/>
          <p:cNvSpPr/>
          <p:nvPr/>
        </p:nvSpPr>
        <p:spPr>
          <a:xfrm>
            <a:off x="1527048" y="3108960"/>
            <a:ext cx="9823399" cy="1325880"/>
          </a:xfrm>
          <a:prstGeom prst="rect">
            <a:avLst/>
          </a:prstGeom>
          <a:noFill/>
          <a:ln/>
        </p:spPr>
        <p:txBody>
          <a:bodyPr wrap="square" rtlCol="0" anchor="ctr"/>
          <a:lstStyle/>
          <a:p>
            <a:pPr marL="0" indent="0">
              <a:lnSpc>
                <a:spcPct val="118000"/>
              </a:lnSpc>
              <a:buNone/>
            </a:pPr>
            <a:r>
              <a:rPr lang="en-US" sz="1550" dirty="0">
                <a:solidFill>
                  <a:srgbClr val="F3F6FB"/>
                </a:solidFill>
                <a:latin typeface="Segoe UI" pitchFamily="34" charset="0"/>
                <a:ea typeface="Segoe UI" pitchFamily="34" charset="-122"/>
                <a:cs typeface="Segoe UI" pitchFamily="34" charset="-120"/>
              </a:rPr>
              <a:t>An S/4HANA move is the moment these feeds get decided; TreasuryCentral is decided once and moves with you.</a:t>
            </a:r>
            <a:endParaRPr lang="en-US" sz="1550" dirty="0"/>
          </a:p>
        </p:txBody>
      </p:sp>
      <p:sp>
        <p:nvSpPr>
          <p:cNvPr id="10" name="Shape 6"/>
          <p:cNvSpPr/>
          <p:nvPr/>
        </p:nvSpPr>
        <p:spPr>
          <a:xfrm>
            <a:off x="566928" y="4754880"/>
            <a:ext cx="1554480" cy="658368"/>
          </a:xfrm>
          <a:prstGeom prst="roundRect">
            <a:avLst>
              <a:gd name="adj" fmla="val 19444"/>
            </a:avLst>
          </a:prstGeom>
          <a:solidFill>
            <a:srgbClr val="FFFFFF"/>
          </a:solidFill>
          <a:ln w="9525">
            <a:solidFill>
              <a:srgbClr val="36414F"/>
            </a:solidFill>
            <a:prstDash val="solid"/>
          </a:ln>
        </p:spPr>
        <p:txBody>
          <a:bodyPr/>
          <a:lstStyle/>
          <a:p>
            <a:endParaRPr lang="en-US"/>
          </a:p>
        </p:txBody>
      </p:sp>
      <p:pic>
        <p:nvPicPr>
          <p:cNvPr id="11" name="Image 2" descr="C:/Users/neuma_p1qrsic/Repo/agentic-ops1/.scratch/deckgen/logos/sap.png"/>
          <p:cNvPicPr>
            <a:picLocks noChangeAspect="1"/>
          </p:cNvPicPr>
          <p:nvPr/>
        </p:nvPicPr>
        <p:blipFill>
          <a:blip r:embed="rId5"/>
          <a:stretch>
            <a:fillRect/>
          </a:stretch>
        </p:blipFill>
        <p:spPr>
          <a:xfrm>
            <a:off x="905533" y="4866803"/>
            <a:ext cx="877270" cy="434523"/>
          </a:xfrm>
          <a:prstGeom prst="rect">
            <a:avLst/>
          </a:prstGeom>
        </p:spPr>
      </p:pic>
      <p:sp>
        <p:nvSpPr>
          <p:cNvPr id="14" name="Text 8"/>
          <p:cNvSpPr/>
          <p:nvPr/>
        </p:nvSpPr>
        <p:spPr>
          <a:xfrm>
            <a:off x="4178808" y="4754880"/>
            <a:ext cx="7445959" cy="658368"/>
          </a:xfrm>
          <a:prstGeom prst="rect">
            <a:avLst/>
          </a:prstGeom>
          <a:noFill/>
          <a:ln/>
        </p:spPr>
        <p:txBody>
          <a:bodyPr wrap="square" rtlCol="0" anchor="ctr"/>
          <a:lstStyle/>
          <a:p>
            <a:pPr marL="0" indent="0">
              <a:lnSpc>
                <a:spcPct val="112000"/>
              </a:lnSpc>
              <a:buNone/>
            </a:pPr>
            <a:r>
              <a:rPr lang="en-US" sz="1300" dirty="0">
                <a:solidFill>
                  <a:srgbClr val="AAB6C7"/>
                </a:solidFill>
                <a:latin typeface="Segoe UI" pitchFamily="34" charset="0"/>
                <a:ea typeface="Segoe UI" pitchFamily="34" charset="-122"/>
                <a:cs typeface="Segoe UI" pitchFamily="34" charset="-120"/>
              </a:rPr>
              <a:t>An SAP co-innovation partner. The cockpit runs on SAP's own cloud, so it sits inside your landscape.</a:t>
            </a:r>
            <a:endParaRPr lang="en-US" sz="1300" dirty="0"/>
          </a:p>
        </p:txBody>
      </p:sp>
      <p:sp>
        <p:nvSpPr>
          <p:cNvPr id="15" name="Text 9"/>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TreasuryCentral, powered by OnePilot</a:t>
            </a:r>
            <a:endParaRPr lang="en-US" sz="900" dirty="0"/>
          </a:p>
        </p:txBody>
      </p:sp>
      <p:sp>
        <p:nvSpPr>
          <p:cNvPr id="16" name="Text 10"/>
          <p:cNvSpPr/>
          <p:nvPr/>
        </p:nvSpPr>
        <p:spPr>
          <a:xfrm>
            <a:off x="10527487" y="6400800"/>
            <a:ext cx="1097280" cy="274320"/>
          </a:xfrm>
          <a:prstGeom prst="rect">
            <a:avLst/>
          </a:prstGeom>
          <a:noFill/>
          <a:ln/>
        </p:spPr>
        <p:txBody>
          <a:bodyPr wrap="square" rtlCol="0" anchor="ctr"/>
          <a:lstStyle/>
          <a:p>
            <a:pPr marL="0" indent="0" algn="r">
              <a:buNone/>
            </a:pPr>
            <a:r>
              <a:rPr lang="en-US" sz="900" dirty="0">
                <a:solidFill>
                  <a:srgbClr val="AAB6C7"/>
                </a:solidFill>
                <a:latin typeface="Segoe UI" pitchFamily="34" charset="0"/>
                <a:ea typeface="Segoe UI" pitchFamily="34" charset="-122"/>
                <a:cs typeface="Segoe UI" pitchFamily="34" charset="-120"/>
              </a:rPr>
              <a:t>08 / 10</a:t>
            </a:r>
            <a:endParaRPr lang="en-US" sz="900" dirty="0"/>
          </a:p>
        </p:txBody>
      </p:sp>
      <p:sp>
        <p:nvSpPr>
          <p:cNvPr id="17" name="Shape 11"/>
          <p:cNvSpPr/>
          <p:nvPr/>
        </p:nvSpPr>
        <p:spPr>
          <a:xfrm>
            <a:off x="566928" y="6327648"/>
            <a:ext cx="11057839" cy="0"/>
          </a:xfrm>
          <a:prstGeom prst="line">
            <a:avLst/>
          </a:prstGeom>
          <a:noFill/>
          <a:ln w="9525">
            <a:solidFill>
              <a:srgbClr val="36414F"/>
            </a:solidFill>
            <a:prstDash val="solid"/>
          </a:ln>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E14"/>
        </a:solidFill>
        <a:effectLst/>
      </p:bgPr>
    </p:bg>
    <p:spTree>
      <p:nvGrpSpPr>
        <p:cNvPr id="1" name=""/>
        <p:cNvGrpSpPr/>
        <p:nvPr/>
      </p:nvGrpSpPr>
      <p:grpSpPr>
        <a:xfrm>
          <a:off x="0" y="0"/>
          <a:ext cx="0" cy="0"/>
          <a:chOff x="0" y="0"/>
          <a:chExt cx="0" cy="0"/>
        </a:xfrm>
      </p:grpSpPr>
      <p:pic>
        <p:nvPicPr>
          <p:cNvPr id="2" name="Image 0" descr="C:/Users/neuma_p1qrsic/Repo/agentic-ops1/.scratch/logo/favicon.png"/>
          <p:cNvPicPr>
            <a:picLocks noChangeAspect="1"/>
          </p:cNvPicPr>
          <p:nvPr/>
        </p:nvPicPr>
        <p:blipFill>
          <a:blip r:embed="rId3"/>
          <a:stretch>
            <a:fillRect/>
          </a:stretch>
        </p:blipFill>
        <p:spPr>
          <a:xfrm>
            <a:off x="11313871" y="502920"/>
            <a:ext cx="310896" cy="310896"/>
          </a:xfrm>
          <a:prstGeom prst="rect">
            <a:avLst/>
          </a:prstGeom>
        </p:spPr>
      </p:pic>
      <p:sp>
        <p:nvSpPr>
          <p:cNvPr id="3" name="Shape 0"/>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4" name="Text 1"/>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WHO WE ARE</a:t>
            </a:r>
            <a:endParaRPr lang="en-US" sz="1200" dirty="0"/>
          </a:p>
        </p:txBody>
      </p:sp>
      <p:sp>
        <p:nvSpPr>
          <p:cNvPr id="5" name="Text 2"/>
          <p:cNvSpPr/>
          <p:nvPr/>
        </p:nvSpPr>
        <p:spPr>
          <a:xfrm>
            <a:off x="566928" y="960120"/>
            <a:ext cx="10881360" cy="822960"/>
          </a:xfrm>
          <a:prstGeom prst="rect">
            <a:avLst/>
          </a:prstGeom>
          <a:noFill/>
          <a:ln/>
        </p:spPr>
        <p:txBody>
          <a:bodyPr wrap="square" rtlCol="0" anchor="ctr"/>
          <a:lstStyle/>
          <a:p>
            <a:pPr marL="0" indent="0">
              <a:buNone/>
            </a:pPr>
            <a:r>
              <a:rPr lang="en-US" sz="3000" b="1" dirty="0">
                <a:solidFill>
                  <a:srgbClr val="F3F6FB"/>
                </a:solidFill>
                <a:latin typeface="Segoe UI Semibold" pitchFamily="34" charset="0"/>
                <a:ea typeface="Segoe UI Semibold" pitchFamily="34" charset="-122"/>
                <a:cs typeface="Segoe UI Semibold" pitchFamily="34" charset="-120"/>
              </a:rPr>
              <a:t>We build the data and AI layer for SAP treasury.</a:t>
            </a:r>
            <a:endParaRPr lang="en-US" sz="3000" dirty="0"/>
          </a:p>
        </p:txBody>
      </p:sp>
      <p:sp>
        <p:nvSpPr>
          <p:cNvPr id="6" name="Shape 3"/>
          <p:cNvSpPr/>
          <p:nvPr/>
        </p:nvSpPr>
        <p:spPr>
          <a:xfrm>
            <a:off x="566928" y="2148840"/>
            <a:ext cx="3472586" cy="2788920"/>
          </a:xfrm>
          <a:prstGeom prst="roundRect">
            <a:avLst>
              <a:gd name="adj" fmla="val 2951"/>
            </a:avLst>
          </a:prstGeom>
          <a:solidFill>
            <a:srgbClr val="141A25"/>
          </a:solidFill>
          <a:ln w="13970">
            <a:solidFill>
              <a:srgbClr val="36414F"/>
            </a:solidFill>
            <a:prstDash val="solid"/>
          </a:ln>
        </p:spPr>
        <p:txBody>
          <a:bodyPr/>
          <a:lstStyle/>
          <a:p>
            <a:endParaRPr lang="en-US"/>
          </a:p>
        </p:txBody>
      </p:sp>
      <p:sp>
        <p:nvSpPr>
          <p:cNvPr id="7" name="Shape 4"/>
          <p:cNvSpPr/>
          <p:nvPr/>
        </p:nvSpPr>
        <p:spPr>
          <a:xfrm>
            <a:off x="841248" y="2441448"/>
            <a:ext cx="621792" cy="621792"/>
          </a:xfrm>
          <a:prstGeom prst="roundRect">
            <a:avLst>
              <a:gd name="adj" fmla="val 16176"/>
            </a:avLst>
          </a:prstGeom>
          <a:solidFill>
            <a:srgbClr val="1B2330"/>
          </a:solidFill>
          <a:ln w="15240">
            <a:solidFill>
              <a:srgbClr val="3BE3E0"/>
            </a:solidFill>
            <a:prstDash val="solid"/>
          </a:ln>
        </p:spPr>
        <p:txBody>
          <a:bodyPr/>
          <a:lstStyle/>
          <a:p>
            <a:endParaRPr lang="en-US"/>
          </a:p>
        </p:txBody>
      </p:sp>
      <p:pic>
        <p:nvPicPr>
          <p:cNvPr id="8" name="Image 1" descr="C:/Users/neuma_p1qrsic/Repo/agentic-ops1/.scratch/icons/shield.png"/>
          <p:cNvPicPr>
            <a:picLocks noChangeAspect="1"/>
          </p:cNvPicPr>
          <p:nvPr/>
        </p:nvPicPr>
        <p:blipFill>
          <a:blip r:embed="rId4"/>
          <a:stretch>
            <a:fillRect/>
          </a:stretch>
        </p:blipFill>
        <p:spPr>
          <a:xfrm>
            <a:off x="990478" y="2590678"/>
            <a:ext cx="323332" cy="323332"/>
          </a:xfrm>
          <a:prstGeom prst="rect">
            <a:avLst/>
          </a:prstGeom>
        </p:spPr>
      </p:pic>
      <p:sp>
        <p:nvSpPr>
          <p:cNvPr id="9" name="Text 5"/>
          <p:cNvSpPr/>
          <p:nvPr/>
        </p:nvSpPr>
        <p:spPr>
          <a:xfrm>
            <a:off x="841248" y="3191256"/>
            <a:ext cx="2923946" cy="457200"/>
          </a:xfrm>
          <a:prstGeom prst="rect">
            <a:avLst/>
          </a:prstGeom>
          <a:noFill/>
          <a:ln/>
        </p:spPr>
        <p:txBody>
          <a:bodyPr wrap="square" rtlCol="0" anchor="ctr"/>
          <a:lstStyle/>
          <a:p>
            <a:pPr marL="0" indent="0">
              <a:buNone/>
            </a:pPr>
            <a:r>
              <a:rPr lang="en-US" sz="1850" b="1" dirty="0">
                <a:solidFill>
                  <a:srgbClr val="F3F6FB"/>
                </a:solidFill>
                <a:latin typeface="Segoe UI Semibold" pitchFamily="34" charset="0"/>
                <a:ea typeface="Segoe UI Semibold" pitchFamily="34" charset="-122"/>
                <a:cs typeface="Segoe UI Semibold" pitchFamily="34" charset="-120"/>
              </a:rPr>
              <a:t>Built into SAP</a:t>
            </a:r>
            <a:endParaRPr lang="en-US" sz="1850" dirty="0"/>
          </a:p>
        </p:txBody>
      </p:sp>
      <p:sp>
        <p:nvSpPr>
          <p:cNvPr id="10" name="Text 6"/>
          <p:cNvSpPr/>
          <p:nvPr/>
        </p:nvSpPr>
        <p:spPr>
          <a:xfrm>
            <a:off x="841248" y="3630168"/>
            <a:ext cx="2923946" cy="1143000"/>
          </a:xfrm>
          <a:prstGeom prst="rect">
            <a:avLst/>
          </a:prstGeom>
          <a:noFill/>
          <a:ln/>
        </p:spPr>
        <p:txBody>
          <a:bodyPr wrap="square" rtlCol="0" anchor="t"/>
          <a:lstStyle/>
          <a:p>
            <a:pPr marL="0" indent="0">
              <a:lnSpc>
                <a:spcPct val="116000"/>
              </a:lnSpc>
              <a:buNone/>
            </a:pPr>
            <a:r>
              <a:rPr lang="en-US" sz="1300" dirty="0">
                <a:solidFill>
                  <a:srgbClr val="AAB6C7"/>
                </a:solidFill>
                <a:latin typeface="Segoe UI" pitchFamily="34" charset="0"/>
                <a:ea typeface="Segoe UI" pitchFamily="34" charset="-122"/>
                <a:cs typeface="Segoe UI" pitchFamily="34" charset="-120"/>
              </a:rPr>
              <a:t>An SAP co-innovation partner. The cockpit runs on SAP's own cloud, so it sits inside your landscape, not beside it.</a:t>
            </a:r>
            <a:endParaRPr lang="en-US" sz="1300" dirty="0"/>
          </a:p>
        </p:txBody>
      </p:sp>
      <p:sp>
        <p:nvSpPr>
          <p:cNvPr id="11" name="Shape 7"/>
          <p:cNvSpPr/>
          <p:nvPr/>
        </p:nvSpPr>
        <p:spPr>
          <a:xfrm>
            <a:off x="4359554" y="2148840"/>
            <a:ext cx="3472586" cy="2788920"/>
          </a:xfrm>
          <a:prstGeom prst="roundRect">
            <a:avLst>
              <a:gd name="adj" fmla="val 2951"/>
            </a:avLst>
          </a:prstGeom>
          <a:solidFill>
            <a:srgbClr val="141A25"/>
          </a:solidFill>
          <a:ln w="13970">
            <a:solidFill>
              <a:srgbClr val="36414F"/>
            </a:solidFill>
            <a:prstDash val="solid"/>
          </a:ln>
        </p:spPr>
        <p:txBody>
          <a:bodyPr/>
          <a:lstStyle/>
          <a:p>
            <a:endParaRPr lang="en-US"/>
          </a:p>
        </p:txBody>
      </p:sp>
      <p:sp>
        <p:nvSpPr>
          <p:cNvPr id="12" name="Shape 8"/>
          <p:cNvSpPr/>
          <p:nvPr/>
        </p:nvSpPr>
        <p:spPr>
          <a:xfrm>
            <a:off x="4633874" y="2441448"/>
            <a:ext cx="621792" cy="621792"/>
          </a:xfrm>
          <a:prstGeom prst="roundRect">
            <a:avLst>
              <a:gd name="adj" fmla="val 16176"/>
            </a:avLst>
          </a:prstGeom>
          <a:solidFill>
            <a:srgbClr val="1B2330"/>
          </a:solidFill>
          <a:ln w="15240">
            <a:solidFill>
              <a:srgbClr val="3BE3E0"/>
            </a:solidFill>
            <a:prstDash val="solid"/>
          </a:ln>
        </p:spPr>
        <p:txBody>
          <a:bodyPr/>
          <a:lstStyle/>
          <a:p>
            <a:endParaRPr lang="en-US"/>
          </a:p>
        </p:txBody>
      </p:sp>
      <p:pic>
        <p:nvPicPr>
          <p:cNvPr id="13" name="Image 2" descr="C:/Users/neuma_p1qrsic/Repo/agentic-ops1/.scratch/icons/globe.png"/>
          <p:cNvPicPr>
            <a:picLocks noChangeAspect="1"/>
          </p:cNvPicPr>
          <p:nvPr/>
        </p:nvPicPr>
        <p:blipFill>
          <a:blip r:embed="rId5"/>
          <a:stretch>
            <a:fillRect/>
          </a:stretch>
        </p:blipFill>
        <p:spPr>
          <a:xfrm>
            <a:off x="4783104" y="2590678"/>
            <a:ext cx="323332" cy="323332"/>
          </a:xfrm>
          <a:prstGeom prst="rect">
            <a:avLst/>
          </a:prstGeom>
        </p:spPr>
      </p:pic>
      <p:sp>
        <p:nvSpPr>
          <p:cNvPr id="14" name="Text 9"/>
          <p:cNvSpPr/>
          <p:nvPr/>
        </p:nvSpPr>
        <p:spPr>
          <a:xfrm>
            <a:off x="4633874" y="3191256"/>
            <a:ext cx="2923946" cy="457200"/>
          </a:xfrm>
          <a:prstGeom prst="rect">
            <a:avLst/>
          </a:prstGeom>
          <a:noFill/>
          <a:ln/>
        </p:spPr>
        <p:txBody>
          <a:bodyPr wrap="square" rtlCol="0" anchor="ctr"/>
          <a:lstStyle/>
          <a:p>
            <a:pPr marL="0" indent="0">
              <a:buNone/>
            </a:pPr>
            <a:r>
              <a:rPr lang="en-US" sz="1850" b="1" dirty="0">
                <a:solidFill>
                  <a:srgbClr val="F3F6FB"/>
                </a:solidFill>
                <a:latin typeface="Segoe UI Semibold" pitchFamily="34" charset="0"/>
                <a:ea typeface="Segoe UI Semibold" pitchFamily="34" charset="-122"/>
                <a:cs typeface="Segoe UI Semibold" pitchFamily="34" charset="-120"/>
              </a:rPr>
              <a:t>Any source, any system</a:t>
            </a:r>
            <a:endParaRPr lang="en-US" sz="1850" dirty="0"/>
          </a:p>
        </p:txBody>
      </p:sp>
      <p:sp>
        <p:nvSpPr>
          <p:cNvPr id="15" name="Text 10"/>
          <p:cNvSpPr/>
          <p:nvPr/>
        </p:nvSpPr>
        <p:spPr>
          <a:xfrm>
            <a:off x="4633874" y="3630168"/>
            <a:ext cx="2923946" cy="1143000"/>
          </a:xfrm>
          <a:prstGeom prst="rect">
            <a:avLst/>
          </a:prstGeom>
          <a:noFill/>
          <a:ln/>
        </p:spPr>
        <p:txBody>
          <a:bodyPr wrap="square" rtlCol="0" anchor="t"/>
          <a:lstStyle/>
          <a:p>
            <a:pPr marL="0" indent="0">
              <a:lnSpc>
                <a:spcPct val="116000"/>
              </a:lnSpc>
              <a:buNone/>
            </a:pPr>
            <a:r>
              <a:rPr lang="en-US" sz="1300" dirty="0">
                <a:solidFill>
                  <a:srgbClr val="AAB6C7"/>
                </a:solidFill>
                <a:latin typeface="Segoe UI" pitchFamily="34" charset="0"/>
                <a:ea typeface="Segoe UI" pitchFamily="34" charset="-122"/>
                <a:cs typeface="Segoe UI" pitchFamily="34" charset="-120"/>
              </a:rPr>
              <a:t>Provider and target agnostic. Pull from any feed, push to any system, SAP or not, and change your sources any time.</a:t>
            </a:r>
            <a:endParaRPr lang="en-US" sz="1300" dirty="0"/>
          </a:p>
        </p:txBody>
      </p:sp>
      <p:sp>
        <p:nvSpPr>
          <p:cNvPr id="16" name="Shape 11"/>
          <p:cNvSpPr/>
          <p:nvPr/>
        </p:nvSpPr>
        <p:spPr>
          <a:xfrm>
            <a:off x="8152181" y="2148840"/>
            <a:ext cx="3472586" cy="2788920"/>
          </a:xfrm>
          <a:prstGeom prst="roundRect">
            <a:avLst>
              <a:gd name="adj" fmla="val 2951"/>
            </a:avLst>
          </a:prstGeom>
          <a:solidFill>
            <a:srgbClr val="141A25"/>
          </a:solidFill>
          <a:ln w="13970">
            <a:solidFill>
              <a:srgbClr val="36414F"/>
            </a:solidFill>
            <a:prstDash val="solid"/>
          </a:ln>
        </p:spPr>
        <p:txBody>
          <a:bodyPr/>
          <a:lstStyle/>
          <a:p>
            <a:endParaRPr lang="en-US"/>
          </a:p>
        </p:txBody>
      </p:sp>
      <p:sp>
        <p:nvSpPr>
          <p:cNvPr id="17" name="Shape 12"/>
          <p:cNvSpPr/>
          <p:nvPr/>
        </p:nvSpPr>
        <p:spPr>
          <a:xfrm>
            <a:off x="8426501" y="2441448"/>
            <a:ext cx="621792" cy="621792"/>
          </a:xfrm>
          <a:prstGeom prst="roundRect">
            <a:avLst>
              <a:gd name="adj" fmla="val 16176"/>
            </a:avLst>
          </a:prstGeom>
          <a:solidFill>
            <a:srgbClr val="1B2330"/>
          </a:solidFill>
          <a:ln w="15240">
            <a:solidFill>
              <a:srgbClr val="3BE3E0"/>
            </a:solidFill>
            <a:prstDash val="solid"/>
          </a:ln>
        </p:spPr>
        <p:txBody>
          <a:bodyPr/>
          <a:lstStyle/>
          <a:p>
            <a:endParaRPr lang="en-US"/>
          </a:p>
        </p:txBody>
      </p:sp>
      <p:pic>
        <p:nvPicPr>
          <p:cNvPr id="18" name="Image 3" descr="C:/Users/neuma_p1qrsic/Repo/agentic-ops1/.scratch/icons/blocks.png"/>
          <p:cNvPicPr>
            <a:picLocks noChangeAspect="1"/>
          </p:cNvPicPr>
          <p:nvPr/>
        </p:nvPicPr>
        <p:blipFill>
          <a:blip r:embed="rId6"/>
          <a:stretch>
            <a:fillRect/>
          </a:stretch>
        </p:blipFill>
        <p:spPr>
          <a:xfrm>
            <a:off x="8575731" y="2590678"/>
            <a:ext cx="323332" cy="323332"/>
          </a:xfrm>
          <a:prstGeom prst="rect">
            <a:avLst/>
          </a:prstGeom>
        </p:spPr>
      </p:pic>
      <p:sp>
        <p:nvSpPr>
          <p:cNvPr id="19" name="Text 13"/>
          <p:cNvSpPr/>
          <p:nvPr/>
        </p:nvSpPr>
        <p:spPr>
          <a:xfrm>
            <a:off x="8426501" y="3191256"/>
            <a:ext cx="2923946" cy="457200"/>
          </a:xfrm>
          <a:prstGeom prst="rect">
            <a:avLst/>
          </a:prstGeom>
          <a:noFill/>
          <a:ln/>
        </p:spPr>
        <p:txBody>
          <a:bodyPr wrap="square" rtlCol="0" anchor="ctr"/>
          <a:lstStyle/>
          <a:p>
            <a:pPr marL="0" indent="0">
              <a:buNone/>
            </a:pPr>
            <a:r>
              <a:rPr lang="en-US" sz="1850" b="1" dirty="0">
                <a:solidFill>
                  <a:srgbClr val="F3F6FB"/>
                </a:solidFill>
                <a:latin typeface="Segoe UI Semibold" pitchFamily="34" charset="0"/>
                <a:ea typeface="Segoe UI Semibold" pitchFamily="34" charset="-122"/>
                <a:cs typeface="Segoe UI Semibold" pitchFamily="34" charset="-120"/>
              </a:rPr>
              <a:t>The whole treasury layer</a:t>
            </a:r>
            <a:endParaRPr lang="en-US" sz="1850" dirty="0"/>
          </a:p>
        </p:txBody>
      </p:sp>
      <p:sp>
        <p:nvSpPr>
          <p:cNvPr id="20" name="Text 14"/>
          <p:cNvSpPr/>
          <p:nvPr/>
        </p:nvSpPr>
        <p:spPr>
          <a:xfrm>
            <a:off x="8426501" y="3630168"/>
            <a:ext cx="2923946" cy="1143000"/>
          </a:xfrm>
          <a:prstGeom prst="rect">
            <a:avLst/>
          </a:prstGeom>
          <a:noFill/>
          <a:ln/>
        </p:spPr>
        <p:txBody>
          <a:bodyPr wrap="square" rtlCol="0" anchor="t"/>
          <a:lstStyle/>
          <a:p>
            <a:pPr marL="0" indent="0">
              <a:lnSpc>
                <a:spcPct val="116000"/>
              </a:lnSpc>
              <a:buNone/>
            </a:pPr>
            <a:r>
              <a:rPr lang="en-US" sz="1300" dirty="0">
                <a:solidFill>
                  <a:srgbClr val="AAB6C7"/>
                </a:solidFill>
                <a:latin typeface="Segoe UI" pitchFamily="34" charset="0"/>
                <a:ea typeface="Segoe UI" pitchFamily="34" charset="-122"/>
                <a:cs typeface="Segoe UI" pitchFamily="34" charset="-120"/>
              </a:rPr>
              <a:t>Market data, trading and AI automation, governed in one place, with no code to run it.</a:t>
            </a:r>
            <a:endParaRPr lang="en-US" sz="1300" dirty="0"/>
          </a:p>
        </p:txBody>
      </p:sp>
      <p:sp>
        <p:nvSpPr>
          <p:cNvPr id="21" name="Text 15"/>
          <p:cNvSpPr/>
          <p:nvPr/>
        </p:nvSpPr>
        <p:spPr>
          <a:xfrm>
            <a:off x="566928" y="5349240"/>
            <a:ext cx="1371600" cy="777240"/>
          </a:xfrm>
          <a:prstGeom prst="rect">
            <a:avLst/>
          </a:prstGeom>
          <a:noFill/>
          <a:ln/>
        </p:spPr>
        <p:txBody>
          <a:bodyPr wrap="square" rtlCol="0" anchor="ctr"/>
          <a:lstStyle/>
          <a:p>
            <a:pPr marL="0" indent="0">
              <a:buNone/>
            </a:pPr>
            <a:r>
              <a:rPr lang="en-US" sz="3800" b="1" dirty="0">
                <a:solidFill>
                  <a:srgbClr val="3BE3E0"/>
                </a:solidFill>
                <a:latin typeface="Segoe UI Semibold" pitchFamily="34" charset="0"/>
                <a:ea typeface="Segoe UI Semibold" pitchFamily="34" charset="-122"/>
                <a:cs typeface="Segoe UI Semibold" pitchFamily="34" charset="-120"/>
              </a:rPr>
              <a:t>1</a:t>
            </a:r>
            <a:endParaRPr lang="en-US" sz="3800" dirty="0"/>
          </a:p>
        </p:txBody>
      </p:sp>
      <p:sp>
        <p:nvSpPr>
          <p:cNvPr id="22" name="Text 16"/>
          <p:cNvSpPr/>
          <p:nvPr/>
        </p:nvSpPr>
        <p:spPr>
          <a:xfrm>
            <a:off x="1892808" y="5349240"/>
            <a:ext cx="2146706" cy="77724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cockpit for the whole treasury</a:t>
            </a:r>
            <a:endParaRPr lang="en-US" sz="1250" dirty="0"/>
          </a:p>
        </p:txBody>
      </p:sp>
      <p:sp>
        <p:nvSpPr>
          <p:cNvPr id="23" name="Text 17"/>
          <p:cNvSpPr/>
          <p:nvPr/>
        </p:nvSpPr>
        <p:spPr>
          <a:xfrm>
            <a:off x="4359554" y="5349240"/>
            <a:ext cx="1371600" cy="777240"/>
          </a:xfrm>
          <a:prstGeom prst="rect">
            <a:avLst/>
          </a:prstGeom>
          <a:noFill/>
          <a:ln/>
        </p:spPr>
        <p:txBody>
          <a:bodyPr wrap="square" rtlCol="0" anchor="ctr"/>
          <a:lstStyle/>
          <a:p>
            <a:pPr marL="0" indent="0">
              <a:buNone/>
            </a:pPr>
            <a:r>
              <a:rPr lang="en-US" sz="3800" b="1" dirty="0">
                <a:solidFill>
                  <a:srgbClr val="3BE3E0"/>
                </a:solidFill>
                <a:latin typeface="Segoe UI Semibold" pitchFamily="34" charset="0"/>
                <a:ea typeface="Segoe UI Semibold" pitchFamily="34" charset="-122"/>
                <a:cs typeface="Segoe UI Semibold" pitchFamily="34" charset="-120"/>
              </a:rPr>
              <a:t>0</a:t>
            </a:r>
            <a:endParaRPr lang="en-US" sz="3800" dirty="0"/>
          </a:p>
        </p:txBody>
      </p:sp>
      <p:sp>
        <p:nvSpPr>
          <p:cNvPr id="24" name="Text 18"/>
          <p:cNvSpPr/>
          <p:nvPr/>
        </p:nvSpPr>
        <p:spPr>
          <a:xfrm>
            <a:off x="5685434" y="5349240"/>
            <a:ext cx="2146706" cy="77724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code to run it</a:t>
            </a:r>
            <a:endParaRPr lang="en-US" sz="1250" dirty="0"/>
          </a:p>
        </p:txBody>
      </p:sp>
      <p:sp>
        <p:nvSpPr>
          <p:cNvPr id="25" name="Text 19"/>
          <p:cNvSpPr/>
          <p:nvPr/>
        </p:nvSpPr>
        <p:spPr>
          <a:xfrm>
            <a:off x="8152181" y="5349240"/>
            <a:ext cx="1371600" cy="777240"/>
          </a:xfrm>
          <a:prstGeom prst="rect">
            <a:avLst/>
          </a:prstGeom>
          <a:noFill/>
          <a:ln/>
        </p:spPr>
        <p:txBody>
          <a:bodyPr wrap="square" rtlCol="0" anchor="ctr"/>
          <a:lstStyle/>
          <a:p>
            <a:pPr marL="0" indent="0">
              <a:buNone/>
            </a:pPr>
            <a:r>
              <a:rPr lang="en-US" sz="3800" b="1" dirty="0">
                <a:solidFill>
                  <a:srgbClr val="3BE3E0"/>
                </a:solidFill>
                <a:latin typeface="Segoe UI Semibold" pitchFamily="34" charset="0"/>
                <a:ea typeface="Segoe UI Semibold" pitchFamily="34" charset="-122"/>
                <a:cs typeface="Segoe UI Semibold" pitchFamily="34" charset="-120"/>
              </a:rPr>
              <a:t>360°</a:t>
            </a:r>
            <a:endParaRPr lang="en-US" sz="3800" dirty="0"/>
          </a:p>
        </p:txBody>
      </p:sp>
      <p:sp>
        <p:nvSpPr>
          <p:cNvPr id="26" name="Text 20"/>
          <p:cNvSpPr/>
          <p:nvPr/>
        </p:nvSpPr>
        <p:spPr>
          <a:xfrm>
            <a:off x="9478061" y="5349240"/>
            <a:ext cx="2146706" cy="77724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audit on every change</a:t>
            </a:r>
            <a:endParaRPr lang="en-US" sz="1250" dirty="0"/>
          </a:p>
        </p:txBody>
      </p:sp>
      <p:sp>
        <p:nvSpPr>
          <p:cNvPr id="27" name="Text 21"/>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TreasuryCentral, powered by OnePilot</a:t>
            </a:r>
            <a:endParaRPr lang="en-US" sz="900" dirty="0"/>
          </a:p>
        </p:txBody>
      </p:sp>
      <p:sp>
        <p:nvSpPr>
          <p:cNvPr id="28" name="Text 22"/>
          <p:cNvSpPr/>
          <p:nvPr/>
        </p:nvSpPr>
        <p:spPr>
          <a:xfrm>
            <a:off x="10527487" y="6400800"/>
            <a:ext cx="1097280" cy="274320"/>
          </a:xfrm>
          <a:prstGeom prst="rect">
            <a:avLst/>
          </a:prstGeom>
          <a:noFill/>
          <a:ln/>
        </p:spPr>
        <p:txBody>
          <a:bodyPr wrap="square" rtlCol="0" anchor="ctr"/>
          <a:lstStyle/>
          <a:p>
            <a:pPr marL="0" indent="0" algn="r">
              <a:buNone/>
            </a:pPr>
            <a:r>
              <a:rPr lang="en-US" sz="900" dirty="0">
                <a:solidFill>
                  <a:srgbClr val="AAB6C7"/>
                </a:solidFill>
                <a:latin typeface="Segoe UI" pitchFamily="34" charset="0"/>
                <a:ea typeface="Segoe UI" pitchFamily="34" charset="-122"/>
                <a:cs typeface="Segoe UI" pitchFamily="34" charset="-120"/>
              </a:rPr>
              <a:t>09 / 10</a:t>
            </a:r>
            <a:endParaRPr lang="en-US" sz="900" dirty="0"/>
          </a:p>
        </p:txBody>
      </p:sp>
      <p:sp>
        <p:nvSpPr>
          <p:cNvPr id="29" name="Shape 23"/>
          <p:cNvSpPr/>
          <p:nvPr/>
        </p:nvSpPr>
        <p:spPr>
          <a:xfrm>
            <a:off x="566928" y="6327648"/>
            <a:ext cx="11057839" cy="0"/>
          </a:xfrm>
          <a:prstGeom prst="line">
            <a:avLst/>
          </a:prstGeom>
          <a:noFill/>
          <a:ln w="9525">
            <a:solidFill>
              <a:srgbClr val="36414F"/>
            </a:solidFill>
            <a:prstDash val="solid"/>
          </a:ln>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3072384" y="1280160"/>
            <a:ext cx="6035040" cy="6035040"/>
          </a:xfrm>
          <a:prstGeom prst="ellipse">
            <a:avLst/>
          </a:prstGeom>
          <a:solidFill>
            <a:srgbClr val="3BE3E0">
              <a:alpha val="7000"/>
            </a:srgbClr>
          </a:solidFill>
          <a:ln w="12700">
            <a:solidFill>
              <a:srgbClr val="333333"/>
            </a:solidFill>
            <a:prstDash val="solid"/>
          </a:ln>
        </p:spPr>
        <p:txBody>
          <a:bodyPr/>
          <a:lstStyle/>
          <a:p>
            <a:endParaRPr lang="en-US"/>
          </a:p>
        </p:txBody>
      </p:sp>
      <p:sp>
        <p:nvSpPr>
          <p:cNvPr id="3" name="Shape 1"/>
          <p:cNvSpPr/>
          <p:nvPr/>
        </p:nvSpPr>
        <p:spPr>
          <a:xfrm>
            <a:off x="4443984" y="2651760"/>
            <a:ext cx="3291840" cy="3291840"/>
          </a:xfrm>
          <a:prstGeom prst="ellipse">
            <a:avLst/>
          </a:prstGeom>
          <a:solidFill>
            <a:srgbClr val="3BE3E0">
              <a:alpha val="12000"/>
            </a:srgbClr>
          </a:solidFill>
          <a:ln w="12700">
            <a:solidFill>
              <a:srgbClr val="333333"/>
            </a:solidFill>
            <a:prstDash val="solid"/>
          </a:ln>
        </p:spPr>
        <p:txBody>
          <a:bodyPr/>
          <a:lstStyle/>
          <a:p>
            <a:endParaRPr lang="en-US"/>
          </a:p>
        </p:txBody>
      </p:sp>
      <p:pic>
        <p:nvPicPr>
          <p:cNvPr id="4" name="Image 0" descr="C:/Users/neuma_p1qrsic/Repo/agentic-ops1/.scratch/brisken-logo-light.png"/>
          <p:cNvPicPr>
            <a:picLocks noChangeAspect="1"/>
          </p:cNvPicPr>
          <p:nvPr/>
        </p:nvPicPr>
        <p:blipFill>
          <a:blip r:embed="rId3"/>
          <a:stretch>
            <a:fillRect/>
          </a:stretch>
        </p:blipFill>
        <p:spPr>
          <a:xfrm>
            <a:off x="5312664" y="1371600"/>
            <a:ext cx="1554480" cy="338328"/>
          </a:xfrm>
          <a:prstGeom prst="rect">
            <a:avLst/>
          </a:prstGeom>
        </p:spPr>
      </p:pic>
      <p:sp>
        <p:nvSpPr>
          <p:cNvPr id="5" name="Text 2"/>
          <p:cNvSpPr/>
          <p:nvPr/>
        </p:nvSpPr>
        <p:spPr>
          <a:xfrm>
            <a:off x="914400" y="2468880"/>
            <a:ext cx="10360152" cy="1005840"/>
          </a:xfrm>
          <a:prstGeom prst="rect">
            <a:avLst/>
          </a:prstGeom>
          <a:noFill/>
          <a:ln/>
        </p:spPr>
        <p:txBody>
          <a:bodyPr wrap="square" rtlCol="0" anchor="ctr"/>
          <a:lstStyle/>
          <a:p>
            <a:pPr marL="0" indent="0" algn="ctr">
              <a:buNone/>
            </a:pPr>
            <a:r>
              <a:rPr lang="en-US" sz="5200" b="1" dirty="0">
                <a:solidFill>
                  <a:srgbClr val="F3F6FB"/>
                </a:solidFill>
                <a:latin typeface="Segoe UI Semibold" pitchFamily="34" charset="0"/>
                <a:ea typeface="Segoe UI Semibold" pitchFamily="34" charset="-122"/>
                <a:cs typeface="Segoe UI Semibold" pitchFamily="34" charset="-120"/>
              </a:rPr>
              <a:t>Built to stay done.</a:t>
            </a:r>
            <a:endParaRPr lang="en-US" sz="5200" dirty="0"/>
          </a:p>
        </p:txBody>
      </p:sp>
      <p:sp>
        <p:nvSpPr>
          <p:cNvPr id="6" name="Text 3"/>
          <p:cNvSpPr/>
          <p:nvPr/>
        </p:nvSpPr>
        <p:spPr>
          <a:xfrm>
            <a:off x="1645920" y="3566160"/>
            <a:ext cx="8897112" cy="868680"/>
          </a:xfrm>
          <a:prstGeom prst="rect">
            <a:avLst/>
          </a:prstGeom>
          <a:noFill/>
          <a:ln/>
        </p:spPr>
        <p:txBody>
          <a:bodyPr wrap="square" rtlCol="0" anchor="ctr"/>
          <a:lstStyle/>
          <a:p>
            <a:pPr marL="0" indent="0" algn="ctr">
              <a:lnSpc>
                <a:spcPct val="125000"/>
              </a:lnSpc>
              <a:buNone/>
            </a:pPr>
            <a:r>
              <a:rPr lang="en-US" sz="1700" dirty="0">
                <a:solidFill>
                  <a:srgbClr val="C4CEDA"/>
                </a:solidFill>
                <a:latin typeface="Segoe UI" pitchFamily="34" charset="0"/>
                <a:ea typeface="Segoe UI" pitchFamily="34" charset="-122"/>
                <a:cs typeface="Segoe UI" pitchFamily="34" charset="-120"/>
              </a:rPr>
              <a:t>When we talk, we will show TreasuryCentral live on your SAP data: the cockpit, the connectivity and the AI, end to end.</a:t>
            </a:r>
            <a:endParaRPr lang="en-US" sz="1700" dirty="0"/>
          </a:p>
        </p:txBody>
      </p:sp>
      <p:sp>
        <p:nvSpPr>
          <p:cNvPr id="7" name="Shape 4"/>
          <p:cNvSpPr/>
          <p:nvPr/>
        </p:nvSpPr>
        <p:spPr>
          <a:xfrm>
            <a:off x="3575304" y="4754880"/>
            <a:ext cx="5029200" cy="658368"/>
          </a:xfrm>
          <a:prstGeom prst="roundRect">
            <a:avLst>
              <a:gd name="adj" fmla="val 50000"/>
            </a:avLst>
          </a:prstGeom>
          <a:solidFill>
            <a:srgbClr val="3BE3E0"/>
          </a:solidFill>
          <a:ln w="12700">
            <a:solidFill>
              <a:srgbClr val="333333"/>
            </a:solidFill>
            <a:prstDash val="solid"/>
          </a:ln>
        </p:spPr>
        <p:txBody>
          <a:bodyPr/>
          <a:lstStyle/>
          <a:p>
            <a:endParaRPr lang="en-US"/>
          </a:p>
        </p:txBody>
      </p:sp>
      <p:sp>
        <p:nvSpPr>
          <p:cNvPr id="8" name="Text 5"/>
          <p:cNvSpPr/>
          <p:nvPr/>
        </p:nvSpPr>
        <p:spPr>
          <a:xfrm>
            <a:off x="3575304" y="4754880"/>
            <a:ext cx="5029200" cy="658368"/>
          </a:xfrm>
          <a:prstGeom prst="rect">
            <a:avLst/>
          </a:prstGeom>
          <a:noFill/>
          <a:ln/>
        </p:spPr>
        <p:txBody>
          <a:bodyPr wrap="square" rtlCol="0" anchor="ctr"/>
          <a:lstStyle/>
          <a:p>
            <a:pPr marL="0" indent="0" algn="ctr">
              <a:buNone/>
            </a:pPr>
            <a:r>
              <a:rPr lang="en-US" sz="1500" b="1" dirty="0">
                <a:solidFill>
                  <a:srgbClr val="07222A"/>
                </a:solidFill>
                <a:latin typeface="Segoe UI" pitchFamily="34" charset="0"/>
                <a:ea typeface="Segoe UI" pitchFamily="34" charset="-122"/>
                <a:cs typeface="Segoe UI" pitchFamily="34" charset="-120"/>
              </a:rPr>
              <a:t>Dirk Neumann   ·   dirk.neumann@brisken.com</a:t>
            </a:r>
            <a:endParaRPr lang="en-US" sz="1500" dirty="0"/>
          </a:p>
        </p:txBody>
      </p:sp>
      <p:sp>
        <p:nvSpPr>
          <p:cNvPr id="9" name="Text 6"/>
          <p:cNvSpPr/>
          <p:nvPr/>
        </p:nvSpPr>
        <p:spPr>
          <a:xfrm>
            <a:off x="914400" y="5623560"/>
            <a:ext cx="10360152" cy="365760"/>
          </a:xfrm>
          <a:prstGeom prst="rect">
            <a:avLst/>
          </a:prstGeom>
          <a:noFill/>
          <a:ln/>
        </p:spPr>
        <p:txBody>
          <a:bodyPr wrap="square" rtlCol="0" anchor="ctr"/>
          <a:lstStyle/>
          <a:p>
            <a:pPr marL="0" indent="0" algn="ctr">
              <a:buNone/>
            </a:pPr>
            <a:r>
              <a:rPr lang="en-US" sz="1150" dirty="0">
                <a:solidFill>
                  <a:srgbClr val="AAB6C7"/>
                </a:solidFill>
                <a:latin typeface="Segoe UI" pitchFamily="34" charset="0"/>
                <a:ea typeface="Segoe UI" pitchFamily="34" charset="-122"/>
                <a:cs typeface="Segoe UI" pitchFamily="34" charset="-120"/>
              </a:rPr>
              <a:t>brisken.com   ·   Houston, TX</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E36004C6954FC41BFA5A9934AAC0872" ma:contentTypeVersion="24" ma:contentTypeDescription="Create a new document." ma:contentTypeScope="" ma:versionID="1cf73f14b085dc989d6ca704a5f7b696">
  <xsd:schema xmlns:xsd="http://www.w3.org/2001/XMLSchema" xmlns:xs="http://www.w3.org/2001/XMLSchema" xmlns:p="http://schemas.microsoft.com/office/2006/metadata/properties" xmlns:ns1="http://schemas.microsoft.com/sharepoint/v3" xmlns:ns2="f7c12939-211d-4aac-95d7-b8d38b675650" xmlns:ns3="e9089a15-9498-4149-a6f3-b4bc8e4d21ac" targetNamespace="http://schemas.microsoft.com/office/2006/metadata/properties" ma:root="true" ma:fieldsID="d257115e6736aa2126af141fdcd75720" ns1:_="" ns2:_="" ns3:_="">
    <xsd:import namespace="http://schemas.microsoft.com/sharepoint/v3"/>
    <xsd:import namespace="f7c12939-211d-4aac-95d7-b8d38b675650"/>
    <xsd:import namespace="e9089a15-9498-4149-a6f3-b4bc8e4d21a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LengthInSeconds" minOccurs="0"/>
                <xsd:element ref="ns2:MediaServiceLocation" minOccurs="0"/>
                <xsd:element ref="ns3:TaxCatchAll" minOccurs="0"/>
                <xsd:element ref="ns2:lcf76f155ced4ddcb4097134ff3c332f" minOccurs="0"/>
                <xsd:element ref="ns1:_ip_UnifiedCompliancePolicyProperties" minOccurs="0"/>
                <xsd:element ref="ns1:_ip_UnifiedCompliancePolicyUIAc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7c12939-211d-4aac-95d7-b8d38b6756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hidden="true" ma:internalName="MediaServiceKeyPoints" ma:readOnly="true">
      <xsd:simpleType>
        <xsd:restriction base="dms:Note"/>
      </xsd:simpleType>
    </xsd:element>
    <xsd:element name="MediaServiceAutoTags" ma:index="12" nillable="true" ma:displayName="Tags" ma:hidden="true" ma:internalName="MediaServiceAutoTags" ma:readOnly="true">
      <xsd:simpleType>
        <xsd:restriction base="dms:Text"/>
      </xsd:simpleType>
    </xsd:element>
    <xsd:element name="MediaServiceOCR" ma:index="13" nillable="true" ma:displayName="Extracted Text" ma:hidden="true" ma:internalName="MediaServiceOCR"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9" nillable="true" ma:displayName="Length (seconds)" ma:hidden="true" ma:internalName="MediaLengthInSeconds" ma:readOnly="true">
      <xsd:simpleType>
        <xsd:restriction base="dms:Unknown"/>
      </xsd:simpleType>
    </xsd:element>
    <xsd:element name="MediaServiceLocation" ma:index="20" nillable="true" ma:displayName="Location" ma:hidden="true" ma:internalName="MediaServiceLocation" ma:readOnly="true">
      <xsd:simpleType>
        <xsd:restriction base="dms:Text"/>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0fd6ee07-b435-4fc4-a9c7-316946df4b76"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9089a15-9498-4149-a6f3-b4bc8e4d21ac" elementFormDefault="qualified">
    <xsd:import namespace="http://schemas.microsoft.com/office/2006/documentManagement/types"/>
    <xsd:import namespace="http://schemas.microsoft.com/office/infopath/2007/PartnerControls"/>
    <xsd:element name="SharedWithUsers" ma:index="17"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hidden="true" ma:internalName="SharedWithDetails" ma:readOnly="true">
      <xsd:simpleType>
        <xsd:restriction base="dms:Note"/>
      </xsd:simpleType>
    </xsd:element>
    <xsd:element name="TaxCatchAll" ma:index="21" nillable="true" ma:displayName="Taxonomy Catch All Column" ma:hidden="true" ma:list="{3ed79911-b83d-417d-9b12-a1fdc4449e3b}" ma:internalName="TaxCatchAll" ma:showField="CatchAllData" ma:web="e9089a15-9498-4149-a6f3-b4bc8e4d21a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lcf76f155ced4ddcb4097134ff3c332f xmlns="f7c12939-211d-4aac-95d7-b8d38b675650">
      <Terms xmlns="http://schemas.microsoft.com/office/infopath/2007/PartnerControls"/>
    </lcf76f155ced4ddcb4097134ff3c332f>
    <_ip_UnifiedCompliancePolicyProperties xmlns="http://schemas.microsoft.com/sharepoint/v3" xsi:nil="true"/>
    <TaxCatchAll xmlns="e9089a15-9498-4149-a6f3-b4bc8e4d21ac"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22A3996-0AB6-4E5C-BFF1-8E23DEA3E95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7c12939-211d-4aac-95d7-b8d38b675650"/>
    <ds:schemaRef ds:uri="e9089a15-9498-4149-a6f3-b4bc8e4d21a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E10413B-EFB3-40B3-982F-9A2BD4937EC1}">
  <ds:schemaRefs>
    <ds:schemaRef ds:uri="http://schemas.microsoft.com/office/2006/documentManagement/types"/>
    <ds:schemaRef ds:uri="http://www.w3.org/XML/1998/namespace"/>
    <ds:schemaRef ds:uri="e9089a15-9498-4149-a6f3-b4bc8e4d21ac"/>
    <ds:schemaRef ds:uri="http://schemas.microsoft.com/office/infopath/2007/PartnerControls"/>
    <ds:schemaRef ds:uri="http://schemas.openxmlformats.org/package/2006/metadata/core-properties"/>
    <ds:schemaRef ds:uri="http://purl.org/dc/elements/1.1/"/>
    <ds:schemaRef ds:uri="http://schemas.microsoft.com/office/2006/metadata/properties"/>
    <ds:schemaRef ds:uri="f7c12939-211d-4aac-95d7-b8d38b675650"/>
    <ds:schemaRef ds:uri="http://schemas.microsoft.com/sharepoint/v3"/>
    <ds:schemaRef ds:uri="http://purl.org/dc/dcmitype/"/>
    <ds:schemaRef ds:uri="http://purl.org/dc/terms/"/>
  </ds:schemaRefs>
</ds:datastoreItem>
</file>

<file path=customXml/itemProps3.xml><?xml version="1.0" encoding="utf-8"?>
<ds:datastoreItem xmlns:ds="http://schemas.openxmlformats.org/officeDocument/2006/customXml" ds:itemID="{EB1BF405-05F5-4FE4-9DD0-32EE219EF453}">
  <ds:schemaRefs>
    <ds:schemaRef ds:uri="http://schemas.microsoft.com/sharepoint/v3/contenttype/forms"/>
  </ds:schemaRefs>
</ds:datastoreItem>
</file>

<file path=docMetadata/LabelInfo.xml><?xml version="1.0" encoding="utf-8"?>
<clbl:labelList xmlns:clbl="http://schemas.microsoft.com/office/2020/mipLabelMetadata">
  <clbl:label id="{c5f3e595-28df-4b6d-866e-5db0c24f0139}" enabled="1" method="Standard" siteId="{aa3bd2bf-9c6e-4f49-9c4f-44f878ae9e74}" removed="0"/>
</clbl:labelList>
</file>

<file path=docProps/app.xml><?xml version="1.0" encoding="utf-8"?>
<Properties xmlns="http://schemas.openxmlformats.org/officeDocument/2006/extended-properties" xmlns:vt="http://schemas.openxmlformats.org/officeDocument/2006/docPropsVTypes">
  <TotalTime>3</TotalTime>
  <Words>927</Words>
  <Application>Microsoft Macintosh PowerPoint</Application>
  <PresentationFormat>Widescreen</PresentationFormat>
  <Paragraphs>122</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Brisken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Brisken</dc:creator>
  <cp:lastModifiedBy>Dirk Neumann</cp:lastModifiedBy>
  <cp:revision>1</cp:revision>
  <dcterms:created xsi:type="dcterms:W3CDTF">2026-07-09T18:23:39Z</dcterms:created>
  <dcterms:modified xsi:type="dcterms:W3CDTF">2026-07-10T12:16:48Z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0x0101002E36004C6954FC41BFA5A9934AAC0872</vt:lpwstr>
  </property>
  <property fmtid="{D5CDD505-2E9C-101B-9397-08002B2CF9AE}" pid="3" name="MediaServiceImageTags">
    <vt:lpwstr/>
  </property>
</Properties>
</file>