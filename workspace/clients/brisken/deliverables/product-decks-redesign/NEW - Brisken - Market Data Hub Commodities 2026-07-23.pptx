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084831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00" b="1" i="0" spc="320">
                <a:solidFill>
                  <a:srgbClr val="9C4A1E"/>
                </a:solidFill>
                <a:latin typeface="Segoe UI Semibold"/>
              </a:rPr>
              <a:t>TREASURYCENTRAL, POWERED BY ONEPILOT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05456"/>
            <a:ext cx="10515600" cy="2011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8000"/>
              </a:lnSpc>
            </a:pPr>
            <a:r>
              <a:rPr sz="7200" b="0" i="0">
                <a:solidFill>
                  <a:srgbClr val="0F1417"/>
                </a:solidFill>
                <a:latin typeface="Century Gothic"/>
              </a:rPr>
              <a:t>Market Data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968496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000" b="0" i="0">
                <a:solidFill>
                  <a:srgbClr val="5B666B"/>
                </a:solidFill>
                <a:latin typeface="Century Gothic"/>
              </a:rPr>
              <a:t>for Commodities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3913632"/>
            <a:ext cx="2011680" cy="41148"/>
          </a:xfrm>
          <a:prstGeom prst="rect">
            <a:avLst/>
          </a:prstGeom>
          <a:solidFill>
            <a:srgbClr val="C266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4828032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00" b="0" i="0">
                <a:solidFill>
                  <a:srgbClr val="8A9599"/>
                </a:solidFill>
                <a:latin typeface="Segoe UI"/>
              </a:rPr>
              <a:t>One governed price curve for every commodity you trade.</a:t>
            </a:r>
          </a:p>
        </p:txBody>
      </p:sp>
      <p:pic>
        <p:nvPicPr>
          <p:cNvPr id="7" name="Picture 6" descr="brisken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5068" y="6163056"/>
            <a:ext cx="1419698" cy="31089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9C4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566928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50" b="1" i="0" spc="260">
                <a:solidFill>
                  <a:srgbClr val="9C4A1E"/>
                </a:solidFill>
                <a:latin typeface="Segoe UI Semibold"/>
              </a:rPr>
              <a:t>THE SHORT VERSION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0692079" cy="1280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sz="3800" b="0" i="0">
                <a:solidFill>
                  <a:srgbClr val="0F1417"/>
                </a:solidFill>
                <a:latin typeface="Century Gothic"/>
              </a:rPr>
              <a:t>One application, in four lines.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2331720"/>
            <a:ext cx="2531287" cy="2788920"/>
          </a:xfrm>
          <a:prstGeom prst="roundRect">
            <a:avLst>
              <a:gd name="adj" fmla="val 7000"/>
            </a:avLst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86384" y="2569463"/>
            <a:ext cx="310896" cy="45720"/>
          </a:xfrm>
          <a:prstGeom prst="rect">
            <a:avLst/>
          </a:prstGeom>
          <a:solidFill>
            <a:srgbClr val="9C4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" y="2734056"/>
            <a:ext cx="2092375" cy="224027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550" b="1" i="0">
                <a:solidFill>
                  <a:srgbClr val="0F1417"/>
                </a:solidFill>
                <a:latin typeface="Segoe UI Semibold"/>
              </a:rPr>
              <a:t>What it is</a:t>
            </a:r>
          </a:p>
          <a:p>
            <a:pPr algn="l">
              <a:lnSpc>
                <a:spcPct val="114000"/>
              </a:lnSpc>
            </a:pPr>
            <a:r>
              <a:rPr sz="1350" b="0" i="0">
                <a:solidFill>
                  <a:srgbClr val="5B666B"/>
                </a:solidFill>
                <a:latin typeface="Segoe UI"/>
              </a:rPr>
              <a:t>One governed price curve for every commodity you trade, assembled from every component that moves 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09111" y="2331720"/>
            <a:ext cx="2531287" cy="2788920"/>
          </a:xfrm>
          <a:prstGeom prst="roundRect">
            <a:avLst>
              <a:gd name="adj" fmla="val 7000"/>
            </a:avLst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28567" y="2569463"/>
            <a:ext cx="310896" cy="45720"/>
          </a:xfrm>
          <a:prstGeom prst="rect">
            <a:avLst/>
          </a:prstGeom>
          <a:solidFill>
            <a:srgbClr val="9C4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28567" y="2734056"/>
            <a:ext cx="2092375" cy="224027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550" b="1" i="0">
                <a:solidFill>
                  <a:srgbClr val="0F1417"/>
                </a:solidFill>
                <a:latin typeface="Segoe UI Semibold"/>
              </a:rPr>
              <a:t>What it replaces</a:t>
            </a:r>
          </a:p>
          <a:p>
            <a:pPr algn="l">
              <a:lnSpc>
                <a:spcPct val="114000"/>
              </a:lnSpc>
            </a:pPr>
            <a:r>
              <a:rPr sz="1350" b="0" i="0">
                <a:solidFill>
                  <a:srgbClr val="5B666B"/>
                </a:solidFill>
                <a:latin typeface="Segoe UI"/>
              </a:rPr>
              <a:t>Curves built by hand, differing desk to desk.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51295" y="2331720"/>
            <a:ext cx="2531287" cy="2788920"/>
          </a:xfrm>
          <a:prstGeom prst="roundRect">
            <a:avLst>
              <a:gd name="adj" fmla="val 7000"/>
            </a:avLst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70751" y="2569463"/>
            <a:ext cx="310896" cy="45720"/>
          </a:xfrm>
          <a:prstGeom prst="rect">
            <a:avLst/>
          </a:prstGeom>
          <a:solidFill>
            <a:srgbClr val="C266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0751" y="2734056"/>
            <a:ext cx="2092375" cy="224027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550" b="1" i="0">
                <a:solidFill>
                  <a:srgbClr val="0F1417"/>
                </a:solidFill>
                <a:latin typeface="Segoe UI Semibold"/>
              </a:rPr>
              <a:t>What you get</a:t>
            </a:r>
          </a:p>
          <a:p>
            <a:pPr algn="l">
              <a:lnSpc>
                <a:spcPct val="114000"/>
              </a:lnSpc>
            </a:pPr>
            <a:r>
              <a:rPr sz="1350" b="0" i="0">
                <a:solidFill>
                  <a:srgbClr val="5B666B"/>
                </a:solidFill>
                <a:latin typeface="Segoe UI"/>
              </a:rPr>
              <a:t>Risk and trading priced off the same governed curve, with a full audit trail.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93479" y="2331720"/>
            <a:ext cx="2531287" cy="2788920"/>
          </a:xfrm>
          <a:prstGeom prst="roundRect">
            <a:avLst>
              <a:gd name="adj" fmla="val 7000"/>
            </a:avLst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312935" y="2569463"/>
            <a:ext cx="310896" cy="45720"/>
          </a:xfrm>
          <a:prstGeom prst="rect">
            <a:avLst/>
          </a:prstGeom>
          <a:solidFill>
            <a:srgbClr val="9C4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12935" y="2734056"/>
            <a:ext cx="2092375" cy="224027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550" b="1" i="0">
                <a:solidFill>
                  <a:srgbClr val="0F1417"/>
                </a:solidFill>
                <a:latin typeface="Segoe UI Semibold"/>
              </a:rPr>
              <a:t>Who it is for</a:t>
            </a:r>
          </a:p>
          <a:p>
            <a:pPr algn="l">
              <a:lnSpc>
                <a:spcPct val="114000"/>
              </a:lnSpc>
            </a:pPr>
            <a:r>
              <a:rPr sz="1350" b="0" i="0">
                <a:solidFill>
                  <a:srgbClr val="5B666B"/>
                </a:solidFill>
                <a:latin typeface="Segoe UI"/>
              </a:rPr>
              <a:t>Treasury and trading teams on SAP with commodity exposure.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5532120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400" b="0" i="1">
                <a:solidFill>
                  <a:srgbClr val="8A9599"/>
                </a:solidFill>
                <a:latin typeface="Segoe UI"/>
              </a:rPr>
              <a:t>The pages ahead follow one price from the ground to the desk.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6327648"/>
            <a:ext cx="11057839" cy="12801"/>
          </a:xfrm>
          <a:prstGeom prst="rect">
            <a:avLst/>
          </a:prstGeom>
          <a:solidFill>
            <a:srgbClr val="E2E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0" i="0" spc="40">
                <a:solidFill>
                  <a:srgbClr val="8A9599"/>
                </a:solidFill>
                <a:latin typeface="Segoe UI"/>
              </a:rPr>
              <a:t>TreasuryCentral, powered by OnePilot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95967" y="640080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900" b="0" i="0">
                <a:solidFill>
                  <a:srgbClr val="8A9599"/>
                </a:solidFill>
                <a:latin typeface="Segoe UI"/>
              </a:rPr>
              <a:t>01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9C4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566928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50" b="1" i="0" spc="260">
                <a:solidFill>
                  <a:srgbClr val="9C4A1E"/>
                </a:solidFill>
                <a:latin typeface="Segoe UI Semibold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0692079" cy="1280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sz="3400" b="0" i="0">
                <a:solidFill>
                  <a:srgbClr val="0F1417"/>
                </a:solidFill>
                <a:latin typeface="Century Gothic"/>
              </a:rPr>
              <a:t>Every commodity price has a dozen moving parts. Someone builds the curve by hand.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2212848"/>
            <a:ext cx="11057839" cy="1078992"/>
          </a:xfrm>
          <a:prstGeom prst="roundRect">
            <a:avLst>
              <a:gd name="adj" fmla="val 5000"/>
            </a:avLst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" y="2377440"/>
            <a:ext cx="10472623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00" b="0" i="0" spc="160">
                <a:solidFill>
                  <a:srgbClr val="9C4A1E"/>
                </a:solidFill>
                <a:latin typeface="Segoe UI Semibold"/>
              </a:rPr>
              <a:t>COMPONENTS AND SOURCES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" y="2688336"/>
            <a:ext cx="10472623" cy="5303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</a:pPr>
            <a:r>
              <a:rPr sz="1400" b="0" i="0">
                <a:solidFill>
                  <a:srgbClr val="0F1417"/>
                </a:solidFill>
                <a:latin typeface="Segoe UI"/>
              </a:rPr>
              <a:t>Freight, storage, quality, local taxes, provider feeds.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3511296"/>
            <a:ext cx="11057839" cy="1078992"/>
          </a:xfrm>
          <a:prstGeom prst="roundRect">
            <a:avLst>
              <a:gd name="adj" fmla="val 5000"/>
            </a:avLst>
          </a:prstGeom>
          <a:solidFill>
            <a:srgbClr val="0F14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3511296"/>
            <a:ext cx="73152" cy="1078992"/>
          </a:xfrm>
          <a:prstGeom prst="rect">
            <a:avLst/>
          </a:prstGeom>
          <a:solidFill>
            <a:srgbClr val="C266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3675887"/>
            <a:ext cx="10472623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00" b="0" i="0" spc="160">
                <a:solidFill>
                  <a:srgbClr val="C2661B"/>
                </a:solidFill>
                <a:latin typeface="Segoe UI Semibold"/>
              </a:rPr>
              <a:t>THE MANUAL MIDDLE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986783"/>
            <a:ext cx="10472623" cy="5303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</a:pPr>
            <a:r>
              <a:rPr sz="1400" b="0" i="0">
                <a:solidFill>
                  <a:srgbClr val="ECEFF0"/>
                </a:solidFill>
                <a:latin typeface="Segoe UI"/>
              </a:rPr>
              <a:t>Collecting components, adjusting by port and time horizon, reconciling by hand.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4809744"/>
            <a:ext cx="11057839" cy="1078992"/>
          </a:xfrm>
          <a:prstGeom prst="roundRect">
            <a:avLst>
              <a:gd name="adj" fmla="val 5000"/>
            </a:avLst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4974336"/>
            <a:ext cx="10472623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00" b="0" i="0" spc="160">
                <a:solidFill>
                  <a:srgbClr val="9C4A1E"/>
                </a:solidFill>
                <a:latin typeface="Segoe UI Semibold"/>
              </a:rPr>
              <a:t>RISK AND TRADING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5285231"/>
            <a:ext cx="10472623" cy="5303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</a:pPr>
            <a:r>
              <a:rPr sz="1400" b="0" i="0">
                <a:solidFill>
                  <a:srgbClr val="0F1417"/>
                </a:solidFill>
                <a:latin typeface="Segoe UI"/>
              </a:rPr>
              <a:t>Prices that differ desk to desk.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6327648"/>
            <a:ext cx="11057839" cy="12801"/>
          </a:xfrm>
          <a:prstGeom prst="rect">
            <a:avLst/>
          </a:prstGeom>
          <a:solidFill>
            <a:srgbClr val="E2E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0" i="0" spc="40">
                <a:solidFill>
                  <a:srgbClr val="8A9599"/>
                </a:solidFill>
                <a:latin typeface="Segoe UI"/>
              </a:rPr>
              <a:t>TreasuryCentral, powered by OnePilot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95967" y="640080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900" b="0" i="0">
                <a:solidFill>
                  <a:srgbClr val="8A9599"/>
                </a:solidFill>
                <a:latin typeface="Segoe UI"/>
              </a:rPr>
              <a:t>02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9C4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566928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50" b="1" i="0" spc="260">
                <a:solidFill>
                  <a:srgbClr val="9C4A1E"/>
                </a:solidFill>
                <a:latin typeface="Segoe UI Semibold"/>
              </a:rPr>
              <a:t>WHERE IT SITS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0692079" cy="1280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sz="3200" b="0" i="0">
                <a:solidFill>
                  <a:srgbClr val="0F1417"/>
                </a:solidFill>
                <a:latin typeface="Century Gothic"/>
              </a:rPr>
              <a:t>One platform. Every application. Grounded in SAP.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926080" y="1938528"/>
            <a:ext cx="6339535" cy="713232"/>
          </a:xfrm>
          <a:prstGeom prst="roundRect">
            <a:avLst>
              <a:gd name="adj" fmla="val 12000"/>
            </a:avLst>
          </a:prstGeom>
          <a:solidFill>
            <a:srgbClr val="C266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0" y="1975104"/>
            <a:ext cx="6339535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Century Gothic"/>
              </a:rPr>
              <a:t>TreasuryCentral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2313432"/>
            <a:ext cx="6339535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200" b="0" i="0">
                <a:solidFill>
                  <a:srgbClr val="EAFBFC"/>
                </a:solidFill>
                <a:latin typeface="Segoe UI"/>
              </a:rPr>
              <a:t>one workspace on OnePilot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554480" y="2889504"/>
            <a:ext cx="9082735" cy="1993392"/>
          </a:xfrm>
          <a:prstGeom prst="roundRect">
            <a:avLst>
              <a:gd name="adj" fmla="val 4500"/>
            </a:avLst>
          </a:prstGeom>
          <a:solidFill>
            <a:srgbClr val="F4F6F7"/>
          </a:solidFill>
          <a:ln w="19050">
            <a:solidFill>
              <a:srgbClr val="9C4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3035808"/>
            <a:ext cx="8534095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500" b="0" i="0">
                <a:solidFill>
                  <a:srgbClr val="9C4A1E"/>
                </a:solidFill>
                <a:latin typeface="Century Gothic"/>
              </a:rPr>
              <a:t>OnePilot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3035808"/>
            <a:ext cx="8534095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200" b="0" i="0">
                <a:solidFill>
                  <a:srgbClr val="5B666B"/>
                </a:solidFill>
                <a:latin typeface="Segoe UI"/>
              </a:rPr>
              <a:t>the platform underneath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83664" y="3493008"/>
            <a:ext cx="1914067" cy="12801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25400">
            <a:solidFill>
              <a:srgbClr val="C266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84832" y="3712464"/>
            <a:ext cx="292608" cy="45720"/>
          </a:xfrm>
          <a:prstGeom prst="rect">
            <a:avLst/>
          </a:prstGeom>
          <a:solidFill>
            <a:srgbClr val="C266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84832" y="3877056"/>
            <a:ext cx="1511731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50" b="1" i="0">
                <a:solidFill>
                  <a:srgbClr val="0F1417"/>
                </a:solidFill>
                <a:latin typeface="Segoe UI Semibold"/>
              </a:rPr>
              <a:t>Market Data Hub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84832" y="4389120"/>
            <a:ext cx="15117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50" b="0" i="0">
                <a:solidFill>
                  <a:srgbClr val="8A9599"/>
                </a:solidFill>
                <a:latin typeface="Segoe UI"/>
              </a:rPr>
              <a:t>market truth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53763" y="3493008"/>
            <a:ext cx="1914067" cy="12801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7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54931" y="3712464"/>
            <a:ext cx="292608" cy="45720"/>
          </a:xfrm>
          <a:prstGeom prst="rect">
            <a:avLst/>
          </a:prstGeom>
          <a:solidFill>
            <a:srgbClr val="9C4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54931" y="3877056"/>
            <a:ext cx="1511731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50" b="1" i="0">
                <a:solidFill>
                  <a:srgbClr val="0F1417"/>
                </a:solidFill>
                <a:latin typeface="Segoe UI Semibold"/>
              </a:rPr>
              <a:t>Brisken Smart Trading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54931" y="4389120"/>
            <a:ext cx="15117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50" b="0" i="0">
                <a:solidFill>
                  <a:srgbClr val="8A9599"/>
                </a:solidFill>
                <a:latin typeface="Segoe UI"/>
              </a:rPr>
              <a:t>autonomous trading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23863" y="3493008"/>
            <a:ext cx="1914067" cy="12801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7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25031" y="3712464"/>
            <a:ext cx="292608" cy="45720"/>
          </a:xfrm>
          <a:prstGeom prst="rect">
            <a:avLst/>
          </a:prstGeom>
          <a:solidFill>
            <a:srgbClr val="9C4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3877056"/>
            <a:ext cx="1511731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50" b="1" i="0">
                <a:solidFill>
                  <a:srgbClr val="0F1417"/>
                </a:solidFill>
                <a:latin typeface="Segoe UI Semibold"/>
              </a:rPr>
              <a:t>Digital Co-Worker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5031" y="4389120"/>
            <a:ext cx="15117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50" b="0" i="0">
                <a:solidFill>
                  <a:srgbClr val="8A9599"/>
                </a:solidFill>
                <a:latin typeface="Segoe UI"/>
              </a:rPr>
              <a:t>the manual middle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93963" y="3493008"/>
            <a:ext cx="1914067" cy="1280160"/>
          </a:xfrm>
          <a:prstGeom prst="roundRect">
            <a:avLst>
              <a:gd name="adj" fmla="val 9000"/>
            </a:avLst>
          </a:prstGeom>
          <a:noFill/>
          <a:ln w="15875">
            <a:solidFill>
              <a:srgbClr val="9C4A1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595131" y="3712464"/>
            <a:ext cx="292608" cy="45720"/>
          </a:xfrm>
          <a:prstGeom prst="rect">
            <a:avLst/>
          </a:prstGeom>
          <a:solidFill>
            <a:srgbClr val="9C4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95131" y="3877056"/>
            <a:ext cx="1511731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50" b="1" i="0">
                <a:solidFill>
                  <a:srgbClr val="9C4A1E"/>
                </a:solidFill>
                <a:latin typeface="Segoe UI Semibold"/>
              </a:rPr>
              <a:t>+ your own apps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131" y="4389120"/>
            <a:ext cx="15117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50" b="0" i="0">
                <a:solidFill>
                  <a:srgbClr val="8A9599"/>
                </a:solidFill>
                <a:latin typeface="Segoe UI"/>
              </a:rPr>
              <a:t>an open platform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4937760"/>
            <a:ext cx="9082735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150" b="0" i="1">
                <a:solidFill>
                  <a:srgbClr val="8A9599"/>
                </a:solidFill>
                <a:latin typeface="Segoe UI"/>
              </a:rPr>
              <a:t>OnePilot connects your SAP and non-SAP systems alike.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926080" y="5193792"/>
            <a:ext cx="6339535" cy="658368"/>
          </a:xfrm>
          <a:prstGeom prst="roundRect">
            <a:avLst>
              <a:gd name="adj" fmla="val 12000"/>
            </a:avLst>
          </a:prstGeom>
          <a:solidFill>
            <a:srgbClr val="0F14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926080" y="5193792"/>
            <a:ext cx="6339535" cy="6583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400" b="0" i="0">
                <a:solidFill>
                  <a:srgbClr val="ECEFF0"/>
                </a:solidFill>
                <a:latin typeface="Segoe UI Semibold"/>
              </a:rPr>
              <a:t>SAP   ·   your book of records, grounded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5943600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200" b="0" i="0">
                <a:solidFill>
                  <a:srgbClr val="8A9599"/>
                </a:solidFill>
                <a:latin typeface="Segoe UI"/>
              </a:rPr>
              <a:t>Market Data Hub for Commodities runs as an application inside TreasuryCentral, the shipped edition of OnePilot. OnePilot runs in production across commodity, oil &amp; gas, chemicals, food &amp; drink, financial-services and agricultural treasuries.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6327648"/>
            <a:ext cx="11057839" cy="12801"/>
          </a:xfrm>
          <a:prstGeom prst="rect">
            <a:avLst/>
          </a:prstGeom>
          <a:solidFill>
            <a:srgbClr val="E2E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6928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0" i="0" spc="40">
                <a:solidFill>
                  <a:srgbClr val="8A9599"/>
                </a:solidFill>
                <a:latin typeface="Segoe UI"/>
              </a:rPr>
              <a:t>TreasuryCentral, powered by OnePilot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95967" y="640080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900" b="0" i="0">
                <a:solidFill>
                  <a:srgbClr val="8A9599"/>
                </a:solidFill>
                <a:latin typeface="Segoe UI"/>
              </a:rPr>
              <a:t>03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9C4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566928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50" b="1" i="0" spc="260">
                <a:solidFill>
                  <a:srgbClr val="9C4A1E"/>
                </a:solidFill>
                <a:latin typeface="Segoe UI Semibold"/>
              </a:rPr>
              <a:t>MARKET DATA HUB FOR COMMODITIES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0692079" cy="1280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sz="3400" b="0" i="0">
                <a:solidFill>
                  <a:srgbClr val="0F1417"/>
                </a:solidFill>
                <a:latin typeface="Century Gothic"/>
              </a:rPr>
              <a:t>One price, followed from the ground to the desk.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755648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</a:pPr>
            <a:r>
              <a:rPr sz="1450" b="0" i="1">
                <a:solidFill>
                  <a:srgbClr val="5B666B"/>
                </a:solidFill>
                <a:latin typeface="Segoe UI"/>
              </a:rPr>
              <a:t>A commodity price is composite: the underlying quote plus freight, storage, quality adjustments and local taxes, combined per tenor (how far out on the timeline) and per delivery point.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2286000"/>
            <a:ext cx="3478682" cy="2999232"/>
          </a:xfrm>
          <a:prstGeom prst="roundRect">
            <a:avLst>
              <a:gd name="adj" fmla="val 5000"/>
            </a:avLst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4672" y="2542032"/>
            <a:ext cx="329184" cy="45720"/>
          </a:xfrm>
          <a:prstGeom prst="rect">
            <a:avLst/>
          </a:prstGeom>
          <a:solidFill>
            <a:srgbClr val="9C4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2706624"/>
            <a:ext cx="3003194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150" b="1" i="0" spc="50">
                <a:solidFill>
                  <a:srgbClr val="0F1417"/>
                </a:solidFill>
                <a:latin typeface="Segoe UI Semibold"/>
              </a:rPr>
              <a:t>THE PROBLEM IT REMOVES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3310128"/>
            <a:ext cx="3003194" cy="181051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00" b="0" i="0">
                <a:solidFill>
                  <a:srgbClr val="5B666B"/>
                </a:solidFill>
                <a:latin typeface="Segoe UI"/>
              </a:rPr>
              <a:t>The same commodity prices differently by delivery point, as freight, storage, port fees and the local market all differ.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00" b="0" i="0">
                <a:solidFill>
                  <a:srgbClr val="5B666B"/>
                </a:solidFill>
                <a:latin typeface="Segoe UI"/>
              </a:rPr>
              <a:t>Today the curve is built by hand in spreadsheets, so prices differ desk to desk and no one can show how a number was reached.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56506" y="2286000"/>
            <a:ext cx="3478682" cy="2999232"/>
          </a:xfrm>
          <a:prstGeom prst="roundRect">
            <a:avLst>
              <a:gd name="adj" fmla="val 5000"/>
            </a:avLst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94250" y="2542032"/>
            <a:ext cx="329184" cy="45720"/>
          </a:xfrm>
          <a:prstGeom prst="rect">
            <a:avLst/>
          </a:prstGeom>
          <a:solidFill>
            <a:srgbClr val="C266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4250" y="2706624"/>
            <a:ext cx="3003194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150" b="1" i="0" spc="50">
                <a:solidFill>
                  <a:srgbClr val="0F1417"/>
                </a:solidFill>
                <a:latin typeface="Segoe UI Semibold"/>
              </a:rPr>
              <a:t>WHAT IT DOES, STEP BY STEP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4250" y="3310128"/>
            <a:ext cx="3003194" cy="181051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0" i="0">
                <a:solidFill>
                  <a:srgbClr val="5B666B"/>
                </a:solidFill>
                <a:latin typeface="Segoe UI"/>
              </a:rPr>
              <a:t>1   Collects feeds, exchange quotes, freight and storage rates.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0" i="0">
                <a:solidFill>
                  <a:srgbClr val="5B666B"/>
                </a:solidFill>
                <a:latin typeface="Segoe UI"/>
              </a:rPr>
              <a:t>2   Combines them into one price per tenor, per delivery point.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0" i="0">
                <a:solidFill>
                  <a:srgbClr val="5B666B"/>
                </a:solidFill>
                <a:latin typeface="Segoe UI"/>
              </a:rPr>
              <a:t>3   Builds the curve from today out to a year.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0" i="0">
                <a:solidFill>
                  <a:srgbClr val="5B666B"/>
                </a:solidFill>
                <a:latin typeface="Segoe UI"/>
              </a:rPr>
              <a:t>4   Feeds it to risk, the trading desk and SAP Treasury.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46084" y="2286000"/>
            <a:ext cx="3478682" cy="2999232"/>
          </a:xfrm>
          <a:prstGeom prst="roundRect">
            <a:avLst>
              <a:gd name="adj" fmla="val 5000"/>
            </a:avLst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83828" y="2542032"/>
            <a:ext cx="329184" cy="45720"/>
          </a:xfrm>
          <a:prstGeom prst="rect">
            <a:avLst/>
          </a:prstGeom>
          <a:solidFill>
            <a:srgbClr val="9C4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3828" y="2706624"/>
            <a:ext cx="3003194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150" b="1" i="0" spc="50">
                <a:solidFill>
                  <a:srgbClr val="0F1417"/>
                </a:solidFill>
                <a:latin typeface="Segoe UI Semibold"/>
              </a:rPr>
              <a:t>WHAT YOU NO LONGER DO BY HAND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3828" y="3310128"/>
            <a:ext cx="3003194" cy="181051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00" b="0" i="0">
                <a:solidFill>
                  <a:srgbClr val="5B666B"/>
                </a:solidFill>
                <a:latin typeface="Segoe UI"/>
              </a:rPr>
              <a:t>Building the curve by hand in spreadsheets.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00" b="0" i="0">
                <a:solidFill>
                  <a:srgbClr val="5B666B"/>
                </a:solidFill>
                <a:latin typeface="Segoe UI"/>
              </a:rPr>
              <a:t>Reconciling prices that differ desk to desk, and showing how a number was reached.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00" b="0" i="0">
                <a:solidFill>
                  <a:srgbClr val="5B666B"/>
                </a:solidFill>
                <a:latin typeface="Segoe UI"/>
              </a:rPr>
              <a:t>Assembling the audit trail by hand.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468112"/>
            <a:ext cx="11057839" cy="548640"/>
          </a:xfrm>
          <a:prstGeom prst="roundRect">
            <a:avLst>
              <a:gd name="adj" fmla="val 8000"/>
            </a:avLst>
          </a:prstGeom>
          <a:solidFill>
            <a:srgbClr val="0F14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" y="5468112"/>
            <a:ext cx="10509199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ECEFF0"/>
                </a:solidFill>
                <a:latin typeface="Segoe UI"/>
              </a:rPr>
              <a:t>CONNECTS TO   provider feeds · exchange quotes · freight &amp; storage rates · internal spreadsheets  →  risk management, trading desk, SAP Treasury, any downstream system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6327648"/>
            <a:ext cx="11057839" cy="12801"/>
          </a:xfrm>
          <a:prstGeom prst="rect">
            <a:avLst/>
          </a:prstGeom>
          <a:solidFill>
            <a:srgbClr val="E2E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0" i="0" spc="40">
                <a:solidFill>
                  <a:srgbClr val="8A9599"/>
                </a:solidFill>
                <a:latin typeface="Segoe UI"/>
              </a:rPr>
              <a:t>TreasuryCentral, powered by OnePilot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95967" y="640080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900" b="0" i="0">
                <a:solidFill>
                  <a:srgbClr val="8A9599"/>
                </a:solidFill>
                <a:latin typeface="Segoe UI"/>
              </a:rPr>
              <a:t>04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9C4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566928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50" b="1" i="0" spc="260">
                <a:solidFill>
                  <a:srgbClr val="9C4A1E"/>
                </a:solidFill>
                <a:latin typeface="Segoe UI Semibold"/>
              </a:rPr>
              <a:t>MARKET DATA HUB FOR COMMODITIES · FUNCTIONAL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0692079" cy="1280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sz="3400" b="0" i="0">
                <a:solidFill>
                  <a:srgbClr val="0F1417"/>
                </a:solidFill>
                <a:latin typeface="Century Gothic"/>
              </a:rPr>
              <a:t>The curve, from components to the desk.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020824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050" b="0" i="0" spc="200">
                <a:solidFill>
                  <a:srgbClr val="8A9599"/>
                </a:solidFill>
                <a:latin typeface="Segoe UI Semibold"/>
              </a:rPr>
              <a:t>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89720" y="2020824"/>
            <a:ext cx="2435047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050" b="0" i="0" spc="200">
                <a:solidFill>
                  <a:srgbClr val="8A9599"/>
                </a:solidFill>
                <a:latin typeface="Segoe UI Semibold"/>
              </a:rPr>
              <a:t>DESTINATIONS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331720"/>
            <a:ext cx="2743200" cy="566928"/>
          </a:xfrm>
          <a:prstGeom prst="roundRect">
            <a:avLst>
              <a:gd name="adj" fmla="val 14000"/>
            </a:avLst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2331720"/>
            <a:ext cx="2523744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200" b="0" i="0">
                <a:solidFill>
                  <a:srgbClr val="0F1417"/>
                </a:solidFill>
                <a:latin typeface="Segoe UI Semibold"/>
              </a:rPr>
              <a:t>Provider feeds &amp; exchanges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087624"/>
            <a:ext cx="2743200" cy="566928"/>
          </a:xfrm>
          <a:prstGeom prst="roundRect">
            <a:avLst>
              <a:gd name="adj" fmla="val 14000"/>
            </a:avLst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" y="3087624"/>
            <a:ext cx="2523744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200" b="0" i="0">
                <a:solidFill>
                  <a:srgbClr val="0F1417"/>
                </a:solidFill>
                <a:latin typeface="Segoe UI Semibold"/>
              </a:rPr>
              <a:t>Forward views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3843528"/>
            <a:ext cx="2743200" cy="566928"/>
          </a:xfrm>
          <a:prstGeom prst="roundRect">
            <a:avLst>
              <a:gd name="adj" fmla="val 14000"/>
            </a:avLst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3843528"/>
            <a:ext cx="2523744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200" b="0" i="0">
                <a:solidFill>
                  <a:srgbClr val="0F1417"/>
                </a:solidFill>
                <a:latin typeface="Segoe UI Semibold"/>
              </a:rPr>
              <a:t>Freight &amp; storage rates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4599431"/>
            <a:ext cx="2743200" cy="566928"/>
          </a:xfrm>
          <a:prstGeom prst="roundRect">
            <a:avLst>
              <a:gd name="adj" fmla="val 14000"/>
            </a:avLst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4599431"/>
            <a:ext cx="2523744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200" b="0" i="0">
                <a:solidFill>
                  <a:srgbClr val="0F1417"/>
                </a:solidFill>
                <a:latin typeface="Segoe UI Semibold"/>
              </a:rPr>
              <a:t>Components from the ground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89720" y="2331720"/>
            <a:ext cx="2435047" cy="566928"/>
          </a:xfrm>
          <a:prstGeom prst="roundRect">
            <a:avLst>
              <a:gd name="adj" fmla="val 14000"/>
            </a:avLst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99448" y="2331720"/>
            <a:ext cx="2215591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200" b="0" i="0">
                <a:solidFill>
                  <a:srgbClr val="0F1417"/>
                </a:solidFill>
                <a:latin typeface="Segoe UI Semibold"/>
              </a:rPr>
              <a:t>Risk management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89720" y="3087624"/>
            <a:ext cx="2435047" cy="566928"/>
          </a:xfrm>
          <a:prstGeom prst="roundRect">
            <a:avLst>
              <a:gd name="adj" fmla="val 14000"/>
            </a:avLst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99448" y="3087624"/>
            <a:ext cx="2215591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200" b="0" i="0">
                <a:solidFill>
                  <a:srgbClr val="0F1417"/>
                </a:solidFill>
                <a:latin typeface="Segoe UI Semibold"/>
              </a:rPr>
              <a:t>Trading desk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89720" y="3843528"/>
            <a:ext cx="2435047" cy="566928"/>
          </a:xfrm>
          <a:prstGeom prst="roundRect">
            <a:avLst>
              <a:gd name="adj" fmla="val 14000"/>
            </a:avLst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99448" y="3843528"/>
            <a:ext cx="2215591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200" b="0" i="0">
                <a:solidFill>
                  <a:srgbClr val="0F1417"/>
                </a:solidFill>
                <a:latin typeface="Segoe UI Semibold"/>
              </a:rPr>
              <a:t>SAP Treasury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89720" y="4599431"/>
            <a:ext cx="2435047" cy="566928"/>
          </a:xfrm>
          <a:prstGeom prst="roundRect">
            <a:avLst>
              <a:gd name="adj" fmla="val 14000"/>
            </a:avLst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99448" y="4599431"/>
            <a:ext cx="2215591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200" b="0" i="0">
                <a:solidFill>
                  <a:srgbClr val="0F1417"/>
                </a:solidFill>
                <a:latin typeface="Segoe UI Semibold"/>
              </a:rPr>
              <a:t>Any downstream system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977639" y="2468879"/>
            <a:ext cx="4251960" cy="2560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C266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51959" y="2788920"/>
            <a:ext cx="370332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100" b="0" i="0" spc="200">
                <a:solidFill>
                  <a:srgbClr val="9C4A1E"/>
                </a:solidFill>
                <a:latin typeface="Segoe UI Semibold"/>
              </a:rPr>
              <a:t>BRISKEN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51959" y="3118103"/>
            <a:ext cx="370332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2100" b="0" i="0">
                <a:solidFill>
                  <a:srgbClr val="0F1417"/>
                </a:solidFill>
                <a:latin typeface="Century Gothic"/>
              </a:rPr>
              <a:t>Market Data Hub for Commodities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51959" y="3813048"/>
            <a:ext cx="370332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250" b="0" i="0">
                <a:solidFill>
                  <a:srgbClr val="5B666B"/>
                </a:solidFill>
                <a:latin typeface="Segoe UI"/>
              </a:rPr>
              <a:t>on SAP's own cloud  ·  governed end to end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43400" y="4215383"/>
            <a:ext cx="3520440" cy="603504"/>
          </a:xfrm>
          <a:prstGeom prst="roundRect">
            <a:avLst>
              <a:gd name="adj" fmla="val 12000"/>
            </a:avLst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34840" y="4215383"/>
            <a:ext cx="3337560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5B666B"/>
                </a:solidFill>
                <a:latin typeface="Segoe UI"/>
              </a:rPr>
              <a:t>Audit trail · segregation of duty · anomaly alerts · person-in-the-loop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3438144" y="3602735"/>
            <a:ext cx="411479" cy="292608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C266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ight Arrow 28"/>
          <p:cNvSpPr/>
          <p:nvPr/>
        </p:nvSpPr>
        <p:spPr>
          <a:xfrm>
            <a:off x="8357616" y="3602735"/>
            <a:ext cx="704088" cy="292608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C266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6928" y="5422392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100" b="0" i="0" spc="60">
                <a:solidFill>
                  <a:srgbClr val="9C4A1E"/>
                </a:solidFill>
                <a:latin typeface="Segoe UI Semibold"/>
              </a:rPr>
              <a:t>CONNECTS VIA   RFC / OData  ·  AMQP  ·  SFTP  ·  REST  ·  HTTP  ·  Email  ·  Excel add-in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5733288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200" b="0" i="0">
                <a:solidFill>
                  <a:srgbClr val="8A9599"/>
                </a:solidFill>
                <a:latin typeface="Segoe UI"/>
              </a:rPr>
              <a:t>Every input validated on the way in; every change versioned and audited.</a:t>
            </a:r>
          </a:p>
        </p:txBody>
      </p:sp>
      <p:pic>
        <p:nvPicPr>
          <p:cNvPr id="32" name="Picture 31" descr="sap_certifi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7407" y="457200"/>
            <a:ext cx="1737360" cy="366813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566928" y="6327648"/>
            <a:ext cx="11057839" cy="12801"/>
          </a:xfrm>
          <a:prstGeom prst="rect">
            <a:avLst/>
          </a:prstGeom>
          <a:solidFill>
            <a:srgbClr val="E2E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66928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0" i="0" spc="40">
                <a:solidFill>
                  <a:srgbClr val="8A9599"/>
                </a:solidFill>
                <a:latin typeface="Segoe UI"/>
              </a:rPr>
              <a:t>TreasuryCentral, powered by OnePilot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95967" y="640080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900" b="0" i="0">
                <a:solidFill>
                  <a:srgbClr val="8A9599"/>
                </a:solidFill>
                <a:latin typeface="Segoe UI"/>
              </a:rPr>
              <a:t>05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9C4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566928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50" b="1" i="0" spc="260">
                <a:solidFill>
                  <a:srgbClr val="9C4A1E"/>
                </a:solidFill>
                <a:latin typeface="Segoe UI Semibold"/>
              </a:rPr>
              <a:t>USE CASE · COMMODITY PRICE CURVES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0692079" cy="1280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sz="3200" b="0" i="0">
                <a:solidFill>
                  <a:srgbClr val="0F1417"/>
                </a:solidFill>
                <a:latin typeface="Century Gothic"/>
              </a:rPr>
              <a:t>Commodity Price Curves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700784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350" b="0" i="1">
                <a:solidFill>
                  <a:srgbClr val="8A9599"/>
                </a:solidFill>
                <a:latin typeface="Segoe UI"/>
              </a:rPr>
              <a:t>Building the curve: today's spot (the price for delivery now), then 30, 60 and 90-day tenors, out to a year.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286000"/>
            <a:ext cx="397763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00" b="0" i="0" spc="160">
                <a:solidFill>
                  <a:srgbClr val="8A9599"/>
                </a:solidFill>
                <a:latin typeface="Segoe UI Semibold"/>
              </a:rPr>
              <a:t>BEFORE  ·  TODAY, BY HAND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2670048"/>
            <a:ext cx="45720" cy="3063240"/>
          </a:xfrm>
          <a:prstGeom prst="rect">
            <a:avLst/>
          </a:prstGeom>
          <a:solidFill>
            <a:srgbClr val="5B6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2651760"/>
            <a:ext cx="3703320" cy="3108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0F1417"/>
                </a:solidFill>
                <a:latin typeface="Segoe UI"/>
              </a:rPr>
              <a:t>Follow one price today: the underlying quote is only the start. Freight, storage, quality and local taxes all move it, and someone combines them in a spreadsheet, per delivery point, per tenor.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01768" y="2286000"/>
            <a:ext cx="662299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00" b="0" i="0" spc="140">
                <a:solidFill>
                  <a:srgbClr val="9C4A1E"/>
                </a:solidFill>
                <a:latin typeface="Segoe UI Semibold"/>
              </a:rPr>
              <a:t>AFTER  ·  THE MARKET DATA HUB, IN ORDER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01768" y="2706624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9C4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1768" y="2706624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04104" y="2688336"/>
            <a:ext cx="6220663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0F1417"/>
                </a:solidFill>
                <a:latin typeface="Segoe UI"/>
              </a:rPr>
              <a:t>Starts with today's spot and builds the curve along the timeline: 30, 60 and 90 days, out to a year.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01768" y="3163824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9C4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01768" y="3163824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04104" y="3145536"/>
            <a:ext cx="6220663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0F1417"/>
                </a:solidFill>
                <a:latin typeface="Segoe UI"/>
              </a:rPr>
              <a:t>Combines the underlying quote with freight, storage, quality adjustments and local taxes.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01768" y="3621024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9C4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1768" y="3621024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04104" y="3602736"/>
            <a:ext cx="6220663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0F1417"/>
                </a:solidFill>
                <a:latin typeface="Segoe UI"/>
              </a:rPr>
              <a:t>Prices per tenor, per delivery point.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01768" y="4078223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9C4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1768" y="4078223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04104" y="4059935"/>
            <a:ext cx="6220663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0F1417"/>
                </a:solidFill>
                <a:latin typeface="Segoe UI"/>
              </a:rPr>
              <a:t>Validates every input on the way in and flags anomalies.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01768" y="4626864"/>
            <a:ext cx="6622999" cy="566928"/>
          </a:xfrm>
          <a:prstGeom prst="roundRect">
            <a:avLst>
              <a:gd name="adj" fmla="val 10000"/>
            </a:avLst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01768" y="4626864"/>
            <a:ext cx="73152" cy="566928"/>
          </a:xfrm>
          <a:prstGeom prst="rect">
            <a:avLst/>
          </a:prstGeom>
          <a:solidFill>
            <a:srgbClr val="C266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57800" y="4626864"/>
            <a:ext cx="6165799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300" b="0" i="0">
                <a:solidFill>
                  <a:srgbClr val="0F1417"/>
                </a:solidFill>
                <a:latin typeface="Segoe UI Semibold"/>
              </a:rPr>
              <a:t>Anomalies wait for a person's approval; every change is versioned and audited.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6327648"/>
            <a:ext cx="11057839" cy="12801"/>
          </a:xfrm>
          <a:prstGeom prst="rect">
            <a:avLst/>
          </a:prstGeom>
          <a:solidFill>
            <a:srgbClr val="E2E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0" i="0" spc="40">
                <a:solidFill>
                  <a:srgbClr val="8A9599"/>
                </a:solidFill>
                <a:latin typeface="Segoe UI"/>
              </a:rPr>
              <a:t>TreasuryCentral, powered by OnePilot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95967" y="640080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900" b="0" i="0">
                <a:solidFill>
                  <a:srgbClr val="8A9599"/>
                </a:solidFill>
                <a:latin typeface="Segoe UI"/>
              </a:rPr>
              <a:t>06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9C4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566928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50" b="1" i="0" spc="260">
                <a:solidFill>
                  <a:srgbClr val="9C4A1E"/>
                </a:solidFill>
                <a:latin typeface="Segoe UI Semibold"/>
              </a:rPr>
              <a:t>USE CASE · VALUATION AND EXPOSURE PRICES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0692079" cy="1280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sz="3200" b="0" i="0">
                <a:solidFill>
                  <a:srgbClr val="0F1417"/>
                </a:solidFill>
                <a:latin typeface="Century Gothic"/>
              </a:rPr>
              <a:t>Valuation and Exposure Prices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700784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350" b="0" i="1">
                <a:solidFill>
                  <a:srgbClr val="8A9599"/>
                </a:solidFill>
                <a:latin typeface="Segoe UI"/>
              </a:rPr>
              <a:t>Mark-to-market: valuing today's positions at today's market price. Exposure: the money at risk from price moves.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286000"/>
            <a:ext cx="397763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00" b="0" i="0" spc="160">
                <a:solidFill>
                  <a:srgbClr val="8A9599"/>
                </a:solidFill>
                <a:latin typeface="Segoe UI Semibold"/>
              </a:rPr>
              <a:t>BEFORE  ·  TODAY, BY HAND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2670048"/>
            <a:ext cx="45720" cy="3063240"/>
          </a:xfrm>
          <a:prstGeom prst="rect">
            <a:avLst/>
          </a:prstGeom>
          <a:solidFill>
            <a:srgbClr val="5B6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2651760"/>
            <a:ext cx="3703320" cy="3108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0F1417"/>
                </a:solidFill>
                <a:latin typeface="Segoe UI"/>
              </a:rPr>
              <a:t>Valuation runs off prices pulled by hand from several venues; a late or wrong price moves the day's P&amp;L (profit and loss). Risk, trading and accounting each source their own price, so the numbers disagree.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01768" y="2286000"/>
            <a:ext cx="662299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00" b="0" i="0" spc="140">
                <a:solidFill>
                  <a:srgbClr val="9C4A1E"/>
                </a:solidFill>
                <a:latin typeface="Segoe UI Semibold"/>
              </a:rPr>
              <a:t>AFTER  ·  THE MARKET DATA HUB, IN ORDER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01768" y="2706624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9C4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1768" y="2706624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04104" y="2688336"/>
            <a:ext cx="6220663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0F1417"/>
                </a:solidFill>
                <a:latin typeface="Segoe UI"/>
              </a:rPr>
              <a:t>Collects end-of-day and settlement prices from the exchanges and providers, on schedule.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01768" y="3163824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9C4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01768" y="3163824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04104" y="3145536"/>
            <a:ext cx="6220663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0F1417"/>
                </a:solidFill>
                <a:latin typeface="Segoe UI"/>
              </a:rPr>
              <a:t>Governs them: validated on the way in, versioned and audited.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01768" y="3621024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9C4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1768" y="3621024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04104" y="3602736"/>
            <a:ext cx="6220663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0F1417"/>
                </a:solidFill>
                <a:latin typeface="Segoe UI"/>
              </a:rPr>
              <a:t>Feeds SAP position valuation and exposure management, tied to the positions they value.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01768" y="4078223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9C4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1768" y="4078223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04104" y="4059935"/>
            <a:ext cx="6220663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0F1417"/>
                </a:solidFill>
                <a:latin typeface="Segoe UI"/>
              </a:rPr>
              <a:t>Gives risk, trading and accounting the same governed number.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01768" y="4626864"/>
            <a:ext cx="6622999" cy="566928"/>
          </a:xfrm>
          <a:prstGeom prst="roundRect">
            <a:avLst>
              <a:gd name="adj" fmla="val 10000"/>
            </a:avLst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01768" y="4626864"/>
            <a:ext cx="73152" cy="566928"/>
          </a:xfrm>
          <a:prstGeom prst="rect">
            <a:avLst/>
          </a:prstGeom>
          <a:solidFill>
            <a:srgbClr val="C266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57800" y="4626864"/>
            <a:ext cx="6165799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300" b="0" i="0">
                <a:solidFill>
                  <a:srgbClr val="0F1417"/>
                </a:solidFill>
                <a:latin typeface="Segoe UI Semibold"/>
              </a:rPr>
              <a:t>A person reviews the flagged prices; the numbers agree.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6327648"/>
            <a:ext cx="11057839" cy="12801"/>
          </a:xfrm>
          <a:prstGeom prst="rect">
            <a:avLst/>
          </a:prstGeom>
          <a:solidFill>
            <a:srgbClr val="E2E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0" i="0" spc="40">
                <a:solidFill>
                  <a:srgbClr val="8A9599"/>
                </a:solidFill>
                <a:latin typeface="Segoe UI"/>
              </a:rPr>
              <a:t>TreasuryCentral, powered by OnePilot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95967" y="640080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900" b="0" i="0">
                <a:solidFill>
                  <a:srgbClr val="8A9599"/>
                </a:solidFill>
                <a:latin typeface="Segoe UI"/>
              </a:rPr>
              <a:t>07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9C4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566928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50" b="1" i="0" spc="260">
                <a:solidFill>
                  <a:srgbClr val="9C4A1E"/>
                </a:solidFill>
                <a:latin typeface="Segoe UI Semibold"/>
              </a:rPr>
              <a:t>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0692079" cy="1280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sz="3800" b="0" i="0">
                <a:solidFill>
                  <a:srgbClr val="0F1417"/>
                </a:solidFill>
                <a:latin typeface="Century Gothic"/>
              </a:rPr>
              <a:t>Governed, in plain terms.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783080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5B666B"/>
                </a:solidFill>
                <a:latin typeface="Segoe UI"/>
              </a:rPr>
              <a:t>The same four controls run under every application, the AI included: it is grounded in SAP, not free-floating, and keeps a human in the loop on the moves that matter. What each control means, and why it matters: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2651760"/>
            <a:ext cx="2545003" cy="2606040"/>
          </a:xfrm>
          <a:prstGeom prst="roundRect">
            <a:avLst>
              <a:gd name="adj" fmla="val 7000"/>
            </a:avLst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86384" y="2889504"/>
            <a:ext cx="310896" cy="45720"/>
          </a:xfrm>
          <a:prstGeom prst="rect">
            <a:avLst/>
          </a:prstGeom>
          <a:solidFill>
            <a:srgbClr val="9C4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3054096"/>
            <a:ext cx="2106091" cy="2057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550" b="1" i="0">
                <a:solidFill>
                  <a:srgbClr val="0F1417"/>
                </a:solidFill>
                <a:latin typeface="Segoe UI Semibold"/>
              </a:rPr>
              <a:t>Audit trail</a:t>
            </a:r>
          </a:p>
          <a:p>
            <a:pPr algn="l">
              <a:lnSpc>
                <a:spcPct val="114000"/>
              </a:lnSpc>
            </a:pPr>
            <a:r>
              <a:rPr sz="1350" b="0" i="0">
                <a:solidFill>
                  <a:srgbClr val="5B666B"/>
                </a:solidFill>
                <a:latin typeface="Segoe UI"/>
              </a:rPr>
              <a:t>Every action is logged and can be reviewed later, end to end. Nothing happens off the record.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04539" y="2651760"/>
            <a:ext cx="2545003" cy="2606040"/>
          </a:xfrm>
          <a:prstGeom prst="roundRect">
            <a:avLst>
              <a:gd name="adj" fmla="val 7000"/>
            </a:avLst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23995" y="2889504"/>
            <a:ext cx="310896" cy="45720"/>
          </a:xfrm>
          <a:prstGeom prst="rect">
            <a:avLst/>
          </a:prstGeom>
          <a:solidFill>
            <a:srgbClr val="C266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23995" y="3054096"/>
            <a:ext cx="2106091" cy="2057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550" b="1" i="0">
                <a:solidFill>
                  <a:srgbClr val="0F1417"/>
                </a:solidFill>
                <a:latin typeface="Segoe UI Semibold"/>
              </a:rPr>
              <a:t>Four-eyes / segregation of duty</a:t>
            </a:r>
          </a:p>
          <a:p>
            <a:pPr algn="l">
              <a:lnSpc>
                <a:spcPct val="114000"/>
              </a:lnSpc>
            </a:pPr>
            <a:r>
              <a:rPr sz="1350" b="0" i="0">
                <a:solidFill>
                  <a:srgbClr val="5B666B"/>
                </a:solidFill>
                <a:latin typeface="Segoe UI"/>
              </a:rPr>
              <a:t>The person who enters something is not the one who approves it. A human stays in the loop (HITL) on the moves that matter.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2151" y="2651760"/>
            <a:ext cx="2545003" cy="2606040"/>
          </a:xfrm>
          <a:prstGeom prst="roundRect">
            <a:avLst>
              <a:gd name="adj" fmla="val 7000"/>
            </a:avLst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61607" y="2889504"/>
            <a:ext cx="310896" cy="45720"/>
          </a:xfrm>
          <a:prstGeom prst="rect">
            <a:avLst/>
          </a:prstGeom>
          <a:solidFill>
            <a:srgbClr val="9C4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1607" y="3054096"/>
            <a:ext cx="2106091" cy="2057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550" b="1" i="0">
                <a:solidFill>
                  <a:srgbClr val="0F1417"/>
                </a:solidFill>
                <a:latin typeface="Segoe UI Semibold"/>
              </a:rPr>
              <a:t>Anomaly alerts</a:t>
            </a:r>
          </a:p>
          <a:p>
            <a:pPr algn="l">
              <a:lnSpc>
                <a:spcPct val="114000"/>
              </a:lnSpc>
            </a:pPr>
            <a:r>
              <a:rPr sz="1350" b="0" i="0">
                <a:solidFill>
                  <a:srgbClr val="5B666B"/>
                </a:solidFill>
                <a:latin typeface="Segoe UI"/>
              </a:rPr>
              <a:t>The system flags what looks wrong before it posts, not after, so a bad value is caught on the way in.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79763" y="2651760"/>
            <a:ext cx="2545003" cy="2606040"/>
          </a:xfrm>
          <a:prstGeom prst="roundRect">
            <a:avLst>
              <a:gd name="adj" fmla="val 7000"/>
            </a:avLst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299219" y="2889504"/>
            <a:ext cx="310896" cy="45720"/>
          </a:xfrm>
          <a:prstGeom prst="rect">
            <a:avLst/>
          </a:prstGeom>
          <a:solidFill>
            <a:srgbClr val="9C4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99219" y="3054096"/>
            <a:ext cx="2106091" cy="2057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550" b="1" i="0">
                <a:solidFill>
                  <a:srgbClr val="0F1417"/>
                </a:solidFill>
                <a:latin typeface="Segoe UI Semibold"/>
              </a:rPr>
              <a:t>Manage by exception</a:t>
            </a:r>
          </a:p>
          <a:p>
            <a:pPr algn="l">
              <a:lnSpc>
                <a:spcPct val="114000"/>
              </a:lnSpc>
            </a:pPr>
            <a:r>
              <a:rPr sz="1350" b="0" i="0">
                <a:solidFill>
                  <a:srgbClr val="5B666B"/>
                </a:solidFill>
                <a:latin typeface="Segoe UI"/>
              </a:rPr>
              <a:t>People only touch the cases that need judgment. The rest just runs, and you hear about the odd one out.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5486400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00" b="0" i="0">
                <a:solidFill>
                  <a:srgbClr val="9C4A1E"/>
                </a:solidFill>
                <a:latin typeface="Segoe UI Semibold"/>
              </a:rPr>
              <a:t>AI grounded in SAP, with a human in the loop.    ·    Certified to ISO 27001 and SOC 1 Type II.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6327648"/>
            <a:ext cx="11057839" cy="12801"/>
          </a:xfrm>
          <a:prstGeom prst="rect">
            <a:avLst/>
          </a:prstGeom>
          <a:solidFill>
            <a:srgbClr val="E2E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0" i="0" spc="40">
                <a:solidFill>
                  <a:srgbClr val="8A9599"/>
                </a:solidFill>
                <a:latin typeface="Segoe UI"/>
              </a:rPr>
              <a:t>TreasuryCentral, powered by OnePilot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95967" y="640080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900" b="0" i="0">
                <a:solidFill>
                  <a:srgbClr val="8A9599"/>
                </a:solidFill>
                <a:latin typeface="Segoe UI"/>
              </a:rPr>
              <a:t>08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9C4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9C4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19456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50" b="1" i="0" spc="300">
                <a:solidFill>
                  <a:srgbClr val="C2661B"/>
                </a:solidFill>
                <a:latin typeface="Segoe UI Semibold"/>
              </a:rPr>
              <a:t>CONTACT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633472"/>
            <a:ext cx="10515600" cy="1188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4200" b="0" i="0">
                <a:solidFill>
                  <a:srgbClr val="ECEFF0"/>
                </a:solidFill>
                <a:latin typeface="Century Gothic"/>
              </a:rPr>
              <a:t>Let's price your first curve.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3749039"/>
            <a:ext cx="914400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9AA6AB"/>
                </a:solidFill>
                <a:latin typeface="Segoe UI"/>
              </a:rPr>
              <a:t>We build the autonomous treasury one use case at a time, on the platform you already run.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" y="4553712"/>
            <a:ext cx="1828800" cy="41148"/>
          </a:xfrm>
          <a:prstGeom prst="rect">
            <a:avLst/>
          </a:prstGeom>
          <a:solidFill>
            <a:srgbClr val="C266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47548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00" b="0" i="0">
                <a:solidFill>
                  <a:srgbClr val="ECEFF0"/>
                </a:solidFill>
                <a:latin typeface="Segoe UI Semibold"/>
              </a:rPr>
              <a:t>Dirk Neumann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5084064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9AA6AB"/>
                </a:solidFill>
                <a:latin typeface="Segoe UI"/>
              </a:rPr>
              <a:t>dirk.neumann@brisken.com    ·    +1 936-777-4451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43153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9AA6AB"/>
                </a:solidFill>
                <a:latin typeface="Segoe UI"/>
              </a:rPr>
              <a:t>Brisken HQ, Houston, TX    ·    resources.brisken.com</a:t>
            </a:r>
          </a:p>
        </p:txBody>
      </p:sp>
      <p:pic>
        <p:nvPicPr>
          <p:cNvPr id="10" name="Picture 9" descr="brisken_revers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8580" y="6199632"/>
            <a:ext cx="1336186" cy="29260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