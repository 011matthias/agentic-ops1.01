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084831"/>
            <a:ext cx="7315200" cy="365760"/>
          </a:xfrm>
          <a:prstGeom prst="rect">
            <a:avLst/>
          </a:prstGeom>
          <a:noFill/>
        </p:spPr>
        <p:txBody>
          <a:bodyPr wrap="square" anchor="t" lIns="0" rIns="0" tIns="0" bIns="0">
            <a:noAutofit/>
          </a:bodyPr>
          <a:lstStyle/>
          <a:p>
            <a:pPr algn="l"/>
            <a:r>
              <a:rPr sz="1300" b="1" i="0" spc="320">
                <a:solidFill>
                  <a:srgbClr val="1B7A3D"/>
                </a:solidFill>
                <a:latin typeface="Segoe UI Semibold"/>
              </a:rPr>
              <a:t>TREASURYCENTRAL, POWERED BY ONEPILOT</a:t>
            </a:r>
          </a:p>
        </p:txBody>
      </p:sp>
      <p:sp>
        <p:nvSpPr>
          <p:cNvPr id="3" name="TextBox 2"/>
          <p:cNvSpPr txBox="1"/>
          <p:nvPr/>
        </p:nvSpPr>
        <p:spPr>
          <a:xfrm>
            <a:off x="548640" y="2505456"/>
            <a:ext cx="10515600" cy="2011680"/>
          </a:xfrm>
          <a:prstGeom prst="rect">
            <a:avLst/>
          </a:prstGeom>
          <a:noFill/>
        </p:spPr>
        <p:txBody>
          <a:bodyPr wrap="square" anchor="t" lIns="0" rIns="0" tIns="0" bIns="0">
            <a:noAutofit/>
          </a:bodyPr>
          <a:lstStyle/>
          <a:p>
            <a:pPr algn="l">
              <a:lnSpc>
                <a:spcPct val="98000"/>
              </a:lnSpc>
            </a:pPr>
            <a:r>
              <a:rPr sz="7200" b="0" i="0">
                <a:solidFill>
                  <a:srgbClr val="0F1417"/>
                </a:solidFill>
                <a:latin typeface="Century Gothic"/>
              </a:rPr>
              <a:t>Market Data Hub</a:t>
            </a:r>
          </a:p>
        </p:txBody>
      </p:sp>
      <p:sp>
        <p:nvSpPr>
          <p:cNvPr id="4" name="TextBox 3"/>
          <p:cNvSpPr txBox="1"/>
          <p:nvPr/>
        </p:nvSpPr>
        <p:spPr>
          <a:xfrm>
            <a:off x="566928" y="3968496"/>
            <a:ext cx="10058400" cy="822960"/>
          </a:xfrm>
          <a:prstGeom prst="rect">
            <a:avLst/>
          </a:prstGeom>
          <a:noFill/>
        </p:spPr>
        <p:txBody>
          <a:bodyPr wrap="square" anchor="t" lIns="0" rIns="0" tIns="0" bIns="0">
            <a:noAutofit/>
          </a:bodyPr>
          <a:lstStyle/>
          <a:p>
            <a:pPr algn="l"/>
            <a:r>
              <a:rPr sz="3000" b="0" i="0">
                <a:solidFill>
                  <a:srgbClr val="5B666B"/>
                </a:solidFill>
                <a:latin typeface="Century Gothic"/>
              </a:rPr>
              <a:t>A TreasuryCentral application</a:t>
            </a:r>
          </a:p>
        </p:txBody>
      </p:sp>
      <p:sp>
        <p:nvSpPr>
          <p:cNvPr id="5" name="Rectangle 4"/>
          <p:cNvSpPr/>
          <p:nvPr/>
        </p:nvSpPr>
        <p:spPr>
          <a:xfrm>
            <a:off x="585216" y="3913632"/>
            <a:ext cx="2011680" cy="411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828032"/>
            <a:ext cx="9144000" cy="457200"/>
          </a:xfrm>
          <a:prstGeom prst="rect">
            <a:avLst/>
          </a:prstGeom>
          <a:noFill/>
        </p:spPr>
        <p:txBody>
          <a:bodyPr wrap="square" anchor="t" lIns="0" rIns="0" tIns="0" bIns="0">
            <a:noAutofit/>
          </a:bodyPr>
          <a:lstStyle/>
          <a:p>
            <a:pPr algn="l"/>
            <a:r>
              <a:rPr sz="1600" b="0" i="0">
                <a:solidFill>
                  <a:srgbClr val="8A9599"/>
                </a:solidFill>
                <a:latin typeface="Segoe UI"/>
              </a:rPr>
              <a:t>Every rate you rely on, curated once, governed end to end.</a:t>
            </a:r>
          </a:p>
        </p:txBody>
      </p:sp>
      <p:pic>
        <p:nvPicPr>
          <p:cNvPr id="7" name="Picture 6" descr="brisken_dark.png"/>
          <p:cNvPicPr>
            <a:picLocks noChangeAspect="1"/>
          </p:cNvPicPr>
          <p:nvPr/>
        </p:nvPicPr>
        <p:blipFill>
          <a:blip r:embed="rId2"/>
          <a:stretch>
            <a:fillRect/>
          </a:stretch>
        </p:blipFill>
        <p:spPr>
          <a:xfrm>
            <a:off x="10205068" y="6163056"/>
            <a:ext cx="1419698" cy="310896"/>
          </a:xfrm>
          <a:prstGeom prst="rect">
            <a:avLst/>
          </a:prstGeom>
        </p:spPr>
      </p:pic>
      <p:sp>
        <p:nvSpPr>
          <p:cNvPr id="8" name="Rectangle 7"/>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THE SHORT VERSION</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800" b="0" i="0">
                <a:solidFill>
                  <a:srgbClr val="0F1417"/>
                </a:solidFill>
                <a:latin typeface="Century Gothic"/>
              </a:rPr>
              <a:t>One application, in four lines.</a:t>
            </a:r>
          </a:p>
        </p:txBody>
      </p:sp>
      <p:sp>
        <p:nvSpPr>
          <p:cNvPr id="4" name="Rounded Rectangle 3"/>
          <p:cNvSpPr/>
          <p:nvPr/>
        </p:nvSpPr>
        <p:spPr>
          <a:xfrm>
            <a:off x="566928"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6384" y="2569463"/>
            <a:ext cx="310896"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it is</a:t>
            </a:r>
          </a:p>
          <a:p>
            <a:pPr algn="l">
              <a:lnSpc>
                <a:spcPct val="114000"/>
              </a:lnSpc>
            </a:pPr>
            <a:r>
              <a:rPr sz="1350" b="0" i="0">
                <a:solidFill>
                  <a:srgbClr val="5B666B"/>
                </a:solidFill>
                <a:latin typeface="Segoe UI"/>
              </a:rPr>
              <a:t>Every rate and reference you rely on, from any source to every system. Curated once, governed end to end.</a:t>
            </a:r>
          </a:p>
        </p:txBody>
      </p:sp>
      <p:sp>
        <p:nvSpPr>
          <p:cNvPr id="7" name="Rounded Rectangle 6"/>
          <p:cNvSpPr/>
          <p:nvPr/>
        </p:nvSpPr>
        <p:spPr>
          <a:xfrm>
            <a:off x="3409111"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28567" y="2569463"/>
            <a:ext cx="310896"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8567"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it replaces</a:t>
            </a:r>
          </a:p>
          <a:p>
            <a:pPr algn="l">
              <a:lnSpc>
                <a:spcPct val="114000"/>
              </a:lnSpc>
            </a:pPr>
            <a:r>
              <a:rPr sz="1350" b="0" i="0">
                <a:solidFill>
                  <a:srgbClr val="5B666B"/>
                </a:solidFill>
                <a:latin typeface="Segoe UI"/>
              </a:rPr>
              <a:t>Rates lined up by hand from a dozen places; re-keying, fixing formats, chasing bad values.</a:t>
            </a:r>
          </a:p>
        </p:txBody>
      </p:sp>
      <p:sp>
        <p:nvSpPr>
          <p:cNvPr id="10" name="Rounded Rectangle 9"/>
          <p:cNvSpPr/>
          <p:nvPr/>
        </p:nvSpPr>
        <p:spPr>
          <a:xfrm>
            <a:off x="6251295"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0751" y="2569463"/>
            <a:ext cx="310896" cy="457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0751"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you get</a:t>
            </a:r>
          </a:p>
          <a:p>
            <a:pPr algn="l">
              <a:lnSpc>
                <a:spcPct val="114000"/>
              </a:lnSpc>
            </a:pPr>
            <a:r>
              <a:rPr sz="1350" b="0" i="0">
                <a:solidFill>
                  <a:srgbClr val="5B666B"/>
                </a:solidFill>
                <a:latin typeface="Segoe UI"/>
              </a:rPr>
              <a:t>One governed layer for SAP Treasury, with a full audit trail on every change.</a:t>
            </a:r>
          </a:p>
        </p:txBody>
      </p:sp>
      <p:sp>
        <p:nvSpPr>
          <p:cNvPr id="13" name="Rounded Rectangle 12"/>
          <p:cNvSpPr/>
          <p:nvPr/>
        </p:nvSpPr>
        <p:spPr>
          <a:xfrm>
            <a:off x="9093479"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12935" y="2569463"/>
            <a:ext cx="310896"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2935"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Who it is for</a:t>
            </a:r>
          </a:p>
          <a:p>
            <a:pPr algn="l">
              <a:lnSpc>
                <a:spcPct val="114000"/>
              </a:lnSpc>
            </a:pPr>
            <a:r>
              <a:rPr sz="1350" b="0" i="0">
                <a:solidFill>
                  <a:srgbClr val="5B666B"/>
                </a:solidFill>
                <a:latin typeface="Segoe UI"/>
              </a:rPr>
              <a:t>Treasury teams on SAP. The hub sits inside your landscape, not beside it.</a:t>
            </a:r>
          </a:p>
        </p:txBody>
      </p:sp>
      <p:sp>
        <p:nvSpPr>
          <p:cNvPr id="16" name="TextBox 15"/>
          <p:cNvSpPr txBox="1"/>
          <p:nvPr/>
        </p:nvSpPr>
        <p:spPr>
          <a:xfrm>
            <a:off x="566928" y="5532120"/>
            <a:ext cx="11057839" cy="365760"/>
          </a:xfrm>
          <a:prstGeom prst="rect">
            <a:avLst/>
          </a:prstGeom>
          <a:noFill/>
        </p:spPr>
        <p:txBody>
          <a:bodyPr wrap="square" anchor="t" lIns="0" rIns="0" tIns="0" bIns="0">
            <a:noAutofit/>
          </a:bodyPr>
          <a:lstStyle/>
          <a:p>
            <a:pPr algn="l"/>
            <a:r>
              <a:rPr sz="1400" b="0" i="1">
                <a:solidFill>
                  <a:srgbClr val="8A9599"/>
                </a:solidFill>
                <a:latin typeface="Segoe UI"/>
              </a:rPr>
              <a:t>The next page is where you are today.</a:t>
            </a:r>
          </a:p>
        </p:txBody>
      </p:sp>
      <p:sp>
        <p:nvSpPr>
          <p:cNvPr id="17" name="Rectangle 16"/>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9" name="TextBox 18"/>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01</a:t>
            </a:r>
          </a:p>
        </p:txBody>
      </p:sp>
      <p:sp>
        <p:nvSpPr>
          <p:cNvPr id="20" name="Rectangle 19"/>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THE PROBLEM</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Your rates live in a dozen places. Someone lines them up by hand.</a:t>
            </a:r>
          </a:p>
        </p:txBody>
      </p:sp>
      <p:sp>
        <p:nvSpPr>
          <p:cNvPr id="4" name="Rounded Rectangle 3"/>
          <p:cNvSpPr/>
          <p:nvPr/>
        </p:nvSpPr>
        <p:spPr>
          <a:xfrm>
            <a:off x="566928" y="2212848"/>
            <a:ext cx="11057839" cy="107899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377440"/>
            <a:ext cx="10472623" cy="274320"/>
          </a:xfrm>
          <a:prstGeom prst="rect">
            <a:avLst/>
          </a:prstGeom>
          <a:noFill/>
        </p:spPr>
        <p:txBody>
          <a:bodyPr wrap="square" anchor="t" lIns="0" rIns="0" tIns="0" bIns="0">
            <a:noAutofit/>
          </a:bodyPr>
          <a:lstStyle/>
          <a:p>
            <a:pPr algn="l"/>
            <a:r>
              <a:rPr sz="1100" b="0" i="0" spc="160">
                <a:solidFill>
                  <a:srgbClr val="1B7A3D"/>
                </a:solidFill>
                <a:latin typeface="Segoe UI Semibold"/>
              </a:rPr>
              <a:t>YOUR SOURCES</a:t>
            </a:r>
          </a:p>
        </p:txBody>
      </p:sp>
      <p:sp>
        <p:nvSpPr>
          <p:cNvPr id="6" name="TextBox 5"/>
          <p:cNvSpPr txBox="1"/>
          <p:nvPr/>
        </p:nvSpPr>
        <p:spPr>
          <a:xfrm>
            <a:off x="859536" y="2688336"/>
            <a:ext cx="10472623" cy="530352"/>
          </a:xfrm>
          <a:prstGeom prst="rect">
            <a:avLst/>
          </a:prstGeom>
          <a:noFill/>
        </p:spPr>
        <p:txBody>
          <a:bodyPr wrap="square" anchor="t" lIns="0" rIns="0" tIns="0" bIns="0">
            <a:noAutofit/>
          </a:bodyPr>
          <a:lstStyle/>
          <a:p>
            <a:pPr algn="l">
              <a:lnSpc>
                <a:spcPct val="118000"/>
              </a:lnSpc>
            </a:pPr>
            <a:r>
              <a:rPr sz="1400" b="0" i="0">
                <a:solidFill>
                  <a:srgbClr val="0F1417"/>
                </a:solidFill>
                <a:latin typeface="Segoe UI"/>
              </a:rPr>
              <a:t>Bloomberg, Refinitiv, 360T, OANDA, central banks, websites, anywhere.</a:t>
            </a:r>
          </a:p>
        </p:txBody>
      </p:sp>
      <p:sp>
        <p:nvSpPr>
          <p:cNvPr id="7" name="Rounded Rectangle 6"/>
          <p:cNvSpPr/>
          <p:nvPr/>
        </p:nvSpPr>
        <p:spPr>
          <a:xfrm>
            <a:off x="566928" y="3511296"/>
            <a:ext cx="11057839" cy="1078992"/>
          </a:xfrm>
          <a:prstGeom prst="roundRect">
            <a:avLst>
              <a:gd name="adj" fmla="val 5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3511296"/>
            <a:ext cx="73152" cy="107899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3675887"/>
            <a:ext cx="10472623" cy="274320"/>
          </a:xfrm>
          <a:prstGeom prst="rect">
            <a:avLst/>
          </a:prstGeom>
          <a:noFill/>
        </p:spPr>
        <p:txBody>
          <a:bodyPr wrap="square" anchor="t" lIns="0" rIns="0" tIns="0" bIns="0">
            <a:noAutofit/>
          </a:bodyPr>
          <a:lstStyle/>
          <a:p>
            <a:pPr algn="l"/>
            <a:r>
              <a:rPr sz="1100" b="0" i="0" spc="160">
                <a:solidFill>
                  <a:srgbClr val="27AE60"/>
                </a:solidFill>
                <a:latin typeface="Segoe UI Semibold"/>
              </a:rPr>
              <a:t>THE MANUAL MIDDLE</a:t>
            </a:r>
          </a:p>
        </p:txBody>
      </p:sp>
      <p:sp>
        <p:nvSpPr>
          <p:cNvPr id="10" name="TextBox 9"/>
          <p:cNvSpPr txBox="1"/>
          <p:nvPr/>
        </p:nvSpPr>
        <p:spPr>
          <a:xfrm>
            <a:off x="859536" y="3986783"/>
            <a:ext cx="10472623" cy="530352"/>
          </a:xfrm>
          <a:prstGeom prst="rect">
            <a:avLst/>
          </a:prstGeom>
          <a:noFill/>
        </p:spPr>
        <p:txBody>
          <a:bodyPr wrap="square" anchor="t" lIns="0" rIns="0" tIns="0" bIns="0">
            <a:noAutofit/>
          </a:bodyPr>
          <a:lstStyle/>
          <a:p>
            <a:pPr algn="l">
              <a:lnSpc>
                <a:spcPct val="118000"/>
              </a:lnSpc>
            </a:pPr>
            <a:r>
              <a:rPr sz="1400" b="0" i="0">
                <a:solidFill>
                  <a:srgbClr val="ECEFF0"/>
                </a:solidFill>
                <a:latin typeface="Segoe UI"/>
              </a:rPr>
              <a:t>Re-keying rates, fixing formats, chasing bad values, reconciling by hand, fearing month-end.</a:t>
            </a:r>
          </a:p>
        </p:txBody>
      </p:sp>
      <p:sp>
        <p:nvSpPr>
          <p:cNvPr id="11" name="Rounded Rectangle 10"/>
          <p:cNvSpPr/>
          <p:nvPr/>
        </p:nvSpPr>
        <p:spPr>
          <a:xfrm>
            <a:off x="566928" y="4809744"/>
            <a:ext cx="11057839" cy="107899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974336"/>
            <a:ext cx="10472623" cy="274320"/>
          </a:xfrm>
          <a:prstGeom prst="rect">
            <a:avLst/>
          </a:prstGeom>
          <a:noFill/>
        </p:spPr>
        <p:txBody>
          <a:bodyPr wrap="square" anchor="t" lIns="0" rIns="0" tIns="0" bIns="0">
            <a:noAutofit/>
          </a:bodyPr>
          <a:lstStyle/>
          <a:p>
            <a:pPr algn="l"/>
            <a:r>
              <a:rPr sz="1100" b="0" i="0" spc="160">
                <a:solidFill>
                  <a:srgbClr val="1B7A3D"/>
                </a:solidFill>
                <a:latin typeface="Segoe UI Semibold"/>
              </a:rPr>
              <a:t>YOUR SYSTEMS</a:t>
            </a:r>
          </a:p>
        </p:txBody>
      </p:sp>
      <p:sp>
        <p:nvSpPr>
          <p:cNvPr id="13" name="TextBox 12"/>
          <p:cNvSpPr txBox="1"/>
          <p:nvPr/>
        </p:nvSpPr>
        <p:spPr>
          <a:xfrm>
            <a:off x="859536" y="5285231"/>
            <a:ext cx="10472623" cy="530352"/>
          </a:xfrm>
          <a:prstGeom prst="rect">
            <a:avLst/>
          </a:prstGeom>
          <a:noFill/>
        </p:spPr>
        <p:txBody>
          <a:bodyPr wrap="square" anchor="t" lIns="0" rIns="0" tIns="0" bIns="0">
            <a:noAutofit/>
          </a:bodyPr>
          <a:lstStyle/>
          <a:p>
            <a:pPr algn="l">
              <a:lnSpc>
                <a:spcPct val="118000"/>
              </a:lnSpc>
            </a:pPr>
            <a:r>
              <a:rPr sz="1400" b="0" i="0">
                <a:solidFill>
                  <a:srgbClr val="0F1417"/>
                </a:solidFill>
                <a:latin typeface="Segoe UI"/>
              </a:rPr>
              <a:t>SAP, analytics, non-SAP apps, everywhere.</a:t>
            </a:r>
          </a:p>
        </p:txBody>
      </p:sp>
      <p:sp>
        <p:nvSpPr>
          <p:cNvPr id="14" name="TextBox 13"/>
          <p:cNvSpPr txBox="1"/>
          <p:nvPr/>
        </p:nvSpPr>
        <p:spPr>
          <a:xfrm>
            <a:off x="566928" y="5998464"/>
            <a:ext cx="11057839" cy="365760"/>
          </a:xfrm>
          <a:prstGeom prst="rect">
            <a:avLst/>
          </a:prstGeom>
          <a:noFill/>
        </p:spPr>
        <p:txBody>
          <a:bodyPr wrap="square" anchor="t" lIns="0" rIns="0" tIns="0" bIns="0">
            <a:noAutofit/>
          </a:bodyPr>
          <a:lstStyle/>
          <a:p>
            <a:pPr algn="l"/>
            <a:r>
              <a:rPr sz="1250" b="0" i="0">
                <a:solidFill>
                  <a:srgbClr val="8A9599"/>
                </a:solidFill>
                <a:latin typeface="Segoe UI"/>
              </a:rPr>
              <a:t>Sound familiar? Late nights stitching rates together, a month-end everyone dreads, and reports that never stay final.</a:t>
            </a:r>
          </a:p>
        </p:txBody>
      </p:sp>
      <p:sp>
        <p:nvSpPr>
          <p:cNvPr id="15" name="Rectangle 1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7" name="TextBox 1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02</a:t>
            </a:r>
          </a:p>
        </p:txBody>
      </p:sp>
      <p:sp>
        <p:nvSpPr>
          <p:cNvPr id="18" name="Rectangle 17"/>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WHERE IT SITS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One platform. Every application. Grounded in SAP.</a:t>
            </a:r>
          </a:p>
        </p:txBody>
      </p:sp>
      <p:sp>
        <p:nvSpPr>
          <p:cNvPr id="4" name="Rounded Rectangle 3"/>
          <p:cNvSpPr/>
          <p:nvPr/>
        </p:nvSpPr>
        <p:spPr>
          <a:xfrm>
            <a:off x="2926080" y="1938528"/>
            <a:ext cx="6339535" cy="713232"/>
          </a:xfrm>
          <a:prstGeom prst="roundRect">
            <a:avLst>
              <a:gd name="adj" fmla="val 12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0" y="1975104"/>
            <a:ext cx="6339535" cy="384048"/>
          </a:xfrm>
          <a:prstGeom prst="rect">
            <a:avLst/>
          </a:prstGeom>
          <a:noFill/>
        </p:spPr>
        <p:txBody>
          <a:bodyPr wrap="square" anchor="ctr" lIns="0" rIns="0" tIns="0" bIns="0">
            <a:noAutofit/>
          </a:bodyPr>
          <a:lstStyle/>
          <a:p>
            <a:pPr algn="ctr"/>
            <a:r>
              <a:rPr sz="2000" b="0" i="0">
                <a:solidFill>
                  <a:srgbClr val="FFFFFF"/>
                </a:solidFill>
                <a:latin typeface="Century Gothic"/>
              </a:rPr>
              <a:t>TreasuryCentral</a:t>
            </a:r>
          </a:p>
        </p:txBody>
      </p:sp>
      <p:sp>
        <p:nvSpPr>
          <p:cNvPr id="6" name="TextBox 5"/>
          <p:cNvSpPr txBox="1"/>
          <p:nvPr/>
        </p:nvSpPr>
        <p:spPr>
          <a:xfrm>
            <a:off x="2926080" y="2313432"/>
            <a:ext cx="6339535" cy="274320"/>
          </a:xfrm>
          <a:prstGeom prst="rect">
            <a:avLst/>
          </a:prstGeom>
          <a:noFill/>
        </p:spPr>
        <p:txBody>
          <a:bodyPr wrap="square" anchor="t" lIns="0" rIns="0" tIns="0" bIns="0">
            <a:noAutofit/>
          </a:bodyPr>
          <a:lstStyle/>
          <a:p>
            <a:pPr algn="ctr"/>
            <a:r>
              <a:rPr sz="1200" b="0" i="0">
                <a:solidFill>
                  <a:srgbClr val="EAFBFC"/>
                </a:solidFill>
                <a:latin typeface="Segoe UI"/>
              </a:rPr>
              <a:t>one workspace on OnePilot</a:t>
            </a:r>
          </a:p>
        </p:txBody>
      </p:sp>
      <p:sp>
        <p:nvSpPr>
          <p:cNvPr id="7" name="Rounded Rectangle 6"/>
          <p:cNvSpPr/>
          <p:nvPr/>
        </p:nvSpPr>
        <p:spPr>
          <a:xfrm>
            <a:off x="1554480" y="2889504"/>
            <a:ext cx="9082735" cy="1993392"/>
          </a:xfrm>
          <a:prstGeom prst="roundRect">
            <a:avLst>
              <a:gd name="adj" fmla="val 4500"/>
            </a:avLst>
          </a:prstGeom>
          <a:solidFill>
            <a:srgbClr val="F4F6F7"/>
          </a:solidFill>
          <a:ln w="19050">
            <a:solidFill>
              <a:srgbClr val="1B7A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035808"/>
            <a:ext cx="8534095" cy="310896"/>
          </a:xfrm>
          <a:prstGeom prst="rect">
            <a:avLst/>
          </a:prstGeom>
          <a:noFill/>
        </p:spPr>
        <p:txBody>
          <a:bodyPr wrap="square" anchor="t" lIns="0" rIns="0" tIns="0" bIns="0">
            <a:noAutofit/>
          </a:bodyPr>
          <a:lstStyle/>
          <a:p>
            <a:pPr algn="l"/>
            <a:r>
              <a:rPr sz="1500" b="0" i="0">
                <a:solidFill>
                  <a:srgbClr val="1B7A3D"/>
                </a:solidFill>
                <a:latin typeface="Century Gothic"/>
              </a:rPr>
              <a:t>OnePilot</a:t>
            </a:r>
          </a:p>
        </p:txBody>
      </p:sp>
      <p:sp>
        <p:nvSpPr>
          <p:cNvPr id="9" name="TextBox 8"/>
          <p:cNvSpPr txBox="1"/>
          <p:nvPr/>
        </p:nvSpPr>
        <p:spPr>
          <a:xfrm>
            <a:off x="1828800" y="3035808"/>
            <a:ext cx="8534095" cy="310896"/>
          </a:xfrm>
          <a:prstGeom prst="rect">
            <a:avLst/>
          </a:prstGeom>
          <a:noFill/>
        </p:spPr>
        <p:txBody>
          <a:bodyPr wrap="square" anchor="t" lIns="0" rIns="0" tIns="0" bIns="0">
            <a:noAutofit/>
          </a:bodyPr>
          <a:lstStyle/>
          <a:p>
            <a:pPr algn="r"/>
            <a:r>
              <a:rPr sz="1200" b="0" i="0">
                <a:solidFill>
                  <a:srgbClr val="5B666B"/>
                </a:solidFill>
                <a:latin typeface="Segoe UI"/>
              </a:rPr>
              <a:t>the platform underneath</a:t>
            </a:r>
          </a:p>
        </p:txBody>
      </p:sp>
      <p:sp>
        <p:nvSpPr>
          <p:cNvPr id="10" name="Rounded Rectangle 9"/>
          <p:cNvSpPr/>
          <p:nvPr/>
        </p:nvSpPr>
        <p:spPr>
          <a:xfrm>
            <a:off x="1883664" y="3493008"/>
            <a:ext cx="1914067" cy="1280160"/>
          </a:xfrm>
          <a:prstGeom prst="roundRect">
            <a:avLst>
              <a:gd name="adj" fmla="val 9000"/>
            </a:avLst>
          </a:prstGeom>
          <a:solidFill>
            <a:srgbClr val="FFFFFF"/>
          </a:solidFill>
          <a:ln w="25400">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4832" y="3712464"/>
            <a:ext cx="292608" cy="457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84832"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Market Data Hub</a:t>
            </a:r>
          </a:p>
        </p:txBody>
      </p:sp>
      <p:sp>
        <p:nvSpPr>
          <p:cNvPr id="13" name="TextBox 12"/>
          <p:cNvSpPr txBox="1"/>
          <p:nvPr/>
        </p:nvSpPr>
        <p:spPr>
          <a:xfrm>
            <a:off x="2084832"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market truth</a:t>
            </a:r>
          </a:p>
        </p:txBody>
      </p:sp>
      <p:sp>
        <p:nvSpPr>
          <p:cNvPr id="14" name="Rounded Rectangle 13"/>
          <p:cNvSpPr/>
          <p:nvPr/>
        </p:nvSpPr>
        <p:spPr>
          <a:xfrm>
            <a:off x="4053763" y="3493008"/>
            <a:ext cx="1914067" cy="1280160"/>
          </a:xfrm>
          <a:prstGeom prst="roundRect">
            <a:avLst>
              <a:gd name="adj" fmla="val 9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4931" y="3712464"/>
            <a:ext cx="292608"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4931"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Brisken Smart Trading</a:t>
            </a:r>
          </a:p>
        </p:txBody>
      </p:sp>
      <p:sp>
        <p:nvSpPr>
          <p:cNvPr id="17" name="TextBox 16"/>
          <p:cNvSpPr txBox="1"/>
          <p:nvPr/>
        </p:nvSpPr>
        <p:spPr>
          <a:xfrm>
            <a:off x="42549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autonomous trading</a:t>
            </a:r>
          </a:p>
        </p:txBody>
      </p:sp>
      <p:sp>
        <p:nvSpPr>
          <p:cNvPr id="18" name="Rounded Rectangle 17"/>
          <p:cNvSpPr/>
          <p:nvPr/>
        </p:nvSpPr>
        <p:spPr>
          <a:xfrm>
            <a:off x="6223863" y="3493008"/>
            <a:ext cx="1914067" cy="1280160"/>
          </a:xfrm>
          <a:prstGeom prst="roundRect">
            <a:avLst>
              <a:gd name="adj" fmla="val 9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25031" y="3712464"/>
            <a:ext cx="292608"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Digital Co-Worker</a:t>
            </a:r>
          </a:p>
        </p:txBody>
      </p:sp>
      <p:sp>
        <p:nvSpPr>
          <p:cNvPr id="21" name="TextBox 20"/>
          <p:cNvSpPr txBox="1"/>
          <p:nvPr/>
        </p:nvSpPr>
        <p:spPr>
          <a:xfrm>
            <a:off x="64250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the manual middle</a:t>
            </a:r>
          </a:p>
        </p:txBody>
      </p:sp>
      <p:sp>
        <p:nvSpPr>
          <p:cNvPr id="22" name="Rounded Rectangle 21"/>
          <p:cNvSpPr/>
          <p:nvPr/>
        </p:nvSpPr>
        <p:spPr>
          <a:xfrm>
            <a:off x="8393963" y="3493008"/>
            <a:ext cx="1914067" cy="1280160"/>
          </a:xfrm>
          <a:prstGeom prst="roundRect">
            <a:avLst>
              <a:gd name="adj" fmla="val 9000"/>
            </a:avLst>
          </a:prstGeom>
          <a:noFill/>
          <a:ln w="15875">
            <a:solidFill>
              <a:srgbClr val="1B7A3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131" y="3712464"/>
            <a:ext cx="292608"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131" y="3877056"/>
            <a:ext cx="1511731" cy="640080"/>
          </a:xfrm>
          <a:prstGeom prst="rect">
            <a:avLst/>
          </a:prstGeom>
          <a:noFill/>
        </p:spPr>
        <p:txBody>
          <a:bodyPr wrap="square" anchor="t" lIns="0" rIns="0" tIns="0" bIns="0">
            <a:noAutofit/>
          </a:bodyPr>
          <a:lstStyle/>
          <a:p>
            <a:pPr algn="l"/>
            <a:r>
              <a:rPr sz="1350" b="1" i="0">
                <a:solidFill>
                  <a:srgbClr val="1B7A3D"/>
                </a:solidFill>
                <a:latin typeface="Segoe UI Semibold"/>
              </a:rPr>
              <a:t>+ your own apps</a:t>
            </a:r>
          </a:p>
        </p:txBody>
      </p:sp>
      <p:sp>
        <p:nvSpPr>
          <p:cNvPr id="25" name="TextBox 24"/>
          <p:cNvSpPr txBox="1"/>
          <p:nvPr/>
        </p:nvSpPr>
        <p:spPr>
          <a:xfrm>
            <a:off x="85951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an open platform</a:t>
            </a:r>
          </a:p>
        </p:txBody>
      </p:sp>
      <p:sp>
        <p:nvSpPr>
          <p:cNvPr id="26" name="TextBox 25"/>
          <p:cNvSpPr txBox="1"/>
          <p:nvPr/>
        </p:nvSpPr>
        <p:spPr>
          <a:xfrm>
            <a:off x="1554480" y="4937760"/>
            <a:ext cx="9082735" cy="219456"/>
          </a:xfrm>
          <a:prstGeom prst="rect">
            <a:avLst/>
          </a:prstGeom>
          <a:noFill/>
        </p:spPr>
        <p:txBody>
          <a:bodyPr wrap="square" anchor="t" lIns="0" rIns="0" tIns="0" bIns="0">
            <a:noAutofit/>
          </a:bodyPr>
          <a:lstStyle/>
          <a:p>
            <a:pPr algn="ctr"/>
            <a:r>
              <a:rPr sz="1150" b="0" i="1">
                <a:solidFill>
                  <a:srgbClr val="8A9599"/>
                </a:solidFill>
                <a:latin typeface="Segoe UI"/>
              </a:rPr>
              <a:t>OnePilot connects your SAP and non-SAP systems alike.</a:t>
            </a:r>
          </a:p>
        </p:txBody>
      </p:sp>
      <p:sp>
        <p:nvSpPr>
          <p:cNvPr id="27" name="Rounded Rectangle 26"/>
          <p:cNvSpPr/>
          <p:nvPr/>
        </p:nvSpPr>
        <p:spPr>
          <a:xfrm>
            <a:off x="2926080" y="5193792"/>
            <a:ext cx="6339535" cy="658368"/>
          </a:xfrm>
          <a:prstGeom prst="roundRect">
            <a:avLst>
              <a:gd name="adj" fmla="val 12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0" y="5193792"/>
            <a:ext cx="6339535" cy="658368"/>
          </a:xfrm>
          <a:prstGeom prst="rect">
            <a:avLst/>
          </a:prstGeom>
          <a:noFill/>
        </p:spPr>
        <p:txBody>
          <a:bodyPr wrap="square" anchor="ctr" lIns="0" rIns="0" tIns="0" bIns="0">
            <a:noAutofit/>
          </a:bodyPr>
          <a:lstStyle/>
          <a:p>
            <a:pPr algn="ctr"/>
            <a:r>
              <a:rPr sz="1400" b="0" i="0">
                <a:solidFill>
                  <a:srgbClr val="ECEFF0"/>
                </a:solidFill>
                <a:latin typeface="Segoe UI Semibold"/>
              </a:rPr>
              <a:t>SAP   ·   your book of records, grounded</a:t>
            </a:r>
          </a:p>
        </p:txBody>
      </p:sp>
      <p:sp>
        <p:nvSpPr>
          <p:cNvPr id="29" name="TextBox 28"/>
          <p:cNvSpPr txBox="1"/>
          <p:nvPr/>
        </p:nvSpPr>
        <p:spPr>
          <a:xfrm>
            <a:off x="566928" y="5943600"/>
            <a:ext cx="11057839" cy="274320"/>
          </a:xfrm>
          <a:prstGeom prst="rect">
            <a:avLst/>
          </a:prstGeom>
          <a:noFill/>
        </p:spPr>
        <p:txBody>
          <a:bodyPr wrap="square" anchor="t" lIns="0" rIns="0" tIns="0" bIns="0">
            <a:noAutofit/>
          </a:bodyPr>
          <a:lstStyle/>
          <a:p>
            <a:pPr algn="ctr"/>
            <a:r>
              <a:rPr sz="1200" b="0" i="0">
                <a:solidFill>
                  <a:srgbClr val="8A9599"/>
                </a:solidFill>
                <a:latin typeface="Segoe UI"/>
              </a:rPr>
              <a:t>Market Data Hub runs as an application inside TreasuryCentral, the shipped edition of OnePilot. OnePilot runs in production across financial services, chemicals, food &amp; drink, oil &amp; gas, commodity and agricultural treasuries.</a:t>
            </a:r>
          </a:p>
        </p:txBody>
      </p:sp>
      <p:sp>
        <p:nvSpPr>
          <p:cNvPr id="30" name="Rectangle 29"/>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2" name="TextBox 31"/>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03</a:t>
            </a:r>
          </a:p>
        </p:txBody>
      </p:sp>
      <p:sp>
        <p:nvSpPr>
          <p:cNvPr id="33" name="Rectangle 32"/>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MARKET DATA HUB</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One source for every rate you rely on.</a:t>
            </a:r>
          </a:p>
        </p:txBody>
      </p:sp>
      <p:sp>
        <p:nvSpPr>
          <p:cNvPr id="4" name="TextBox 3"/>
          <p:cNvSpPr txBox="1"/>
          <p:nvPr/>
        </p:nvSpPr>
        <p:spPr>
          <a:xfrm>
            <a:off x="566928" y="1755648"/>
            <a:ext cx="10424160" cy="457200"/>
          </a:xfrm>
          <a:prstGeom prst="rect">
            <a:avLst/>
          </a:prstGeom>
          <a:noFill/>
        </p:spPr>
        <p:txBody>
          <a:bodyPr wrap="square" anchor="t" lIns="0" rIns="0" tIns="0" bIns="0">
            <a:noAutofit/>
          </a:bodyPr>
          <a:lstStyle/>
          <a:p>
            <a:pPr algn="l">
              <a:lnSpc>
                <a:spcPct val="118000"/>
              </a:lnSpc>
            </a:pPr>
            <a:r>
              <a:rPr sz="1450" b="0" i="1">
                <a:solidFill>
                  <a:srgbClr val="5B666B"/>
                </a:solidFill>
                <a:latin typeface="Segoe UI"/>
              </a:rPr>
              <a:t>Market data means the FX and interest rates, commodity prices and credit ratings a treasury runs on. Today they arrive from a dozen places.</a:t>
            </a:r>
          </a:p>
        </p:txBody>
      </p:sp>
      <p:sp>
        <p:nvSpPr>
          <p:cNvPr id="5" name="Rounded Rectangle 4"/>
          <p:cNvSpPr/>
          <p:nvPr/>
        </p:nvSpPr>
        <p:spPr>
          <a:xfrm>
            <a:off x="566928"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4672" y="2542032"/>
            <a:ext cx="329184"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THE PROBLEM IT REMOVES</a:t>
            </a:r>
          </a:p>
        </p:txBody>
      </p:sp>
      <p:sp>
        <p:nvSpPr>
          <p:cNvPr id="8" name="TextBox 7"/>
          <p:cNvSpPr txBox="1"/>
          <p:nvPr/>
        </p:nvSpPr>
        <p:spPr>
          <a:xfrm>
            <a:off x="804672"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Your rates live in a dozen places, lined up by hand.</a:t>
            </a:r>
          </a:p>
          <a:p>
            <a:pPr algn="l">
              <a:lnSpc>
                <a:spcPct val="118000"/>
              </a:lnSpc>
              <a:spcAft>
                <a:spcPts val="800"/>
              </a:spcAft>
            </a:pPr>
            <a:r>
              <a:rPr sz="1300" b="0" i="0">
                <a:solidFill>
                  <a:srgbClr val="5B666B"/>
                </a:solidFill>
                <a:latin typeface="Segoe UI"/>
              </a:rPr>
              <a:t>Re-keying, fixing formats, chasing bad values, reconciling before month-end.</a:t>
            </a:r>
          </a:p>
        </p:txBody>
      </p:sp>
      <p:sp>
        <p:nvSpPr>
          <p:cNvPr id="9" name="Rounded Rectangle 8"/>
          <p:cNvSpPr/>
          <p:nvPr/>
        </p:nvSpPr>
        <p:spPr>
          <a:xfrm>
            <a:off x="4356506"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94250" y="2542032"/>
            <a:ext cx="329184" cy="457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4250"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IT DOES, STEP BY STEP</a:t>
            </a:r>
          </a:p>
        </p:txBody>
      </p:sp>
      <p:sp>
        <p:nvSpPr>
          <p:cNvPr id="12" name="TextBox 11"/>
          <p:cNvSpPr txBox="1"/>
          <p:nvPr/>
        </p:nvSpPr>
        <p:spPr>
          <a:xfrm>
            <a:off x="4594250" y="3310128"/>
            <a:ext cx="3003194" cy="1810511"/>
          </a:xfrm>
          <a:prstGeom prst="rect">
            <a:avLst/>
          </a:prstGeom>
          <a:noFill/>
        </p:spPr>
        <p:txBody>
          <a:bodyPr wrap="square" anchor="t" lIns="0" rIns="0" tIns="0" bIns="0">
            <a:noAutofit/>
          </a:bodyPr>
          <a:lstStyle/>
          <a:p>
            <a:pPr algn="l">
              <a:lnSpc>
                <a:spcPct val="112000"/>
              </a:lnSpc>
              <a:spcAft>
                <a:spcPts val="600"/>
              </a:spcAft>
            </a:pPr>
            <a:r>
              <a:rPr sz="1250" b="0" i="0">
                <a:solidFill>
                  <a:srgbClr val="5B666B"/>
                </a:solidFill>
                <a:latin typeface="Segoe UI"/>
              </a:rPr>
              <a:t>1   Pulls every rate from any source: Bloomberg, Refinitiv, 360T, OANDA, central banks.</a:t>
            </a:r>
          </a:p>
          <a:p>
            <a:pPr algn="l">
              <a:lnSpc>
                <a:spcPct val="112000"/>
              </a:lnSpc>
              <a:spcAft>
                <a:spcPts val="600"/>
              </a:spcAft>
            </a:pPr>
            <a:r>
              <a:rPr sz="1250" b="0" i="0">
                <a:solidFill>
                  <a:srgbClr val="5B666B"/>
                </a:solidFill>
                <a:latin typeface="Segoe UI"/>
              </a:rPr>
              <a:t>2   Checks each value on arrival for anomalies, completeness and accuracy.</a:t>
            </a:r>
          </a:p>
          <a:p>
            <a:pPr algn="l">
              <a:lnSpc>
                <a:spcPct val="112000"/>
              </a:lnSpc>
              <a:spcAft>
                <a:spcPts val="600"/>
              </a:spcAft>
            </a:pPr>
            <a:r>
              <a:rPr sz="1250" b="0" i="0">
                <a:solidFill>
                  <a:srgbClr val="5B666B"/>
                </a:solidFill>
                <a:latin typeface="Segoe UI"/>
              </a:rPr>
              <a:t>3   Calculates and shapes it: inversions, triangulation, your own formulas.</a:t>
            </a:r>
          </a:p>
          <a:p>
            <a:pPr algn="l">
              <a:lnSpc>
                <a:spcPct val="112000"/>
              </a:lnSpc>
              <a:spcAft>
                <a:spcPts val="600"/>
              </a:spcAft>
            </a:pPr>
            <a:r>
              <a:rPr sz="1250" b="0" i="0">
                <a:solidFill>
                  <a:srgbClr val="5B666B"/>
                </a:solidFill>
                <a:latin typeface="Segoe UI"/>
              </a:rPr>
              <a:t>4   Pushes it into SAP and non-SAP systems, on schedule or on demand.</a:t>
            </a:r>
          </a:p>
        </p:txBody>
      </p:sp>
      <p:sp>
        <p:nvSpPr>
          <p:cNvPr id="13" name="Rounded Rectangle 12"/>
          <p:cNvSpPr/>
          <p:nvPr/>
        </p:nvSpPr>
        <p:spPr>
          <a:xfrm>
            <a:off x="8146084"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3828" y="2542032"/>
            <a:ext cx="329184"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3828"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YOU NO LONGER DO BY HAND</a:t>
            </a:r>
          </a:p>
        </p:txBody>
      </p:sp>
      <p:sp>
        <p:nvSpPr>
          <p:cNvPr id="16" name="TextBox 15"/>
          <p:cNvSpPr txBox="1"/>
          <p:nvPr/>
        </p:nvSpPr>
        <p:spPr>
          <a:xfrm>
            <a:off x="8383828"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Re-keying rates and fixing formats.</a:t>
            </a:r>
          </a:p>
          <a:p>
            <a:pPr algn="l">
              <a:lnSpc>
                <a:spcPct val="118000"/>
              </a:lnSpc>
              <a:spcAft>
                <a:spcPts val="800"/>
              </a:spcAft>
            </a:pPr>
            <a:r>
              <a:rPr sz="1300" b="0" i="0">
                <a:solidFill>
                  <a:srgbClr val="5B666B"/>
                </a:solidFill>
                <a:latin typeface="Segoe UI"/>
              </a:rPr>
              <a:t>Chasing bad values and reconciling by hand.</a:t>
            </a:r>
          </a:p>
          <a:p>
            <a:pPr algn="l">
              <a:lnSpc>
                <a:spcPct val="118000"/>
              </a:lnSpc>
              <a:spcAft>
                <a:spcPts val="800"/>
              </a:spcAft>
            </a:pPr>
            <a:r>
              <a:rPr sz="1300" b="0" i="0">
                <a:solidFill>
                  <a:srgbClr val="5B666B"/>
                </a:solidFill>
                <a:latin typeface="Segoe UI"/>
              </a:rPr>
              <a:t>Assembling the audit trail by hand.</a:t>
            </a:r>
          </a:p>
          <a:p>
            <a:pPr algn="l">
              <a:lnSpc>
                <a:spcPct val="118000"/>
              </a:lnSpc>
              <a:spcAft>
                <a:spcPts val="800"/>
              </a:spcAft>
            </a:pPr>
            <a:r>
              <a:rPr sz="1300" b="0" i="0">
                <a:solidFill>
                  <a:srgbClr val="5B666B"/>
                </a:solidFill>
                <a:latin typeface="Segoe UI"/>
              </a:rPr>
              <a:t>The month-end everyone dreads.</a:t>
            </a:r>
          </a:p>
        </p:txBody>
      </p:sp>
      <p:sp>
        <p:nvSpPr>
          <p:cNvPr id="17" name="Rounded Rectangle 16"/>
          <p:cNvSpPr/>
          <p:nvPr/>
        </p:nvSpPr>
        <p:spPr>
          <a:xfrm>
            <a:off x="566928" y="5468112"/>
            <a:ext cx="11057839" cy="548640"/>
          </a:xfrm>
          <a:prstGeom prst="roundRect">
            <a:avLst>
              <a:gd name="adj" fmla="val 8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468112"/>
            <a:ext cx="10509199" cy="548640"/>
          </a:xfrm>
          <a:prstGeom prst="rect">
            <a:avLst/>
          </a:prstGeom>
          <a:noFill/>
        </p:spPr>
        <p:txBody>
          <a:bodyPr wrap="square" anchor="ctr" lIns="0" rIns="0" tIns="0" bIns="0">
            <a:noAutofit/>
          </a:bodyPr>
          <a:lstStyle/>
          <a:p>
            <a:pPr algn="l">
              <a:lnSpc>
                <a:spcPct val="105000"/>
              </a:lnSpc>
            </a:pPr>
            <a:r>
              <a:rPr sz="1150" b="0" i="0">
                <a:solidFill>
                  <a:srgbClr val="ECEFF0"/>
                </a:solidFill>
                <a:latin typeface="Segoe UI"/>
              </a:rPr>
              <a:t>CONNECTS TO   Bloomberg · Refinitiv · 360T · OANDA · central banks  →  SAP ECC &amp; S/4HANA, non-SAP systems   ·   via API, OData, SFTP, email, Excel add-in</a:t>
            </a:r>
          </a:p>
        </p:txBody>
      </p:sp>
      <p:sp>
        <p:nvSpPr>
          <p:cNvPr id="19" name="Rectangle 18"/>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1" name="TextBox 20"/>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04</a:t>
            </a:r>
          </a:p>
        </p:txBody>
      </p:sp>
      <p:sp>
        <p:nvSpPr>
          <p:cNvPr id="22" name="Rectangle 21"/>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MARKET DATA HUB · FUNCTIONAL OVERVIEW</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Market data, into your SAP context.</a:t>
            </a:r>
          </a:p>
        </p:txBody>
      </p:sp>
      <p:sp>
        <p:nvSpPr>
          <p:cNvPr id="4" name="TextBox 3"/>
          <p:cNvSpPr txBox="1"/>
          <p:nvPr/>
        </p:nvSpPr>
        <p:spPr>
          <a:xfrm>
            <a:off x="566928" y="2020824"/>
            <a:ext cx="2743200" cy="274320"/>
          </a:xfrm>
          <a:prstGeom prst="rect">
            <a:avLst/>
          </a:prstGeom>
          <a:noFill/>
        </p:spPr>
        <p:txBody>
          <a:bodyPr wrap="square" anchor="t" lIns="0" rIns="0" tIns="0" bIns="0">
            <a:noAutofit/>
          </a:bodyPr>
          <a:lstStyle/>
          <a:p>
            <a:pPr algn="ctr"/>
            <a:r>
              <a:rPr sz="1050" b="0" i="0" spc="200">
                <a:solidFill>
                  <a:srgbClr val="8A9599"/>
                </a:solidFill>
                <a:latin typeface="Segoe UI Semibold"/>
              </a:rPr>
              <a:t>SOURCES</a:t>
            </a:r>
          </a:p>
        </p:txBody>
      </p:sp>
      <p:sp>
        <p:nvSpPr>
          <p:cNvPr id="5" name="TextBox 4"/>
          <p:cNvSpPr txBox="1"/>
          <p:nvPr/>
        </p:nvSpPr>
        <p:spPr>
          <a:xfrm>
            <a:off x="9189720" y="2020824"/>
            <a:ext cx="2435047" cy="274320"/>
          </a:xfrm>
          <a:prstGeom prst="rect">
            <a:avLst/>
          </a:prstGeom>
          <a:noFill/>
        </p:spPr>
        <p:txBody>
          <a:bodyPr wrap="square" anchor="t" lIns="0" rIns="0" tIns="0" bIns="0">
            <a:noAutofit/>
          </a:bodyPr>
          <a:lstStyle/>
          <a:p>
            <a:pPr algn="ctr"/>
            <a:r>
              <a:rPr sz="1050" b="0" i="0" spc="200">
                <a:solidFill>
                  <a:srgbClr val="8A9599"/>
                </a:solidFill>
                <a:latin typeface="Segoe UI Semibold"/>
              </a:rPr>
              <a:t>DESTINATIONS</a:t>
            </a:r>
          </a:p>
        </p:txBody>
      </p:sp>
      <p:sp>
        <p:nvSpPr>
          <p:cNvPr id="6" name="Rounded Rectangle 5"/>
          <p:cNvSpPr/>
          <p:nvPr/>
        </p:nvSpPr>
        <p:spPr>
          <a:xfrm>
            <a:off x="566928" y="2331720"/>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2331720"/>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Bloomberg, Refinitiv, 360T</a:t>
            </a:r>
          </a:p>
        </p:txBody>
      </p:sp>
      <p:sp>
        <p:nvSpPr>
          <p:cNvPr id="8" name="Rounded Rectangle 7"/>
          <p:cNvSpPr/>
          <p:nvPr/>
        </p:nvSpPr>
        <p:spPr>
          <a:xfrm>
            <a:off x="566928" y="3087624"/>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3087624"/>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Central banks &amp; agencies</a:t>
            </a:r>
          </a:p>
        </p:txBody>
      </p:sp>
      <p:sp>
        <p:nvSpPr>
          <p:cNvPr id="10" name="Rounded Rectangle 9"/>
          <p:cNvSpPr/>
          <p:nvPr/>
        </p:nvSpPr>
        <p:spPr>
          <a:xfrm>
            <a:off x="566928" y="3843528"/>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843528"/>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Exchanges &amp; aggregators</a:t>
            </a:r>
          </a:p>
        </p:txBody>
      </p:sp>
      <p:sp>
        <p:nvSpPr>
          <p:cNvPr id="12" name="Rounded Rectangle 11"/>
          <p:cNvSpPr/>
          <p:nvPr/>
        </p:nvSpPr>
        <p:spPr>
          <a:xfrm>
            <a:off x="566928" y="4599431"/>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4599431"/>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Websites &amp; internal sources</a:t>
            </a:r>
          </a:p>
        </p:txBody>
      </p:sp>
      <p:sp>
        <p:nvSpPr>
          <p:cNvPr id="14" name="Rounded Rectangle 13"/>
          <p:cNvSpPr/>
          <p:nvPr/>
        </p:nvSpPr>
        <p:spPr>
          <a:xfrm>
            <a:off x="9189720" y="2331720"/>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99448" y="2331720"/>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ECC &amp; S/4HANA</a:t>
            </a:r>
          </a:p>
        </p:txBody>
      </p:sp>
      <p:sp>
        <p:nvSpPr>
          <p:cNvPr id="16" name="Rounded Rectangle 15"/>
          <p:cNvSpPr/>
          <p:nvPr/>
        </p:nvSpPr>
        <p:spPr>
          <a:xfrm>
            <a:off x="9189720" y="3087624"/>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3087624"/>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Exposure &amp; risk systems</a:t>
            </a:r>
          </a:p>
        </p:txBody>
      </p:sp>
      <p:sp>
        <p:nvSpPr>
          <p:cNvPr id="18" name="Rounded Rectangle 17"/>
          <p:cNvSpPr/>
          <p:nvPr/>
        </p:nvSpPr>
        <p:spPr>
          <a:xfrm>
            <a:off x="9189720" y="3843528"/>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3843528"/>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Analytics &amp; databases</a:t>
            </a:r>
          </a:p>
        </p:txBody>
      </p:sp>
      <p:sp>
        <p:nvSpPr>
          <p:cNvPr id="20" name="Rounded Rectangle 19"/>
          <p:cNvSpPr/>
          <p:nvPr/>
        </p:nvSpPr>
        <p:spPr>
          <a:xfrm>
            <a:off x="9189720" y="4599431"/>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4599431"/>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Non-SAP systems</a:t>
            </a:r>
          </a:p>
        </p:txBody>
      </p:sp>
      <p:sp>
        <p:nvSpPr>
          <p:cNvPr id="22" name="Rounded Rectangle 21"/>
          <p:cNvSpPr/>
          <p:nvPr/>
        </p:nvSpPr>
        <p:spPr>
          <a:xfrm>
            <a:off x="3977639" y="2468879"/>
            <a:ext cx="4251960" cy="2560320"/>
          </a:xfrm>
          <a:prstGeom prst="roundRect">
            <a:avLst>
              <a:gd name="adj" fmla="val 5000"/>
            </a:avLst>
          </a:prstGeom>
          <a:solidFill>
            <a:srgbClr val="FFFFFF"/>
          </a:solidFill>
          <a:ln w="25400">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59" y="2788920"/>
            <a:ext cx="3703320" cy="457200"/>
          </a:xfrm>
          <a:prstGeom prst="rect">
            <a:avLst/>
          </a:prstGeom>
          <a:noFill/>
        </p:spPr>
        <p:txBody>
          <a:bodyPr wrap="square" anchor="t" lIns="0" rIns="0" tIns="0" bIns="0">
            <a:noAutofit/>
          </a:bodyPr>
          <a:lstStyle/>
          <a:p>
            <a:pPr algn="ctr"/>
            <a:r>
              <a:rPr sz="1100" b="0" i="0" spc="200">
                <a:solidFill>
                  <a:srgbClr val="1B7A3D"/>
                </a:solidFill>
                <a:latin typeface="Segoe UI Semibold"/>
              </a:rPr>
              <a:t>BRISKEN</a:t>
            </a:r>
          </a:p>
        </p:txBody>
      </p:sp>
      <p:sp>
        <p:nvSpPr>
          <p:cNvPr id="24" name="TextBox 23"/>
          <p:cNvSpPr txBox="1"/>
          <p:nvPr/>
        </p:nvSpPr>
        <p:spPr>
          <a:xfrm>
            <a:off x="4251959" y="3118103"/>
            <a:ext cx="3703320" cy="640080"/>
          </a:xfrm>
          <a:prstGeom prst="rect">
            <a:avLst/>
          </a:prstGeom>
          <a:noFill/>
        </p:spPr>
        <p:txBody>
          <a:bodyPr wrap="square" anchor="t" lIns="0" rIns="0" tIns="0" bIns="0">
            <a:noAutofit/>
          </a:bodyPr>
          <a:lstStyle/>
          <a:p>
            <a:pPr algn="ctr">
              <a:lnSpc>
                <a:spcPct val="100000"/>
              </a:lnSpc>
            </a:pPr>
            <a:r>
              <a:rPr sz="2100" b="0" i="0">
                <a:solidFill>
                  <a:srgbClr val="0F1417"/>
                </a:solidFill>
                <a:latin typeface="Century Gothic"/>
              </a:rPr>
              <a:t>Market Data Hub</a:t>
            </a:r>
          </a:p>
        </p:txBody>
      </p:sp>
      <p:sp>
        <p:nvSpPr>
          <p:cNvPr id="25" name="TextBox 24"/>
          <p:cNvSpPr txBox="1"/>
          <p:nvPr/>
        </p:nvSpPr>
        <p:spPr>
          <a:xfrm>
            <a:off x="4251959" y="3813048"/>
            <a:ext cx="3703320" cy="310896"/>
          </a:xfrm>
          <a:prstGeom prst="rect">
            <a:avLst/>
          </a:prstGeom>
          <a:noFill/>
        </p:spPr>
        <p:txBody>
          <a:bodyPr wrap="square" anchor="t" lIns="0" rIns="0" tIns="0" bIns="0">
            <a:noAutofit/>
          </a:bodyPr>
          <a:lstStyle/>
          <a:p>
            <a:pPr algn="ctr"/>
            <a:r>
              <a:rPr sz="1250" b="0" i="0">
                <a:solidFill>
                  <a:srgbClr val="5B666B"/>
                </a:solidFill>
                <a:latin typeface="Segoe UI"/>
              </a:rPr>
              <a:t>on SAP's own cloud  ·  governed end to end</a:t>
            </a:r>
          </a:p>
        </p:txBody>
      </p:sp>
      <p:sp>
        <p:nvSpPr>
          <p:cNvPr id="26" name="Rounded Rectangle 25"/>
          <p:cNvSpPr/>
          <p:nvPr/>
        </p:nvSpPr>
        <p:spPr>
          <a:xfrm>
            <a:off x="4343400" y="4215383"/>
            <a:ext cx="3520440" cy="603504"/>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215383"/>
            <a:ext cx="3337560" cy="603504"/>
          </a:xfrm>
          <a:prstGeom prst="rect">
            <a:avLst/>
          </a:prstGeom>
          <a:noFill/>
        </p:spPr>
        <p:txBody>
          <a:bodyPr wrap="square" anchor="ctr" lIns="0" rIns="0" tIns="0" bIns="0">
            <a:noAutofit/>
          </a:bodyPr>
          <a:lstStyle/>
          <a:p>
            <a:pPr algn="ctr">
              <a:lnSpc>
                <a:spcPct val="110000"/>
              </a:lnSpc>
            </a:pPr>
            <a:r>
              <a:rPr sz="1050" b="0" i="0">
                <a:solidFill>
                  <a:srgbClr val="5B666B"/>
                </a:solidFill>
                <a:latin typeface="Segoe UI"/>
              </a:rPr>
              <a:t>Audit trail · segregation of duty · anomaly alerts · person-in-the-loop</a:t>
            </a:r>
          </a:p>
        </p:txBody>
      </p:sp>
      <p:sp>
        <p:nvSpPr>
          <p:cNvPr id="28" name="Right Arrow 27"/>
          <p:cNvSpPr/>
          <p:nvPr/>
        </p:nvSpPr>
        <p:spPr>
          <a:xfrm>
            <a:off x="3438144" y="3602735"/>
            <a:ext cx="411479" cy="292608"/>
          </a:xfrm>
          <a:prstGeom prst="rightArrow">
            <a:avLst>
              <a:gd name="adj1" fmla="val 55000"/>
              <a:gd name="adj2" fmla="val 55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8357616" y="3602735"/>
            <a:ext cx="704088" cy="292608"/>
          </a:xfrm>
          <a:prstGeom prst="rightArrow">
            <a:avLst>
              <a:gd name="adj1" fmla="val 55000"/>
              <a:gd name="adj2" fmla="val 55000"/>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5422392"/>
            <a:ext cx="11057839" cy="274320"/>
          </a:xfrm>
          <a:prstGeom prst="rect">
            <a:avLst/>
          </a:prstGeom>
          <a:noFill/>
        </p:spPr>
        <p:txBody>
          <a:bodyPr wrap="square" anchor="t" lIns="0" rIns="0" tIns="0" bIns="0">
            <a:noAutofit/>
          </a:bodyPr>
          <a:lstStyle/>
          <a:p>
            <a:pPr algn="ctr"/>
            <a:r>
              <a:rPr sz="1100" b="0" i="0" spc="60">
                <a:solidFill>
                  <a:srgbClr val="1B7A3D"/>
                </a:solidFill>
                <a:latin typeface="Segoe UI Semibold"/>
              </a:rPr>
              <a:t>CONNECTS VIA   RFC / OData  ·  AMQP  ·  SFTP  ·  REST  ·  HTTP  ·  Email  ·  Excel add-in</a:t>
            </a:r>
          </a:p>
        </p:txBody>
      </p:sp>
      <p:sp>
        <p:nvSpPr>
          <p:cNvPr id="31" name="TextBox 30"/>
          <p:cNvSpPr txBox="1"/>
          <p:nvPr/>
        </p:nvSpPr>
        <p:spPr>
          <a:xfrm>
            <a:off x="566928" y="5733288"/>
            <a:ext cx="11057839" cy="274320"/>
          </a:xfrm>
          <a:prstGeom prst="rect">
            <a:avLst/>
          </a:prstGeom>
          <a:noFill/>
        </p:spPr>
        <p:txBody>
          <a:bodyPr wrap="square" anchor="t" lIns="0" rIns="0" tIns="0" bIns="0">
            <a:noAutofit/>
          </a:bodyPr>
          <a:lstStyle/>
          <a:p>
            <a:pPr algn="ctr"/>
            <a:r>
              <a:rPr sz="1200" b="0" i="0">
                <a:solidFill>
                  <a:srgbClr val="8A9599"/>
                </a:solidFill>
                <a:latin typeface="Segoe UI"/>
              </a:rPr>
              <a:t>Any protocol, on a schedule or on demand. Every value checked on the way in.</a:t>
            </a:r>
          </a:p>
        </p:txBody>
      </p:sp>
      <p:pic>
        <p:nvPicPr>
          <p:cNvPr id="32" name="Picture 31" descr="sap_certified.png"/>
          <p:cNvPicPr>
            <a:picLocks noChangeAspect="1"/>
          </p:cNvPicPr>
          <p:nvPr/>
        </p:nvPicPr>
        <p:blipFill>
          <a:blip r:embed="rId2"/>
          <a:stretch>
            <a:fillRect/>
          </a:stretch>
        </p:blipFill>
        <p:spPr>
          <a:xfrm>
            <a:off x="9887407" y="457200"/>
            <a:ext cx="1737360" cy="366813"/>
          </a:xfrm>
          <a:prstGeom prst="rect">
            <a:avLst/>
          </a:prstGeom>
        </p:spPr>
      </p:pic>
      <p:sp>
        <p:nvSpPr>
          <p:cNvPr id="33" name="Rectangle 32"/>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5" name="TextBox 34"/>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05</a:t>
            </a:r>
          </a:p>
        </p:txBody>
      </p:sp>
      <p:sp>
        <p:nvSpPr>
          <p:cNvPr id="36" name="Rectangle 35"/>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USE CASE · FX &amp; INTEREST RATES INTO SAP</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FX &amp; Interest Rates into SAP</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FX: foreign exchange, the currency rates a treasury deals and values with.</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The rates SAP needs each day come from market data providers, central banks, government agencies, even websites. Today someone pulls each one, fixes the format, and lines them up by hand.</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1B7A3D"/>
                </a:solidFill>
                <a:latin typeface="Segoe UI Semibold"/>
              </a:rPr>
              <a:t>AFTER  ·  THE MARKET DATA HUB, IN ORDER</a:t>
            </a:r>
          </a:p>
        </p:txBody>
      </p:sp>
      <p:sp>
        <p:nvSpPr>
          <p:cNvPr id="9" name="Rounded Rectangle 8"/>
          <p:cNvSpPr/>
          <p:nvPr/>
        </p:nvSpPr>
        <p:spPr>
          <a:xfrm>
            <a:off x="5001768" y="27066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Pulls rates from any provider or feed, with nothing to swap out.</a:t>
            </a:r>
          </a:p>
        </p:txBody>
      </p:sp>
      <p:sp>
        <p:nvSpPr>
          <p:cNvPr id="12" name="Rounded Rectangle 11"/>
          <p:cNvSpPr/>
          <p:nvPr/>
        </p:nvSpPr>
        <p:spPr>
          <a:xfrm>
            <a:off x="5001768" y="31638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Calculates what you need: date shifts, inversion, triangulation, interpolation, averages, your own formula libraries.</a:t>
            </a:r>
          </a:p>
        </p:txBody>
      </p:sp>
      <p:sp>
        <p:nvSpPr>
          <p:cNvPr id="15" name="Rounded Rectangle 14"/>
          <p:cNvSpPr/>
          <p:nvPr/>
        </p:nvSpPr>
        <p:spPr>
          <a:xfrm>
            <a:off x="5001768" y="36210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Shapes each value exactly how the target system needs it.</a:t>
            </a:r>
          </a:p>
        </p:txBody>
      </p:sp>
      <p:sp>
        <p:nvSpPr>
          <p:cNvPr id="18" name="Rounded Rectangle 17"/>
          <p:cNvSpPr/>
          <p:nvPr/>
        </p:nvSpPr>
        <p:spPr>
          <a:xfrm>
            <a:off x="5001768" y="4078223"/>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Pushes the curated data into SAP ECC and S/4HANA, or any non-SAP system, on a schedule or on demand.</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Each step runs on its own or with a person in the loop; everything is logged.</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06</a:t>
            </a:r>
          </a:p>
        </p:txBody>
      </p:sp>
      <p:sp>
        <p:nvSpPr>
          <p:cNvPr id="27" name="Rectangle 26"/>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USE CASE · ANOMALY CATCH AND GOVERNANCE</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Anomaly Catch and Governance</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Anomaly detection: catching a value that looks wrong before it reaches a system.</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A bad rate is usually caught late, after it has already moved into reports. Someone reconciles by hand to find where it came from, and the report never stays final.</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1B7A3D"/>
                </a:solidFill>
                <a:latin typeface="Segoe UI Semibold"/>
              </a:rPr>
              <a:t>AFTER  ·  THE MARKET DATA HUB, IN ORDER</a:t>
            </a:r>
          </a:p>
        </p:txBody>
      </p:sp>
      <p:sp>
        <p:nvSpPr>
          <p:cNvPr id="9" name="Rounded Rectangle 8"/>
          <p:cNvSpPr/>
          <p:nvPr/>
        </p:nvSpPr>
        <p:spPr>
          <a:xfrm>
            <a:off x="5001768" y="27066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Checks every value as it arrives: anomaly detection, completeness, accuracy, timeliness.</a:t>
            </a:r>
          </a:p>
        </p:txBody>
      </p:sp>
      <p:sp>
        <p:nvSpPr>
          <p:cNvPr id="12" name="Rounded Rectangle 11"/>
          <p:cNvSpPr/>
          <p:nvPr/>
        </p:nvSpPr>
        <p:spPr>
          <a:xfrm>
            <a:off x="5001768" y="31638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Catches odd or bad data before it moves anywhere.</a:t>
            </a:r>
          </a:p>
        </p:txBody>
      </p:sp>
      <p:sp>
        <p:nvSpPr>
          <p:cNvPr id="15" name="Rounded Rectangle 14"/>
          <p:cNvSpPr/>
          <p:nvPr/>
        </p:nvSpPr>
        <p:spPr>
          <a:xfrm>
            <a:off x="5001768" y="36210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Requires a second person on the changes that matter (segregation of duty).</a:t>
            </a:r>
          </a:p>
        </p:txBody>
      </p:sp>
      <p:sp>
        <p:nvSpPr>
          <p:cNvPr id="18" name="Rounded Rectangle 17"/>
          <p:cNvSpPr/>
          <p:nvPr/>
        </p:nvSpPr>
        <p:spPr>
          <a:xfrm>
            <a:off x="5001768" y="4078223"/>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Records every value and every change end to end, and alerts on exceptions.</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You hear about the odd one out; the rest just runs.</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07</a:t>
            </a:r>
          </a:p>
        </p:txBody>
      </p:sp>
      <p:sp>
        <p:nvSpPr>
          <p:cNvPr id="27" name="Rectangle 26"/>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USE CASE · COMMODITY PRICE CURVES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Commodity Price Curves</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A price curve: today's spot (the price for delivery now), then 30, 60 and 90 days, out to a year. Covered in depth in the Market Data Hub for Commodities deck.</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The same commodity differs by delivery point, as storage, port fees and the local market differ. Today the curve is built by hand, and prices differ desk to desk.</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1B7A3D"/>
                </a:solidFill>
                <a:latin typeface="Segoe UI Semibold"/>
              </a:rPr>
              <a:t>AFTER  ·  THE MARKET DATA HUB, IN ORDER</a:t>
            </a:r>
          </a:p>
        </p:txBody>
      </p:sp>
      <p:sp>
        <p:nvSpPr>
          <p:cNvPr id="9" name="Rounded Rectangle 8"/>
          <p:cNvSpPr/>
          <p:nvPr/>
        </p:nvSpPr>
        <p:spPr>
          <a:xfrm>
            <a:off x="5001768" y="27066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Builds the curve on a timeline: spot, then 30, 60 and 90-day tenors, out to a year.</a:t>
            </a:r>
          </a:p>
        </p:txBody>
      </p:sp>
      <p:sp>
        <p:nvSpPr>
          <p:cNvPr id="12" name="Rounded Rectangle 11"/>
          <p:cNvSpPr/>
          <p:nvPr/>
        </p:nvSpPr>
        <p:spPr>
          <a:xfrm>
            <a:off x="5001768" y="31638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Combines transportation, storage, quality and local taxes into one price per tenor.</a:t>
            </a:r>
          </a:p>
        </p:txBody>
      </p:sp>
      <p:sp>
        <p:nvSpPr>
          <p:cNvPr id="15" name="Rounded Rectangle 14"/>
          <p:cNvSpPr/>
          <p:nvPr/>
        </p:nvSpPr>
        <p:spPr>
          <a:xfrm>
            <a:off x="5001768" y="36210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Prices each curve per delivery point.</a:t>
            </a:r>
          </a:p>
        </p:txBody>
      </p:sp>
      <p:sp>
        <p:nvSpPr>
          <p:cNvPr id="18" name="Rounded Rectangle 17"/>
          <p:cNvSpPr/>
          <p:nvPr/>
        </p:nvSpPr>
        <p:spPr>
          <a:xfrm>
            <a:off x="5001768" y="4078223"/>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Validates every price on the way in; every change versioned and audited.</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Anomalies wait for a person's approval.</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08</a:t>
            </a:r>
          </a:p>
        </p:txBody>
      </p:sp>
      <p:sp>
        <p:nvSpPr>
          <p:cNvPr id="27" name="Rectangle 26"/>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USE CASE · CREDIT AND COUNTERPARTY DATA</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Credit and Counterparty Data</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A credit rating: an agency's score of how likely a counterparty is to pay.</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A treasury tracks ratings and limits for its banks, customers and counterparties, pulled from several agencies. Some deliver by API, others only a PDF report; someone re-keys them by hand, and a stale rating means a limit decision on old data.</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1B7A3D"/>
                </a:solidFill>
                <a:latin typeface="Segoe UI Semibold"/>
              </a:rPr>
              <a:t>AFTER  ·  THE MARKET DATA HUB, IN ORDER</a:t>
            </a:r>
          </a:p>
        </p:txBody>
      </p:sp>
      <p:sp>
        <p:nvSpPr>
          <p:cNvPr id="9" name="Rounded Rectangle 8"/>
          <p:cNvSpPr/>
          <p:nvPr/>
        </p:nvSpPr>
        <p:spPr>
          <a:xfrm>
            <a:off x="5001768" y="27066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Collects credit data from any agency or source, by API or from a PDF.</a:t>
            </a:r>
          </a:p>
        </p:txBody>
      </p:sp>
      <p:sp>
        <p:nvSpPr>
          <p:cNvPr id="12" name="Rounded Rectangle 11"/>
          <p:cNvSpPr/>
          <p:nvPr/>
        </p:nvSpPr>
        <p:spPr>
          <a:xfrm>
            <a:off x="5001768" y="31638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Reads the report and extracts the rating and credit report attributes into structured data.</a:t>
            </a:r>
          </a:p>
        </p:txBody>
      </p:sp>
      <p:sp>
        <p:nvSpPr>
          <p:cNvPr id="15" name="Rounded Rectangle 14"/>
          <p:cNvSpPr/>
          <p:nvPr/>
        </p:nvSpPr>
        <p:spPr>
          <a:xfrm>
            <a:off x="5001768" y="3621024"/>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Feeds SAP Credit Management and business partner, or any risk system.</a:t>
            </a:r>
          </a:p>
        </p:txBody>
      </p:sp>
      <p:sp>
        <p:nvSpPr>
          <p:cNvPr id="18" name="Rounded Rectangle 17"/>
          <p:cNvSpPr/>
          <p:nvPr/>
        </p:nvSpPr>
        <p:spPr>
          <a:xfrm>
            <a:off x="5001768" y="4078223"/>
            <a:ext cx="274320" cy="274320"/>
          </a:xfrm>
          <a:prstGeom prst="roundRect">
            <a:avLst>
              <a:gd name="adj" fmla="val 25000"/>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Alerts when a rating changes.</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owns the limit decision; the data is current.</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09</a:t>
            </a:r>
          </a:p>
        </p:txBody>
      </p:sp>
      <p:sp>
        <p:nvSpPr>
          <p:cNvPr id="27" name="Rectangle 26"/>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GOVERNANCE</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800" b="0" i="0">
                <a:solidFill>
                  <a:srgbClr val="0F1417"/>
                </a:solidFill>
                <a:latin typeface="Century Gothic"/>
              </a:rPr>
              <a:t>Governed, in plain terms.</a:t>
            </a:r>
          </a:p>
        </p:txBody>
      </p:sp>
      <p:sp>
        <p:nvSpPr>
          <p:cNvPr id="4" name="TextBox 3"/>
          <p:cNvSpPr txBox="1"/>
          <p:nvPr/>
        </p:nvSpPr>
        <p:spPr>
          <a:xfrm>
            <a:off x="566928" y="1783080"/>
            <a:ext cx="10241280" cy="640080"/>
          </a:xfrm>
          <a:prstGeom prst="rect">
            <a:avLst/>
          </a:prstGeom>
          <a:noFill/>
        </p:spPr>
        <p:txBody>
          <a:bodyPr wrap="square" anchor="t" lIns="0" rIns="0" tIns="0" bIns="0">
            <a:noAutofit/>
          </a:bodyPr>
          <a:lstStyle/>
          <a:p>
            <a:pPr algn="l">
              <a:lnSpc>
                <a:spcPct val="120000"/>
              </a:lnSpc>
            </a:pPr>
            <a:r>
              <a:rPr sz="1500" b="0" i="0">
                <a:solidFill>
                  <a:srgbClr val="5B666B"/>
                </a:solidFill>
                <a:latin typeface="Segoe UI"/>
              </a:rPr>
              <a:t>The same four controls run under every application, the AI included: it is grounded in SAP, not free-floating, and keeps a human in the loop on the moves that matter. What each control means, and why it matters:</a:t>
            </a:r>
          </a:p>
        </p:txBody>
      </p:sp>
      <p:sp>
        <p:nvSpPr>
          <p:cNvPr id="5" name="Rounded Rectangle 4"/>
          <p:cNvSpPr/>
          <p:nvPr/>
        </p:nvSpPr>
        <p:spPr>
          <a:xfrm>
            <a:off x="566928"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2889504"/>
            <a:ext cx="310896"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Audit trail</a:t>
            </a:r>
          </a:p>
          <a:p>
            <a:pPr algn="l">
              <a:lnSpc>
                <a:spcPct val="114000"/>
              </a:lnSpc>
            </a:pPr>
            <a:r>
              <a:rPr sz="1350" b="0" i="0">
                <a:solidFill>
                  <a:srgbClr val="5B666B"/>
                </a:solidFill>
                <a:latin typeface="Segoe UI"/>
              </a:rPr>
              <a:t>Every action is logged and can be reviewed later, end to end. Nothing happens off the record.</a:t>
            </a:r>
          </a:p>
        </p:txBody>
      </p:sp>
      <p:sp>
        <p:nvSpPr>
          <p:cNvPr id="8" name="Rounded Rectangle 7"/>
          <p:cNvSpPr/>
          <p:nvPr/>
        </p:nvSpPr>
        <p:spPr>
          <a:xfrm>
            <a:off x="3404539"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23995" y="2889504"/>
            <a:ext cx="310896" cy="457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3995"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Four-eyes / segregation of duty</a:t>
            </a:r>
          </a:p>
          <a:p>
            <a:pPr algn="l">
              <a:lnSpc>
                <a:spcPct val="114000"/>
              </a:lnSpc>
            </a:pPr>
            <a:r>
              <a:rPr sz="1350" b="0" i="0">
                <a:solidFill>
                  <a:srgbClr val="5B666B"/>
                </a:solidFill>
                <a:latin typeface="Segoe UI"/>
              </a:rPr>
              <a:t>The person who enters something is not the one who approves it. A human stays in the loop (HITL) on the moves that matter.</a:t>
            </a:r>
          </a:p>
        </p:txBody>
      </p:sp>
      <p:sp>
        <p:nvSpPr>
          <p:cNvPr id="11" name="Rounded Rectangle 10"/>
          <p:cNvSpPr/>
          <p:nvPr/>
        </p:nvSpPr>
        <p:spPr>
          <a:xfrm>
            <a:off x="6242151"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2889504"/>
            <a:ext cx="310896"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Anomaly alerts</a:t>
            </a:r>
          </a:p>
          <a:p>
            <a:pPr algn="l">
              <a:lnSpc>
                <a:spcPct val="114000"/>
              </a:lnSpc>
            </a:pPr>
            <a:r>
              <a:rPr sz="1350" b="0" i="0">
                <a:solidFill>
                  <a:srgbClr val="5B666B"/>
                </a:solidFill>
                <a:latin typeface="Segoe UI"/>
              </a:rPr>
              <a:t>The system flags what looks wrong before it posts, not after, so a bad value is caught on the way in.</a:t>
            </a:r>
          </a:p>
        </p:txBody>
      </p:sp>
      <p:sp>
        <p:nvSpPr>
          <p:cNvPr id="14" name="Rounded Rectangle 13"/>
          <p:cNvSpPr/>
          <p:nvPr/>
        </p:nvSpPr>
        <p:spPr>
          <a:xfrm>
            <a:off x="9079763"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99219" y="2889504"/>
            <a:ext cx="310896" cy="4572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9219"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Manage by exception</a:t>
            </a:r>
          </a:p>
          <a:p>
            <a:pPr algn="l">
              <a:lnSpc>
                <a:spcPct val="114000"/>
              </a:lnSpc>
            </a:pPr>
            <a:r>
              <a:rPr sz="1350" b="0" i="0">
                <a:solidFill>
                  <a:srgbClr val="5B666B"/>
                </a:solidFill>
                <a:latin typeface="Segoe UI"/>
              </a:rPr>
              <a:t>People only touch the cases that need judgment. The rest just runs, and you hear about the odd one out.</a:t>
            </a:r>
          </a:p>
        </p:txBody>
      </p:sp>
      <p:sp>
        <p:nvSpPr>
          <p:cNvPr id="17" name="TextBox 16"/>
          <p:cNvSpPr txBox="1"/>
          <p:nvPr/>
        </p:nvSpPr>
        <p:spPr>
          <a:xfrm>
            <a:off x="566928" y="5486400"/>
            <a:ext cx="11057839" cy="365760"/>
          </a:xfrm>
          <a:prstGeom prst="rect">
            <a:avLst/>
          </a:prstGeom>
          <a:noFill/>
        </p:spPr>
        <p:txBody>
          <a:bodyPr wrap="square" anchor="t" lIns="0" rIns="0" tIns="0" bIns="0">
            <a:noAutofit/>
          </a:bodyPr>
          <a:lstStyle/>
          <a:p>
            <a:pPr algn="l"/>
            <a:r>
              <a:rPr sz="1300" b="0" i="0">
                <a:solidFill>
                  <a:srgbClr val="1B7A3D"/>
                </a:solidFill>
                <a:latin typeface="Segoe UI Semibold"/>
              </a:rPr>
              <a:t>AI grounded in SAP, with a human in the loop.    ·    Certified to ISO 27001 and SOC 1 Type II.</a:t>
            </a:r>
          </a:p>
        </p:txBody>
      </p:sp>
      <p:sp>
        <p:nvSpPr>
          <p:cNvPr id="18" name="Rectangle 17"/>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0" name="TextBox 19"/>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10</a:t>
            </a:r>
          </a:p>
        </p:txBody>
      </p:sp>
      <p:sp>
        <p:nvSpPr>
          <p:cNvPr id="21" name="Rectangle 20"/>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1B7A3D"/>
                </a:solidFill>
                <a:latin typeface="Segoe UI Semibold"/>
              </a:rPr>
              <a:t>SUCCESS STORIES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600" b="0" i="0">
                <a:solidFill>
                  <a:srgbClr val="0F1417"/>
                </a:solidFill>
                <a:latin typeface="Century Gothic"/>
              </a:rPr>
              <a:t>Live deployment, real industry.</a:t>
            </a:r>
          </a:p>
        </p:txBody>
      </p:sp>
      <p:sp>
        <p:nvSpPr>
          <p:cNvPr id="4" name="TextBox 3"/>
          <p:cNvSpPr txBox="1"/>
          <p:nvPr/>
        </p:nvSpPr>
        <p:spPr>
          <a:xfrm>
            <a:off x="566928" y="1810512"/>
            <a:ext cx="10424160" cy="457200"/>
          </a:xfrm>
          <a:prstGeom prst="rect">
            <a:avLst/>
          </a:prstGeom>
          <a:noFill/>
        </p:spPr>
        <p:txBody>
          <a:bodyPr wrap="square" anchor="t" lIns="0" rIns="0" tIns="0" bIns="0">
            <a:noAutofit/>
          </a:bodyPr>
          <a:lstStyle/>
          <a:p>
            <a:pPr algn="l">
              <a:lnSpc>
                <a:spcPct val="120000"/>
              </a:lnSpc>
            </a:pPr>
            <a:r>
              <a:rPr sz="1500" b="0" i="0">
                <a:solidFill>
                  <a:srgbClr val="5B666B"/>
                </a:solidFill>
                <a:latin typeface="Segoe UI"/>
              </a:rPr>
              <a:t>A production deployment in financial services, replacing a manual way of working.</a:t>
            </a:r>
          </a:p>
        </p:txBody>
      </p:sp>
      <p:sp>
        <p:nvSpPr>
          <p:cNvPr id="5" name="Rounded Rectangle 4"/>
          <p:cNvSpPr/>
          <p:nvPr/>
        </p:nvSpPr>
        <p:spPr>
          <a:xfrm>
            <a:off x="4038447" y="2432304"/>
            <a:ext cx="4114800" cy="3493008"/>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4479" y="2706624"/>
            <a:ext cx="365760" cy="5029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4479" y="2871216"/>
            <a:ext cx="3602736" cy="365760"/>
          </a:xfrm>
          <a:prstGeom prst="rect">
            <a:avLst/>
          </a:prstGeom>
          <a:noFill/>
        </p:spPr>
        <p:txBody>
          <a:bodyPr wrap="square" anchor="t" lIns="0" rIns="0" tIns="0" bIns="0">
            <a:noAutofit/>
          </a:bodyPr>
          <a:lstStyle/>
          <a:p>
            <a:pPr algn="l"/>
            <a:r>
              <a:rPr sz="1200" b="0" i="0" spc="120">
                <a:solidFill>
                  <a:srgbClr val="1B7A3D"/>
                </a:solidFill>
                <a:latin typeface="Segoe UI Semibold"/>
              </a:rPr>
              <a:t>FINANCIAL SERVICES</a:t>
            </a:r>
          </a:p>
        </p:txBody>
      </p:sp>
      <p:sp>
        <p:nvSpPr>
          <p:cNvPr id="8" name="TextBox 7"/>
          <p:cNvSpPr txBox="1"/>
          <p:nvPr/>
        </p:nvSpPr>
        <p:spPr>
          <a:xfrm>
            <a:off x="4294479" y="3236976"/>
            <a:ext cx="3602736" cy="292608"/>
          </a:xfrm>
          <a:prstGeom prst="rect">
            <a:avLst/>
          </a:prstGeom>
          <a:noFill/>
        </p:spPr>
        <p:txBody>
          <a:bodyPr wrap="square" anchor="t" lIns="0" rIns="0" tIns="0" bIns="0">
            <a:noAutofit/>
          </a:bodyPr>
          <a:lstStyle/>
          <a:p>
            <a:pPr algn="l"/>
            <a:r>
              <a:rPr sz="1150" b="0" i="0">
                <a:solidFill>
                  <a:srgbClr val="8A9599"/>
                </a:solidFill>
                <a:latin typeface="Segoe UI"/>
              </a:rPr>
              <a:t>SAP S/4HANA, public cloud</a:t>
            </a:r>
          </a:p>
        </p:txBody>
      </p:sp>
      <p:sp>
        <p:nvSpPr>
          <p:cNvPr id="9" name="TextBox 8"/>
          <p:cNvSpPr txBox="1"/>
          <p:nvPr/>
        </p:nvSpPr>
        <p:spPr>
          <a:xfrm>
            <a:off x="4294479" y="3584448"/>
            <a:ext cx="3602736" cy="914400"/>
          </a:xfrm>
          <a:prstGeom prst="rect">
            <a:avLst/>
          </a:prstGeom>
          <a:noFill/>
        </p:spPr>
        <p:txBody>
          <a:bodyPr wrap="square" anchor="t" lIns="0" rIns="0" tIns="0" bIns="0">
            <a:noAutofit/>
          </a:bodyPr>
          <a:lstStyle/>
          <a:p>
            <a:pPr algn="l">
              <a:lnSpc>
                <a:spcPct val="110000"/>
              </a:lnSpc>
            </a:pPr>
            <a:r>
              <a:rPr sz="1400" b="0" i="0">
                <a:solidFill>
                  <a:srgbClr val="0F1417"/>
                </a:solidFill>
                <a:latin typeface="Century Gothic"/>
              </a:rPr>
              <a:t>A single OnePilot deployment governing several financial-data domains at once.</a:t>
            </a:r>
          </a:p>
        </p:txBody>
      </p:sp>
      <p:sp>
        <p:nvSpPr>
          <p:cNvPr id="10" name="TextBox 9"/>
          <p:cNvSpPr txBox="1"/>
          <p:nvPr/>
        </p:nvSpPr>
        <p:spPr>
          <a:xfrm>
            <a:off x="4294479" y="4645152"/>
            <a:ext cx="3602736" cy="603504"/>
          </a:xfrm>
          <a:prstGeom prst="rect">
            <a:avLst/>
          </a:prstGeom>
          <a:noFill/>
        </p:spPr>
        <p:txBody>
          <a:bodyPr wrap="square" anchor="t" lIns="0" rIns="0" tIns="0" bIns="0">
            <a:noAutofit/>
          </a:bodyPr>
          <a:lstStyle/>
          <a:p>
            <a:pPr algn="l">
              <a:lnSpc>
                <a:spcPct val="116000"/>
              </a:lnSpc>
            </a:pPr>
            <a:r>
              <a:rPr sz="1150" b="0" i="0">
                <a:solidFill>
                  <a:srgbClr val="5B666B"/>
                </a:solidFill>
                <a:latin typeface="Segoe UI"/>
              </a:rPr>
              <a:t>One platform to govern all data integrations and controls.</a:t>
            </a:r>
          </a:p>
        </p:txBody>
      </p:sp>
      <p:sp>
        <p:nvSpPr>
          <p:cNvPr id="11" name="Rounded Rectangle 10"/>
          <p:cNvSpPr/>
          <p:nvPr/>
        </p:nvSpPr>
        <p:spPr>
          <a:xfrm>
            <a:off x="4294479" y="5321808"/>
            <a:ext cx="3602736" cy="512064"/>
          </a:xfrm>
          <a:prstGeom prst="roundRect">
            <a:avLst>
              <a:gd name="adj" fmla="val 10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4479" y="5321808"/>
            <a:ext cx="54864" cy="512064"/>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9071" y="5385816"/>
            <a:ext cx="3438144" cy="182880"/>
          </a:xfrm>
          <a:prstGeom prst="rect">
            <a:avLst/>
          </a:prstGeom>
          <a:noFill/>
        </p:spPr>
        <p:txBody>
          <a:bodyPr wrap="square" anchor="t" lIns="0" rIns="0" tIns="0" bIns="0">
            <a:noAutofit/>
          </a:bodyPr>
          <a:lstStyle/>
          <a:p>
            <a:pPr algn="l"/>
            <a:r>
              <a:rPr sz="850" b="0" i="0" spc="140">
                <a:solidFill>
                  <a:srgbClr val="1B7A3D"/>
                </a:solidFill>
                <a:latin typeface="Segoe UI Semibold"/>
              </a:rPr>
              <a:t>REPLACED</a:t>
            </a:r>
          </a:p>
        </p:txBody>
      </p:sp>
      <p:sp>
        <p:nvSpPr>
          <p:cNvPr id="14" name="TextBox 13"/>
          <p:cNvSpPr txBox="1"/>
          <p:nvPr/>
        </p:nvSpPr>
        <p:spPr>
          <a:xfrm>
            <a:off x="4459071" y="5541264"/>
            <a:ext cx="3438144" cy="292608"/>
          </a:xfrm>
          <a:prstGeom prst="rect">
            <a:avLst/>
          </a:prstGeom>
          <a:noFill/>
        </p:spPr>
        <p:txBody>
          <a:bodyPr wrap="square" anchor="t" lIns="0" rIns="0" tIns="0" bIns="0">
            <a:noAutofit/>
          </a:bodyPr>
          <a:lstStyle/>
          <a:p>
            <a:pPr algn="l">
              <a:lnSpc>
                <a:spcPct val="104000"/>
              </a:lnSpc>
            </a:pPr>
            <a:r>
              <a:rPr sz="1100" b="0" i="0">
                <a:solidFill>
                  <a:srgbClr val="0F1417"/>
                </a:solidFill>
                <a:latin typeface="Segoe UI"/>
              </a:rPr>
              <a:t>Replaced a manual solution.</a:t>
            </a:r>
          </a:p>
        </p:txBody>
      </p:sp>
      <p:sp>
        <p:nvSpPr>
          <p:cNvPr id="15" name="Rectangle 1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7" name="TextBox 1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11</a:t>
            </a:r>
          </a:p>
        </p:txBody>
      </p:sp>
      <p:sp>
        <p:nvSpPr>
          <p:cNvPr id="18" name="Rectangle 17"/>
          <p:cNvSpPr/>
          <p:nvPr/>
        </p:nvSpPr>
        <p:spPr>
          <a:xfrm>
            <a:off x="0" y="0"/>
            <a:ext cx="64008" cy="68580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94560"/>
            <a:ext cx="2743200" cy="365760"/>
          </a:xfrm>
          <a:prstGeom prst="rect">
            <a:avLst/>
          </a:prstGeom>
          <a:noFill/>
        </p:spPr>
        <p:txBody>
          <a:bodyPr wrap="square" anchor="t" lIns="0" rIns="0" tIns="0" bIns="0">
            <a:noAutofit/>
          </a:bodyPr>
          <a:lstStyle/>
          <a:p>
            <a:pPr algn="l"/>
            <a:r>
              <a:rPr sz="1250" b="1" i="0" spc="300">
                <a:solidFill>
                  <a:srgbClr val="27AE60"/>
                </a:solidFill>
                <a:latin typeface="Segoe UI Semibold"/>
              </a:rPr>
              <a:t>CONTACT</a:t>
            </a:r>
          </a:p>
        </p:txBody>
      </p:sp>
      <p:sp>
        <p:nvSpPr>
          <p:cNvPr id="4" name="TextBox 3"/>
          <p:cNvSpPr txBox="1"/>
          <p:nvPr/>
        </p:nvSpPr>
        <p:spPr>
          <a:xfrm>
            <a:off x="548640" y="2633472"/>
            <a:ext cx="10515600" cy="1188720"/>
          </a:xfrm>
          <a:prstGeom prst="rect">
            <a:avLst/>
          </a:prstGeom>
          <a:noFill/>
        </p:spPr>
        <p:txBody>
          <a:bodyPr wrap="square" anchor="t" lIns="0" rIns="0" tIns="0" bIns="0">
            <a:noAutofit/>
          </a:bodyPr>
          <a:lstStyle/>
          <a:p>
            <a:pPr algn="l"/>
            <a:r>
              <a:rPr sz="4200" b="0" i="0">
                <a:solidFill>
                  <a:srgbClr val="ECEFF0"/>
                </a:solidFill>
                <a:latin typeface="Century Gothic"/>
              </a:rPr>
              <a:t>Let's map your first feed.</a:t>
            </a:r>
          </a:p>
        </p:txBody>
      </p:sp>
      <p:sp>
        <p:nvSpPr>
          <p:cNvPr id="5" name="TextBox 4"/>
          <p:cNvSpPr txBox="1"/>
          <p:nvPr/>
        </p:nvSpPr>
        <p:spPr>
          <a:xfrm>
            <a:off x="566928" y="3749039"/>
            <a:ext cx="9144000" cy="548640"/>
          </a:xfrm>
          <a:prstGeom prst="rect">
            <a:avLst/>
          </a:prstGeom>
          <a:noFill/>
        </p:spPr>
        <p:txBody>
          <a:bodyPr wrap="square" anchor="t" lIns="0" rIns="0" tIns="0" bIns="0">
            <a:noAutofit/>
          </a:bodyPr>
          <a:lstStyle/>
          <a:p>
            <a:pPr algn="l">
              <a:lnSpc>
                <a:spcPct val="130000"/>
              </a:lnSpc>
            </a:pPr>
            <a:r>
              <a:rPr sz="1600" b="0" i="0">
                <a:solidFill>
                  <a:srgbClr val="9AA6AB"/>
                </a:solidFill>
                <a:latin typeface="Segoe UI"/>
              </a:rPr>
              <a:t>We build the autonomous treasury one use case at a time, on the platform you already run.</a:t>
            </a:r>
          </a:p>
        </p:txBody>
      </p:sp>
      <p:sp>
        <p:nvSpPr>
          <p:cNvPr id="6" name="Rectangle 5"/>
          <p:cNvSpPr/>
          <p:nvPr/>
        </p:nvSpPr>
        <p:spPr>
          <a:xfrm>
            <a:off x="585216" y="4553712"/>
            <a:ext cx="1828800" cy="411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754880"/>
            <a:ext cx="10058400" cy="365760"/>
          </a:xfrm>
          <a:prstGeom prst="rect">
            <a:avLst/>
          </a:prstGeom>
          <a:noFill/>
        </p:spPr>
        <p:txBody>
          <a:bodyPr wrap="square" anchor="t" lIns="0" rIns="0" tIns="0" bIns="0">
            <a:noAutofit/>
          </a:bodyPr>
          <a:lstStyle/>
          <a:p>
            <a:pPr algn="l"/>
            <a:r>
              <a:rPr sz="1600" b="0" i="0">
                <a:solidFill>
                  <a:srgbClr val="ECEFF0"/>
                </a:solidFill>
                <a:latin typeface="Segoe UI Semibold"/>
              </a:rPr>
              <a:t>Dirk Neumann</a:t>
            </a:r>
          </a:p>
        </p:txBody>
      </p:sp>
      <p:sp>
        <p:nvSpPr>
          <p:cNvPr id="8" name="TextBox 7"/>
          <p:cNvSpPr txBox="1"/>
          <p:nvPr/>
        </p:nvSpPr>
        <p:spPr>
          <a:xfrm>
            <a:off x="566928" y="5084064"/>
            <a:ext cx="10058400" cy="365760"/>
          </a:xfrm>
          <a:prstGeom prst="rect">
            <a:avLst/>
          </a:prstGeom>
          <a:noFill/>
        </p:spPr>
        <p:txBody>
          <a:bodyPr wrap="square" anchor="t" lIns="0" rIns="0" tIns="0" bIns="0">
            <a:noAutofit/>
          </a:bodyPr>
          <a:lstStyle/>
          <a:p>
            <a:pPr algn="l"/>
            <a:r>
              <a:rPr sz="1400" b="0" i="0">
                <a:solidFill>
                  <a:srgbClr val="9AA6AB"/>
                </a:solidFill>
                <a:latin typeface="Segoe UI"/>
              </a:rPr>
              <a:t>dirk.neumann@brisken.com    ·    +1 936-777-4451</a:t>
            </a:r>
          </a:p>
        </p:txBody>
      </p:sp>
      <p:sp>
        <p:nvSpPr>
          <p:cNvPr id="9" name="TextBox 8"/>
          <p:cNvSpPr txBox="1"/>
          <p:nvPr/>
        </p:nvSpPr>
        <p:spPr>
          <a:xfrm>
            <a:off x="566928" y="5431536"/>
            <a:ext cx="10058400" cy="365760"/>
          </a:xfrm>
          <a:prstGeom prst="rect">
            <a:avLst/>
          </a:prstGeom>
          <a:noFill/>
        </p:spPr>
        <p:txBody>
          <a:bodyPr wrap="square" anchor="t" lIns="0" rIns="0" tIns="0" bIns="0">
            <a:noAutofit/>
          </a:bodyPr>
          <a:lstStyle/>
          <a:p>
            <a:pPr algn="l"/>
            <a:r>
              <a:rPr sz="1400" b="0" i="0">
                <a:solidFill>
                  <a:srgbClr val="9AA6AB"/>
                </a:solidFill>
                <a:latin typeface="Segoe UI"/>
              </a:rPr>
              <a:t>Brisken HQ, Houston, TX    ·    resources.brisken.com</a:t>
            </a:r>
          </a:p>
        </p:txBody>
      </p:sp>
      <p:pic>
        <p:nvPicPr>
          <p:cNvPr id="10" name="Picture 9" descr="brisken_reversed.png"/>
          <p:cNvPicPr>
            <a:picLocks noChangeAspect="1"/>
          </p:cNvPicPr>
          <p:nvPr/>
        </p:nvPicPr>
        <p:blipFill>
          <a:blip r:embed="rId2"/>
          <a:stretch>
            <a:fillRect/>
          </a:stretch>
        </p:blipFill>
        <p:spPr>
          <a:xfrm>
            <a:off x="10288580" y="6199632"/>
            <a:ext cx="1336186" cy="2926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