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8483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320">
                <a:solidFill>
                  <a:srgbClr val="3A4A9F"/>
                </a:solidFill>
                <a:latin typeface="Segoe UI Semibold"/>
              </a:rPr>
              <a:t>TREASURYCENTRAL, POWERED BY ONEPILOT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05456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7200" b="0" i="0">
                <a:solidFill>
                  <a:srgbClr val="0F1417"/>
                </a:solidFill>
                <a:latin typeface="Century Gothic"/>
              </a:rPr>
              <a:t>Smart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68496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5B666B"/>
                </a:solidFill>
                <a:latin typeface="Century Gothic"/>
              </a:rPr>
              <a:t>A TreasuryCentral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3913632"/>
            <a:ext cx="2011680" cy="41148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280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8A9599"/>
                </a:solidFill>
                <a:latin typeface="Segoe UI"/>
              </a:rPr>
              <a:t>Every trade, from the decision to the booked deal in SAP.</a:t>
            </a:r>
          </a:p>
        </p:txBody>
      </p:sp>
      <p:pic>
        <p:nvPicPr>
          <p:cNvPr id="7" name="Picture 6" descr="briske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068" y="6163056"/>
            <a:ext cx="1419698" cy="3108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3A4A9F"/>
                </a:solidFill>
                <a:latin typeface="Segoe UI Semibold"/>
              </a:rPr>
              <a:t>THE SHORT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0F1417"/>
                </a:solidFill>
                <a:latin typeface="Century Gothic"/>
              </a:rPr>
              <a:t>One application, in four 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31720"/>
            <a:ext cx="2531287" cy="278892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" y="2569463"/>
            <a:ext cx="310896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734056"/>
            <a:ext cx="2092375" cy="2240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What it is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Brisken Smart Trading (BST): every trade, from the decision to the booked deal in SAP. Automated, on your own system, nothing to rebuild.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9111" y="2331720"/>
            <a:ext cx="2531287" cy="278892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28567" y="2569463"/>
            <a:ext cx="310896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8567" y="2734056"/>
            <a:ext cx="2092375" cy="2240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What it replaces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The manual middle: re-keying tickets, chasing approvals, building deal entries by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1295" y="2331720"/>
            <a:ext cx="2531287" cy="278892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0751" y="2569463"/>
            <a:ext cx="310896" cy="45720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734056"/>
            <a:ext cx="2092375" cy="2240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What you get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The trade flows from the venue into SAP Treasury on its own, checked and logged.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3479" y="2331720"/>
            <a:ext cx="2531287" cy="278892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12935" y="2569463"/>
            <a:ext cx="310896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2935" y="2734056"/>
            <a:ext cx="2092375" cy="2240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Who it is for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Teams that trade and book in SAP.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532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1">
                <a:solidFill>
                  <a:srgbClr val="8A9599"/>
                </a:solidFill>
                <a:latin typeface="Segoe UI"/>
              </a:rPr>
              <a:t>Then the same trade on our clock.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3A4A9F"/>
                </a:solidFill>
                <a:latin typeface="Segoe UI Semibol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0" i="0">
                <a:solidFill>
                  <a:srgbClr val="0F1417"/>
                </a:solidFill>
                <a:latin typeface="Century Gothic"/>
              </a:rPr>
              <a:t>You trade. You book in SAP. Today a person joins the two by hand.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212848"/>
            <a:ext cx="11057839" cy="107899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377440"/>
            <a:ext cx="104726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3A4A9F"/>
                </a:solidFill>
                <a:latin typeface="Segoe UI Semibold"/>
              </a:rPr>
              <a:t>YOUR TRADING VENUES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688336"/>
            <a:ext cx="10472623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0F1417"/>
                </a:solidFill>
                <a:latin typeface="Segoe UI"/>
              </a:rPr>
              <a:t>360T, FXall, Bloomberg, Citi Pulse, BidFX.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511296"/>
            <a:ext cx="11057839" cy="1078992"/>
          </a:xfrm>
          <a:prstGeom prst="roundRect">
            <a:avLst>
              <a:gd name="adj" fmla="val 5000"/>
            </a:avLst>
          </a:prstGeom>
          <a:solidFill>
            <a:srgbClr val="0F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511296"/>
            <a:ext cx="73152" cy="1078992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675887"/>
            <a:ext cx="104726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5468D4"/>
                </a:solidFill>
                <a:latin typeface="Segoe UI Semibold"/>
              </a:rPr>
              <a:t>THE MANUAL MIDDLE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86783"/>
            <a:ext cx="10472623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CEFF0"/>
                </a:solidFill>
                <a:latin typeface="Segoe UI"/>
              </a:rPr>
              <a:t>Re-keying tickets, chasing approvals, building deal entries by hand.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09744"/>
            <a:ext cx="11057839" cy="107899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74336"/>
            <a:ext cx="104726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3A4A9F"/>
                </a:solidFill>
                <a:latin typeface="Segoe UI Semibold"/>
              </a:rPr>
              <a:t>BOOKED IN SAP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285231"/>
            <a:ext cx="10472623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0F1417"/>
                </a:solidFill>
                <a:latin typeface="Segoe UI"/>
              </a:rPr>
              <a:t>Treasury, accounting, analytics.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99846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8A9599"/>
                </a:solidFill>
                <a:latin typeface="Segoe UI"/>
              </a:rPr>
              <a:t>Manual FX execution: 10 to 15 minutes per trade (The Association of Corporate Treasurers). Spot FX automation across the market is now about 90% (LSEG).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3A4A9F"/>
                </a:solidFill>
                <a:latin typeface="Segoe UI Semibold"/>
              </a:rPr>
              <a:t>WHERE IT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0" i="0">
                <a:solidFill>
                  <a:srgbClr val="0F1417"/>
                </a:solidFill>
                <a:latin typeface="Century Gothic"/>
              </a:rPr>
              <a:t>One platform. Every application. Grounded in SAP.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938528"/>
            <a:ext cx="6339535" cy="713232"/>
          </a:xfrm>
          <a:prstGeom prst="roundRect">
            <a:avLst>
              <a:gd name="adj" fmla="val 12000"/>
            </a:avLst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1975104"/>
            <a:ext cx="6339535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entury Gothic"/>
              </a:rPr>
              <a:t>TreasuryCentral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313432"/>
            <a:ext cx="6339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EAFBFC"/>
                </a:solidFill>
                <a:latin typeface="Segoe UI"/>
              </a:rPr>
              <a:t>one workspace on OnePilot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889504"/>
            <a:ext cx="9082735" cy="1993392"/>
          </a:xfrm>
          <a:prstGeom prst="roundRect">
            <a:avLst>
              <a:gd name="adj" fmla="val 4500"/>
            </a:avLst>
          </a:prstGeom>
          <a:solidFill>
            <a:srgbClr val="F4F6F7"/>
          </a:solidFill>
          <a:ln w="19050">
            <a:solidFill>
              <a:srgbClr val="3A4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035808"/>
            <a:ext cx="85340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 i="0">
                <a:solidFill>
                  <a:srgbClr val="3A4A9F"/>
                </a:solidFill>
                <a:latin typeface="Century Gothic"/>
              </a:rPr>
              <a:t>OnePilot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35808"/>
            <a:ext cx="85340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200" b="0" i="0">
                <a:solidFill>
                  <a:srgbClr val="5B666B"/>
                </a:solidFill>
                <a:latin typeface="Segoe UI"/>
              </a:rPr>
              <a:t>the platform underneath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3493008"/>
            <a:ext cx="1914067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7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84832" y="3712464"/>
            <a:ext cx="292608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2" y="3877056"/>
            <a:ext cx="151173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F1417"/>
                </a:solidFill>
                <a:latin typeface="Segoe UI Semibold"/>
              </a:rPr>
              <a:t>Market Data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4389120"/>
            <a:ext cx="15117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8A9599"/>
                </a:solidFill>
                <a:latin typeface="Segoe UI"/>
              </a:rPr>
              <a:t>market truth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3763" y="3493008"/>
            <a:ext cx="1914067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546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4931" y="3712464"/>
            <a:ext cx="292608" cy="45720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4931" y="3877056"/>
            <a:ext cx="151173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F1417"/>
                </a:solidFill>
                <a:latin typeface="Segoe UI Semibold"/>
              </a:rPr>
              <a:t>Brisken Smart Trading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4931" y="4389120"/>
            <a:ext cx="15117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8A9599"/>
                </a:solidFill>
                <a:latin typeface="Segoe UI"/>
              </a:rPr>
              <a:t>autonomous trading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3493008"/>
            <a:ext cx="1914067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7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25031" y="3712464"/>
            <a:ext cx="292608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3877056"/>
            <a:ext cx="151173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F1417"/>
                </a:solidFill>
                <a:latin typeface="Segoe UI Semibold"/>
              </a:rPr>
              <a:t>Digital Co-Worker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4389120"/>
            <a:ext cx="15117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8A9599"/>
                </a:solidFill>
                <a:latin typeface="Segoe UI"/>
              </a:rPr>
              <a:t>the manual middle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3963" y="3493008"/>
            <a:ext cx="1914067" cy="1280160"/>
          </a:xfrm>
          <a:prstGeom prst="roundRect">
            <a:avLst>
              <a:gd name="adj" fmla="val 9000"/>
            </a:avLst>
          </a:prstGeom>
          <a:noFill/>
          <a:ln w="15875">
            <a:solidFill>
              <a:srgbClr val="3A4A9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131" y="3712464"/>
            <a:ext cx="292608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131" y="3877056"/>
            <a:ext cx="151173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3A4A9F"/>
                </a:solidFill>
                <a:latin typeface="Segoe UI Semibold"/>
              </a:rPr>
              <a:t>+ your own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131" y="4389120"/>
            <a:ext cx="15117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8A9599"/>
                </a:solidFill>
                <a:latin typeface="Segoe UI"/>
              </a:rPr>
              <a:t>an open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37760"/>
            <a:ext cx="908273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1">
                <a:solidFill>
                  <a:srgbClr val="8A9599"/>
                </a:solidFill>
                <a:latin typeface="Segoe UI"/>
              </a:rPr>
              <a:t>OnePilot connects your SAP and non-SAP systems alike.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5193792"/>
            <a:ext cx="6339535" cy="658368"/>
          </a:xfrm>
          <a:prstGeom prst="roundRect">
            <a:avLst>
              <a:gd name="adj" fmla="val 12000"/>
            </a:avLst>
          </a:prstGeom>
          <a:solidFill>
            <a:srgbClr val="0F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5193792"/>
            <a:ext cx="633953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ECEFF0"/>
                </a:solidFill>
                <a:latin typeface="Segoe UI Semibold"/>
              </a:rPr>
              <a:t>SAP   ·   your book of records, grounded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8A9599"/>
                </a:solidFill>
                <a:latin typeface="Segoe UI"/>
              </a:rPr>
              <a:t>Brisken Smart Trading (BST) runs as an application inside TreasuryCentral, the shipped edition of OnePilot. OnePilot runs in production across chemicals, food &amp; drink, financial-services, oil &amp; gas, agricultural and commodity treasuries.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3A4A9F"/>
                </a:solidFill>
                <a:latin typeface="Segoe UI Semibold"/>
              </a:rPr>
              <a:t>BRISKEN SMART TRADING (BST)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0" i="0">
                <a:solidFill>
                  <a:srgbClr val="0F1417"/>
                </a:solidFill>
                <a:latin typeface="Century Gothic"/>
              </a:rPr>
              <a:t>Autonomous trading, booked in SAP.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556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450" b="0" i="1">
                <a:solidFill>
                  <a:srgbClr val="5B666B"/>
                </a:solidFill>
                <a:latin typeface="Segoe UI"/>
              </a:rPr>
              <a:t>Autonomous trading means the trade carries itself from the decision to the booked deal, with no manual re-keying.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3478682" cy="299923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2542032"/>
            <a:ext cx="329184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706624"/>
            <a:ext cx="300319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spc="50">
                <a:solidFill>
                  <a:srgbClr val="0F1417"/>
                </a:solidFill>
                <a:latin typeface="Segoe UI Semibold"/>
              </a:rPr>
              <a:t>THE PROBLEM IT REMOVES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10128"/>
            <a:ext cx="3003194" cy="18105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You trade on a venue, then you book in SAP.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Today a person joins the two by hand: re-keying the ticket, chasing the approval, building the deal 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506" y="2286000"/>
            <a:ext cx="3478682" cy="299923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4250" y="2542032"/>
            <a:ext cx="329184" cy="45720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2706624"/>
            <a:ext cx="300319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spc="50">
                <a:solidFill>
                  <a:srgbClr val="0F1417"/>
                </a:solidFill>
                <a:latin typeface="Segoe UI Semibold"/>
              </a:rPr>
              <a:t>WHAT IT DOES, STEP BY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250" y="3310128"/>
            <a:ext cx="3003194" cy="18105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B666B"/>
                </a:solidFill>
                <a:latin typeface="Segoe UI"/>
              </a:rPr>
              <a:t>1   Reads the exposure (the money at risk from currency or price moves) from your SAP positions.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B666B"/>
                </a:solidFill>
                <a:latin typeface="Segoe UI"/>
              </a:rPr>
              <a:t>2   Sends the request to the venue; approval runs under your own rules.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B666B"/>
                </a:solidFill>
                <a:latin typeface="Segoe UI"/>
              </a:rPr>
              <a:t>3   Matches the fill that comes back and shapes it for SAP.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B666B"/>
                </a:solidFill>
                <a:latin typeface="Segoe UI"/>
              </a:rPr>
              <a:t>4   Books the deal in SAP Treasury, checked and logged.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6084" y="2286000"/>
            <a:ext cx="3478682" cy="299923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3828" y="2542032"/>
            <a:ext cx="329184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3828" y="2706624"/>
            <a:ext cx="300319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spc="50">
                <a:solidFill>
                  <a:srgbClr val="0F1417"/>
                </a:solidFill>
                <a:latin typeface="Segoe UI Semibold"/>
              </a:rPr>
              <a:t>WHAT YOU NO LONGER DO BY 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3828" y="3310128"/>
            <a:ext cx="3003194" cy="18105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Re-keying tickets and chasing approvals.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Building deal entries by hand.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Manual FX runs 10 to 15 minutes a trade (The Association of Corporate Treasurers).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68112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0F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468112"/>
            <a:ext cx="1050919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ECEFF0"/>
                </a:solidFill>
                <a:latin typeface="Segoe UI"/>
              </a:rPr>
              <a:t>CONNECTS TO   360T · FXall · Bloomberg FX GO · Citi Pulse · BidFX  →  SAP Treasury (TRM/FAM), ECC, S/4HANA   ·   any order management (OMS) or treasury management system (TMS)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3A4A9F"/>
                </a:solidFill>
                <a:latin typeface="Segoe UI Semibold"/>
              </a:rPr>
              <a:t>SMART TRADING · FUNCTIONAL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0" i="0">
                <a:solidFill>
                  <a:srgbClr val="0F1417"/>
                </a:solidFill>
                <a:latin typeface="Century Gothic"/>
              </a:rPr>
              <a:t>The trade, straight through to SAP.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0" i="0" spc="200">
                <a:solidFill>
                  <a:srgbClr val="8A9599"/>
                </a:solidFill>
                <a:latin typeface="Segoe UI Semibold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020824"/>
            <a:ext cx="243504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0" i="0" spc="200">
                <a:solidFill>
                  <a:srgbClr val="8A9599"/>
                </a:solidFill>
                <a:latin typeface="Segoe UI Semibold"/>
              </a:rPr>
              <a:t>DESTINATIONS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2743200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331720"/>
            <a:ext cx="252374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360T, FXall, Bloomberg FX 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087624"/>
            <a:ext cx="2743200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087624"/>
            <a:ext cx="252374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Citi Pulse, BidFX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843528"/>
            <a:ext cx="2743200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843528"/>
            <a:ext cx="252374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Any OMS or TMS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599431"/>
            <a:ext cx="2743200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4599431"/>
            <a:ext cx="252374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Banks &amp; brokers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331720"/>
            <a:ext cx="2435047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2331720"/>
            <a:ext cx="2215591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SAP TRM &amp; FAM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3087624"/>
            <a:ext cx="2435047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3087624"/>
            <a:ext cx="2215591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SAP ECC &amp; S/4HANA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843528"/>
            <a:ext cx="2435047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3843528"/>
            <a:ext cx="2215591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SAP Analytics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4599431"/>
            <a:ext cx="2435047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4599431"/>
            <a:ext cx="2215591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Analytics platforms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2468879"/>
            <a:ext cx="42519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546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278892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0" i="0" spc="200">
                <a:solidFill>
                  <a:srgbClr val="3A4A9F"/>
                </a:solidFill>
                <a:latin typeface="Segoe UI Semibold"/>
              </a:rPr>
              <a:t>BRISKEN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3118103"/>
            <a:ext cx="37033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0F1417"/>
                </a:solidFill>
                <a:latin typeface="Century Gothic"/>
              </a:rPr>
              <a:t>Smart Trading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3813048"/>
            <a:ext cx="37033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5B666B"/>
                </a:solidFill>
                <a:latin typeface="Segoe UI"/>
              </a:rPr>
              <a:t>on SAP's own cloud  ·  governed end to 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215383"/>
            <a:ext cx="3520440" cy="603504"/>
          </a:xfrm>
          <a:prstGeom prst="roundRect">
            <a:avLst>
              <a:gd name="adj" fmla="val 12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215383"/>
            <a:ext cx="333756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B666B"/>
                </a:solidFill>
                <a:latin typeface="Segoe UI"/>
              </a:rPr>
              <a:t>Audit trail · segregation of duty · anomaly alerts · person-in-the-loop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438144" y="3602735"/>
            <a:ext cx="411479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357616" y="3602735"/>
            <a:ext cx="704088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42239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0" i="0" spc="60">
                <a:solidFill>
                  <a:srgbClr val="3A4A9F"/>
                </a:solidFill>
                <a:latin typeface="Segoe UI Semibold"/>
              </a:rPr>
              <a:t>CONNECTS VIA   RFC / OData  ·  AMQP  ·  SFTP  ·  REST  ·  HTTP  ·  Email  ·  Excel add-in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3328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8A9599"/>
                </a:solidFill>
                <a:latin typeface="Segoe UI"/>
              </a:rPr>
              <a:t>The trade flows from the venue into SAP Treasury on its own, checked and logged.</a:t>
            </a:r>
          </a:p>
        </p:txBody>
      </p:sp>
      <p:pic>
        <p:nvPicPr>
          <p:cNvPr id="32" name="Picture 31" descr="sap_cer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407" y="457200"/>
            <a:ext cx="1737360" cy="36681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3A4A9F"/>
                </a:solidFill>
                <a:latin typeface="Segoe UI Semibold"/>
              </a:rPr>
              <a:t>USE CASE · ONE FX TRADE,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0" i="0">
                <a:solidFill>
                  <a:srgbClr val="0F1417"/>
                </a:solidFill>
                <a:latin typeface="Century Gothic"/>
              </a:rPr>
              <a:t>One FX Trade,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8A9599"/>
                </a:solidFill>
                <a:latin typeface="Segoe UI"/>
              </a:rPr>
              <a:t>FX: foreign exchange, trading one currency for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8A9599"/>
                </a:solidFill>
                <a:latin typeface="Segoe UI Semibold"/>
              </a:rPr>
              <a:t>BEFORE  ·  TODAY, BY HAND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70048"/>
            <a:ext cx="45720" cy="3063240"/>
          </a:xfrm>
          <a:prstGeom prst="rect">
            <a:avLst/>
          </a:prstGeom>
          <a:solidFill>
            <a:srgbClr val="5B6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37033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0F1417"/>
                </a:solidFill>
                <a:latin typeface="Segoe UI"/>
              </a:rPr>
              <a:t>A dealer agrees an FX trade on the venue. From that moment the trade is not done until someone books it: re-keying the ticket, chasing the approval, building the deal entry in SAP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286000"/>
            <a:ext cx="66229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40">
                <a:solidFill>
                  <a:srgbClr val="3A4A9F"/>
                </a:solidFill>
                <a:latin typeface="Segoe UI Semibold"/>
              </a:rPr>
              <a:t>AFTER  ·  SMART TRADING, IN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1768" y="27066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7066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26883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Reads the exposure from your SAP positions.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768" y="31638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31638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31455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Sends the request to the venue: 360T, FXall, Bloomberg FX GO, Citi Pulse or BidFX.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768" y="36210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3621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36027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Runs approval under your own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4078223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40782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059935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Matches the fill that comes 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1768" y="4535423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1768" y="45354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45171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Shapes it for SAP.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1768" y="4992623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1768" y="49926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4104" y="49743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Books the deal in SAP Treasury, checked and logged.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01768" y="5541264"/>
            <a:ext cx="6622999" cy="566928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01768" y="5541264"/>
            <a:ext cx="73152" cy="566928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5541264"/>
            <a:ext cx="616579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0F1417"/>
                </a:solidFill>
                <a:latin typeface="Segoe UI Semibold"/>
              </a:rPr>
              <a:t>Each step runs on its own or waits for a person; everything is logged.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3A4A9F"/>
                </a:solidFill>
                <a:latin typeface="Segoe UI Semibold"/>
              </a:rPr>
              <a:t>USE CASE · DERIVATIVES AND SECURITIES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0" i="0">
                <a:solidFill>
                  <a:srgbClr val="0F1417"/>
                </a:solidFill>
                <a:latin typeface="Century Gothic"/>
              </a:rPr>
              <a:t>Derivatives and Securities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8A9599"/>
                </a:solidFill>
                <a:latin typeface="Segoe UI"/>
              </a:rPr>
              <a:t>A security master: the record a system needs before an instrument can 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8A9599"/>
                </a:solidFill>
                <a:latin typeface="Segoe UI Semibold"/>
              </a:rPr>
              <a:t>BEFORE  ·  TODAY, BY HAND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70048"/>
            <a:ext cx="45720" cy="3063240"/>
          </a:xfrm>
          <a:prstGeom prst="rect">
            <a:avLst/>
          </a:prstGeom>
          <a:solidFill>
            <a:srgbClr val="5B6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37033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0F1417"/>
                </a:solidFill>
                <a:latin typeface="Segoe UI"/>
              </a:rPr>
              <a:t>A treasury trades more than FX: interest-rate swaps, money-market deposits, bonds and other securities, each with its own booking rules. New instruments stall at master-data setup; a missing security class blocks the booking, and a gap in one record shows up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286000"/>
            <a:ext cx="66229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40">
                <a:solidFill>
                  <a:srgbClr val="3A4A9F"/>
                </a:solidFill>
                <a:latin typeface="Segoe UI Semibold"/>
              </a:rPr>
              <a:t>AFTER  ·  SMART TRADING, IN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1768" y="27066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7066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26883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Validates the security class as the trade 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768" y="31638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31638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31455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Creates the master record automatically; no manual setup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768" y="36210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3621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36027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Enriches the position for analytics and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4078223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40782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059935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Shows the state of every step on one status monitor.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1768" y="4626864"/>
            <a:ext cx="6622999" cy="566928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01768" y="4626864"/>
            <a:ext cx="73152" cy="566928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626864"/>
            <a:ext cx="616579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0F1417"/>
                </a:solidFill>
                <a:latin typeface="Segoe UI Semibold"/>
              </a:rPr>
              <a:t>Full audit trail and four-eye sign-off, built 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3A4A9F"/>
                </a:solidFill>
                <a:latin typeface="Segoe UI Semibold"/>
              </a:rPr>
              <a:t>USE CASE · OTC COMMODITY SWAPS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0" i="0">
                <a:solidFill>
                  <a:srgbClr val="0F1417"/>
                </a:solidFill>
                <a:latin typeface="Century Gothic"/>
              </a:rPr>
              <a:t>OTC Commodity Swaps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8A9599"/>
                </a:solidFill>
                <a:latin typeface="Segoe UI"/>
              </a:rPr>
              <a:t>OTC: over the counter, a trade agreed directly with a counterparty, not on an exchange.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8A9599"/>
                </a:solidFill>
                <a:latin typeface="Segoe UI Semibold"/>
              </a:rPr>
              <a:t>BEFORE  ·  TODAY, BY HAND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70048"/>
            <a:ext cx="45720" cy="3063240"/>
          </a:xfrm>
          <a:prstGeom prst="rect">
            <a:avLst/>
          </a:prstGeom>
          <a:solidFill>
            <a:srgbClr val="5B6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37033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0F1417"/>
                </a:solidFill>
                <a:latin typeface="Segoe UI"/>
              </a:rPr>
              <a:t>A commodity or energy treasury runs OTC swaps and hedges alongside its physical book. Confirmations arrive from several counterparties in several formats; matching is manual and slow, and a hedge that is not booked on time leaves the exposure open on the 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286000"/>
            <a:ext cx="66229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40">
                <a:solidFill>
                  <a:srgbClr val="3A4A9F"/>
                </a:solidFill>
                <a:latin typeface="Segoe UI Semibold"/>
              </a:rPr>
              <a:t>AFTER  ·  SMART TRADING, IN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1768" y="27066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7066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26883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Takes each swap from execution through custodian and counterparty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768" y="31638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31638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31455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Reads and matches the confirmations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768" y="36210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3621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36027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Books the hedge into SAP Treasury against the exposure it offsets.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4078223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40782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059935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Works with any venue and any counterparty; nothing to rebuild when you add 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1768" y="4626864"/>
            <a:ext cx="6622999" cy="566928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01768" y="4626864"/>
            <a:ext cx="73152" cy="566928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626864"/>
            <a:ext cx="616579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0F1417"/>
                </a:solidFill>
                <a:latin typeface="Segoe UI Semibold"/>
              </a:rPr>
              <a:t>Four-eye sign-off; the hedge lines up with the position it offsets.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3A4A9F"/>
                </a:solidFill>
                <a:latin typeface="Segoe UI Semibold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0F1417"/>
                </a:solidFill>
                <a:latin typeface="Century Gothic"/>
              </a:rPr>
              <a:t>Governed, in plain terms.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B666B"/>
                </a:solidFill>
                <a:latin typeface="Segoe UI"/>
              </a:rPr>
              <a:t>The same four controls run under every application, the AI included: it is grounded in SAP, not free-floating, and keeps a human in the loop on the moves that matter. What each control means, and why it matters: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651760"/>
            <a:ext cx="2545003" cy="260604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" y="2889504"/>
            <a:ext cx="310896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3054096"/>
            <a:ext cx="2106091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Audit trail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Every action is logged and can be reviewed later, end to end. Nothing happens off the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4539" y="2651760"/>
            <a:ext cx="2545003" cy="260604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23995" y="2889504"/>
            <a:ext cx="310896" cy="45720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3995" y="3054096"/>
            <a:ext cx="2106091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Four-eyes / segregation of duty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The person who enters something is not the one who approves it. A human stays in the loop (HITL) on the moves that matter.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2651760"/>
            <a:ext cx="2545003" cy="260604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61607" y="2889504"/>
            <a:ext cx="310896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3054096"/>
            <a:ext cx="2106091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Anomaly alerts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The system flags what looks wrong before it posts, not after, so a bad value is caught on the way 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9763" y="2651760"/>
            <a:ext cx="2545003" cy="260604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99219" y="2889504"/>
            <a:ext cx="310896" cy="4572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219" y="3054096"/>
            <a:ext cx="2106091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Manage by exception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People only touch the cases that need judgment. The rest just runs, and you hear about the odd one 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4864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3A4A9F"/>
                </a:solidFill>
                <a:latin typeface="Segoe UI Semibold"/>
              </a:rPr>
              <a:t>AI grounded in SAP, with a human in the loop.    ·    Certified to ISO 27001 and SOC 1 Type II.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A4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300">
                <a:solidFill>
                  <a:srgbClr val="5468D4"/>
                </a:solidFill>
                <a:latin typeface="Segoe UI Semibold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33472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200" b="0" i="0">
                <a:solidFill>
                  <a:srgbClr val="ECEFF0"/>
                </a:solidFill>
                <a:latin typeface="Century Gothic"/>
              </a:rPr>
              <a:t>Let's book your first trade, hands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749039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AA6AB"/>
                </a:solidFill>
                <a:latin typeface="Segoe UI"/>
              </a:rPr>
              <a:t>We build the autonomous treasury one use case at a time, on the platform you already 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4553712"/>
            <a:ext cx="1828800" cy="41148"/>
          </a:xfrm>
          <a:prstGeom prst="rect">
            <a:avLst/>
          </a:prstGeom>
          <a:solidFill>
            <a:srgbClr val="546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ECEFF0"/>
                </a:solidFill>
                <a:latin typeface="Segoe UI Semibold"/>
              </a:rPr>
              <a:t>Dirk Neumann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0840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9AA6AB"/>
                </a:solidFill>
                <a:latin typeface="Segoe UI"/>
              </a:rPr>
              <a:t>dirk.neumann@brisken.com    ·    +1 936-777-4451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315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9AA6AB"/>
                </a:solidFill>
                <a:latin typeface="Segoe UI"/>
              </a:rPr>
              <a:t>Brisken HQ, Houston, TX    ·    resources.brisken.com</a:t>
            </a:r>
          </a:p>
        </p:txBody>
      </p:sp>
      <p:pic>
        <p:nvPicPr>
          <p:cNvPr id="10" name="Picture 9" descr="brisken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8580" y="6199632"/>
            <a:ext cx="1336186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