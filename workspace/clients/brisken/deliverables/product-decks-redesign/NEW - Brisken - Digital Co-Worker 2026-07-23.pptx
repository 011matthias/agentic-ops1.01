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084831"/>
            <a:ext cx="7315200" cy="365760"/>
          </a:xfrm>
          <a:prstGeom prst="rect">
            <a:avLst/>
          </a:prstGeom>
          <a:noFill/>
        </p:spPr>
        <p:txBody>
          <a:bodyPr wrap="square" anchor="t" lIns="0" rIns="0" tIns="0" bIns="0">
            <a:noAutofit/>
          </a:bodyPr>
          <a:lstStyle/>
          <a:p>
            <a:pPr algn="l"/>
            <a:r>
              <a:rPr sz="1300" b="1" i="0" spc="320">
                <a:solidFill>
                  <a:srgbClr val="6D4098"/>
                </a:solidFill>
                <a:latin typeface="Segoe UI Semibold"/>
              </a:rPr>
              <a:t>TREASURYCENTRAL, POWERED BY ONEPILOT</a:t>
            </a:r>
          </a:p>
        </p:txBody>
      </p:sp>
      <p:sp>
        <p:nvSpPr>
          <p:cNvPr id="3" name="TextBox 2"/>
          <p:cNvSpPr txBox="1"/>
          <p:nvPr/>
        </p:nvSpPr>
        <p:spPr>
          <a:xfrm>
            <a:off x="548640" y="2505456"/>
            <a:ext cx="10515600" cy="2011680"/>
          </a:xfrm>
          <a:prstGeom prst="rect">
            <a:avLst/>
          </a:prstGeom>
          <a:noFill/>
        </p:spPr>
        <p:txBody>
          <a:bodyPr wrap="square" anchor="t" lIns="0" rIns="0" tIns="0" bIns="0">
            <a:noAutofit/>
          </a:bodyPr>
          <a:lstStyle/>
          <a:p>
            <a:pPr algn="l">
              <a:lnSpc>
                <a:spcPct val="98000"/>
              </a:lnSpc>
            </a:pPr>
            <a:r>
              <a:rPr sz="7200" b="0" i="0">
                <a:solidFill>
                  <a:srgbClr val="0F1417"/>
                </a:solidFill>
                <a:latin typeface="Century Gothic"/>
              </a:rPr>
              <a:t>Digital Co-Worker</a:t>
            </a:r>
          </a:p>
        </p:txBody>
      </p:sp>
      <p:sp>
        <p:nvSpPr>
          <p:cNvPr id="4" name="TextBox 3"/>
          <p:cNvSpPr txBox="1"/>
          <p:nvPr/>
        </p:nvSpPr>
        <p:spPr>
          <a:xfrm>
            <a:off x="566928" y="3968496"/>
            <a:ext cx="10058400" cy="822960"/>
          </a:xfrm>
          <a:prstGeom prst="rect">
            <a:avLst/>
          </a:prstGeom>
          <a:noFill/>
        </p:spPr>
        <p:txBody>
          <a:bodyPr wrap="square" anchor="t" lIns="0" rIns="0" tIns="0" bIns="0">
            <a:noAutofit/>
          </a:bodyPr>
          <a:lstStyle/>
          <a:p>
            <a:pPr algn="l"/>
            <a:r>
              <a:rPr sz="3000" b="0" i="0">
                <a:solidFill>
                  <a:srgbClr val="5B666B"/>
                </a:solidFill>
                <a:latin typeface="Century Gothic"/>
              </a:rPr>
              <a:t>A TreasuryCentral application</a:t>
            </a:r>
          </a:p>
        </p:txBody>
      </p:sp>
      <p:sp>
        <p:nvSpPr>
          <p:cNvPr id="5" name="Rectangle 4"/>
          <p:cNvSpPr/>
          <p:nvPr/>
        </p:nvSpPr>
        <p:spPr>
          <a:xfrm>
            <a:off x="585216" y="3913632"/>
            <a:ext cx="2011680" cy="41148"/>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828032"/>
            <a:ext cx="9144000" cy="457200"/>
          </a:xfrm>
          <a:prstGeom prst="rect">
            <a:avLst/>
          </a:prstGeom>
          <a:noFill/>
        </p:spPr>
        <p:txBody>
          <a:bodyPr wrap="square" anchor="t" lIns="0" rIns="0" tIns="0" bIns="0">
            <a:noAutofit/>
          </a:bodyPr>
          <a:lstStyle/>
          <a:p>
            <a:pPr algn="l"/>
            <a:r>
              <a:rPr sz="1600" b="0" i="0">
                <a:solidFill>
                  <a:srgbClr val="8A9599"/>
                </a:solidFill>
                <a:latin typeface="Segoe UI"/>
              </a:rPr>
              <a:t>An AI colleague for the manual middle.</a:t>
            </a:r>
          </a:p>
        </p:txBody>
      </p:sp>
      <p:pic>
        <p:nvPicPr>
          <p:cNvPr id="7" name="Picture 6" descr="brisken_dark.png"/>
          <p:cNvPicPr>
            <a:picLocks noChangeAspect="1"/>
          </p:cNvPicPr>
          <p:nvPr/>
        </p:nvPicPr>
        <p:blipFill>
          <a:blip r:embed="rId2"/>
          <a:stretch>
            <a:fillRect/>
          </a:stretch>
        </p:blipFill>
        <p:spPr>
          <a:xfrm>
            <a:off x="10205068" y="6163056"/>
            <a:ext cx="1419698" cy="310896"/>
          </a:xfrm>
          <a:prstGeom prst="rect">
            <a:avLst/>
          </a:prstGeom>
        </p:spPr>
      </p:pic>
      <p:sp>
        <p:nvSpPr>
          <p:cNvPr id="8" name="Rounded Rectangle 7"/>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THE SHORT VERSION</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800" b="0" i="0">
                <a:solidFill>
                  <a:srgbClr val="0F1417"/>
                </a:solidFill>
                <a:latin typeface="Century Gothic"/>
              </a:rPr>
              <a:t>One application, in four lines.</a:t>
            </a:r>
          </a:p>
        </p:txBody>
      </p:sp>
      <p:sp>
        <p:nvSpPr>
          <p:cNvPr id="4" name="Rounded Rectangle 3"/>
          <p:cNvSpPr/>
          <p:nvPr/>
        </p:nvSpPr>
        <p:spPr>
          <a:xfrm>
            <a:off x="566928"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6384" y="2569463"/>
            <a:ext cx="310896"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What it is</a:t>
            </a:r>
          </a:p>
          <a:p>
            <a:pPr algn="l">
              <a:lnSpc>
                <a:spcPct val="114000"/>
              </a:lnSpc>
            </a:pPr>
            <a:r>
              <a:rPr sz="1350" b="0" i="0">
                <a:solidFill>
                  <a:srgbClr val="5B666B"/>
                </a:solidFill>
                <a:latin typeface="Segoe UI"/>
              </a:rPr>
              <a:t>An AI co-worker for every person on your team; it does the busywork across your systems, in chat or in the background.</a:t>
            </a:r>
          </a:p>
        </p:txBody>
      </p:sp>
      <p:sp>
        <p:nvSpPr>
          <p:cNvPr id="7" name="Rounded Rectangle 6"/>
          <p:cNvSpPr/>
          <p:nvPr/>
        </p:nvSpPr>
        <p:spPr>
          <a:xfrm>
            <a:off x="3409111"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28567" y="2569463"/>
            <a:ext cx="310896"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8567"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What it replaces</a:t>
            </a:r>
          </a:p>
          <a:p>
            <a:pPr algn="l">
              <a:lnSpc>
                <a:spcPct val="114000"/>
              </a:lnSpc>
            </a:pPr>
            <a:r>
              <a:rPr sz="1350" b="0" i="0">
                <a:solidFill>
                  <a:srgbClr val="5B666B"/>
                </a:solidFill>
                <a:latin typeface="Segoe UI"/>
              </a:rPr>
              <a:t>The manual middle of every request: read, check, open the system, key in, write back.</a:t>
            </a:r>
          </a:p>
        </p:txBody>
      </p:sp>
      <p:sp>
        <p:nvSpPr>
          <p:cNvPr id="10" name="Rounded Rectangle 9"/>
          <p:cNvSpPr/>
          <p:nvPr/>
        </p:nvSpPr>
        <p:spPr>
          <a:xfrm>
            <a:off x="6251295"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70751" y="2569463"/>
            <a:ext cx="310896" cy="45720"/>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0751"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What you get</a:t>
            </a:r>
          </a:p>
          <a:p>
            <a:pPr algn="l">
              <a:lnSpc>
                <a:spcPct val="114000"/>
              </a:lnSpc>
            </a:pPr>
            <a:r>
              <a:rPr sz="1350" b="0" i="0">
                <a:solidFill>
                  <a:srgbClr val="5B666B"/>
                </a:solidFill>
                <a:latin typeface="Segoe UI"/>
              </a:rPr>
              <a:t>Less busywork, more judgment; every step checked and logged.</a:t>
            </a:r>
          </a:p>
        </p:txBody>
      </p:sp>
      <p:sp>
        <p:nvSpPr>
          <p:cNvPr id="13" name="Rounded Rectangle 12"/>
          <p:cNvSpPr/>
          <p:nvPr/>
        </p:nvSpPr>
        <p:spPr>
          <a:xfrm>
            <a:off x="9093479" y="2331720"/>
            <a:ext cx="2531287" cy="278892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312935" y="2569463"/>
            <a:ext cx="310896"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12935" y="2734056"/>
            <a:ext cx="2092375" cy="2240279"/>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Who it is for</a:t>
            </a:r>
          </a:p>
          <a:p>
            <a:pPr algn="l">
              <a:lnSpc>
                <a:spcPct val="114000"/>
              </a:lnSpc>
            </a:pPr>
            <a:r>
              <a:rPr sz="1350" b="0" i="0">
                <a:solidFill>
                  <a:srgbClr val="5B666B"/>
                </a:solidFill>
                <a:latin typeface="Segoe UI"/>
              </a:rPr>
              <a:t>Every person on your team, inside your SAP landscape.</a:t>
            </a:r>
          </a:p>
        </p:txBody>
      </p:sp>
      <p:sp>
        <p:nvSpPr>
          <p:cNvPr id="16" name="TextBox 15"/>
          <p:cNvSpPr txBox="1"/>
          <p:nvPr/>
        </p:nvSpPr>
        <p:spPr>
          <a:xfrm>
            <a:off x="566928" y="5532120"/>
            <a:ext cx="11057839" cy="365760"/>
          </a:xfrm>
          <a:prstGeom prst="rect">
            <a:avLst/>
          </a:prstGeom>
          <a:noFill/>
        </p:spPr>
        <p:txBody>
          <a:bodyPr wrap="square" anchor="t" lIns="0" rIns="0" tIns="0" bIns="0">
            <a:noAutofit/>
          </a:bodyPr>
          <a:lstStyle/>
          <a:p>
            <a:pPr algn="l"/>
            <a:r>
              <a:rPr sz="1400" b="0" i="1">
                <a:solidFill>
                  <a:srgbClr val="8A9599"/>
                </a:solidFill>
                <a:latin typeface="Segoe UI"/>
              </a:rPr>
              <a:t>Then the use cases, followed end to end.</a:t>
            </a:r>
          </a:p>
        </p:txBody>
      </p:sp>
      <p:sp>
        <p:nvSpPr>
          <p:cNvPr id="17" name="Rectangle 16"/>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19" name="TextBox 18"/>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01</a:t>
            </a:r>
          </a:p>
        </p:txBody>
      </p:sp>
      <p:sp>
        <p:nvSpPr>
          <p:cNvPr id="20" name="Rounded Rectangle 19"/>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THE PROBLEM</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Real work is a dozen small steps across a dozen systems.</a:t>
            </a:r>
          </a:p>
        </p:txBody>
      </p:sp>
      <p:sp>
        <p:nvSpPr>
          <p:cNvPr id="4" name="Rounded Rectangle 3"/>
          <p:cNvSpPr/>
          <p:nvPr/>
        </p:nvSpPr>
        <p:spPr>
          <a:xfrm>
            <a:off x="566928" y="2212848"/>
            <a:ext cx="11057839" cy="107899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377440"/>
            <a:ext cx="10472623" cy="274320"/>
          </a:xfrm>
          <a:prstGeom prst="rect">
            <a:avLst/>
          </a:prstGeom>
          <a:noFill/>
        </p:spPr>
        <p:txBody>
          <a:bodyPr wrap="square" anchor="t" lIns="0" rIns="0" tIns="0" bIns="0">
            <a:noAutofit/>
          </a:bodyPr>
          <a:lstStyle/>
          <a:p>
            <a:pPr algn="l"/>
            <a:r>
              <a:rPr sz="1100" b="0" i="0" spc="160">
                <a:solidFill>
                  <a:srgbClr val="6D4098"/>
                </a:solidFill>
                <a:latin typeface="Segoe UI Semibold"/>
              </a:rPr>
              <a:t>A REQUEST ARRIVES</a:t>
            </a:r>
          </a:p>
        </p:txBody>
      </p:sp>
      <p:sp>
        <p:nvSpPr>
          <p:cNvPr id="6" name="TextBox 5"/>
          <p:cNvSpPr txBox="1"/>
          <p:nvPr/>
        </p:nvSpPr>
        <p:spPr>
          <a:xfrm>
            <a:off x="859536" y="2688336"/>
            <a:ext cx="10472623" cy="530352"/>
          </a:xfrm>
          <a:prstGeom prst="rect">
            <a:avLst/>
          </a:prstGeom>
          <a:noFill/>
        </p:spPr>
        <p:txBody>
          <a:bodyPr wrap="square" anchor="t" lIns="0" rIns="0" tIns="0" bIns="0">
            <a:noAutofit/>
          </a:bodyPr>
          <a:lstStyle/>
          <a:p>
            <a:pPr algn="l">
              <a:lnSpc>
                <a:spcPct val="118000"/>
              </a:lnSpc>
            </a:pPr>
            <a:r>
              <a:rPr sz="1400" b="0" i="0">
                <a:solidFill>
                  <a:srgbClr val="0F1417"/>
                </a:solidFill>
                <a:latin typeface="Segoe UI"/>
              </a:rPr>
              <a:t>An email, a message, a form.</a:t>
            </a:r>
          </a:p>
        </p:txBody>
      </p:sp>
      <p:sp>
        <p:nvSpPr>
          <p:cNvPr id="7" name="Rounded Rectangle 6"/>
          <p:cNvSpPr/>
          <p:nvPr/>
        </p:nvSpPr>
        <p:spPr>
          <a:xfrm>
            <a:off x="566928" y="3511296"/>
            <a:ext cx="11057839" cy="1078992"/>
          </a:xfrm>
          <a:prstGeom prst="roundRect">
            <a:avLst>
              <a:gd name="adj" fmla="val 5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3511296"/>
            <a:ext cx="73152" cy="1078992"/>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3675887"/>
            <a:ext cx="10472623" cy="274320"/>
          </a:xfrm>
          <a:prstGeom prst="rect">
            <a:avLst/>
          </a:prstGeom>
          <a:noFill/>
        </p:spPr>
        <p:txBody>
          <a:bodyPr wrap="square" anchor="t" lIns="0" rIns="0" tIns="0" bIns="0">
            <a:noAutofit/>
          </a:bodyPr>
          <a:lstStyle/>
          <a:p>
            <a:pPr algn="l"/>
            <a:r>
              <a:rPr sz="1100" b="0" i="0" spc="160">
                <a:solidFill>
                  <a:srgbClr val="9463D6"/>
                </a:solidFill>
                <a:latin typeface="Segoe UI Semibold"/>
              </a:rPr>
              <a:t>THE MANUAL MIDDLE</a:t>
            </a:r>
          </a:p>
        </p:txBody>
      </p:sp>
      <p:sp>
        <p:nvSpPr>
          <p:cNvPr id="10" name="TextBox 9"/>
          <p:cNvSpPr txBox="1"/>
          <p:nvPr/>
        </p:nvSpPr>
        <p:spPr>
          <a:xfrm>
            <a:off x="859536" y="3986783"/>
            <a:ext cx="10472623" cy="530352"/>
          </a:xfrm>
          <a:prstGeom prst="rect">
            <a:avLst/>
          </a:prstGeom>
          <a:noFill/>
        </p:spPr>
        <p:txBody>
          <a:bodyPr wrap="square" anchor="t" lIns="0" rIns="0" tIns="0" bIns="0">
            <a:noAutofit/>
          </a:bodyPr>
          <a:lstStyle/>
          <a:p>
            <a:pPr algn="l">
              <a:lnSpc>
                <a:spcPct val="118000"/>
              </a:lnSpc>
            </a:pPr>
            <a:r>
              <a:rPr sz="1400" b="0" i="0">
                <a:solidFill>
                  <a:srgbClr val="ECEFF0"/>
                </a:solidFill>
                <a:latin typeface="Segoe UI"/>
              </a:rPr>
              <a:t>Read it, check the balance, open the system, key in the record, write back.</a:t>
            </a:r>
          </a:p>
        </p:txBody>
      </p:sp>
      <p:sp>
        <p:nvSpPr>
          <p:cNvPr id="11" name="Rounded Rectangle 10"/>
          <p:cNvSpPr/>
          <p:nvPr/>
        </p:nvSpPr>
        <p:spPr>
          <a:xfrm>
            <a:off x="566928" y="4809744"/>
            <a:ext cx="11057839" cy="107899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4974336"/>
            <a:ext cx="10472623" cy="274320"/>
          </a:xfrm>
          <a:prstGeom prst="rect">
            <a:avLst/>
          </a:prstGeom>
          <a:noFill/>
        </p:spPr>
        <p:txBody>
          <a:bodyPr wrap="square" anchor="t" lIns="0" rIns="0" tIns="0" bIns="0">
            <a:noAutofit/>
          </a:bodyPr>
          <a:lstStyle/>
          <a:p>
            <a:pPr algn="l"/>
            <a:r>
              <a:rPr sz="1100" b="0" i="0" spc="160">
                <a:solidFill>
                  <a:srgbClr val="6D4098"/>
                </a:solidFill>
                <a:latin typeface="Segoe UI Semibold"/>
              </a:rPr>
              <a:t>YOUR SYSTEMS</a:t>
            </a:r>
          </a:p>
        </p:txBody>
      </p:sp>
      <p:sp>
        <p:nvSpPr>
          <p:cNvPr id="13" name="TextBox 12"/>
          <p:cNvSpPr txBox="1"/>
          <p:nvPr/>
        </p:nvSpPr>
        <p:spPr>
          <a:xfrm>
            <a:off x="859536" y="5285231"/>
            <a:ext cx="10472623" cy="530352"/>
          </a:xfrm>
          <a:prstGeom prst="rect">
            <a:avLst/>
          </a:prstGeom>
          <a:noFill/>
        </p:spPr>
        <p:txBody>
          <a:bodyPr wrap="square" anchor="t" lIns="0" rIns="0" tIns="0" bIns="0">
            <a:noAutofit/>
          </a:bodyPr>
          <a:lstStyle/>
          <a:p>
            <a:pPr algn="l">
              <a:lnSpc>
                <a:spcPct val="118000"/>
              </a:lnSpc>
            </a:pPr>
            <a:r>
              <a:rPr sz="1400" b="0" i="0">
                <a:solidFill>
                  <a:srgbClr val="0F1417"/>
                </a:solidFill>
                <a:latin typeface="Segoe UI"/>
              </a:rPr>
              <a:t>SAP, email, files.</a:t>
            </a:r>
          </a:p>
        </p:txBody>
      </p:sp>
      <p:sp>
        <p:nvSpPr>
          <p:cNvPr id="14" name="Rectangle 1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16" name="TextBox 1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02</a:t>
            </a:r>
          </a:p>
        </p:txBody>
      </p:sp>
      <p:sp>
        <p:nvSpPr>
          <p:cNvPr id="17" name="Rounded Rectangle 16"/>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WHERE IT SITS</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One platform. Every application. Grounded in SAP.</a:t>
            </a:r>
          </a:p>
        </p:txBody>
      </p:sp>
      <p:sp>
        <p:nvSpPr>
          <p:cNvPr id="4" name="Rounded Rectangle 3"/>
          <p:cNvSpPr/>
          <p:nvPr/>
        </p:nvSpPr>
        <p:spPr>
          <a:xfrm>
            <a:off x="2926080" y="1938528"/>
            <a:ext cx="6339535" cy="713232"/>
          </a:xfrm>
          <a:prstGeom prst="roundRect">
            <a:avLst>
              <a:gd name="adj" fmla="val 12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0" y="1975104"/>
            <a:ext cx="6339535" cy="384048"/>
          </a:xfrm>
          <a:prstGeom prst="rect">
            <a:avLst/>
          </a:prstGeom>
          <a:noFill/>
        </p:spPr>
        <p:txBody>
          <a:bodyPr wrap="square" anchor="ctr" lIns="0" rIns="0" tIns="0" bIns="0">
            <a:noAutofit/>
          </a:bodyPr>
          <a:lstStyle/>
          <a:p>
            <a:pPr algn="ctr"/>
            <a:r>
              <a:rPr sz="2000" b="0" i="0">
                <a:solidFill>
                  <a:srgbClr val="FFFFFF"/>
                </a:solidFill>
                <a:latin typeface="Century Gothic"/>
              </a:rPr>
              <a:t>TreasuryCentral</a:t>
            </a:r>
          </a:p>
        </p:txBody>
      </p:sp>
      <p:sp>
        <p:nvSpPr>
          <p:cNvPr id="6" name="TextBox 5"/>
          <p:cNvSpPr txBox="1"/>
          <p:nvPr/>
        </p:nvSpPr>
        <p:spPr>
          <a:xfrm>
            <a:off x="2926080" y="2313432"/>
            <a:ext cx="6339535" cy="274320"/>
          </a:xfrm>
          <a:prstGeom prst="rect">
            <a:avLst/>
          </a:prstGeom>
          <a:noFill/>
        </p:spPr>
        <p:txBody>
          <a:bodyPr wrap="square" anchor="t" lIns="0" rIns="0" tIns="0" bIns="0">
            <a:noAutofit/>
          </a:bodyPr>
          <a:lstStyle/>
          <a:p>
            <a:pPr algn="ctr"/>
            <a:r>
              <a:rPr sz="1200" b="0" i="0">
                <a:solidFill>
                  <a:srgbClr val="EAFBFC"/>
                </a:solidFill>
                <a:latin typeface="Segoe UI"/>
              </a:rPr>
              <a:t>one workspace on OnePilot</a:t>
            </a:r>
          </a:p>
        </p:txBody>
      </p:sp>
      <p:sp>
        <p:nvSpPr>
          <p:cNvPr id="7" name="Rounded Rectangle 6"/>
          <p:cNvSpPr/>
          <p:nvPr/>
        </p:nvSpPr>
        <p:spPr>
          <a:xfrm>
            <a:off x="1554480" y="2889504"/>
            <a:ext cx="9082735" cy="1993392"/>
          </a:xfrm>
          <a:prstGeom prst="roundRect">
            <a:avLst>
              <a:gd name="adj" fmla="val 4500"/>
            </a:avLst>
          </a:prstGeom>
          <a:solidFill>
            <a:srgbClr val="F4F6F7"/>
          </a:solidFill>
          <a:ln w="19050">
            <a:solidFill>
              <a:srgbClr val="6D409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035808"/>
            <a:ext cx="8534095" cy="310896"/>
          </a:xfrm>
          <a:prstGeom prst="rect">
            <a:avLst/>
          </a:prstGeom>
          <a:noFill/>
        </p:spPr>
        <p:txBody>
          <a:bodyPr wrap="square" anchor="t" lIns="0" rIns="0" tIns="0" bIns="0">
            <a:noAutofit/>
          </a:bodyPr>
          <a:lstStyle/>
          <a:p>
            <a:pPr algn="l"/>
            <a:r>
              <a:rPr sz="1500" b="0" i="0">
                <a:solidFill>
                  <a:srgbClr val="6D4098"/>
                </a:solidFill>
                <a:latin typeface="Century Gothic"/>
              </a:rPr>
              <a:t>OnePilot</a:t>
            </a:r>
          </a:p>
        </p:txBody>
      </p:sp>
      <p:sp>
        <p:nvSpPr>
          <p:cNvPr id="9" name="TextBox 8"/>
          <p:cNvSpPr txBox="1"/>
          <p:nvPr/>
        </p:nvSpPr>
        <p:spPr>
          <a:xfrm>
            <a:off x="1828800" y="3035808"/>
            <a:ext cx="8534095" cy="310896"/>
          </a:xfrm>
          <a:prstGeom prst="rect">
            <a:avLst/>
          </a:prstGeom>
          <a:noFill/>
        </p:spPr>
        <p:txBody>
          <a:bodyPr wrap="square" anchor="t" lIns="0" rIns="0" tIns="0" bIns="0">
            <a:noAutofit/>
          </a:bodyPr>
          <a:lstStyle/>
          <a:p>
            <a:pPr algn="r"/>
            <a:r>
              <a:rPr sz="1200" b="0" i="0">
                <a:solidFill>
                  <a:srgbClr val="5B666B"/>
                </a:solidFill>
                <a:latin typeface="Segoe UI"/>
              </a:rPr>
              <a:t>the platform underneath</a:t>
            </a:r>
          </a:p>
        </p:txBody>
      </p:sp>
      <p:sp>
        <p:nvSpPr>
          <p:cNvPr id="10" name="Rounded Rectangle 9"/>
          <p:cNvSpPr/>
          <p:nvPr/>
        </p:nvSpPr>
        <p:spPr>
          <a:xfrm>
            <a:off x="1883664" y="3493008"/>
            <a:ext cx="1914067" cy="1280160"/>
          </a:xfrm>
          <a:prstGeom prst="roundRect">
            <a:avLst>
              <a:gd name="adj" fmla="val 9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84832" y="3712464"/>
            <a:ext cx="292608"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84832" y="3877056"/>
            <a:ext cx="1511731" cy="640080"/>
          </a:xfrm>
          <a:prstGeom prst="rect">
            <a:avLst/>
          </a:prstGeom>
          <a:noFill/>
        </p:spPr>
        <p:txBody>
          <a:bodyPr wrap="square" anchor="t" lIns="0" rIns="0" tIns="0" bIns="0">
            <a:noAutofit/>
          </a:bodyPr>
          <a:lstStyle/>
          <a:p>
            <a:pPr algn="l"/>
            <a:r>
              <a:rPr sz="1350" b="1" i="0">
                <a:solidFill>
                  <a:srgbClr val="0F1417"/>
                </a:solidFill>
                <a:latin typeface="Segoe UI Semibold"/>
              </a:rPr>
              <a:t>Market Data Hub</a:t>
            </a:r>
          </a:p>
        </p:txBody>
      </p:sp>
      <p:sp>
        <p:nvSpPr>
          <p:cNvPr id="13" name="TextBox 12"/>
          <p:cNvSpPr txBox="1"/>
          <p:nvPr/>
        </p:nvSpPr>
        <p:spPr>
          <a:xfrm>
            <a:off x="2084832"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market truth</a:t>
            </a:r>
          </a:p>
        </p:txBody>
      </p:sp>
      <p:sp>
        <p:nvSpPr>
          <p:cNvPr id="14" name="Rounded Rectangle 13"/>
          <p:cNvSpPr/>
          <p:nvPr/>
        </p:nvSpPr>
        <p:spPr>
          <a:xfrm>
            <a:off x="4053763" y="3493008"/>
            <a:ext cx="1914067" cy="1280160"/>
          </a:xfrm>
          <a:prstGeom prst="roundRect">
            <a:avLst>
              <a:gd name="adj" fmla="val 9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4931" y="3712464"/>
            <a:ext cx="292608"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4931" y="3877056"/>
            <a:ext cx="1511731" cy="640080"/>
          </a:xfrm>
          <a:prstGeom prst="rect">
            <a:avLst/>
          </a:prstGeom>
          <a:noFill/>
        </p:spPr>
        <p:txBody>
          <a:bodyPr wrap="square" anchor="t" lIns="0" rIns="0" tIns="0" bIns="0">
            <a:noAutofit/>
          </a:bodyPr>
          <a:lstStyle/>
          <a:p>
            <a:pPr algn="l"/>
            <a:r>
              <a:rPr sz="1350" b="1" i="0">
                <a:solidFill>
                  <a:srgbClr val="0F1417"/>
                </a:solidFill>
                <a:latin typeface="Segoe UI Semibold"/>
              </a:rPr>
              <a:t>Brisken Smart Trading</a:t>
            </a:r>
          </a:p>
        </p:txBody>
      </p:sp>
      <p:sp>
        <p:nvSpPr>
          <p:cNvPr id="17" name="TextBox 16"/>
          <p:cNvSpPr txBox="1"/>
          <p:nvPr/>
        </p:nvSpPr>
        <p:spPr>
          <a:xfrm>
            <a:off x="4254931"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autonomous trading</a:t>
            </a:r>
          </a:p>
        </p:txBody>
      </p:sp>
      <p:sp>
        <p:nvSpPr>
          <p:cNvPr id="18" name="Rounded Rectangle 17"/>
          <p:cNvSpPr/>
          <p:nvPr/>
        </p:nvSpPr>
        <p:spPr>
          <a:xfrm>
            <a:off x="6223863" y="3493008"/>
            <a:ext cx="1914067" cy="1280160"/>
          </a:xfrm>
          <a:prstGeom prst="roundRect">
            <a:avLst>
              <a:gd name="adj" fmla="val 9000"/>
            </a:avLst>
          </a:prstGeom>
          <a:solidFill>
            <a:srgbClr val="FFFFFF"/>
          </a:solidFill>
          <a:ln w="25400">
            <a:solidFill>
              <a:srgbClr val="9463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25031" y="3712464"/>
            <a:ext cx="292608" cy="45720"/>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5031" y="3877056"/>
            <a:ext cx="1511731" cy="640080"/>
          </a:xfrm>
          <a:prstGeom prst="rect">
            <a:avLst/>
          </a:prstGeom>
          <a:noFill/>
        </p:spPr>
        <p:txBody>
          <a:bodyPr wrap="square" anchor="t" lIns="0" rIns="0" tIns="0" bIns="0">
            <a:noAutofit/>
          </a:bodyPr>
          <a:lstStyle/>
          <a:p>
            <a:pPr algn="l"/>
            <a:r>
              <a:rPr sz="1350" b="1" i="0">
                <a:solidFill>
                  <a:srgbClr val="0F1417"/>
                </a:solidFill>
                <a:latin typeface="Segoe UI Semibold"/>
              </a:rPr>
              <a:t>Digital Co-Worker</a:t>
            </a:r>
          </a:p>
        </p:txBody>
      </p:sp>
      <p:sp>
        <p:nvSpPr>
          <p:cNvPr id="21" name="TextBox 20"/>
          <p:cNvSpPr txBox="1"/>
          <p:nvPr/>
        </p:nvSpPr>
        <p:spPr>
          <a:xfrm>
            <a:off x="6425031"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the manual middle</a:t>
            </a:r>
          </a:p>
        </p:txBody>
      </p:sp>
      <p:sp>
        <p:nvSpPr>
          <p:cNvPr id="22" name="Rounded Rectangle 21"/>
          <p:cNvSpPr/>
          <p:nvPr/>
        </p:nvSpPr>
        <p:spPr>
          <a:xfrm>
            <a:off x="8393963" y="3493008"/>
            <a:ext cx="1914067" cy="1280160"/>
          </a:xfrm>
          <a:prstGeom prst="roundRect">
            <a:avLst>
              <a:gd name="adj" fmla="val 9000"/>
            </a:avLst>
          </a:prstGeom>
          <a:noFill/>
          <a:ln w="15875">
            <a:solidFill>
              <a:srgbClr val="6D409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131" y="3712464"/>
            <a:ext cx="292608"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131" y="3877056"/>
            <a:ext cx="1511731" cy="640080"/>
          </a:xfrm>
          <a:prstGeom prst="rect">
            <a:avLst/>
          </a:prstGeom>
          <a:noFill/>
        </p:spPr>
        <p:txBody>
          <a:bodyPr wrap="square" anchor="t" lIns="0" rIns="0" tIns="0" bIns="0">
            <a:noAutofit/>
          </a:bodyPr>
          <a:lstStyle/>
          <a:p>
            <a:pPr algn="l"/>
            <a:r>
              <a:rPr sz="1350" b="1" i="0">
                <a:solidFill>
                  <a:srgbClr val="6D4098"/>
                </a:solidFill>
                <a:latin typeface="Segoe UI Semibold"/>
              </a:rPr>
              <a:t>+ your own apps</a:t>
            </a:r>
          </a:p>
        </p:txBody>
      </p:sp>
      <p:sp>
        <p:nvSpPr>
          <p:cNvPr id="25" name="TextBox 24"/>
          <p:cNvSpPr txBox="1"/>
          <p:nvPr/>
        </p:nvSpPr>
        <p:spPr>
          <a:xfrm>
            <a:off x="8595131" y="4389120"/>
            <a:ext cx="1511731" cy="274320"/>
          </a:xfrm>
          <a:prstGeom prst="rect">
            <a:avLst/>
          </a:prstGeom>
          <a:noFill/>
        </p:spPr>
        <p:txBody>
          <a:bodyPr wrap="square" anchor="t" lIns="0" rIns="0" tIns="0" bIns="0">
            <a:noAutofit/>
          </a:bodyPr>
          <a:lstStyle/>
          <a:p>
            <a:pPr algn="l"/>
            <a:r>
              <a:rPr sz="1150" b="0" i="0">
                <a:solidFill>
                  <a:srgbClr val="8A9599"/>
                </a:solidFill>
                <a:latin typeface="Segoe UI"/>
              </a:rPr>
              <a:t>an open platform</a:t>
            </a:r>
          </a:p>
        </p:txBody>
      </p:sp>
      <p:sp>
        <p:nvSpPr>
          <p:cNvPr id="26" name="TextBox 25"/>
          <p:cNvSpPr txBox="1"/>
          <p:nvPr/>
        </p:nvSpPr>
        <p:spPr>
          <a:xfrm>
            <a:off x="1554480" y="4937760"/>
            <a:ext cx="9082735" cy="219456"/>
          </a:xfrm>
          <a:prstGeom prst="rect">
            <a:avLst/>
          </a:prstGeom>
          <a:noFill/>
        </p:spPr>
        <p:txBody>
          <a:bodyPr wrap="square" anchor="t" lIns="0" rIns="0" tIns="0" bIns="0">
            <a:noAutofit/>
          </a:bodyPr>
          <a:lstStyle/>
          <a:p>
            <a:pPr algn="ctr"/>
            <a:r>
              <a:rPr sz="1150" b="0" i="1">
                <a:solidFill>
                  <a:srgbClr val="8A9599"/>
                </a:solidFill>
                <a:latin typeface="Segoe UI"/>
              </a:rPr>
              <a:t>OnePilot connects your SAP and non-SAP systems alike.</a:t>
            </a:r>
          </a:p>
        </p:txBody>
      </p:sp>
      <p:sp>
        <p:nvSpPr>
          <p:cNvPr id="27" name="Rounded Rectangle 26"/>
          <p:cNvSpPr/>
          <p:nvPr/>
        </p:nvSpPr>
        <p:spPr>
          <a:xfrm>
            <a:off x="2926080" y="5193792"/>
            <a:ext cx="6339535" cy="658368"/>
          </a:xfrm>
          <a:prstGeom prst="roundRect">
            <a:avLst>
              <a:gd name="adj" fmla="val 12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26080" y="5193792"/>
            <a:ext cx="6339535" cy="658368"/>
          </a:xfrm>
          <a:prstGeom prst="rect">
            <a:avLst/>
          </a:prstGeom>
          <a:noFill/>
        </p:spPr>
        <p:txBody>
          <a:bodyPr wrap="square" anchor="ctr" lIns="0" rIns="0" tIns="0" bIns="0">
            <a:noAutofit/>
          </a:bodyPr>
          <a:lstStyle/>
          <a:p>
            <a:pPr algn="ctr"/>
            <a:r>
              <a:rPr sz="1400" b="0" i="0">
                <a:solidFill>
                  <a:srgbClr val="ECEFF0"/>
                </a:solidFill>
                <a:latin typeface="Segoe UI Semibold"/>
              </a:rPr>
              <a:t>SAP   ·   your book of records, grounded</a:t>
            </a:r>
          </a:p>
        </p:txBody>
      </p:sp>
      <p:sp>
        <p:nvSpPr>
          <p:cNvPr id="29" name="TextBox 28"/>
          <p:cNvSpPr txBox="1"/>
          <p:nvPr/>
        </p:nvSpPr>
        <p:spPr>
          <a:xfrm>
            <a:off x="566928" y="5943600"/>
            <a:ext cx="11057839" cy="274320"/>
          </a:xfrm>
          <a:prstGeom prst="rect">
            <a:avLst/>
          </a:prstGeom>
          <a:noFill/>
        </p:spPr>
        <p:txBody>
          <a:bodyPr wrap="square" anchor="t" lIns="0" rIns="0" tIns="0" bIns="0">
            <a:noAutofit/>
          </a:bodyPr>
          <a:lstStyle/>
          <a:p>
            <a:pPr algn="ctr"/>
            <a:r>
              <a:rPr sz="1200" b="0" i="0">
                <a:solidFill>
                  <a:srgbClr val="8A9599"/>
                </a:solidFill>
                <a:latin typeface="Segoe UI"/>
              </a:rPr>
              <a:t>The Digital Co-Worker is the AI application inside TreasuryCentral, the shipped edition of OnePilot. Its use cases run in production at chemicals and agricultural customers.</a:t>
            </a:r>
          </a:p>
        </p:txBody>
      </p:sp>
      <p:sp>
        <p:nvSpPr>
          <p:cNvPr id="30" name="Rectangle 29"/>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2" name="TextBox 31"/>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03</a:t>
            </a:r>
          </a:p>
        </p:txBody>
      </p:sp>
      <p:sp>
        <p:nvSpPr>
          <p:cNvPr id="33" name="Rounded Rectangle 32"/>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DIGITAL CO-WORKER</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An AI colleague for the manual middle.</a:t>
            </a:r>
          </a:p>
        </p:txBody>
      </p:sp>
      <p:sp>
        <p:nvSpPr>
          <p:cNvPr id="4" name="TextBox 3"/>
          <p:cNvSpPr txBox="1"/>
          <p:nvPr/>
        </p:nvSpPr>
        <p:spPr>
          <a:xfrm>
            <a:off x="566928" y="1755648"/>
            <a:ext cx="10424160" cy="457200"/>
          </a:xfrm>
          <a:prstGeom prst="rect">
            <a:avLst/>
          </a:prstGeom>
          <a:noFill/>
        </p:spPr>
        <p:txBody>
          <a:bodyPr wrap="square" anchor="t" lIns="0" rIns="0" tIns="0" bIns="0">
            <a:noAutofit/>
          </a:bodyPr>
          <a:lstStyle/>
          <a:p>
            <a:pPr algn="l">
              <a:lnSpc>
                <a:spcPct val="118000"/>
              </a:lnSpc>
            </a:pPr>
            <a:r>
              <a:rPr sz="1450" b="0" i="1">
                <a:solidFill>
                  <a:srgbClr val="5B666B"/>
                </a:solidFill>
                <a:latin typeface="Segoe UI"/>
              </a:rPr>
              <a:t>It does the busywork of a request across your systems: read it, check the balance, open SAP, key it in, write back.</a:t>
            </a:r>
          </a:p>
        </p:txBody>
      </p:sp>
      <p:sp>
        <p:nvSpPr>
          <p:cNvPr id="5" name="Rounded Rectangle 4"/>
          <p:cNvSpPr/>
          <p:nvPr/>
        </p:nvSpPr>
        <p:spPr>
          <a:xfrm>
            <a:off x="566928"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04672" y="2542032"/>
            <a:ext cx="329184"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THE PROBLEM IT REMOVES</a:t>
            </a:r>
          </a:p>
        </p:txBody>
      </p:sp>
      <p:sp>
        <p:nvSpPr>
          <p:cNvPr id="8" name="TextBox 7"/>
          <p:cNvSpPr txBox="1"/>
          <p:nvPr/>
        </p:nvSpPr>
        <p:spPr>
          <a:xfrm>
            <a:off x="804672"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Real work is a dozen small steps across a dozen systems.</a:t>
            </a:r>
          </a:p>
          <a:p>
            <a:pPr algn="l">
              <a:lnSpc>
                <a:spcPct val="118000"/>
              </a:lnSpc>
              <a:spcAft>
                <a:spcPts val="800"/>
              </a:spcAft>
            </a:pPr>
            <a:r>
              <a:rPr sz="1300" b="0" i="0">
                <a:solidFill>
                  <a:srgbClr val="5B666B"/>
                </a:solidFill>
                <a:latin typeface="Segoe UI"/>
              </a:rPr>
              <a:t>A request arrives as an email, a message or a form, and a person works it by hand.</a:t>
            </a:r>
          </a:p>
        </p:txBody>
      </p:sp>
      <p:sp>
        <p:nvSpPr>
          <p:cNvPr id="9" name="Rounded Rectangle 8"/>
          <p:cNvSpPr/>
          <p:nvPr/>
        </p:nvSpPr>
        <p:spPr>
          <a:xfrm>
            <a:off x="4356506"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94250" y="2542032"/>
            <a:ext cx="329184" cy="45720"/>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4250"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IT DOES, STEP BY STEP</a:t>
            </a:r>
          </a:p>
        </p:txBody>
      </p:sp>
      <p:sp>
        <p:nvSpPr>
          <p:cNvPr id="12" name="TextBox 11"/>
          <p:cNvSpPr txBox="1"/>
          <p:nvPr/>
        </p:nvSpPr>
        <p:spPr>
          <a:xfrm>
            <a:off x="4594250" y="3310128"/>
            <a:ext cx="3003194" cy="1810511"/>
          </a:xfrm>
          <a:prstGeom prst="rect">
            <a:avLst/>
          </a:prstGeom>
          <a:noFill/>
        </p:spPr>
        <p:txBody>
          <a:bodyPr wrap="square" anchor="t" lIns="0" rIns="0" tIns="0" bIns="0">
            <a:noAutofit/>
          </a:bodyPr>
          <a:lstStyle/>
          <a:p>
            <a:pPr algn="l">
              <a:lnSpc>
                <a:spcPct val="112000"/>
              </a:lnSpc>
              <a:spcAft>
                <a:spcPts val="600"/>
              </a:spcAft>
            </a:pPr>
            <a:r>
              <a:rPr sz="1250" b="0" i="0">
                <a:solidFill>
                  <a:srgbClr val="5B666B"/>
                </a:solidFill>
                <a:latin typeface="Segoe UI"/>
              </a:rPr>
              <a:t>1   Reads the request: an email, a message, a form.</a:t>
            </a:r>
          </a:p>
          <a:p>
            <a:pPr algn="l">
              <a:lnSpc>
                <a:spcPct val="112000"/>
              </a:lnSpc>
              <a:spcAft>
                <a:spcPts val="600"/>
              </a:spcAft>
            </a:pPr>
            <a:r>
              <a:rPr sz="1250" b="0" i="0">
                <a:solidFill>
                  <a:srgbClr val="5B666B"/>
                </a:solidFill>
                <a:latin typeface="Segoe UI"/>
              </a:rPr>
              <a:t>2   Pulls what it needs from your systems.</a:t>
            </a:r>
          </a:p>
          <a:p>
            <a:pPr algn="l">
              <a:lnSpc>
                <a:spcPct val="112000"/>
              </a:lnSpc>
              <a:spcAft>
                <a:spcPts val="600"/>
              </a:spcAft>
            </a:pPr>
            <a:r>
              <a:rPr sz="1250" b="0" i="0">
                <a:solidFill>
                  <a:srgbClr val="5B666B"/>
                </a:solidFill>
                <a:latin typeface="Segoe UI"/>
              </a:rPr>
              <a:t>3   Carries out each step and drafts it in SAP, every action logged.</a:t>
            </a:r>
          </a:p>
          <a:p>
            <a:pPr algn="l">
              <a:lnSpc>
                <a:spcPct val="112000"/>
              </a:lnSpc>
              <a:spcAft>
                <a:spcPts val="600"/>
              </a:spcAft>
            </a:pPr>
            <a:r>
              <a:rPr sz="1250" b="0" i="0">
                <a:solidFill>
                  <a:srgbClr val="5B666B"/>
                </a:solidFill>
                <a:latin typeface="Segoe UI"/>
              </a:rPr>
              <a:t>4   Confirms in chat; the moves that matter wait for a person.</a:t>
            </a:r>
          </a:p>
        </p:txBody>
      </p:sp>
      <p:sp>
        <p:nvSpPr>
          <p:cNvPr id="13" name="Rounded Rectangle 12"/>
          <p:cNvSpPr/>
          <p:nvPr/>
        </p:nvSpPr>
        <p:spPr>
          <a:xfrm>
            <a:off x="8146084" y="2286000"/>
            <a:ext cx="3478682" cy="2999232"/>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83828" y="2542032"/>
            <a:ext cx="329184"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3828" y="2706624"/>
            <a:ext cx="3003194" cy="457200"/>
          </a:xfrm>
          <a:prstGeom prst="rect">
            <a:avLst/>
          </a:prstGeom>
          <a:noFill/>
        </p:spPr>
        <p:txBody>
          <a:bodyPr wrap="square" anchor="t" lIns="0" rIns="0" tIns="0" bIns="0">
            <a:noAutofit/>
          </a:bodyPr>
          <a:lstStyle/>
          <a:p>
            <a:pPr algn="l">
              <a:lnSpc>
                <a:spcPct val="105000"/>
              </a:lnSpc>
            </a:pPr>
            <a:r>
              <a:rPr sz="1150" b="1" i="0" spc="50">
                <a:solidFill>
                  <a:srgbClr val="0F1417"/>
                </a:solidFill>
                <a:latin typeface="Segoe UI Semibold"/>
              </a:rPr>
              <a:t>WHAT YOU NO LONGER DO BY HAND</a:t>
            </a:r>
          </a:p>
        </p:txBody>
      </p:sp>
      <p:sp>
        <p:nvSpPr>
          <p:cNvPr id="16" name="TextBox 15"/>
          <p:cNvSpPr txBox="1"/>
          <p:nvPr/>
        </p:nvSpPr>
        <p:spPr>
          <a:xfrm>
            <a:off x="8383828" y="3310128"/>
            <a:ext cx="3003194" cy="1810511"/>
          </a:xfrm>
          <a:prstGeom prst="rect">
            <a:avLst/>
          </a:prstGeom>
          <a:noFill/>
        </p:spPr>
        <p:txBody>
          <a:bodyPr wrap="square" anchor="t" lIns="0" rIns="0" tIns="0" bIns="0">
            <a:noAutofit/>
          </a:bodyPr>
          <a:lstStyle/>
          <a:p>
            <a:pPr algn="l">
              <a:lnSpc>
                <a:spcPct val="118000"/>
              </a:lnSpc>
              <a:spcAft>
                <a:spcPts val="800"/>
              </a:spcAft>
            </a:pPr>
            <a:r>
              <a:rPr sz="1300" b="0" i="0">
                <a:solidFill>
                  <a:srgbClr val="5B666B"/>
                </a:solidFill>
                <a:latin typeface="Segoe UI"/>
              </a:rPr>
              <a:t>Reading each request, checking balances, keying into SAP, writing back.</a:t>
            </a:r>
          </a:p>
          <a:p>
            <a:pPr algn="l">
              <a:lnSpc>
                <a:spcPct val="118000"/>
              </a:lnSpc>
              <a:spcAft>
                <a:spcPts val="800"/>
              </a:spcAft>
            </a:pPr>
            <a:r>
              <a:rPr sz="1300" b="0" i="0">
                <a:solidFill>
                  <a:srgbClr val="5B666B"/>
                </a:solidFill>
                <a:latin typeface="Segoe UI"/>
              </a:rPr>
              <a:t>The copy-paste across a dozen systems, all day.</a:t>
            </a:r>
          </a:p>
          <a:p>
            <a:pPr algn="l">
              <a:lnSpc>
                <a:spcPct val="118000"/>
              </a:lnSpc>
              <a:spcAft>
                <a:spcPts val="800"/>
              </a:spcAft>
            </a:pPr>
            <a:r>
              <a:rPr sz="1300" b="0" i="0">
                <a:solidFill>
                  <a:srgbClr val="5B666B"/>
                </a:solidFill>
                <a:latin typeface="Segoe UI"/>
              </a:rPr>
              <a:t>You keep the judgment; the busywork is gone.</a:t>
            </a:r>
          </a:p>
        </p:txBody>
      </p:sp>
      <p:sp>
        <p:nvSpPr>
          <p:cNvPr id="17" name="Rounded Rectangle 16"/>
          <p:cNvSpPr/>
          <p:nvPr/>
        </p:nvSpPr>
        <p:spPr>
          <a:xfrm>
            <a:off x="566928" y="5468112"/>
            <a:ext cx="11057839" cy="548640"/>
          </a:xfrm>
          <a:prstGeom prst="roundRect">
            <a:avLst>
              <a:gd name="adj" fmla="val 8000"/>
            </a:avLst>
          </a:prstGeom>
          <a:solidFill>
            <a:srgbClr val="0F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5468112"/>
            <a:ext cx="10509199" cy="548640"/>
          </a:xfrm>
          <a:prstGeom prst="rect">
            <a:avLst/>
          </a:prstGeom>
          <a:noFill/>
        </p:spPr>
        <p:txBody>
          <a:bodyPr wrap="square" anchor="ctr" lIns="0" rIns="0" tIns="0" bIns="0">
            <a:noAutofit/>
          </a:bodyPr>
          <a:lstStyle/>
          <a:p>
            <a:pPr algn="l">
              <a:lnSpc>
                <a:spcPct val="105000"/>
              </a:lnSpc>
            </a:pPr>
            <a:r>
              <a:rPr sz="1150" b="0" i="0">
                <a:solidFill>
                  <a:srgbClr val="ECEFF0"/>
                </a:solidFill>
                <a:latin typeface="Segoe UI"/>
              </a:rPr>
              <a:t>CONNECTS TO   email · files · forms  →  SAP S/4HANA &amp; ECC   ·   outputs SAP process steps, records, confirmations, replies</a:t>
            </a:r>
          </a:p>
        </p:txBody>
      </p:sp>
      <p:sp>
        <p:nvSpPr>
          <p:cNvPr id="19" name="Rectangle 18"/>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1" name="TextBox 20"/>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04</a:t>
            </a:r>
          </a:p>
        </p:txBody>
      </p:sp>
      <p:sp>
        <p:nvSpPr>
          <p:cNvPr id="22" name="Rounded Rectangle 21"/>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DIGITAL CO-WORKER · FUNCTIONAL OVERVIEW</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400" b="0" i="0">
                <a:solidFill>
                  <a:srgbClr val="0F1417"/>
                </a:solidFill>
                <a:latin typeface="Century Gothic"/>
              </a:rPr>
              <a:t>Any document, any trigger, into SAP.</a:t>
            </a:r>
          </a:p>
        </p:txBody>
      </p:sp>
      <p:sp>
        <p:nvSpPr>
          <p:cNvPr id="4" name="TextBox 3"/>
          <p:cNvSpPr txBox="1"/>
          <p:nvPr/>
        </p:nvSpPr>
        <p:spPr>
          <a:xfrm>
            <a:off x="566928" y="2020824"/>
            <a:ext cx="2743200" cy="274320"/>
          </a:xfrm>
          <a:prstGeom prst="rect">
            <a:avLst/>
          </a:prstGeom>
          <a:noFill/>
        </p:spPr>
        <p:txBody>
          <a:bodyPr wrap="square" anchor="t" lIns="0" rIns="0" tIns="0" bIns="0">
            <a:noAutofit/>
          </a:bodyPr>
          <a:lstStyle/>
          <a:p>
            <a:pPr algn="ctr"/>
            <a:r>
              <a:rPr sz="1050" b="0" i="0" spc="200">
                <a:solidFill>
                  <a:srgbClr val="8A9599"/>
                </a:solidFill>
                <a:latin typeface="Segoe UI Semibold"/>
              </a:rPr>
              <a:t>SOURCES</a:t>
            </a:r>
          </a:p>
        </p:txBody>
      </p:sp>
      <p:sp>
        <p:nvSpPr>
          <p:cNvPr id="5" name="TextBox 4"/>
          <p:cNvSpPr txBox="1"/>
          <p:nvPr/>
        </p:nvSpPr>
        <p:spPr>
          <a:xfrm>
            <a:off x="9189720" y="2020824"/>
            <a:ext cx="2435047" cy="274320"/>
          </a:xfrm>
          <a:prstGeom prst="rect">
            <a:avLst/>
          </a:prstGeom>
          <a:noFill/>
        </p:spPr>
        <p:txBody>
          <a:bodyPr wrap="square" anchor="t" lIns="0" rIns="0" tIns="0" bIns="0">
            <a:noAutofit/>
          </a:bodyPr>
          <a:lstStyle/>
          <a:p>
            <a:pPr algn="ctr"/>
            <a:r>
              <a:rPr sz="1050" b="0" i="0" spc="200">
                <a:solidFill>
                  <a:srgbClr val="8A9599"/>
                </a:solidFill>
                <a:latin typeface="Segoe UI Semibold"/>
              </a:rPr>
              <a:t>DESTINATIONS</a:t>
            </a:r>
          </a:p>
        </p:txBody>
      </p:sp>
      <p:sp>
        <p:nvSpPr>
          <p:cNvPr id="6" name="Rounded Rectangle 5"/>
          <p:cNvSpPr/>
          <p:nvPr/>
        </p:nvSpPr>
        <p:spPr>
          <a:xfrm>
            <a:off x="566928" y="2331720"/>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2331720"/>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Emails / requests</a:t>
            </a:r>
          </a:p>
        </p:txBody>
      </p:sp>
      <p:sp>
        <p:nvSpPr>
          <p:cNvPr id="8" name="Rounded Rectangle 7"/>
          <p:cNvSpPr/>
          <p:nvPr/>
        </p:nvSpPr>
        <p:spPr>
          <a:xfrm>
            <a:off x="566928" y="2898648"/>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2898648"/>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Remittance advices / invoices</a:t>
            </a:r>
          </a:p>
        </p:txBody>
      </p:sp>
      <p:sp>
        <p:nvSpPr>
          <p:cNvPr id="10" name="Rounded Rectangle 9"/>
          <p:cNvSpPr/>
          <p:nvPr/>
        </p:nvSpPr>
        <p:spPr>
          <a:xfrm>
            <a:off x="566928" y="3465576"/>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465576"/>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Funding requests</a:t>
            </a:r>
          </a:p>
        </p:txBody>
      </p:sp>
      <p:sp>
        <p:nvSpPr>
          <p:cNvPr id="12" name="Rounded Rectangle 11"/>
          <p:cNvSpPr/>
          <p:nvPr/>
        </p:nvSpPr>
        <p:spPr>
          <a:xfrm>
            <a:off x="566928" y="4032504"/>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4032504"/>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Bank statements</a:t>
            </a:r>
          </a:p>
        </p:txBody>
      </p:sp>
      <p:sp>
        <p:nvSpPr>
          <p:cNvPr id="14" name="Rounded Rectangle 13"/>
          <p:cNvSpPr/>
          <p:nvPr/>
        </p:nvSpPr>
        <p:spPr>
          <a:xfrm>
            <a:off x="566928" y="4599431"/>
            <a:ext cx="2743200"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4599431"/>
            <a:ext cx="2523744" cy="566928"/>
          </a:xfrm>
          <a:prstGeom prst="rect">
            <a:avLst/>
          </a:prstGeom>
          <a:noFill/>
        </p:spPr>
        <p:txBody>
          <a:bodyPr wrap="square" anchor="ctr" lIns="0" rIns="0" tIns="0" bIns="0">
            <a:noAutofit/>
          </a:bodyPr>
          <a:lstStyle/>
          <a:p>
            <a:pPr algn="ctr"/>
            <a:r>
              <a:rPr sz="1200" b="0" i="0">
                <a:solidFill>
                  <a:srgbClr val="0F1417"/>
                </a:solidFill>
                <a:latin typeface="Segoe UI Semibold"/>
              </a:rPr>
              <a:t>Any document, any trigger</a:t>
            </a:r>
          </a:p>
        </p:txBody>
      </p:sp>
      <p:sp>
        <p:nvSpPr>
          <p:cNvPr id="16" name="Rounded Rectangle 15"/>
          <p:cNvSpPr/>
          <p:nvPr/>
        </p:nvSpPr>
        <p:spPr>
          <a:xfrm>
            <a:off x="9189720" y="2331720"/>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9448" y="2331720"/>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SAP process steps</a:t>
            </a:r>
          </a:p>
        </p:txBody>
      </p:sp>
      <p:sp>
        <p:nvSpPr>
          <p:cNvPr id="18" name="Rounded Rectangle 17"/>
          <p:cNvSpPr/>
          <p:nvPr/>
        </p:nvSpPr>
        <p:spPr>
          <a:xfrm>
            <a:off x="9189720" y="3087624"/>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9448" y="3087624"/>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Records &amp; notes</a:t>
            </a:r>
          </a:p>
        </p:txBody>
      </p:sp>
      <p:sp>
        <p:nvSpPr>
          <p:cNvPr id="20" name="Rounded Rectangle 19"/>
          <p:cNvSpPr/>
          <p:nvPr/>
        </p:nvSpPr>
        <p:spPr>
          <a:xfrm>
            <a:off x="9189720" y="3843528"/>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843528"/>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Confirmations</a:t>
            </a:r>
          </a:p>
        </p:txBody>
      </p:sp>
      <p:sp>
        <p:nvSpPr>
          <p:cNvPr id="22" name="Rounded Rectangle 21"/>
          <p:cNvSpPr/>
          <p:nvPr/>
        </p:nvSpPr>
        <p:spPr>
          <a:xfrm>
            <a:off x="9189720" y="4599431"/>
            <a:ext cx="2435047" cy="566928"/>
          </a:xfrm>
          <a:prstGeom prst="roundRect">
            <a:avLst>
              <a:gd name="adj" fmla="val 14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99448" y="4599431"/>
            <a:ext cx="2215591" cy="566928"/>
          </a:xfrm>
          <a:prstGeom prst="rect">
            <a:avLst/>
          </a:prstGeom>
          <a:noFill/>
        </p:spPr>
        <p:txBody>
          <a:bodyPr wrap="square" anchor="ctr" lIns="0" rIns="0" tIns="0" bIns="0">
            <a:noAutofit/>
          </a:bodyPr>
          <a:lstStyle/>
          <a:p>
            <a:pPr algn="ctr"/>
            <a:r>
              <a:rPr sz="1200" b="0" i="0">
                <a:solidFill>
                  <a:srgbClr val="0F1417"/>
                </a:solidFill>
                <a:latin typeface="Segoe UI Semibold"/>
              </a:rPr>
              <a:t>Replies</a:t>
            </a:r>
          </a:p>
        </p:txBody>
      </p:sp>
      <p:sp>
        <p:nvSpPr>
          <p:cNvPr id="24" name="Rounded Rectangle 23"/>
          <p:cNvSpPr/>
          <p:nvPr/>
        </p:nvSpPr>
        <p:spPr>
          <a:xfrm>
            <a:off x="3977639" y="2468879"/>
            <a:ext cx="4251960" cy="2560320"/>
          </a:xfrm>
          <a:prstGeom prst="roundRect">
            <a:avLst>
              <a:gd name="adj" fmla="val 5000"/>
            </a:avLst>
          </a:prstGeom>
          <a:solidFill>
            <a:srgbClr val="FFFFFF"/>
          </a:solidFill>
          <a:ln w="25400">
            <a:solidFill>
              <a:srgbClr val="9463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59" y="2788920"/>
            <a:ext cx="3703320" cy="457200"/>
          </a:xfrm>
          <a:prstGeom prst="rect">
            <a:avLst/>
          </a:prstGeom>
          <a:noFill/>
        </p:spPr>
        <p:txBody>
          <a:bodyPr wrap="square" anchor="t" lIns="0" rIns="0" tIns="0" bIns="0">
            <a:noAutofit/>
          </a:bodyPr>
          <a:lstStyle/>
          <a:p>
            <a:pPr algn="ctr"/>
            <a:r>
              <a:rPr sz="1100" b="0" i="0" spc="200">
                <a:solidFill>
                  <a:srgbClr val="6D4098"/>
                </a:solidFill>
                <a:latin typeface="Segoe UI Semibold"/>
              </a:rPr>
              <a:t>BRISKEN</a:t>
            </a:r>
          </a:p>
        </p:txBody>
      </p:sp>
      <p:sp>
        <p:nvSpPr>
          <p:cNvPr id="26" name="TextBox 25"/>
          <p:cNvSpPr txBox="1"/>
          <p:nvPr/>
        </p:nvSpPr>
        <p:spPr>
          <a:xfrm>
            <a:off x="4251959" y="3118103"/>
            <a:ext cx="3703320" cy="640080"/>
          </a:xfrm>
          <a:prstGeom prst="rect">
            <a:avLst/>
          </a:prstGeom>
          <a:noFill/>
        </p:spPr>
        <p:txBody>
          <a:bodyPr wrap="square" anchor="t" lIns="0" rIns="0" tIns="0" bIns="0">
            <a:noAutofit/>
          </a:bodyPr>
          <a:lstStyle/>
          <a:p>
            <a:pPr algn="ctr">
              <a:lnSpc>
                <a:spcPct val="100000"/>
              </a:lnSpc>
            </a:pPr>
            <a:r>
              <a:rPr sz="2100" b="0" i="0">
                <a:solidFill>
                  <a:srgbClr val="0F1417"/>
                </a:solidFill>
                <a:latin typeface="Century Gothic"/>
              </a:rPr>
              <a:t>Digital Co-Worker</a:t>
            </a:r>
          </a:p>
        </p:txBody>
      </p:sp>
      <p:sp>
        <p:nvSpPr>
          <p:cNvPr id="27" name="TextBox 26"/>
          <p:cNvSpPr txBox="1"/>
          <p:nvPr/>
        </p:nvSpPr>
        <p:spPr>
          <a:xfrm>
            <a:off x="4251959" y="3813048"/>
            <a:ext cx="3703320" cy="310896"/>
          </a:xfrm>
          <a:prstGeom prst="rect">
            <a:avLst/>
          </a:prstGeom>
          <a:noFill/>
        </p:spPr>
        <p:txBody>
          <a:bodyPr wrap="square" anchor="t" lIns="0" rIns="0" tIns="0" bIns="0">
            <a:noAutofit/>
          </a:bodyPr>
          <a:lstStyle/>
          <a:p>
            <a:pPr algn="ctr"/>
            <a:r>
              <a:rPr sz="1250" b="0" i="0">
                <a:solidFill>
                  <a:srgbClr val="5B666B"/>
                </a:solidFill>
                <a:latin typeface="Segoe UI"/>
              </a:rPr>
              <a:t>on SAP's own cloud  ·  governed end to end</a:t>
            </a:r>
          </a:p>
        </p:txBody>
      </p:sp>
      <p:sp>
        <p:nvSpPr>
          <p:cNvPr id="28" name="Rounded Rectangle 27"/>
          <p:cNvSpPr/>
          <p:nvPr/>
        </p:nvSpPr>
        <p:spPr>
          <a:xfrm>
            <a:off x="4343400" y="4215383"/>
            <a:ext cx="3520440" cy="603504"/>
          </a:xfrm>
          <a:prstGeom prst="roundRect">
            <a:avLst>
              <a:gd name="adj" fmla="val 12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4215383"/>
            <a:ext cx="3337560" cy="603504"/>
          </a:xfrm>
          <a:prstGeom prst="rect">
            <a:avLst/>
          </a:prstGeom>
          <a:noFill/>
        </p:spPr>
        <p:txBody>
          <a:bodyPr wrap="square" anchor="ctr" lIns="0" rIns="0" tIns="0" bIns="0">
            <a:noAutofit/>
          </a:bodyPr>
          <a:lstStyle/>
          <a:p>
            <a:pPr algn="ctr">
              <a:lnSpc>
                <a:spcPct val="110000"/>
              </a:lnSpc>
            </a:pPr>
            <a:r>
              <a:rPr sz="1050" b="0" i="0">
                <a:solidFill>
                  <a:srgbClr val="5B666B"/>
                </a:solidFill>
                <a:latin typeface="Segoe UI"/>
              </a:rPr>
              <a:t>Audit trail · segregation of duty · anomaly alerts · person-in-the-loop</a:t>
            </a:r>
          </a:p>
        </p:txBody>
      </p:sp>
      <p:sp>
        <p:nvSpPr>
          <p:cNvPr id="30" name="Right Arrow 29"/>
          <p:cNvSpPr/>
          <p:nvPr/>
        </p:nvSpPr>
        <p:spPr>
          <a:xfrm>
            <a:off x="3438144" y="3602735"/>
            <a:ext cx="411479" cy="292608"/>
          </a:xfrm>
          <a:prstGeom prst="rightArrow">
            <a:avLst>
              <a:gd name="adj1" fmla="val 55000"/>
              <a:gd name="adj2" fmla="val 55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8357616" y="3602735"/>
            <a:ext cx="704088" cy="292608"/>
          </a:xfrm>
          <a:prstGeom prst="rightArrow">
            <a:avLst>
              <a:gd name="adj1" fmla="val 55000"/>
              <a:gd name="adj2" fmla="val 55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5422392"/>
            <a:ext cx="11057839" cy="274320"/>
          </a:xfrm>
          <a:prstGeom prst="rect">
            <a:avLst/>
          </a:prstGeom>
          <a:noFill/>
        </p:spPr>
        <p:txBody>
          <a:bodyPr wrap="square" anchor="t" lIns="0" rIns="0" tIns="0" bIns="0">
            <a:noAutofit/>
          </a:bodyPr>
          <a:lstStyle/>
          <a:p>
            <a:pPr algn="ctr"/>
            <a:r>
              <a:rPr sz="1100" b="0" i="0" spc="60">
                <a:solidFill>
                  <a:srgbClr val="6D4098"/>
                </a:solidFill>
                <a:latin typeface="Segoe UI Semibold"/>
              </a:rPr>
              <a:t>CONNECTS VIA   RFC / OData  ·  AMQP  ·  SFTP  ·  REST  ·  HTTP  ·  Email  ·  Excel add-in</a:t>
            </a:r>
          </a:p>
        </p:txBody>
      </p:sp>
      <p:sp>
        <p:nvSpPr>
          <p:cNvPr id="33" name="TextBox 32"/>
          <p:cNvSpPr txBox="1"/>
          <p:nvPr/>
        </p:nvSpPr>
        <p:spPr>
          <a:xfrm>
            <a:off x="566928" y="5733288"/>
            <a:ext cx="11057839" cy="274320"/>
          </a:xfrm>
          <a:prstGeom prst="rect">
            <a:avLst/>
          </a:prstGeom>
          <a:noFill/>
        </p:spPr>
        <p:txBody>
          <a:bodyPr wrap="square" anchor="t" lIns="0" rIns="0" tIns="0" bIns="0">
            <a:noAutofit/>
          </a:bodyPr>
          <a:lstStyle/>
          <a:p>
            <a:pPr algn="ctr"/>
            <a:r>
              <a:rPr sz="1200" b="0" i="0">
                <a:solidFill>
                  <a:srgbClr val="8A9599"/>
                </a:solidFill>
                <a:latin typeface="Segoe UI"/>
              </a:rPr>
              <a:t>Any document in, the right action out, with a person on the moves that matter.</a:t>
            </a:r>
          </a:p>
        </p:txBody>
      </p:sp>
      <p:pic>
        <p:nvPicPr>
          <p:cNvPr id="34" name="Picture 33" descr="sap_certified.png"/>
          <p:cNvPicPr>
            <a:picLocks noChangeAspect="1"/>
          </p:cNvPicPr>
          <p:nvPr/>
        </p:nvPicPr>
        <p:blipFill>
          <a:blip r:embed="rId2"/>
          <a:stretch>
            <a:fillRect/>
          </a:stretch>
        </p:blipFill>
        <p:spPr>
          <a:xfrm>
            <a:off x="9887407" y="457200"/>
            <a:ext cx="1737360" cy="366813"/>
          </a:xfrm>
          <a:prstGeom prst="rect">
            <a:avLst/>
          </a:prstGeom>
        </p:spPr>
      </p:pic>
      <p:sp>
        <p:nvSpPr>
          <p:cNvPr id="35" name="Rectangle 34"/>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7" name="TextBox 36"/>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05</a:t>
            </a:r>
          </a:p>
        </p:txBody>
      </p:sp>
      <p:sp>
        <p:nvSpPr>
          <p:cNvPr id="38" name="Rounded Rectangle 37"/>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USE CASE · INTERCOMPANY FUNDING REQUEST</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Intercompany Funding Request</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Intercompany funding: when one company in a group lends cash to another, run through the group's own in-house bank.</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At a chemicals group, subsidiaries email the in-house bank (the group's own internal bank) to ask for funding. A treasury analyst reads each email and keys it into SAP by hand, across email, SAP in-house cash and the live cash position. Volume spikes at month-end.</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6D4098"/>
                </a:solidFill>
                <a:latin typeface="Segoe UI Semibold"/>
              </a:rPr>
              <a:t>AFTER  ·  THE DIGITAL CO-WORKER, IN ORDER</a:t>
            </a:r>
          </a:p>
        </p:txBody>
      </p:sp>
      <p:sp>
        <p:nvSpPr>
          <p:cNvPr id="9" name="Rounded Rectangle 8"/>
          <p:cNvSpPr/>
          <p:nvPr/>
        </p:nvSpPr>
        <p:spPr>
          <a:xfrm>
            <a:off x="5001768" y="27066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Reads the funding email.</a:t>
            </a:r>
          </a:p>
        </p:txBody>
      </p:sp>
      <p:sp>
        <p:nvSpPr>
          <p:cNvPr id="12" name="Rounded Rectangle 11"/>
          <p:cNvSpPr/>
          <p:nvPr/>
        </p:nvSpPr>
        <p:spPr>
          <a:xfrm>
            <a:off x="5001768" y="31638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Pulls out amount, currency, entity and value date.</a:t>
            </a:r>
          </a:p>
        </p:txBody>
      </p:sp>
      <p:sp>
        <p:nvSpPr>
          <p:cNvPr id="15" name="Rounded Rectangle 14"/>
          <p:cNvSpPr/>
          <p:nvPr/>
        </p:nvSpPr>
        <p:spPr>
          <a:xfrm>
            <a:off x="5001768" y="36210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Checks the group cash position and the intercompany limit.</a:t>
            </a:r>
          </a:p>
        </p:txBody>
      </p:sp>
      <p:sp>
        <p:nvSpPr>
          <p:cNvPr id="18" name="Rounded Rectangle 17"/>
          <p:cNvSpPr/>
          <p:nvPr/>
        </p:nvSpPr>
        <p:spPr>
          <a:xfrm>
            <a:off x="5001768" y="4078223"/>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Drafts the funding memo in SAP.</a:t>
            </a:r>
          </a:p>
        </p:txBody>
      </p:sp>
      <p:sp>
        <p:nvSpPr>
          <p:cNvPr id="21" name="Rounded Rectangle 20"/>
          <p:cNvSpPr/>
          <p:nvPr/>
        </p:nvSpPr>
        <p:spPr>
          <a:xfrm>
            <a:off x="5001768" y="4535423"/>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45354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5</a:t>
            </a:r>
          </a:p>
        </p:txBody>
      </p:sp>
      <p:sp>
        <p:nvSpPr>
          <p:cNvPr id="23" name="TextBox 22"/>
          <p:cNvSpPr txBox="1"/>
          <p:nvPr/>
        </p:nvSpPr>
        <p:spPr>
          <a:xfrm>
            <a:off x="5404104" y="45171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Routes it for approval.</a:t>
            </a:r>
          </a:p>
        </p:txBody>
      </p:sp>
      <p:sp>
        <p:nvSpPr>
          <p:cNvPr id="24" name="Rounded Rectangle 23"/>
          <p:cNvSpPr/>
          <p:nvPr/>
        </p:nvSpPr>
        <p:spPr>
          <a:xfrm>
            <a:off x="5001768" y="4992623"/>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1768" y="49926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6</a:t>
            </a:r>
          </a:p>
        </p:txBody>
      </p:sp>
      <p:sp>
        <p:nvSpPr>
          <p:cNvPr id="26" name="TextBox 25"/>
          <p:cNvSpPr txBox="1"/>
          <p:nvPr/>
        </p:nvSpPr>
        <p:spPr>
          <a:xfrm>
            <a:off x="5404104" y="4974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On sign-off, posts and confirms back to the requester.</a:t>
            </a:r>
          </a:p>
        </p:txBody>
      </p:sp>
      <p:sp>
        <p:nvSpPr>
          <p:cNvPr id="27" name="Rounded Rectangle 26"/>
          <p:cNvSpPr/>
          <p:nvPr/>
        </p:nvSpPr>
        <p:spPr>
          <a:xfrm>
            <a:off x="5001768" y="55412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01768" y="5541264"/>
            <a:ext cx="73152" cy="566928"/>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57800" y="55412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approves the moves that matter.</a:t>
            </a:r>
          </a:p>
        </p:txBody>
      </p:sp>
      <p:sp>
        <p:nvSpPr>
          <p:cNvPr id="30" name="Rectangle 29"/>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32" name="TextBox 31"/>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06</a:t>
            </a:r>
          </a:p>
        </p:txBody>
      </p:sp>
      <p:sp>
        <p:nvSpPr>
          <p:cNvPr id="33" name="Rounded Rectangle 32"/>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USE CASE · REMITTANCE ADVICE GATE</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Remittance Advice Gate</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Remittance advice: the note a payer sends listing which invoices a payment covers.</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Remittance advices arrive by email, sometimes in the body, sometimes as an attachment, in every layout. A person reads each one and keys it into SAP by hand.</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6D4098"/>
                </a:solidFill>
                <a:latin typeface="Segoe UI Semibold"/>
              </a:rPr>
              <a:t>AFTER  ·  THE DIGITAL CO-WORKER, IN ORDER</a:t>
            </a:r>
          </a:p>
        </p:txBody>
      </p:sp>
      <p:sp>
        <p:nvSpPr>
          <p:cNvPr id="9" name="Rounded Rectangle 8"/>
          <p:cNvSpPr/>
          <p:nvPr/>
        </p:nvSpPr>
        <p:spPr>
          <a:xfrm>
            <a:off x="5001768" y="27066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Reads the email, body or attachment, in any format.</a:t>
            </a:r>
          </a:p>
        </p:txBody>
      </p:sp>
      <p:sp>
        <p:nvSpPr>
          <p:cNvPr id="12" name="Rounded Rectangle 11"/>
          <p:cNvSpPr/>
          <p:nvPr/>
        </p:nvSpPr>
        <p:spPr>
          <a:xfrm>
            <a:off x="5001768" y="31638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Identifies and structures the advice data.</a:t>
            </a:r>
          </a:p>
        </p:txBody>
      </p:sp>
      <p:sp>
        <p:nvSpPr>
          <p:cNvPr id="15" name="Rounded Rectangle 14"/>
          <p:cNvSpPr/>
          <p:nvPr/>
        </p:nvSpPr>
        <p:spPr>
          <a:xfrm>
            <a:off x="5001768" y="36210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Validates it against your SAP customer master and invoices.</a:t>
            </a:r>
          </a:p>
        </p:txBody>
      </p:sp>
      <p:sp>
        <p:nvSpPr>
          <p:cNvPr id="18" name="Rounded Rectangle 17"/>
          <p:cNvSpPr/>
          <p:nvPr/>
        </p:nvSpPr>
        <p:spPr>
          <a:xfrm>
            <a:off x="5001768" y="4078223"/>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Delivers it to SAP S/4HANA, or a processor like Serrala or HighRadius.</a:t>
            </a:r>
          </a:p>
        </p:txBody>
      </p:sp>
      <p:sp>
        <p:nvSpPr>
          <p:cNvPr id="21" name="Rounded Rectangle 20"/>
          <p:cNvSpPr/>
          <p:nvPr/>
        </p:nvSpPr>
        <p:spPr>
          <a:xfrm>
            <a:off x="5001768" y="4535423"/>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45354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5</a:t>
            </a:r>
          </a:p>
        </p:txBody>
      </p:sp>
      <p:sp>
        <p:nvSpPr>
          <p:cNvPr id="23" name="TextBox 22"/>
          <p:cNvSpPr txBox="1"/>
          <p:nvPr/>
        </p:nvSpPr>
        <p:spPr>
          <a:xfrm>
            <a:off x="5404104" y="45171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Flags anything odd for review.</a:t>
            </a:r>
          </a:p>
        </p:txBody>
      </p:sp>
      <p:sp>
        <p:nvSpPr>
          <p:cNvPr id="24" name="Rounded Rectangle 23"/>
          <p:cNvSpPr/>
          <p:nvPr/>
        </p:nvSpPr>
        <p:spPr>
          <a:xfrm>
            <a:off x="5001768" y="50840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01768" y="5084064"/>
            <a:ext cx="73152" cy="566928"/>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7800" y="50840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sets the guardrails and reviews the exceptions.</a:t>
            </a:r>
          </a:p>
        </p:txBody>
      </p:sp>
      <p:sp>
        <p:nvSpPr>
          <p:cNvPr id="27" name="Rectangle 26"/>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9" name="TextBox 28"/>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07</a:t>
            </a:r>
          </a:p>
        </p:txBody>
      </p:sp>
      <p:sp>
        <p:nvSpPr>
          <p:cNvPr id="30" name="Rounded Rectangle 29"/>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USE CASE · BANK STATEMENT INTAKE</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Bank Statement Intake</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camt.053 / MT940: the standard electronic bank-statement formats SAP reads.</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A logistics group banks with dozens of institutions; several send statements the SAP bank-connectivity channel never sees, each in its own format. They sit in a mailbox or a data lake, and the day's cash operations wait on them.</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6D4098"/>
                </a:solidFill>
                <a:latin typeface="Segoe UI Semibold"/>
              </a:rPr>
              <a:t>AFTER  ·  THE DIGITAL CO-WORKER, IN ORDER</a:t>
            </a:r>
          </a:p>
        </p:txBody>
      </p:sp>
      <p:sp>
        <p:nvSpPr>
          <p:cNvPr id="9" name="Rounded Rectangle 8"/>
          <p:cNvSpPr/>
          <p:nvPr/>
        </p:nvSpPr>
        <p:spPr>
          <a:xfrm>
            <a:off x="5001768" y="27066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Reads a statement in any format: PDF, CSV or a proprietary line-item report.</a:t>
            </a:r>
          </a:p>
        </p:txBody>
      </p:sp>
      <p:sp>
        <p:nvSpPr>
          <p:cNvPr id="12" name="Rounded Rectangle 11"/>
          <p:cNvSpPr/>
          <p:nvPr/>
        </p:nvSpPr>
        <p:spPr>
          <a:xfrm>
            <a:off x="5001768" y="31638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Turns it into camt.053 or MT940, or any target format.</a:t>
            </a:r>
          </a:p>
        </p:txBody>
      </p:sp>
      <p:sp>
        <p:nvSpPr>
          <p:cNvPr id="15" name="Rounded Rectangle 14"/>
          <p:cNvSpPr/>
          <p:nvPr/>
        </p:nvSpPr>
        <p:spPr>
          <a:xfrm>
            <a:off x="5001768" y="36210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Validates it and delivers it to SAP cash management in time for the day's cash operations.</a:t>
            </a:r>
          </a:p>
        </p:txBody>
      </p:sp>
      <p:sp>
        <p:nvSpPr>
          <p:cNvPr id="18" name="Rounded Rectangle 17"/>
          <p:cNvSpPr/>
          <p:nvPr/>
        </p:nvSpPr>
        <p:spPr>
          <a:xfrm>
            <a:off x="5001768" y="4078223"/>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Monitors completeness and timeliness across every bank.</a:t>
            </a:r>
          </a:p>
        </p:txBody>
      </p:sp>
      <p:sp>
        <p:nvSpPr>
          <p:cNvPr id="21" name="Rounded Rectangle 20"/>
          <p:cNvSpPr/>
          <p:nvPr/>
        </p:nvSpPr>
        <p:spPr>
          <a:xfrm>
            <a:off x="5001768" y="46268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01768" y="4626864"/>
            <a:ext cx="73152" cy="566928"/>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46268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Alerts on anything missing or odd; a person steps in only then.</a:t>
            </a:r>
          </a:p>
        </p:txBody>
      </p:sp>
      <p:sp>
        <p:nvSpPr>
          <p:cNvPr id="24" name="Rectangle 2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6" name="TextBox 2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08</a:t>
            </a:r>
          </a:p>
        </p:txBody>
      </p:sp>
      <p:sp>
        <p:nvSpPr>
          <p:cNvPr id="27" name="Rounded Rectangle 26"/>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USE CASE · CASH-MANAGEMENT ASSISTANT</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Cash-Management Assistant</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Our internal demo: cash positioning with the Digital Co-Worker, entirely in chat. Shown as a working demo, not a customer deployment.</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Cash decisions need timely information, pulled from several systems at once. Where is the cash, and what should move today?</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6D4098"/>
                </a:solidFill>
                <a:latin typeface="Segoe UI Semibold"/>
              </a:rPr>
              <a:t>AFTER  ·  THE DIGITAL CO-WORKER, IN ORDER</a:t>
            </a:r>
          </a:p>
        </p:txBody>
      </p:sp>
      <p:sp>
        <p:nvSpPr>
          <p:cNvPr id="9" name="Rounded Rectangle 8"/>
          <p:cNvSpPr/>
          <p:nvPr/>
        </p:nvSpPr>
        <p:spPr>
          <a:xfrm>
            <a:off x="5001768" y="27066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You ask where the cash is, in plain language.</a:t>
            </a:r>
          </a:p>
        </p:txBody>
      </p:sp>
      <p:sp>
        <p:nvSpPr>
          <p:cNvPr id="12" name="Rounded Rectangle 11"/>
          <p:cNvSpPr/>
          <p:nvPr/>
        </p:nvSpPr>
        <p:spPr>
          <a:xfrm>
            <a:off x="5001768" y="31638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It pulls the position across your accounts; no report to run.</a:t>
            </a:r>
          </a:p>
        </p:txBody>
      </p:sp>
      <p:sp>
        <p:nvSpPr>
          <p:cNvPr id="15" name="Rounded Rectangle 14"/>
          <p:cNvSpPr/>
          <p:nvPr/>
        </p:nvSpPr>
        <p:spPr>
          <a:xfrm>
            <a:off x="5001768" y="36210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It suggests payment requests from the position.</a:t>
            </a:r>
          </a:p>
        </p:txBody>
      </p:sp>
      <p:sp>
        <p:nvSpPr>
          <p:cNvPr id="18" name="Rounded Rectangle 17"/>
          <p:cNvSpPr/>
          <p:nvPr/>
        </p:nvSpPr>
        <p:spPr>
          <a:xfrm>
            <a:off x="5001768" y="4078223"/>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It answers follow-ups in chat and shows the result.</a:t>
            </a:r>
          </a:p>
        </p:txBody>
      </p:sp>
      <p:sp>
        <p:nvSpPr>
          <p:cNvPr id="21" name="Rounded Rectangle 20"/>
          <p:cNvSpPr/>
          <p:nvPr/>
        </p:nvSpPr>
        <p:spPr>
          <a:xfrm>
            <a:off x="5001768" y="46268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01768" y="4626864"/>
            <a:ext cx="73152" cy="566928"/>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46268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The moves that matter wait for a person to sign off.</a:t>
            </a:r>
          </a:p>
        </p:txBody>
      </p:sp>
      <p:sp>
        <p:nvSpPr>
          <p:cNvPr id="24" name="Rectangle 23"/>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6" name="TextBox 25"/>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09</a:t>
            </a:r>
          </a:p>
        </p:txBody>
      </p:sp>
      <p:sp>
        <p:nvSpPr>
          <p:cNvPr id="27" name="Rounded Rectangle 26"/>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USE CASE · CASH FLOW &amp; EXPOSURE HUB</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200" b="0" i="0">
                <a:solidFill>
                  <a:srgbClr val="0F1417"/>
                </a:solidFill>
                <a:latin typeface="Century Gothic"/>
              </a:rPr>
              <a:t>Cash Flow &amp; Exposure Hub</a:t>
            </a:r>
          </a:p>
        </p:txBody>
      </p:sp>
      <p:sp>
        <p:nvSpPr>
          <p:cNvPr id="4" name="TextBox 3"/>
          <p:cNvSpPr txBox="1"/>
          <p:nvPr/>
        </p:nvSpPr>
        <p:spPr>
          <a:xfrm>
            <a:off x="566928" y="1700784"/>
            <a:ext cx="10515600" cy="365760"/>
          </a:xfrm>
          <a:prstGeom prst="rect">
            <a:avLst/>
          </a:prstGeom>
          <a:noFill/>
        </p:spPr>
        <p:txBody>
          <a:bodyPr wrap="square" anchor="t" lIns="0" rIns="0" tIns="0" bIns="0">
            <a:noAutofit/>
          </a:bodyPr>
          <a:lstStyle/>
          <a:p>
            <a:pPr algn="l">
              <a:lnSpc>
                <a:spcPct val="115000"/>
              </a:lnSpc>
            </a:pPr>
            <a:r>
              <a:rPr sz="1350" b="0" i="1">
                <a:solidFill>
                  <a:srgbClr val="8A9599"/>
                </a:solidFill>
                <a:latin typeface="Segoe UI"/>
              </a:rPr>
              <a:t>Exposure: the money at risk from currency or price moves, which treasury hedges.</a:t>
            </a:r>
          </a:p>
        </p:txBody>
      </p:sp>
      <p:sp>
        <p:nvSpPr>
          <p:cNvPr id="5" name="TextBox 4"/>
          <p:cNvSpPr txBox="1"/>
          <p:nvPr/>
        </p:nvSpPr>
        <p:spPr>
          <a:xfrm>
            <a:off x="566928" y="2286000"/>
            <a:ext cx="3977639" cy="274320"/>
          </a:xfrm>
          <a:prstGeom prst="rect">
            <a:avLst/>
          </a:prstGeom>
          <a:noFill/>
        </p:spPr>
        <p:txBody>
          <a:bodyPr wrap="square" anchor="t" lIns="0" rIns="0" tIns="0" bIns="0">
            <a:noAutofit/>
          </a:bodyPr>
          <a:lstStyle/>
          <a:p>
            <a:pPr algn="l"/>
            <a:r>
              <a:rPr sz="1100" b="0" i="0" spc="160">
                <a:solidFill>
                  <a:srgbClr val="8A9599"/>
                </a:solidFill>
                <a:latin typeface="Segoe UI Semibold"/>
              </a:rPr>
              <a:t>BEFORE  ·  TODAY, BY HAND</a:t>
            </a:r>
          </a:p>
        </p:txBody>
      </p:sp>
      <p:sp>
        <p:nvSpPr>
          <p:cNvPr id="6" name="Rectangle 5"/>
          <p:cNvSpPr/>
          <p:nvPr/>
        </p:nvSpPr>
        <p:spPr>
          <a:xfrm>
            <a:off x="566928" y="2670048"/>
            <a:ext cx="45720" cy="3063240"/>
          </a:xfrm>
          <a:prstGeom prst="rect">
            <a:avLst/>
          </a:prstGeom>
          <a:solidFill>
            <a:srgbClr val="5B6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651760"/>
            <a:ext cx="3703320" cy="3108960"/>
          </a:xfrm>
          <a:prstGeom prst="rect">
            <a:avLst/>
          </a:prstGeom>
          <a:noFill/>
        </p:spPr>
        <p:txBody>
          <a:bodyPr wrap="square" anchor="t" lIns="0" rIns="0" tIns="0" bIns="0">
            <a:noAutofit/>
          </a:bodyPr>
          <a:lstStyle/>
          <a:p>
            <a:pPr algn="l">
              <a:lnSpc>
                <a:spcPct val="132000"/>
              </a:lnSpc>
            </a:pPr>
            <a:r>
              <a:rPr sz="1500" b="0" i="0">
                <a:solidFill>
                  <a:srgbClr val="0F1417"/>
                </a:solidFill>
                <a:latin typeface="Segoe UI"/>
              </a:rPr>
              <a:t>Cash-management and FX-exposure data comes in Excel, CSV and PDF from departments that do not use SAP. Someone converts and maps each one into SAP by hand, in time for cash and hedging decisions.</a:t>
            </a:r>
          </a:p>
        </p:txBody>
      </p:sp>
      <p:sp>
        <p:nvSpPr>
          <p:cNvPr id="8" name="TextBox 7"/>
          <p:cNvSpPr txBox="1"/>
          <p:nvPr/>
        </p:nvSpPr>
        <p:spPr>
          <a:xfrm>
            <a:off x="5001768" y="2286000"/>
            <a:ext cx="6622999" cy="274320"/>
          </a:xfrm>
          <a:prstGeom prst="rect">
            <a:avLst/>
          </a:prstGeom>
          <a:noFill/>
        </p:spPr>
        <p:txBody>
          <a:bodyPr wrap="square" anchor="t" lIns="0" rIns="0" tIns="0" bIns="0">
            <a:noAutofit/>
          </a:bodyPr>
          <a:lstStyle/>
          <a:p>
            <a:pPr algn="l"/>
            <a:r>
              <a:rPr sz="1100" b="0" i="0" spc="140">
                <a:solidFill>
                  <a:srgbClr val="6D4098"/>
                </a:solidFill>
                <a:latin typeface="Segoe UI Semibold"/>
              </a:rPr>
              <a:t>AFTER  ·  THE DIGITAL CO-WORKER, IN ORDER</a:t>
            </a:r>
          </a:p>
        </p:txBody>
      </p:sp>
      <p:sp>
        <p:nvSpPr>
          <p:cNvPr id="9" name="Rounded Rectangle 8"/>
          <p:cNvSpPr/>
          <p:nvPr/>
        </p:nvSpPr>
        <p:spPr>
          <a:xfrm>
            <a:off x="5001768" y="27066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1768" y="27066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1</a:t>
            </a:r>
          </a:p>
        </p:txBody>
      </p:sp>
      <p:sp>
        <p:nvSpPr>
          <p:cNvPr id="11" name="TextBox 10"/>
          <p:cNvSpPr txBox="1"/>
          <p:nvPr/>
        </p:nvSpPr>
        <p:spPr>
          <a:xfrm>
            <a:off x="5404104" y="26883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Collects cash-flow and exposure data from any source, any format.</a:t>
            </a:r>
          </a:p>
        </p:txBody>
      </p:sp>
      <p:sp>
        <p:nvSpPr>
          <p:cNvPr id="12" name="Rounded Rectangle 11"/>
          <p:cNvSpPr/>
          <p:nvPr/>
        </p:nvSpPr>
        <p:spPr>
          <a:xfrm>
            <a:off x="5001768" y="31638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1768" y="31638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2</a:t>
            </a:r>
          </a:p>
        </p:txBody>
      </p:sp>
      <p:sp>
        <p:nvSpPr>
          <p:cNvPr id="14" name="TextBox 13"/>
          <p:cNvSpPr txBox="1"/>
          <p:nvPr/>
        </p:nvSpPr>
        <p:spPr>
          <a:xfrm>
            <a:off x="5404104" y="31455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Validates it and maps it into your SAP naming.</a:t>
            </a:r>
          </a:p>
        </p:txBody>
      </p:sp>
      <p:sp>
        <p:nvSpPr>
          <p:cNvPr id="15" name="Rounded Rectangle 14"/>
          <p:cNvSpPr/>
          <p:nvPr/>
        </p:nvSpPr>
        <p:spPr>
          <a:xfrm>
            <a:off x="5001768" y="3621024"/>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3621024"/>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3</a:t>
            </a:r>
          </a:p>
        </p:txBody>
      </p:sp>
      <p:sp>
        <p:nvSpPr>
          <p:cNvPr id="17" name="TextBox 16"/>
          <p:cNvSpPr txBox="1"/>
          <p:nvPr/>
        </p:nvSpPr>
        <p:spPr>
          <a:xfrm>
            <a:off x="5404104" y="36027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Integrates it with cash and exposure management in S/4HANA or ECC.</a:t>
            </a:r>
          </a:p>
        </p:txBody>
      </p:sp>
      <p:sp>
        <p:nvSpPr>
          <p:cNvPr id="18" name="Rounded Rectangle 17"/>
          <p:cNvSpPr/>
          <p:nvPr/>
        </p:nvSpPr>
        <p:spPr>
          <a:xfrm>
            <a:off x="5001768" y="4078223"/>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768" y="40782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4</a:t>
            </a:r>
          </a:p>
        </p:txBody>
      </p:sp>
      <p:sp>
        <p:nvSpPr>
          <p:cNvPr id="20" name="TextBox 19"/>
          <p:cNvSpPr txBox="1"/>
          <p:nvPr/>
        </p:nvSpPr>
        <p:spPr>
          <a:xfrm>
            <a:off x="5404104" y="4059935"/>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Enriches it for analytics and reporting.</a:t>
            </a:r>
          </a:p>
        </p:txBody>
      </p:sp>
      <p:sp>
        <p:nvSpPr>
          <p:cNvPr id="21" name="Rounded Rectangle 20"/>
          <p:cNvSpPr/>
          <p:nvPr/>
        </p:nvSpPr>
        <p:spPr>
          <a:xfrm>
            <a:off x="5001768" y="4535423"/>
            <a:ext cx="274320" cy="274320"/>
          </a:xfrm>
          <a:prstGeom prst="roundRect">
            <a:avLst>
              <a:gd name="adj" fmla="val 25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4535423"/>
            <a:ext cx="274320" cy="274320"/>
          </a:xfrm>
          <a:prstGeom prst="rect">
            <a:avLst/>
          </a:prstGeom>
          <a:noFill/>
        </p:spPr>
        <p:txBody>
          <a:bodyPr wrap="square" anchor="ctr" lIns="0" rIns="0" tIns="0" bIns="0">
            <a:noAutofit/>
          </a:bodyPr>
          <a:lstStyle/>
          <a:p>
            <a:pPr algn="ctr"/>
            <a:r>
              <a:rPr sz="1200" b="0" i="0">
                <a:solidFill>
                  <a:srgbClr val="FFFFFF"/>
                </a:solidFill>
                <a:latin typeface="Segoe UI Semibold"/>
              </a:rPr>
              <a:t>5</a:t>
            </a:r>
          </a:p>
        </p:txBody>
      </p:sp>
      <p:sp>
        <p:nvSpPr>
          <p:cNvPr id="23" name="TextBox 22"/>
          <p:cNvSpPr txBox="1"/>
          <p:nvPr/>
        </p:nvSpPr>
        <p:spPr>
          <a:xfrm>
            <a:off x="5404104" y="4517136"/>
            <a:ext cx="6220663" cy="457200"/>
          </a:xfrm>
          <a:prstGeom prst="rect">
            <a:avLst/>
          </a:prstGeom>
          <a:noFill/>
        </p:spPr>
        <p:txBody>
          <a:bodyPr wrap="square" anchor="ctr" lIns="0" rIns="0" tIns="0" bIns="0">
            <a:noAutofit/>
          </a:bodyPr>
          <a:lstStyle/>
          <a:p>
            <a:pPr algn="l">
              <a:lnSpc>
                <a:spcPct val="105000"/>
              </a:lnSpc>
            </a:pPr>
            <a:r>
              <a:rPr sz="1350" b="0" i="0">
                <a:solidFill>
                  <a:srgbClr val="0F1417"/>
                </a:solidFill>
                <a:latin typeface="Segoe UI"/>
              </a:rPr>
              <a:t>Monitors every flow for completeness and timeliness.</a:t>
            </a:r>
          </a:p>
        </p:txBody>
      </p:sp>
      <p:sp>
        <p:nvSpPr>
          <p:cNvPr id="24" name="Rounded Rectangle 23"/>
          <p:cNvSpPr/>
          <p:nvPr/>
        </p:nvSpPr>
        <p:spPr>
          <a:xfrm>
            <a:off x="5001768" y="5084064"/>
            <a:ext cx="6622999" cy="566928"/>
          </a:xfrm>
          <a:prstGeom prst="roundRect">
            <a:avLst>
              <a:gd name="adj" fmla="val 10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01768" y="5084064"/>
            <a:ext cx="73152" cy="566928"/>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57800" y="5084064"/>
            <a:ext cx="6165799" cy="566928"/>
          </a:xfrm>
          <a:prstGeom prst="rect">
            <a:avLst/>
          </a:prstGeom>
          <a:noFill/>
        </p:spPr>
        <p:txBody>
          <a:bodyPr wrap="square" anchor="ctr" lIns="0" rIns="0" tIns="0" bIns="0">
            <a:noAutofit/>
          </a:bodyPr>
          <a:lstStyle/>
          <a:p>
            <a:pPr algn="l"/>
            <a:r>
              <a:rPr sz="1300" b="0" i="0">
                <a:solidFill>
                  <a:srgbClr val="0F1417"/>
                </a:solidFill>
                <a:latin typeface="Segoe UI Semibold"/>
              </a:rPr>
              <a:t>A person acts on the position; the assembling is done.</a:t>
            </a:r>
          </a:p>
        </p:txBody>
      </p:sp>
      <p:sp>
        <p:nvSpPr>
          <p:cNvPr id="27" name="Rectangle 26"/>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9" name="TextBox 28"/>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10</a:t>
            </a:r>
          </a:p>
        </p:txBody>
      </p:sp>
      <p:sp>
        <p:nvSpPr>
          <p:cNvPr id="30" name="Rounded Rectangle 29"/>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GOVERNANCE</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800" b="0" i="0">
                <a:solidFill>
                  <a:srgbClr val="0F1417"/>
                </a:solidFill>
                <a:latin typeface="Century Gothic"/>
              </a:rPr>
              <a:t>Governed, in plain terms.</a:t>
            </a:r>
          </a:p>
        </p:txBody>
      </p:sp>
      <p:sp>
        <p:nvSpPr>
          <p:cNvPr id="4" name="TextBox 3"/>
          <p:cNvSpPr txBox="1"/>
          <p:nvPr/>
        </p:nvSpPr>
        <p:spPr>
          <a:xfrm>
            <a:off x="566928" y="1783080"/>
            <a:ext cx="10241280" cy="640080"/>
          </a:xfrm>
          <a:prstGeom prst="rect">
            <a:avLst/>
          </a:prstGeom>
          <a:noFill/>
        </p:spPr>
        <p:txBody>
          <a:bodyPr wrap="square" anchor="t" lIns="0" rIns="0" tIns="0" bIns="0">
            <a:noAutofit/>
          </a:bodyPr>
          <a:lstStyle/>
          <a:p>
            <a:pPr algn="l">
              <a:lnSpc>
                <a:spcPct val="120000"/>
              </a:lnSpc>
            </a:pPr>
            <a:r>
              <a:rPr sz="1500" b="0" i="0">
                <a:solidFill>
                  <a:srgbClr val="5B666B"/>
                </a:solidFill>
                <a:latin typeface="Segoe UI"/>
              </a:rPr>
              <a:t>The same four controls run under every application, the AI included: it is grounded in SAP, not free-floating, and keeps a human in the loop on the moves that matter. What each control means, and why it matters:</a:t>
            </a:r>
          </a:p>
        </p:txBody>
      </p:sp>
      <p:sp>
        <p:nvSpPr>
          <p:cNvPr id="5" name="Rounded Rectangle 4"/>
          <p:cNvSpPr/>
          <p:nvPr/>
        </p:nvSpPr>
        <p:spPr>
          <a:xfrm>
            <a:off x="566928"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 y="2889504"/>
            <a:ext cx="310896"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Audit trail</a:t>
            </a:r>
          </a:p>
          <a:p>
            <a:pPr algn="l">
              <a:lnSpc>
                <a:spcPct val="114000"/>
              </a:lnSpc>
            </a:pPr>
            <a:r>
              <a:rPr sz="1350" b="0" i="0">
                <a:solidFill>
                  <a:srgbClr val="5B666B"/>
                </a:solidFill>
                <a:latin typeface="Segoe UI"/>
              </a:rPr>
              <a:t>Every action is logged and can be reviewed later, end to end. Nothing happens off the record.</a:t>
            </a:r>
          </a:p>
        </p:txBody>
      </p:sp>
      <p:sp>
        <p:nvSpPr>
          <p:cNvPr id="8" name="Rounded Rectangle 7"/>
          <p:cNvSpPr/>
          <p:nvPr/>
        </p:nvSpPr>
        <p:spPr>
          <a:xfrm>
            <a:off x="3404539"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23995" y="2889504"/>
            <a:ext cx="310896" cy="45720"/>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23995"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Four-eyes / segregation of duty</a:t>
            </a:r>
          </a:p>
          <a:p>
            <a:pPr algn="l">
              <a:lnSpc>
                <a:spcPct val="114000"/>
              </a:lnSpc>
            </a:pPr>
            <a:r>
              <a:rPr sz="1350" b="0" i="0">
                <a:solidFill>
                  <a:srgbClr val="5B666B"/>
                </a:solidFill>
                <a:latin typeface="Segoe UI"/>
              </a:rPr>
              <a:t>The person who enters something is not the one who approves it. A human stays in the loop (HITL) on the moves that matter.</a:t>
            </a:r>
          </a:p>
        </p:txBody>
      </p:sp>
      <p:sp>
        <p:nvSpPr>
          <p:cNvPr id="11" name="Rounded Rectangle 10"/>
          <p:cNvSpPr/>
          <p:nvPr/>
        </p:nvSpPr>
        <p:spPr>
          <a:xfrm>
            <a:off x="6242151"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61607" y="2889504"/>
            <a:ext cx="310896"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Anomaly alerts</a:t>
            </a:r>
          </a:p>
          <a:p>
            <a:pPr algn="l">
              <a:lnSpc>
                <a:spcPct val="114000"/>
              </a:lnSpc>
            </a:pPr>
            <a:r>
              <a:rPr sz="1350" b="0" i="0">
                <a:solidFill>
                  <a:srgbClr val="5B666B"/>
                </a:solidFill>
                <a:latin typeface="Segoe UI"/>
              </a:rPr>
              <a:t>The system flags what looks wrong before it posts, not after, so a bad value is caught on the way in.</a:t>
            </a:r>
          </a:p>
        </p:txBody>
      </p:sp>
      <p:sp>
        <p:nvSpPr>
          <p:cNvPr id="14" name="Rounded Rectangle 13"/>
          <p:cNvSpPr/>
          <p:nvPr/>
        </p:nvSpPr>
        <p:spPr>
          <a:xfrm>
            <a:off x="9079763" y="2651760"/>
            <a:ext cx="2545003" cy="2606040"/>
          </a:xfrm>
          <a:prstGeom prst="roundRect">
            <a:avLst>
              <a:gd name="adj" fmla="val 7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99219" y="2889504"/>
            <a:ext cx="310896" cy="45720"/>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9219" y="3054096"/>
            <a:ext cx="2106091" cy="2057400"/>
          </a:xfrm>
          <a:prstGeom prst="rect">
            <a:avLst/>
          </a:prstGeom>
          <a:noFill/>
        </p:spPr>
        <p:txBody>
          <a:bodyPr wrap="square" anchor="t" lIns="0" rIns="0" tIns="0" bIns="0">
            <a:noAutofit/>
          </a:bodyPr>
          <a:lstStyle/>
          <a:p>
            <a:pPr algn="l">
              <a:spcAft>
                <a:spcPts val="600"/>
              </a:spcAft>
            </a:pPr>
            <a:r>
              <a:rPr sz="1550" b="1" i="0">
                <a:solidFill>
                  <a:srgbClr val="0F1417"/>
                </a:solidFill>
                <a:latin typeface="Segoe UI Semibold"/>
              </a:rPr>
              <a:t>Manage by exception</a:t>
            </a:r>
          </a:p>
          <a:p>
            <a:pPr algn="l">
              <a:lnSpc>
                <a:spcPct val="114000"/>
              </a:lnSpc>
            </a:pPr>
            <a:r>
              <a:rPr sz="1350" b="0" i="0">
                <a:solidFill>
                  <a:srgbClr val="5B666B"/>
                </a:solidFill>
                <a:latin typeface="Segoe UI"/>
              </a:rPr>
              <a:t>People only touch the cases that need judgment. The rest just runs, and you hear about the odd one out.</a:t>
            </a:r>
          </a:p>
        </p:txBody>
      </p:sp>
      <p:sp>
        <p:nvSpPr>
          <p:cNvPr id="17" name="TextBox 16"/>
          <p:cNvSpPr txBox="1"/>
          <p:nvPr/>
        </p:nvSpPr>
        <p:spPr>
          <a:xfrm>
            <a:off x="566928" y="5486400"/>
            <a:ext cx="11057839" cy="365760"/>
          </a:xfrm>
          <a:prstGeom prst="rect">
            <a:avLst/>
          </a:prstGeom>
          <a:noFill/>
        </p:spPr>
        <p:txBody>
          <a:bodyPr wrap="square" anchor="t" lIns="0" rIns="0" tIns="0" bIns="0">
            <a:noAutofit/>
          </a:bodyPr>
          <a:lstStyle/>
          <a:p>
            <a:pPr algn="l"/>
            <a:r>
              <a:rPr sz="1300" b="0" i="0">
                <a:solidFill>
                  <a:srgbClr val="6D4098"/>
                </a:solidFill>
                <a:latin typeface="Segoe UI Semibold"/>
              </a:rPr>
              <a:t>AI grounded in SAP, with a human in the loop.    ·    Certified to ISO 27001 and SOC 1 Type II.</a:t>
            </a:r>
          </a:p>
        </p:txBody>
      </p:sp>
      <p:sp>
        <p:nvSpPr>
          <p:cNvPr id="18" name="Rectangle 17"/>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0" name="TextBox 19"/>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11</a:t>
            </a:r>
          </a:p>
        </p:txBody>
      </p:sp>
      <p:sp>
        <p:nvSpPr>
          <p:cNvPr id="21" name="Rounded Rectangle 20"/>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66928"/>
            <a:ext cx="11057839" cy="274320"/>
          </a:xfrm>
          <a:prstGeom prst="rect">
            <a:avLst/>
          </a:prstGeom>
          <a:noFill/>
        </p:spPr>
        <p:txBody>
          <a:bodyPr wrap="square" anchor="t" lIns="0" rIns="0" tIns="0" bIns="0">
            <a:noAutofit/>
          </a:bodyPr>
          <a:lstStyle/>
          <a:p>
            <a:pPr algn="l"/>
            <a:r>
              <a:rPr sz="1250" b="1" i="0" spc="260">
                <a:solidFill>
                  <a:srgbClr val="6D4098"/>
                </a:solidFill>
                <a:latin typeface="Segoe UI Semibold"/>
              </a:rPr>
              <a:t>SUCCESS STORIES</a:t>
            </a:r>
          </a:p>
        </p:txBody>
      </p:sp>
      <p:sp>
        <p:nvSpPr>
          <p:cNvPr id="3" name="TextBox 2"/>
          <p:cNvSpPr txBox="1"/>
          <p:nvPr/>
        </p:nvSpPr>
        <p:spPr>
          <a:xfrm>
            <a:off x="566928" y="932688"/>
            <a:ext cx="10692079" cy="1280160"/>
          </a:xfrm>
          <a:prstGeom prst="rect">
            <a:avLst/>
          </a:prstGeom>
          <a:noFill/>
        </p:spPr>
        <p:txBody>
          <a:bodyPr wrap="square" anchor="t" lIns="0" rIns="0" tIns="0" bIns="0">
            <a:noAutofit/>
          </a:bodyPr>
          <a:lstStyle/>
          <a:p>
            <a:pPr algn="l">
              <a:lnSpc>
                <a:spcPct val="102000"/>
              </a:lnSpc>
            </a:pPr>
            <a:r>
              <a:rPr sz="3600" b="0" i="0">
                <a:solidFill>
                  <a:srgbClr val="0F1417"/>
                </a:solidFill>
                <a:latin typeface="Century Gothic"/>
              </a:rPr>
              <a:t>Live deployments, real industries.</a:t>
            </a:r>
          </a:p>
        </p:txBody>
      </p:sp>
      <p:sp>
        <p:nvSpPr>
          <p:cNvPr id="4" name="TextBox 3"/>
          <p:cNvSpPr txBox="1"/>
          <p:nvPr/>
        </p:nvSpPr>
        <p:spPr>
          <a:xfrm>
            <a:off x="566928" y="1810512"/>
            <a:ext cx="10424160" cy="457200"/>
          </a:xfrm>
          <a:prstGeom prst="rect">
            <a:avLst/>
          </a:prstGeom>
          <a:noFill/>
        </p:spPr>
        <p:txBody>
          <a:bodyPr wrap="square" anchor="t" lIns="0" rIns="0" tIns="0" bIns="0">
            <a:noAutofit/>
          </a:bodyPr>
          <a:lstStyle/>
          <a:p>
            <a:pPr algn="l">
              <a:lnSpc>
                <a:spcPct val="120000"/>
              </a:lnSpc>
            </a:pPr>
            <a:r>
              <a:rPr sz="1500" b="0" i="0">
                <a:solidFill>
                  <a:srgbClr val="5B666B"/>
                </a:solidFill>
                <a:latin typeface="Segoe UI"/>
              </a:rPr>
              <a:t>Two production deployments, each replacing a manual or custom-built way of working.</a:t>
            </a:r>
          </a:p>
        </p:txBody>
      </p:sp>
      <p:sp>
        <p:nvSpPr>
          <p:cNvPr id="5" name="Rounded Rectangle 4"/>
          <p:cNvSpPr/>
          <p:nvPr/>
        </p:nvSpPr>
        <p:spPr>
          <a:xfrm>
            <a:off x="1816455" y="2432304"/>
            <a:ext cx="4114800" cy="3493008"/>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72487" y="2706624"/>
            <a:ext cx="365760" cy="50292"/>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72487" y="2871216"/>
            <a:ext cx="3602736" cy="365760"/>
          </a:xfrm>
          <a:prstGeom prst="rect">
            <a:avLst/>
          </a:prstGeom>
          <a:noFill/>
        </p:spPr>
        <p:txBody>
          <a:bodyPr wrap="square" anchor="t" lIns="0" rIns="0" tIns="0" bIns="0">
            <a:noAutofit/>
          </a:bodyPr>
          <a:lstStyle/>
          <a:p>
            <a:pPr algn="l"/>
            <a:r>
              <a:rPr sz="1200" b="0" i="0" spc="120">
                <a:solidFill>
                  <a:srgbClr val="6D4098"/>
                </a:solidFill>
                <a:latin typeface="Segoe UI Semibold"/>
              </a:rPr>
              <a:t>AGRICULTURE</a:t>
            </a:r>
          </a:p>
        </p:txBody>
      </p:sp>
      <p:sp>
        <p:nvSpPr>
          <p:cNvPr id="8" name="TextBox 7"/>
          <p:cNvSpPr txBox="1"/>
          <p:nvPr/>
        </p:nvSpPr>
        <p:spPr>
          <a:xfrm>
            <a:off x="2072487" y="3236976"/>
            <a:ext cx="3602736" cy="292608"/>
          </a:xfrm>
          <a:prstGeom prst="rect">
            <a:avLst/>
          </a:prstGeom>
          <a:noFill/>
        </p:spPr>
        <p:txBody>
          <a:bodyPr wrap="square" anchor="t" lIns="0" rIns="0" tIns="0" bIns="0">
            <a:noAutofit/>
          </a:bodyPr>
          <a:lstStyle/>
          <a:p>
            <a:pPr algn="l"/>
            <a:r>
              <a:rPr sz="1150" b="0" i="0">
                <a:solidFill>
                  <a:srgbClr val="8A9599"/>
                </a:solidFill>
                <a:latin typeface="Segoe UI"/>
              </a:rPr>
              <a:t>SAP S/4HANA, private cloud</a:t>
            </a:r>
          </a:p>
        </p:txBody>
      </p:sp>
      <p:sp>
        <p:nvSpPr>
          <p:cNvPr id="9" name="TextBox 8"/>
          <p:cNvSpPr txBox="1"/>
          <p:nvPr/>
        </p:nvSpPr>
        <p:spPr>
          <a:xfrm>
            <a:off x="2072487" y="3584448"/>
            <a:ext cx="3602736" cy="914400"/>
          </a:xfrm>
          <a:prstGeom prst="rect">
            <a:avLst/>
          </a:prstGeom>
          <a:noFill/>
        </p:spPr>
        <p:txBody>
          <a:bodyPr wrap="square" anchor="t" lIns="0" rIns="0" tIns="0" bIns="0">
            <a:noAutofit/>
          </a:bodyPr>
          <a:lstStyle/>
          <a:p>
            <a:pPr algn="l">
              <a:lnSpc>
                <a:spcPct val="110000"/>
              </a:lnSpc>
            </a:pPr>
            <a:r>
              <a:rPr sz="1400" b="0" i="0">
                <a:solidFill>
                  <a:srgbClr val="0F1417"/>
                </a:solidFill>
                <a:latin typeface="Century Gothic"/>
              </a:rPr>
              <a:t>Remittance Advice Gate, run by the Digital Co-Worker.</a:t>
            </a:r>
          </a:p>
        </p:txBody>
      </p:sp>
      <p:sp>
        <p:nvSpPr>
          <p:cNvPr id="10" name="TextBox 9"/>
          <p:cNvSpPr txBox="1"/>
          <p:nvPr/>
        </p:nvSpPr>
        <p:spPr>
          <a:xfrm>
            <a:off x="2072487" y="4645152"/>
            <a:ext cx="3602736" cy="603504"/>
          </a:xfrm>
          <a:prstGeom prst="rect">
            <a:avLst/>
          </a:prstGeom>
          <a:noFill/>
        </p:spPr>
        <p:txBody>
          <a:bodyPr wrap="square" anchor="t" lIns="0" rIns="0" tIns="0" bIns="0">
            <a:noAutofit/>
          </a:bodyPr>
          <a:lstStyle/>
          <a:p>
            <a:pPr algn="l">
              <a:lnSpc>
                <a:spcPct val="116000"/>
              </a:lnSpc>
            </a:pPr>
            <a:r>
              <a:rPr sz="1150" b="0" i="0">
                <a:solidFill>
                  <a:srgbClr val="5B666B"/>
                </a:solidFill>
                <a:latin typeface="Segoe UI"/>
              </a:rPr>
              <a:t>Guardrails set; the person taken out of the routine path.</a:t>
            </a:r>
          </a:p>
        </p:txBody>
      </p:sp>
      <p:sp>
        <p:nvSpPr>
          <p:cNvPr id="11" name="Rounded Rectangle 10"/>
          <p:cNvSpPr/>
          <p:nvPr/>
        </p:nvSpPr>
        <p:spPr>
          <a:xfrm>
            <a:off x="2072487" y="5321808"/>
            <a:ext cx="3602736" cy="512064"/>
          </a:xfrm>
          <a:prstGeom prst="roundRect">
            <a:avLst>
              <a:gd name="adj" fmla="val 10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72487" y="5321808"/>
            <a:ext cx="54864" cy="512064"/>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37079" y="5385816"/>
            <a:ext cx="3438144" cy="182880"/>
          </a:xfrm>
          <a:prstGeom prst="rect">
            <a:avLst/>
          </a:prstGeom>
          <a:noFill/>
        </p:spPr>
        <p:txBody>
          <a:bodyPr wrap="square" anchor="t" lIns="0" rIns="0" tIns="0" bIns="0">
            <a:noAutofit/>
          </a:bodyPr>
          <a:lstStyle/>
          <a:p>
            <a:pPr algn="l"/>
            <a:r>
              <a:rPr sz="850" b="0" i="0" spc="140">
                <a:solidFill>
                  <a:srgbClr val="6D4098"/>
                </a:solidFill>
                <a:latin typeface="Segoe UI Semibold"/>
              </a:rPr>
              <a:t>REPLACED</a:t>
            </a:r>
          </a:p>
        </p:txBody>
      </p:sp>
      <p:sp>
        <p:nvSpPr>
          <p:cNvPr id="14" name="TextBox 13"/>
          <p:cNvSpPr txBox="1"/>
          <p:nvPr/>
        </p:nvSpPr>
        <p:spPr>
          <a:xfrm>
            <a:off x="2237079" y="5541264"/>
            <a:ext cx="3438144" cy="292608"/>
          </a:xfrm>
          <a:prstGeom prst="rect">
            <a:avLst/>
          </a:prstGeom>
          <a:noFill/>
        </p:spPr>
        <p:txBody>
          <a:bodyPr wrap="square" anchor="t" lIns="0" rIns="0" tIns="0" bIns="0">
            <a:noAutofit/>
          </a:bodyPr>
          <a:lstStyle/>
          <a:p>
            <a:pPr algn="l">
              <a:lnSpc>
                <a:spcPct val="104000"/>
              </a:lnSpc>
            </a:pPr>
            <a:r>
              <a:rPr sz="1100" b="0" i="0">
                <a:solidFill>
                  <a:srgbClr val="0F1417"/>
                </a:solidFill>
                <a:latin typeface="Segoe UI"/>
              </a:rPr>
              <a:t>Replaced an expensive custom third-party solution.</a:t>
            </a:r>
          </a:p>
        </p:txBody>
      </p:sp>
      <p:sp>
        <p:nvSpPr>
          <p:cNvPr id="15" name="Rounded Rectangle 14"/>
          <p:cNvSpPr/>
          <p:nvPr/>
        </p:nvSpPr>
        <p:spPr>
          <a:xfrm>
            <a:off x="6260439" y="2432304"/>
            <a:ext cx="4114800" cy="3493008"/>
          </a:xfrm>
          <a:prstGeom prst="roundRect">
            <a:avLst>
              <a:gd name="adj" fmla="val 5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16471" y="2706624"/>
            <a:ext cx="365760" cy="50292"/>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6471" y="2871216"/>
            <a:ext cx="3602736" cy="365760"/>
          </a:xfrm>
          <a:prstGeom prst="rect">
            <a:avLst/>
          </a:prstGeom>
          <a:noFill/>
        </p:spPr>
        <p:txBody>
          <a:bodyPr wrap="square" anchor="t" lIns="0" rIns="0" tIns="0" bIns="0">
            <a:noAutofit/>
          </a:bodyPr>
          <a:lstStyle/>
          <a:p>
            <a:pPr algn="l"/>
            <a:r>
              <a:rPr sz="1200" b="0" i="0" spc="120">
                <a:solidFill>
                  <a:srgbClr val="6D4098"/>
                </a:solidFill>
                <a:latin typeface="Segoe UI Semibold"/>
              </a:rPr>
              <a:t>CHEMICALS</a:t>
            </a:r>
          </a:p>
        </p:txBody>
      </p:sp>
      <p:sp>
        <p:nvSpPr>
          <p:cNvPr id="18" name="TextBox 17"/>
          <p:cNvSpPr txBox="1"/>
          <p:nvPr/>
        </p:nvSpPr>
        <p:spPr>
          <a:xfrm>
            <a:off x="6516471" y="3236976"/>
            <a:ext cx="3602736" cy="292608"/>
          </a:xfrm>
          <a:prstGeom prst="rect">
            <a:avLst/>
          </a:prstGeom>
          <a:noFill/>
        </p:spPr>
        <p:txBody>
          <a:bodyPr wrap="square" anchor="t" lIns="0" rIns="0" tIns="0" bIns="0">
            <a:noAutofit/>
          </a:bodyPr>
          <a:lstStyle/>
          <a:p>
            <a:pPr algn="l"/>
            <a:r>
              <a:rPr sz="1150" b="0" i="0">
                <a:solidFill>
                  <a:srgbClr val="8A9599"/>
                </a:solidFill>
                <a:latin typeface="Segoe UI"/>
              </a:rPr>
              <a:t>SAP S/4HANA, on-premise</a:t>
            </a:r>
          </a:p>
        </p:txBody>
      </p:sp>
      <p:sp>
        <p:nvSpPr>
          <p:cNvPr id="19" name="TextBox 18"/>
          <p:cNvSpPr txBox="1"/>
          <p:nvPr/>
        </p:nvSpPr>
        <p:spPr>
          <a:xfrm>
            <a:off x="6516471" y="3584448"/>
            <a:ext cx="3602736" cy="914400"/>
          </a:xfrm>
          <a:prstGeom prst="rect">
            <a:avLst/>
          </a:prstGeom>
          <a:noFill/>
        </p:spPr>
        <p:txBody>
          <a:bodyPr wrap="square" anchor="t" lIns="0" rIns="0" tIns="0" bIns="0">
            <a:noAutofit/>
          </a:bodyPr>
          <a:lstStyle/>
          <a:p>
            <a:pPr algn="l">
              <a:lnSpc>
                <a:spcPct val="110000"/>
              </a:lnSpc>
            </a:pPr>
            <a:r>
              <a:rPr sz="1400" b="0" i="0">
                <a:solidFill>
                  <a:srgbClr val="0F1417"/>
                </a:solidFill>
                <a:latin typeface="Century Gothic"/>
              </a:rPr>
              <a:t>The intercompany funding process, run by the Digital Co-Worker.</a:t>
            </a:r>
          </a:p>
        </p:txBody>
      </p:sp>
      <p:sp>
        <p:nvSpPr>
          <p:cNvPr id="20" name="TextBox 19"/>
          <p:cNvSpPr txBox="1"/>
          <p:nvPr/>
        </p:nvSpPr>
        <p:spPr>
          <a:xfrm>
            <a:off x="6516471" y="4645152"/>
            <a:ext cx="3602736" cy="603504"/>
          </a:xfrm>
          <a:prstGeom prst="rect">
            <a:avLst/>
          </a:prstGeom>
          <a:noFill/>
        </p:spPr>
        <p:txBody>
          <a:bodyPr wrap="square" anchor="t" lIns="0" rIns="0" tIns="0" bIns="0">
            <a:noAutofit/>
          </a:bodyPr>
          <a:lstStyle/>
          <a:p>
            <a:pPr algn="l">
              <a:lnSpc>
                <a:spcPct val="116000"/>
              </a:lnSpc>
            </a:pPr>
            <a:r>
              <a:rPr sz="1150" b="0" i="0">
                <a:solidFill>
                  <a:srgbClr val="5B666B"/>
                </a:solidFill>
                <a:latin typeface="Segoe UI"/>
              </a:rPr>
              <a:t>A complex process with many SAP touch-points, fully automated.</a:t>
            </a:r>
          </a:p>
        </p:txBody>
      </p:sp>
      <p:sp>
        <p:nvSpPr>
          <p:cNvPr id="21" name="Rounded Rectangle 20"/>
          <p:cNvSpPr/>
          <p:nvPr/>
        </p:nvSpPr>
        <p:spPr>
          <a:xfrm>
            <a:off x="6516471" y="5321808"/>
            <a:ext cx="3602736" cy="512064"/>
          </a:xfrm>
          <a:prstGeom prst="roundRect">
            <a:avLst>
              <a:gd name="adj" fmla="val 10000"/>
            </a:avLst>
          </a:prstGeom>
          <a:solidFill>
            <a:srgbClr val="FFFFFF"/>
          </a:solidFill>
          <a:ln w="12700">
            <a:solidFill>
              <a:srgbClr val="E2E7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16471" y="5321808"/>
            <a:ext cx="54864" cy="512064"/>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81063" y="5385816"/>
            <a:ext cx="3438144" cy="182880"/>
          </a:xfrm>
          <a:prstGeom prst="rect">
            <a:avLst/>
          </a:prstGeom>
          <a:noFill/>
        </p:spPr>
        <p:txBody>
          <a:bodyPr wrap="square" anchor="t" lIns="0" rIns="0" tIns="0" bIns="0">
            <a:noAutofit/>
          </a:bodyPr>
          <a:lstStyle/>
          <a:p>
            <a:pPr algn="l"/>
            <a:r>
              <a:rPr sz="850" b="0" i="0" spc="140">
                <a:solidFill>
                  <a:srgbClr val="6D4098"/>
                </a:solidFill>
                <a:latin typeface="Segoe UI Semibold"/>
              </a:rPr>
              <a:t>REPLACED</a:t>
            </a:r>
          </a:p>
        </p:txBody>
      </p:sp>
      <p:sp>
        <p:nvSpPr>
          <p:cNvPr id="24" name="TextBox 23"/>
          <p:cNvSpPr txBox="1"/>
          <p:nvPr/>
        </p:nvSpPr>
        <p:spPr>
          <a:xfrm>
            <a:off x="6681063" y="5541264"/>
            <a:ext cx="3438144" cy="292608"/>
          </a:xfrm>
          <a:prstGeom prst="rect">
            <a:avLst/>
          </a:prstGeom>
          <a:noFill/>
        </p:spPr>
        <p:txBody>
          <a:bodyPr wrap="square" anchor="t" lIns="0" rIns="0" tIns="0" bIns="0">
            <a:noAutofit/>
          </a:bodyPr>
          <a:lstStyle/>
          <a:p>
            <a:pPr algn="l">
              <a:lnSpc>
                <a:spcPct val="104000"/>
              </a:lnSpc>
            </a:pPr>
            <a:r>
              <a:rPr sz="1100" b="0" i="0">
                <a:solidFill>
                  <a:srgbClr val="0F1417"/>
                </a:solidFill>
                <a:latin typeface="Segoe UI"/>
              </a:rPr>
              <a:t>Replaced a manual solution.</a:t>
            </a:r>
          </a:p>
        </p:txBody>
      </p:sp>
      <p:sp>
        <p:nvSpPr>
          <p:cNvPr id="25" name="Rectangle 24"/>
          <p:cNvSpPr/>
          <p:nvPr/>
        </p:nvSpPr>
        <p:spPr>
          <a:xfrm>
            <a:off x="566928" y="6327648"/>
            <a:ext cx="11057839" cy="12801"/>
          </a:xfrm>
          <a:prstGeom prst="rect">
            <a:avLst/>
          </a:prstGeom>
          <a:solidFill>
            <a:srgbClr val="E2E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6400800"/>
            <a:ext cx="7315200" cy="274320"/>
          </a:xfrm>
          <a:prstGeom prst="rect">
            <a:avLst/>
          </a:prstGeom>
          <a:noFill/>
        </p:spPr>
        <p:txBody>
          <a:bodyPr wrap="square" anchor="t" lIns="0" rIns="0" tIns="0" bIns="0">
            <a:noAutofit/>
          </a:bodyPr>
          <a:lstStyle/>
          <a:p>
            <a:pPr algn="l"/>
            <a:r>
              <a:rPr sz="900" b="0" i="0" spc="40">
                <a:solidFill>
                  <a:srgbClr val="8A9599"/>
                </a:solidFill>
                <a:latin typeface="Segoe UI"/>
              </a:rPr>
              <a:t>TreasuryCentral, powered by OnePilot</a:t>
            </a:r>
          </a:p>
        </p:txBody>
      </p:sp>
      <p:sp>
        <p:nvSpPr>
          <p:cNvPr id="27" name="TextBox 26"/>
          <p:cNvSpPr txBox="1"/>
          <p:nvPr/>
        </p:nvSpPr>
        <p:spPr>
          <a:xfrm>
            <a:off x="9795967" y="6400800"/>
            <a:ext cx="1828800" cy="274320"/>
          </a:xfrm>
          <a:prstGeom prst="rect">
            <a:avLst/>
          </a:prstGeom>
          <a:noFill/>
        </p:spPr>
        <p:txBody>
          <a:bodyPr wrap="square" anchor="t" lIns="0" rIns="0" tIns="0" bIns="0">
            <a:noAutofit/>
          </a:bodyPr>
          <a:lstStyle/>
          <a:p>
            <a:pPr algn="r"/>
            <a:r>
              <a:rPr sz="900" b="0" i="0">
                <a:solidFill>
                  <a:srgbClr val="8A9599"/>
                </a:solidFill>
                <a:latin typeface="Segoe UI"/>
              </a:rPr>
              <a:t>12</a:t>
            </a:r>
          </a:p>
        </p:txBody>
      </p:sp>
      <p:sp>
        <p:nvSpPr>
          <p:cNvPr id="28" name="Rounded Rectangle 27"/>
          <p:cNvSpPr/>
          <p:nvPr/>
        </p:nvSpPr>
        <p:spPr>
          <a:xfrm>
            <a:off x="11533327"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1697919" y="237744"/>
            <a:ext cx="82296" cy="82296"/>
          </a:xfrm>
          <a:prstGeom prst="roundRect">
            <a:avLst>
              <a:gd name="adj" fmla="val 50000"/>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1862511" y="237744"/>
            <a:ext cx="82296" cy="82296"/>
          </a:xfrm>
          <a:prstGeom prst="roundRect">
            <a:avLst>
              <a:gd name="adj" fmla="val 50000"/>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417"/>
        </a:solidFill>
        <a:effectLst/>
      </p:bgPr>
    </p:bg>
    <p:spTree>
      <p:nvGrpSpPr>
        <p:cNvPr id="1" name=""/>
        <p:cNvGrpSpPr/>
        <p:nvPr/>
      </p:nvGrpSpPr>
      <p:grpSpPr/>
      <p:sp>
        <p:nvSpPr>
          <p:cNvPr id="2" name="Rectangle 1"/>
          <p:cNvSpPr/>
          <p:nvPr/>
        </p:nvSpPr>
        <p:spPr>
          <a:xfrm>
            <a:off x="0" y="0"/>
            <a:ext cx="12191695" cy="82296"/>
          </a:xfrm>
          <a:prstGeom prst="rect">
            <a:avLst/>
          </a:prstGeom>
          <a:solidFill>
            <a:srgbClr val="6D4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94560"/>
            <a:ext cx="2743200" cy="365760"/>
          </a:xfrm>
          <a:prstGeom prst="rect">
            <a:avLst/>
          </a:prstGeom>
          <a:noFill/>
        </p:spPr>
        <p:txBody>
          <a:bodyPr wrap="square" anchor="t" lIns="0" rIns="0" tIns="0" bIns="0">
            <a:noAutofit/>
          </a:bodyPr>
          <a:lstStyle/>
          <a:p>
            <a:pPr algn="l"/>
            <a:r>
              <a:rPr sz="1250" b="1" i="0" spc="300">
                <a:solidFill>
                  <a:srgbClr val="9463D6"/>
                </a:solidFill>
                <a:latin typeface="Segoe UI Semibold"/>
              </a:rPr>
              <a:t>CONTACT</a:t>
            </a:r>
          </a:p>
        </p:txBody>
      </p:sp>
      <p:sp>
        <p:nvSpPr>
          <p:cNvPr id="4" name="TextBox 3"/>
          <p:cNvSpPr txBox="1"/>
          <p:nvPr/>
        </p:nvSpPr>
        <p:spPr>
          <a:xfrm>
            <a:off x="548640" y="2633472"/>
            <a:ext cx="10515600" cy="1188720"/>
          </a:xfrm>
          <a:prstGeom prst="rect">
            <a:avLst/>
          </a:prstGeom>
          <a:noFill/>
        </p:spPr>
        <p:txBody>
          <a:bodyPr wrap="square" anchor="t" lIns="0" rIns="0" tIns="0" bIns="0">
            <a:noAutofit/>
          </a:bodyPr>
          <a:lstStyle/>
          <a:p>
            <a:pPr algn="l"/>
            <a:r>
              <a:rPr sz="4200" b="0" i="0">
                <a:solidFill>
                  <a:srgbClr val="ECEFF0"/>
                </a:solidFill>
                <a:latin typeface="Century Gothic"/>
              </a:rPr>
              <a:t>Let's map your first request.</a:t>
            </a:r>
          </a:p>
        </p:txBody>
      </p:sp>
      <p:sp>
        <p:nvSpPr>
          <p:cNvPr id="5" name="TextBox 4"/>
          <p:cNvSpPr txBox="1"/>
          <p:nvPr/>
        </p:nvSpPr>
        <p:spPr>
          <a:xfrm>
            <a:off x="566928" y="3749039"/>
            <a:ext cx="9144000" cy="548640"/>
          </a:xfrm>
          <a:prstGeom prst="rect">
            <a:avLst/>
          </a:prstGeom>
          <a:noFill/>
        </p:spPr>
        <p:txBody>
          <a:bodyPr wrap="square" anchor="t" lIns="0" rIns="0" tIns="0" bIns="0">
            <a:noAutofit/>
          </a:bodyPr>
          <a:lstStyle/>
          <a:p>
            <a:pPr algn="l">
              <a:lnSpc>
                <a:spcPct val="130000"/>
              </a:lnSpc>
            </a:pPr>
            <a:r>
              <a:rPr sz="1600" b="0" i="0">
                <a:solidFill>
                  <a:srgbClr val="9AA6AB"/>
                </a:solidFill>
                <a:latin typeface="Segoe UI"/>
              </a:rPr>
              <a:t>We build the autonomous treasury one use case at a time, on the platform you already run.</a:t>
            </a:r>
          </a:p>
        </p:txBody>
      </p:sp>
      <p:sp>
        <p:nvSpPr>
          <p:cNvPr id="6" name="Rectangle 5"/>
          <p:cNvSpPr/>
          <p:nvPr/>
        </p:nvSpPr>
        <p:spPr>
          <a:xfrm>
            <a:off x="585216" y="4553712"/>
            <a:ext cx="1828800" cy="41148"/>
          </a:xfrm>
          <a:prstGeom prst="rect">
            <a:avLst/>
          </a:prstGeom>
          <a:solidFill>
            <a:srgbClr val="946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754880"/>
            <a:ext cx="10058400" cy="365760"/>
          </a:xfrm>
          <a:prstGeom prst="rect">
            <a:avLst/>
          </a:prstGeom>
          <a:noFill/>
        </p:spPr>
        <p:txBody>
          <a:bodyPr wrap="square" anchor="t" lIns="0" rIns="0" tIns="0" bIns="0">
            <a:noAutofit/>
          </a:bodyPr>
          <a:lstStyle/>
          <a:p>
            <a:pPr algn="l"/>
            <a:r>
              <a:rPr sz="1600" b="0" i="0">
                <a:solidFill>
                  <a:srgbClr val="ECEFF0"/>
                </a:solidFill>
                <a:latin typeface="Segoe UI Semibold"/>
              </a:rPr>
              <a:t>Dirk Neumann</a:t>
            </a:r>
          </a:p>
        </p:txBody>
      </p:sp>
      <p:sp>
        <p:nvSpPr>
          <p:cNvPr id="8" name="TextBox 7"/>
          <p:cNvSpPr txBox="1"/>
          <p:nvPr/>
        </p:nvSpPr>
        <p:spPr>
          <a:xfrm>
            <a:off x="566928" y="5084064"/>
            <a:ext cx="10058400" cy="365760"/>
          </a:xfrm>
          <a:prstGeom prst="rect">
            <a:avLst/>
          </a:prstGeom>
          <a:noFill/>
        </p:spPr>
        <p:txBody>
          <a:bodyPr wrap="square" anchor="t" lIns="0" rIns="0" tIns="0" bIns="0">
            <a:noAutofit/>
          </a:bodyPr>
          <a:lstStyle/>
          <a:p>
            <a:pPr algn="l"/>
            <a:r>
              <a:rPr sz="1400" b="0" i="0">
                <a:solidFill>
                  <a:srgbClr val="9AA6AB"/>
                </a:solidFill>
                <a:latin typeface="Segoe UI"/>
              </a:rPr>
              <a:t>dirk.neumann@brisken.com    ·    +1 936-777-4451</a:t>
            </a:r>
          </a:p>
        </p:txBody>
      </p:sp>
      <p:sp>
        <p:nvSpPr>
          <p:cNvPr id="9" name="TextBox 8"/>
          <p:cNvSpPr txBox="1"/>
          <p:nvPr/>
        </p:nvSpPr>
        <p:spPr>
          <a:xfrm>
            <a:off x="566928" y="5431536"/>
            <a:ext cx="10058400" cy="365760"/>
          </a:xfrm>
          <a:prstGeom prst="rect">
            <a:avLst/>
          </a:prstGeom>
          <a:noFill/>
        </p:spPr>
        <p:txBody>
          <a:bodyPr wrap="square" anchor="t" lIns="0" rIns="0" tIns="0" bIns="0">
            <a:noAutofit/>
          </a:bodyPr>
          <a:lstStyle/>
          <a:p>
            <a:pPr algn="l"/>
            <a:r>
              <a:rPr sz="1400" b="0" i="0">
                <a:solidFill>
                  <a:srgbClr val="9AA6AB"/>
                </a:solidFill>
                <a:latin typeface="Segoe UI"/>
              </a:rPr>
              <a:t>Brisken HQ, Houston, TX    ·    resources.brisken.com</a:t>
            </a:r>
          </a:p>
        </p:txBody>
      </p:sp>
      <p:pic>
        <p:nvPicPr>
          <p:cNvPr id="10" name="Picture 9" descr="brisken_reversed.png"/>
          <p:cNvPicPr>
            <a:picLocks noChangeAspect="1"/>
          </p:cNvPicPr>
          <p:nvPr/>
        </p:nvPicPr>
        <p:blipFill>
          <a:blip r:embed="rId2"/>
          <a:stretch>
            <a:fillRect/>
          </a:stretch>
        </p:blipFill>
        <p:spPr>
          <a:xfrm>
            <a:off x="10288580" y="6199632"/>
            <a:ext cx="1336186" cy="2926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