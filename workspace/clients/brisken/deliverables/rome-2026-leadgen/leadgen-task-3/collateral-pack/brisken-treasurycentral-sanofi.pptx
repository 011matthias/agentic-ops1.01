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6949440" y="-1097280"/>
            <a:ext cx="6035040" cy="6035040"/>
          </a:xfrm>
          <a:prstGeom prst="ellipse">
            <a:avLst/>
          </a:prstGeom>
          <a:solidFill>
            <a:srgbClr val="3BE3E0">
              <a:alpha val="7000"/>
            </a:srgbClr>
          </a:solidFill>
          <a:ln w="12700">
            <a:solidFill>
              <a:srgbClr val="333333"/>
            </a:solidFill>
            <a:prstDash val="solid"/>
          </a:ln>
        </p:spPr>
      </p:sp>
      <p:sp>
        <p:nvSpPr>
          <p:cNvPr id="3" name="Shape 1"/>
          <p:cNvSpPr/>
          <p:nvPr/>
        </p:nvSpPr>
        <p:spPr>
          <a:xfrm>
            <a:off x="8321040" y="274320"/>
            <a:ext cx="3291840" cy="3291840"/>
          </a:xfrm>
          <a:prstGeom prst="ellipse">
            <a:avLst/>
          </a:prstGeom>
          <a:solidFill>
            <a:srgbClr val="3BE3E0">
              <a:alpha val="12000"/>
            </a:srgbClr>
          </a:solidFill>
          <a:ln w="12700">
            <a:solidFill>
              <a:srgbClr val="333333"/>
            </a:solidFill>
            <a:prstDash val="solid"/>
          </a:ln>
        </p:spPr>
      </p:sp>
      <p:sp>
        <p:nvSpPr>
          <p:cNvPr id="4" name="Shape 2"/>
          <p:cNvSpPr/>
          <p:nvPr/>
        </p:nvSpPr>
        <p:spPr>
          <a:xfrm>
            <a:off x="-1737360" y="3017520"/>
            <a:ext cx="6035040" cy="6035040"/>
          </a:xfrm>
          <a:prstGeom prst="ellipse">
            <a:avLst/>
          </a:prstGeom>
          <a:solidFill>
            <a:srgbClr val="5A6BFF">
              <a:alpha val="7000"/>
            </a:srgbClr>
          </a:solidFill>
          <a:ln w="12700">
            <a:solidFill>
              <a:srgbClr val="333333"/>
            </a:solidFill>
            <a:prstDash val="solid"/>
          </a:ln>
        </p:spPr>
      </p:sp>
      <p:sp>
        <p:nvSpPr>
          <p:cNvPr id="5" name="Shape 3"/>
          <p:cNvSpPr/>
          <p:nvPr/>
        </p:nvSpPr>
        <p:spPr>
          <a:xfrm>
            <a:off x="-365760" y="4389120"/>
            <a:ext cx="3291840" cy="3291840"/>
          </a:xfrm>
          <a:prstGeom prst="ellipse">
            <a:avLst/>
          </a:prstGeom>
          <a:solidFill>
            <a:srgbClr val="5A6BFF">
              <a:alpha val="12000"/>
            </a:srgbClr>
          </a:solidFill>
          <a:ln w="12700">
            <a:solidFill>
              <a:srgbClr val="333333"/>
            </a:solidFill>
            <a:prstDash val="solid"/>
          </a:ln>
        </p:spPr>
      </p:sp>
      <p:pic>
        <p:nvPicPr>
          <p:cNvPr id="6" name="Image 0" descr="C:/Users/neuma_p1qrsic/Repo/agentic-ops1/.scratch/brisken-logo-light.png">    </p:cNvPr>
          <p:cNvPicPr>
            <a:picLocks noChangeAspect="1"/>
          </p:cNvPicPr>
          <p:nvPr/>
        </p:nvPicPr>
        <p:blipFill>
          <a:blip r:embed="rId1"/>
          <a:stretch>
            <a:fillRect/>
          </a:stretch>
        </p:blipFill>
        <p:spPr>
          <a:xfrm>
            <a:off x="566928" y="548640"/>
            <a:ext cx="1417320" cy="310896"/>
          </a:xfrm>
          <a:prstGeom prst="rect">
            <a:avLst/>
          </a:prstGeom>
        </p:spPr>
      </p:pic>
      <p:sp>
        <p:nvSpPr>
          <p:cNvPr id="7" name="Shape 4"/>
          <p:cNvSpPr/>
          <p:nvPr/>
        </p:nvSpPr>
        <p:spPr>
          <a:xfrm>
            <a:off x="8058607" y="502920"/>
            <a:ext cx="3566160" cy="420624"/>
          </a:xfrm>
          <a:prstGeom prst="roundRect">
            <a:avLst>
              <a:gd name="adj" fmla="val 50000"/>
            </a:avLst>
          </a:prstGeom>
          <a:solidFill>
            <a:srgbClr val="141A25"/>
          </a:solidFill>
          <a:ln w="12700">
            <a:solidFill>
              <a:srgbClr val="36414F"/>
            </a:solidFill>
            <a:prstDash val="solid"/>
          </a:ln>
        </p:spPr>
      </p:sp>
      <p:sp>
        <p:nvSpPr>
          <p:cNvPr id="8" name="Text 5"/>
          <p:cNvSpPr/>
          <p:nvPr/>
        </p:nvSpPr>
        <p:spPr>
          <a:xfrm>
            <a:off x="8058607" y="502920"/>
            <a:ext cx="3566160" cy="420624"/>
          </a:xfrm>
          <a:prstGeom prst="rect">
            <a:avLst/>
          </a:prstGeom>
          <a:noFill/>
          <a:ln/>
        </p:spPr>
        <p:txBody>
          <a:bodyPr wrap="square" rtlCol="0" anchor="ctr"/>
          <a:lstStyle/>
          <a:p>
            <a:pPr algn="ctr" indent="0" marL="0">
              <a:buNone/>
            </a:pPr>
            <a:r>
              <a:rPr lang="en-US" sz="1100" dirty="0">
                <a:solidFill>
                  <a:srgbClr val="7C8A9B"/>
                </a:solidFill>
                <a:latin typeface="Segoe UI" pitchFamily="34" charset="0"/>
                <a:ea typeface="Segoe UI" pitchFamily="34" charset="-122"/>
                <a:cs typeface="Segoe UI" pitchFamily="34" charset="-120"/>
              </a:rPr>
              <a:t>Prepared for  </a:t>
            </a:r>
            <a:pPr algn="ctr" indent="0" marL="0">
              <a:buNone/>
            </a:pPr>
            <a:r>
              <a:rPr lang="en-US" sz="1100" b="1" dirty="0">
                <a:solidFill>
                  <a:srgbClr val="F3F6FB"/>
                </a:solidFill>
                <a:latin typeface="Segoe UI" pitchFamily="34" charset="0"/>
                <a:ea typeface="Segoe UI" pitchFamily="34" charset="-122"/>
                <a:cs typeface="Segoe UI" pitchFamily="34" charset="-120"/>
              </a:rPr>
              <a:t>Sanofi  ·  Ian Haegemans</a:t>
            </a:r>
            <a:endParaRPr lang="en-US" sz="1100" dirty="0"/>
          </a:p>
        </p:txBody>
      </p:sp>
      <p:sp>
        <p:nvSpPr>
          <p:cNvPr id="9" name="Shape 6"/>
          <p:cNvSpPr/>
          <p:nvPr/>
        </p:nvSpPr>
        <p:spPr>
          <a:xfrm>
            <a:off x="566928" y="2532888"/>
            <a:ext cx="45720" cy="219456"/>
          </a:xfrm>
          <a:prstGeom prst="rect">
            <a:avLst/>
          </a:prstGeom>
          <a:solidFill>
            <a:srgbClr val="3BE3E0"/>
          </a:solidFill>
          <a:ln w="12700">
            <a:solidFill>
              <a:srgbClr val="333333"/>
            </a:solidFill>
            <a:prstDash val="solid"/>
          </a:ln>
        </p:spPr>
      </p:sp>
      <p:sp>
        <p:nvSpPr>
          <p:cNvPr id="10" name="Text 7"/>
          <p:cNvSpPr/>
          <p:nvPr/>
        </p:nvSpPr>
        <p:spPr>
          <a:xfrm>
            <a:off x="713232" y="2459736"/>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ONEPILOT · TREASURYCENTRAL</a:t>
            </a:r>
            <a:endParaRPr lang="en-US" sz="1200" dirty="0"/>
          </a:p>
        </p:txBody>
      </p:sp>
      <p:sp>
        <p:nvSpPr>
          <p:cNvPr id="11" name="Text 8"/>
          <p:cNvSpPr/>
          <p:nvPr/>
        </p:nvSpPr>
        <p:spPr>
          <a:xfrm>
            <a:off x="539496" y="2788920"/>
            <a:ext cx="11338560" cy="1280160"/>
          </a:xfrm>
          <a:prstGeom prst="rect">
            <a:avLst/>
          </a:prstGeom>
          <a:noFill/>
          <a:ln/>
        </p:spPr>
        <p:txBody>
          <a:bodyPr wrap="square" rtlCol="0" anchor="ctr"/>
          <a:lstStyle/>
          <a:p>
            <a:pPr indent="0" marL="0">
              <a:buNone/>
            </a:pPr>
            <a:r>
              <a:rPr lang="en-US" sz="6600" b="1" dirty="0">
                <a:solidFill>
                  <a:srgbClr val="F3F6FB"/>
                </a:solidFill>
                <a:latin typeface="Segoe UI Semibold" pitchFamily="34" charset="0"/>
                <a:ea typeface="Segoe UI Semibold" pitchFamily="34" charset="-122"/>
                <a:cs typeface="Segoe UI Semibold" pitchFamily="34" charset="-120"/>
              </a:rPr>
              <a:t>TreasuryCentral</a:t>
            </a:r>
            <a:endParaRPr lang="en-US" sz="6600" dirty="0"/>
          </a:p>
        </p:txBody>
      </p:sp>
      <p:sp>
        <p:nvSpPr>
          <p:cNvPr id="12" name="Text 9"/>
          <p:cNvSpPr/>
          <p:nvPr/>
        </p:nvSpPr>
        <p:spPr>
          <a:xfrm>
            <a:off x="566928" y="4160520"/>
            <a:ext cx="10424160" cy="822960"/>
          </a:xfrm>
          <a:prstGeom prst="rect">
            <a:avLst/>
          </a:prstGeom>
          <a:noFill/>
          <a:ln/>
        </p:spPr>
        <p:txBody>
          <a:bodyPr wrap="square" rtlCol="0" anchor="t"/>
          <a:lstStyle/>
          <a:p>
            <a:pPr indent="0" marL="0">
              <a:lnSpc>
                <a:spcPct val="115000"/>
              </a:lnSpc>
              <a:buNone/>
            </a:pPr>
            <a:r>
              <a:rPr lang="en-US" sz="2000" dirty="0">
                <a:solidFill>
                  <a:srgbClr val="AAB6C7"/>
                </a:solidFill>
                <a:latin typeface="Segoe UI" pitchFamily="34" charset="0"/>
                <a:ea typeface="Segoe UI" pitchFamily="34" charset="-122"/>
                <a:cs typeface="Segoe UI" pitchFamily="34" charset="-120"/>
              </a:rPr>
              <a:t>One cockpit for the whole treasury, on your live SAP data. </a:t>
            </a:r>
            <a:pPr indent="0" marL="0">
              <a:lnSpc>
                <a:spcPct val="115000"/>
              </a:lnSpc>
              <a:buNone/>
            </a:pPr>
            <a:r>
              <a:rPr lang="en-US" sz="2000" dirty="0">
                <a:solidFill>
                  <a:srgbClr val="3BE3E0"/>
                </a:solidFill>
                <a:latin typeface="Segoe UI" pitchFamily="34" charset="0"/>
                <a:ea typeface="Segoe UI" pitchFamily="34" charset="-122"/>
                <a:cs typeface="Segoe UI" pitchFamily="34" charset="-120"/>
              </a:rPr>
              <a:t>Market data, trading and AI, in one governed layer.</a:t>
            </a:r>
            <a:endParaRPr lang="en-US" sz="2000" dirty="0"/>
          </a:p>
        </p:txBody>
      </p:sp>
      <p:sp>
        <p:nvSpPr>
          <p:cNvPr id="13" name="Shape 10"/>
          <p:cNvSpPr/>
          <p:nvPr/>
        </p:nvSpPr>
        <p:spPr>
          <a:xfrm>
            <a:off x="566928" y="5532120"/>
            <a:ext cx="566928" cy="566928"/>
          </a:xfrm>
          <a:prstGeom prst="roundRect">
            <a:avLst>
              <a:gd name="adj" fmla="val 17742"/>
            </a:avLst>
          </a:prstGeom>
          <a:solidFill>
            <a:srgbClr val="1B2330"/>
          </a:solidFill>
          <a:ln w="15240">
            <a:solidFill>
              <a:srgbClr val="3BE3E0"/>
            </a:solidFill>
            <a:prstDash val="solid"/>
          </a:ln>
        </p:spPr>
      </p:sp>
      <p:pic>
        <p:nvPicPr>
          <p:cNvPr id="14" name="Image 1" descr="C:/Users/neuma_p1qrsic/Repo/agentic-ops1/.scratch/icons/database.png">    </p:cNvPr>
          <p:cNvPicPr>
            <a:picLocks noChangeAspect="1"/>
          </p:cNvPicPr>
          <p:nvPr/>
        </p:nvPicPr>
        <p:blipFill>
          <a:blip r:embed="rId2"/>
          <a:stretch>
            <a:fillRect/>
          </a:stretch>
        </p:blipFill>
        <p:spPr>
          <a:xfrm>
            <a:off x="702991" y="5668183"/>
            <a:ext cx="294803" cy="294803"/>
          </a:xfrm>
          <a:prstGeom prst="rect">
            <a:avLst/>
          </a:prstGeom>
        </p:spPr>
      </p:pic>
      <p:sp>
        <p:nvSpPr>
          <p:cNvPr id="15" name="Text 11"/>
          <p:cNvSpPr/>
          <p:nvPr/>
        </p:nvSpPr>
        <p:spPr>
          <a:xfrm>
            <a:off x="1252728" y="5532120"/>
            <a:ext cx="2468880" cy="566928"/>
          </a:xfrm>
          <a:prstGeom prst="rect">
            <a:avLst/>
          </a:prstGeom>
          <a:noFill/>
          <a:ln/>
        </p:spPr>
        <p:txBody>
          <a:bodyPr wrap="square" rtlCol="0" anchor="ctr"/>
          <a:lstStyle/>
          <a:p>
            <a:pPr indent="0" marL="0">
              <a:buNone/>
            </a:pPr>
            <a:r>
              <a:rPr lang="en-US" sz="1300" dirty="0">
                <a:solidFill>
                  <a:srgbClr val="F3F6FB"/>
                </a:solidFill>
                <a:latin typeface="Segoe UI" pitchFamily="34" charset="0"/>
                <a:ea typeface="Segoe UI" pitchFamily="34" charset="-122"/>
                <a:cs typeface="Segoe UI" pitchFamily="34" charset="-120"/>
              </a:rPr>
              <a:t>Your live SAP data</a:t>
            </a:r>
            <a:endParaRPr lang="en-US" sz="1300" dirty="0"/>
          </a:p>
        </p:txBody>
      </p:sp>
      <p:sp>
        <p:nvSpPr>
          <p:cNvPr id="16" name="Shape 12"/>
          <p:cNvSpPr/>
          <p:nvPr/>
        </p:nvSpPr>
        <p:spPr>
          <a:xfrm>
            <a:off x="3630168" y="5815584"/>
            <a:ext cx="640080" cy="0"/>
          </a:xfrm>
          <a:prstGeom prst="line">
            <a:avLst/>
          </a:prstGeom>
          <a:noFill/>
          <a:ln w="25400">
            <a:solidFill>
              <a:srgbClr val="3BE3E0"/>
            </a:solidFill>
            <a:prstDash val="solid"/>
            <a:tailEnd type="triangle"/>
          </a:ln>
        </p:spPr>
      </p:sp>
      <p:sp>
        <p:nvSpPr>
          <p:cNvPr id="17" name="Text 13"/>
          <p:cNvSpPr/>
          <p:nvPr/>
        </p:nvSpPr>
        <p:spPr>
          <a:xfrm>
            <a:off x="4361688" y="5532120"/>
            <a:ext cx="2103120" cy="566928"/>
          </a:xfrm>
          <a:prstGeom prst="rect">
            <a:avLst/>
          </a:prstGeom>
          <a:noFill/>
          <a:ln/>
        </p:spPr>
        <p:txBody>
          <a:bodyPr wrap="square" rtlCol="0" anchor="ctr"/>
          <a:lstStyle/>
          <a:p>
            <a:pPr algn="ctr" indent="0" marL="0">
              <a:buNone/>
            </a:pPr>
            <a:r>
              <a:rPr lang="en-US" sz="1200" i="1" dirty="0">
                <a:solidFill>
                  <a:srgbClr val="3BE3E0"/>
                </a:solidFill>
                <a:latin typeface="Segoe UI" pitchFamily="34" charset="0"/>
                <a:ea typeface="Segoe UI" pitchFamily="34" charset="-122"/>
                <a:cs typeface="Segoe UI" pitchFamily="34" charset="-120"/>
              </a:rPr>
              <a:t>TreasuryCentral</a:t>
            </a:r>
            <a:endParaRPr lang="en-US" sz="1200" dirty="0"/>
          </a:p>
        </p:txBody>
      </p:sp>
      <p:sp>
        <p:nvSpPr>
          <p:cNvPr id="18" name="Shape 14"/>
          <p:cNvSpPr/>
          <p:nvPr/>
        </p:nvSpPr>
        <p:spPr>
          <a:xfrm>
            <a:off x="6510528" y="5815584"/>
            <a:ext cx="640080" cy="0"/>
          </a:xfrm>
          <a:prstGeom prst="line">
            <a:avLst/>
          </a:prstGeom>
          <a:noFill/>
          <a:ln w="25400">
            <a:solidFill>
              <a:srgbClr val="3BE3E0"/>
            </a:solidFill>
            <a:prstDash val="solid"/>
            <a:tailEnd type="triangle"/>
          </a:ln>
        </p:spPr>
      </p:sp>
      <p:sp>
        <p:nvSpPr>
          <p:cNvPr id="19" name="Shape 15"/>
          <p:cNvSpPr/>
          <p:nvPr/>
        </p:nvSpPr>
        <p:spPr>
          <a:xfrm>
            <a:off x="7287768" y="5532120"/>
            <a:ext cx="566928" cy="566928"/>
          </a:xfrm>
          <a:prstGeom prst="roundRect">
            <a:avLst>
              <a:gd name="adj" fmla="val 17742"/>
            </a:avLst>
          </a:prstGeom>
          <a:solidFill>
            <a:srgbClr val="1B2330"/>
          </a:solidFill>
          <a:ln w="15240">
            <a:solidFill>
              <a:srgbClr val="3BE3E0"/>
            </a:solidFill>
            <a:prstDash val="solid"/>
          </a:ln>
        </p:spPr>
      </p:sp>
      <p:pic>
        <p:nvPicPr>
          <p:cNvPr id="20" name="Image 2" descr="C:/Users/neuma_p1qrsic/Repo/agentic-ops1/.scratch/icons/gauge.png">    </p:cNvPr>
          <p:cNvPicPr>
            <a:picLocks noChangeAspect="1"/>
          </p:cNvPicPr>
          <p:nvPr/>
        </p:nvPicPr>
        <p:blipFill>
          <a:blip r:embed="rId3"/>
          <a:stretch>
            <a:fillRect/>
          </a:stretch>
        </p:blipFill>
        <p:spPr>
          <a:xfrm>
            <a:off x="7423831" y="5668183"/>
            <a:ext cx="294803" cy="294803"/>
          </a:xfrm>
          <a:prstGeom prst="rect">
            <a:avLst/>
          </a:prstGeom>
        </p:spPr>
      </p:pic>
      <p:sp>
        <p:nvSpPr>
          <p:cNvPr id="21" name="Text 16"/>
          <p:cNvSpPr/>
          <p:nvPr/>
        </p:nvSpPr>
        <p:spPr>
          <a:xfrm>
            <a:off x="7973568" y="5532120"/>
            <a:ext cx="3108960" cy="566928"/>
          </a:xfrm>
          <a:prstGeom prst="rect">
            <a:avLst/>
          </a:prstGeom>
          <a:noFill/>
          <a:ln/>
        </p:spPr>
        <p:txBody>
          <a:bodyPr wrap="square" rtlCol="0" anchor="ctr"/>
          <a:lstStyle/>
          <a:p>
            <a:pPr indent="0" marL="0">
              <a:buNone/>
            </a:pPr>
            <a:r>
              <a:rPr lang="en-US" sz="1300" dirty="0">
                <a:solidFill>
                  <a:srgbClr val="F3F6FB"/>
                </a:solidFill>
                <a:latin typeface="Segoe UI" pitchFamily="34" charset="0"/>
                <a:ea typeface="Segoe UI" pitchFamily="34" charset="-122"/>
                <a:cs typeface="Segoe UI" pitchFamily="34" charset="-120"/>
              </a:rPr>
              <a:t>Every treasury decision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THE PROBLEM</a:t>
            </a:r>
            <a:endParaRPr lang="en-US" sz="1200" dirty="0"/>
          </a:p>
        </p:txBody>
      </p:sp>
      <p:sp>
        <p:nvSpPr>
          <p:cNvPr id="4" name="Text 2"/>
          <p:cNvSpPr/>
          <p:nvPr/>
        </p:nvSpPr>
        <p:spPr>
          <a:xfrm>
            <a:off x="566928" y="960120"/>
            <a:ext cx="10881360" cy="1463040"/>
          </a:xfrm>
          <a:prstGeom prst="rect">
            <a:avLst/>
          </a:prstGeom>
          <a:noFill/>
          <a:ln/>
        </p:spPr>
        <p:txBody>
          <a:bodyPr wrap="square" rtlCol="0" anchor="ctr"/>
          <a:lstStyle/>
          <a:p>
            <a:pPr indent="0" marL="0">
              <a:lnSpc>
                <a:spcPct val="105000"/>
              </a:lnSpc>
              <a:buNone/>
            </a:pPr>
            <a:r>
              <a:rPr lang="en-US" sz="3300" b="1" dirty="0">
                <a:solidFill>
                  <a:srgbClr val="F3F6FB"/>
                </a:solidFill>
                <a:latin typeface="Segoe UI Semibold" pitchFamily="34" charset="0"/>
                <a:ea typeface="Segoe UI Semibold" pitchFamily="34" charset="-122"/>
                <a:cs typeface="Segoe UI Semibold" pitchFamily="34" charset="-120"/>
              </a:rPr>
              <a:t>A global treasury runs one process.
</a:t>
            </a:r>
            <a:pPr indent="0" marL="0">
              <a:lnSpc>
                <a:spcPct val="105000"/>
              </a:lnSpc>
              <a:buNone/>
            </a:pPr>
            <a:r>
              <a:rPr lang="en-US" sz="3300" b="1" dirty="0">
                <a:solidFill>
                  <a:srgbClr val="3BE3E0"/>
                </a:solidFill>
                <a:latin typeface="Segoe UI Semibold" pitchFamily="34" charset="0"/>
                <a:ea typeface="Segoe UI Semibold" pitchFamily="34" charset="-122"/>
                <a:cs typeface="Segoe UI Semibold" pitchFamily="34" charset="-120"/>
              </a:rPr>
              <a:t>The data behind it lives in a dozen places.</a:t>
            </a:r>
            <a:endParaRPr lang="en-US" sz="3300" dirty="0"/>
          </a:p>
        </p:txBody>
      </p:sp>
      <p:sp>
        <p:nvSpPr>
          <p:cNvPr id="5" name="Shape 3"/>
          <p:cNvSpPr/>
          <p:nvPr/>
        </p:nvSpPr>
        <p:spPr>
          <a:xfrm>
            <a:off x="566928" y="3246120"/>
            <a:ext cx="3246120" cy="1874520"/>
          </a:xfrm>
          <a:prstGeom prst="roundRect">
            <a:avLst>
              <a:gd name="adj" fmla="val 4390"/>
            </a:avLst>
          </a:prstGeom>
          <a:solidFill>
            <a:srgbClr val="141A25"/>
          </a:solidFill>
          <a:ln w="13970">
            <a:solidFill>
              <a:srgbClr val="36414F"/>
            </a:solidFill>
            <a:prstDash val="solid"/>
          </a:ln>
        </p:spPr>
      </p:sp>
      <p:sp>
        <p:nvSpPr>
          <p:cNvPr id="6" name="Shape 4"/>
          <p:cNvSpPr/>
          <p:nvPr/>
        </p:nvSpPr>
        <p:spPr>
          <a:xfrm>
            <a:off x="841248" y="3566160"/>
            <a:ext cx="603504" cy="603504"/>
          </a:xfrm>
          <a:prstGeom prst="roundRect">
            <a:avLst>
              <a:gd name="adj" fmla="val 16667"/>
            </a:avLst>
          </a:prstGeom>
          <a:solidFill>
            <a:srgbClr val="1B2330"/>
          </a:solidFill>
          <a:ln w="15240">
            <a:solidFill>
              <a:srgbClr val="3BE3E0"/>
            </a:solidFill>
            <a:prstDash val="solid"/>
          </a:ln>
        </p:spPr>
      </p:sp>
      <p:pic>
        <p:nvPicPr>
          <p:cNvPr id="7" name="Image 0" descr="C:/Users/neuma_p1qrsic/Repo/agentic-ops1/.scratch/icons/venue.png">    </p:cNvPr>
          <p:cNvPicPr>
            <a:picLocks noChangeAspect="1"/>
          </p:cNvPicPr>
          <p:nvPr/>
        </p:nvPicPr>
        <p:blipFill>
          <a:blip r:embed="rId1"/>
          <a:stretch>
            <a:fillRect/>
          </a:stretch>
        </p:blipFill>
        <p:spPr>
          <a:xfrm>
            <a:off x="986089" y="3711001"/>
            <a:ext cx="313822" cy="313822"/>
          </a:xfrm>
          <a:prstGeom prst="rect">
            <a:avLst/>
          </a:prstGeom>
        </p:spPr>
      </p:pic>
      <p:sp>
        <p:nvSpPr>
          <p:cNvPr id="8" name="Text 5"/>
          <p:cNvSpPr/>
          <p:nvPr/>
        </p:nvSpPr>
        <p:spPr>
          <a:xfrm>
            <a:off x="841248" y="4343400"/>
            <a:ext cx="2697480" cy="365760"/>
          </a:xfrm>
          <a:prstGeom prst="rect">
            <a:avLst/>
          </a:prstGeom>
          <a:noFill/>
          <a:ln/>
        </p:spPr>
        <p:txBody>
          <a:bodyPr wrap="square" rtlCol="0" anchor="ctr"/>
          <a:lstStyle/>
          <a:p>
            <a:pPr indent="0" marL="0">
              <a:buNone/>
            </a:pPr>
            <a:r>
              <a:rPr lang="en-US" sz="1500" b="1" dirty="0">
                <a:solidFill>
                  <a:srgbClr val="F3F6FB"/>
                </a:solidFill>
                <a:latin typeface="Segoe UI Semibold" pitchFamily="34" charset="0"/>
                <a:ea typeface="Segoe UI Semibold" pitchFamily="34" charset="-122"/>
                <a:cs typeface="Segoe UI Semibold" pitchFamily="34" charset="-120"/>
              </a:rPr>
              <a:t>Your sources</a:t>
            </a:r>
            <a:endParaRPr lang="en-US" sz="1500" dirty="0"/>
          </a:p>
        </p:txBody>
      </p:sp>
      <p:sp>
        <p:nvSpPr>
          <p:cNvPr id="9" name="Text 6"/>
          <p:cNvSpPr/>
          <p:nvPr/>
        </p:nvSpPr>
        <p:spPr>
          <a:xfrm>
            <a:off x="841248" y="4663440"/>
            <a:ext cx="2697480" cy="457200"/>
          </a:xfrm>
          <a:prstGeom prst="rect">
            <a:avLst/>
          </a:prstGeom>
          <a:noFill/>
          <a:ln/>
        </p:spPr>
        <p:txBody>
          <a:bodyPr wrap="square" rtlCol="0" anchor="ctr"/>
          <a:lstStyle/>
          <a:p>
            <a:pPr indent="0" marL="0">
              <a:buNone/>
            </a:pPr>
            <a:r>
              <a:rPr lang="en-US" sz="1200" dirty="0">
                <a:solidFill>
                  <a:srgbClr val="AAB6C7"/>
                </a:solidFill>
                <a:latin typeface="Segoe UI" pitchFamily="34" charset="0"/>
                <a:ea typeface="Segoe UI" pitchFamily="34" charset="-122"/>
                <a:cs typeface="Segoe UI" pitchFamily="34" charset="-120"/>
              </a:rPr>
              <a:t>Banks, market data, trading venues, internal systems</a:t>
            </a:r>
            <a:endParaRPr lang="en-US" sz="1200" dirty="0"/>
          </a:p>
        </p:txBody>
      </p:sp>
      <p:sp>
        <p:nvSpPr>
          <p:cNvPr id="10" name="Shape 7"/>
          <p:cNvSpPr/>
          <p:nvPr/>
        </p:nvSpPr>
        <p:spPr>
          <a:xfrm>
            <a:off x="4270248" y="3246120"/>
            <a:ext cx="3657600" cy="1874520"/>
          </a:xfrm>
          <a:prstGeom prst="roundRect">
            <a:avLst>
              <a:gd name="adj" fmla="val 4390"/>
            </a:avLst>
          </a:prstGeom>
          <a:solidFill>
            <a:srgbClr val="24190E"/>
          </a:solidFill>
          <a:ln w="17780">
            <a:solidFill>
              <a:srgbClr val="FFC96B"/>
            </a:solidFill>
            <a:prstDash val="dash"/>
          </a:ln>
        </p:spPr>
      </p:sp>
      <p:pic>
        <p:nvPicPr>
          <p:cNvPr id="11" name="Image 1" descr="C:/Users/neuma_p1qrsic/Repo/agentic-ops1/.scratch/icons/gap.png">    </p:cNvPr>
          <p:cNvPicPr>
            <a:picLocks noChangeAspect="1"/>
          </p:cNvPicPr>
          <p:nvPr/>
        </p:nvPicPr>
        <p:blipFill>
          <a:blip r:embed="rId2"/>
          <a:stretch>
            <a:fillRect/>
          </a:stretch>
        </p:blipFill>
        <p:spPr>
          <a:xfrm>
            <a:off x="5797296" y="3538728"/>
            <a:ext cx="603504" cy="603504"/>
          </a:xfrm>
          <a:prstGeom prst="rect">
            <a:avLst/>
          </a:prstGeom>
        </p:spPr>
      </p:pic>
      <p:sp>
        <p:nvSpPr>
          <p:cNvPr id="12" name="Text 8"/>
          <p:cNvSpPr/>
          <p:nvPr/>
        </p:nvSpPr>
        <p:spPr>
          <a:xfrm>
            <a:off x="4270248" y="4270248"/>
            <a:ext cx="3657600" cy="365760"/>
          </a:xfrm>
          <a:prstGeom prst="rect">
            <a:avLst/>
          </a:prstGeom>
          <a:noFill/>
          <a:ln/>
        </p:spPr>
        <p:txBody>
          <a:bodyPr wrap="square" rtlCol="0" anchor="ctr"/>
          <a:lstStyle/>
          <a:p>
            <a:pPr algn="ctr" indent="0" marL="0">
              <a:buNone/>
            </a:pPr>
            <a:r>
              <a:rPr lang="en-US" sz="1500" b="1" dirty="0">
                <a:solidFill>
                  <a:srgbClr val="FFC96B"/>
                </a:solidFill>
                <a:latin typeface="Segoe UI Semibold" pitchFamily="34" charset="0"/>
                <a:ea typeface="Segoe UI Semibold" pitchFamily="34" charset="-122"/>
                <a:cs typeface="Segoe UI Semibold" pitchFamily="34" charset="-120"/>
              </a:rPr>
              <a:t>The manual middle</a:t>
            </a:r>
            <a:endParaRPr lang="en-US" sz="1500" dirty="0"/>
          </a:p>
        </p:txBody>
      </p:sp>
      <p:sp>
        <p:nvSpPr>
          <p:cNvPr id="13" name="Text 9"/>
          <p:cNvSpPr/>
          <p:nvPr/>
        </p:nvSpPr>
        <p:spPr>
          <a:xfrm>
            <a:off x="4590288" y="4617720"/>
            <a:ext cx="3017520" cy="457200"/>
          </a:xfrm>
          <a:prstGeom prst="rect">
            <a:avLst/>
          </a:prstGeom>
          <a:noFill/>
          <a:ln/>
        </p:spPr>
        <p:txBody>
          <a:bodyPr wrap="square" rtlCol="0" anchor="ctr"/>
          <a:lstStyle/>
          <a:p>
            <a:pPr algn="ctr" indent="0" marL="0">
              <a:lnSpc>
                <a:spcPct val="105000"/>
              </a:lnSpc>
              <a:buNone/>
            </a:pPr>
            <a:r>
              <a:rPr lang="en-US" sz="1200" dirty="0">
                <a:solidFill>
                  <a:srgbClr val="F3F6FB"/>
                </a:solidFill>
                <a:latin typeface="Segoe UI" pitchFamily="34" charset="0"/>
                <a:ea typeface="Segoe UI" pitchFamily="34" charset="-122"/>
                <a:cs typeface="Segoe UI" pitchFamily="34" charset="-120"/>
              </a:rPr>
              <a:t>re-keying rates, reconciling positions, chasing bad values, posting by hand</a:t>
            </a:r>
            <a:endParaRPr lang="en-US" sz="1200" dirty="0"/>
          </a:p>
        </p:txBody>
      </p:sp>
      <p:sp>
        <p:nvSpPr>
          <p:cNvPr id="14" name="Shape 10"/>
          <p:cNvSpPr/>
          <p:nvPr/>
        </p:nvSpPr>
        <p:spPr>
          <a:xfrm>
            <a:off x="8385048" y="3246120"/>
            <a:ext cx="3239719" cy="1874520"/>
          </a:xfrm>
          <a:prstGeom prst="roundRect">
            <a:avLst>
              <a:gd name="adj" fmla="val 4390"/>
            </a:avLst>
          </a:prstGeom>
          <a:solidFill>
            <a:srgbClr val="141A25"/>
          </a:solidFill>
          <a:ln w="13970">
            <a:solidFill>
              <a:srgbClr val="36414F"/>
            </a:solidFill>
            <a:prstDash val="solid"/>
          </a:ln>
        </p:spPr>
      </p:sp>
      <p:sp>
        <p:nvSpPr>
          <p:cNvPr id="15" name="Shape 11"/>
          <p:cNvSpPr/>
          <p:nvPr/>
        </p:nvSpPr>
        <p:spPr>
          <a:xfrm>
            <a:off x="8659368" y="3566160"/>
            <a:ext cx="603504" cy="603504"/>
          </a:xfrm>
          <a:prstGeom prst="roundRect">
            <a:avLst>
              <a:gd name="adj" fmla="val 16667"/>
            </a:avLst>
          </a:prstGeom>
          <a:solidFill>
            <a:srgbClr val="1B2330"/>
          </a:solidFill>
          <a:ln w="15240">
            <a:solidFill>
              <a:srgbClr val="3BE3E0"/>
            </a:solidFill>
            <a:prstDash val="solid"/>
          </a:ln>
        </p:spPr>
      </p:sp>
      <p:pic>
        <p:nvPicPr>
          <p:cNvPr id="16" name="Image 2" descr="C:/Users/neuma_p1qrsic/Repo/agentic-ops1/.scratch/icons/database.png">    </p:cNvPr>
          <p:cNvPicPr>
            <a:picLocks noChangeAspect="1"/>
          </p:cNvPicPr>
          <p:nvPr/>
        </p:nvPicPr>
        <p:blipFill>
          <a:blip r:embed="rId3"/>
          <a:stretch>
            <a:fillRect/>
          </a:stretch>
        </p:blipFill>
        <p:spPr>
          <a:xfrm>
            <a:off x="8804209" y="3711001"/>
            <a:ext cx="313822" cy="313822"/>
          </a:xfrm>
          <a:prstGeom prst="rect">
            <a:avLst/>
          </a:prstGeom>
        </p:spPr>
      </p:pic>
      <p:sp>
        <p:nvSpPr>
          <p:cNvPr id="17" name="Text 12"/>
          <p:cNvSpPr/>
          <p:nvPr/>
        </p:nvSpPr>
        <p:spPr>
          <a:xfrm>
            <a:off x="8659368" y="4343400"/>
            <a:ext cx="2691079" cy="365760"/>
          </a:xfrm>
          <a:prstGeom prst="rect">
            <a:avLst/>
          </a:prstGeom>
          <a:noFill/>
          <a:ln/>
        </p:spPr>
        <p:txBody>
          <a:bodyPr wrap="square" rtlCol="0" anchor="ctr"/>
          <a:lstStyle/>
          <a:p>
            <a:pPr indent="0" marL="0">
              <a:buNone/>
            </a:pPr>
            <a:r>
              <a:rPr lang="en-US" sz="1500" b="1" dirty="0">
                <a:solidFill>
                  <a:srgbClr val="F3F6FB"/>
                </a:solidFill>
                <a:latin typeface="Segoe UI Semibold" pitchFamily="34" charset="0"/>
                <a:ea typeface="Segoe UI Semibold" pitchFamily="34" charset="-122"/>
                <a:cs typeface="Segoe UI Semibold" pitchFamily="34" charset="-120"/>
              </a:rPr>
              <a:t>Your systems</a:t>
            </a:r>
            <a:endParaRPr lang="en-US" sz="1500" dirty="0"/>
          </a:p>
        </p:txBody>
      </p:sp>
      <p:sp>
        <p:nvSpPr>
          <p:cNvPr id="18" name="Text 13"/>
          <p:cNvSpPr/>
          <p:nvPr/>
        </p:nvSpPr>
        <p:spPr>
          <a:xfrm>
            <a:off x="8659368" y="4663440"/>
            <a:ext cx="2691079" cy="457200"/>
          </a:xfrm>
          <a:prstGeom prst="rect">
            <a:avLst/>
          </a:prstGeom>
          <a:noFill/>
          <a:ln/>
        </p:spPr>
        <p:txBody>
          <a:bodyPr wrap="square" rtlCol="0" anchor="ctr"/>
          <a:lstStyle/>
          <a:p>
            <a:pPr indent="0" marL="0">
              <a:buNone/>
            </a:pPr>
            <a:r>
              <a:rPr lang="en-US" sz="1200" dirty="0">
                <a:solidFill>
                  <a:srgbClr val="AAB6C7"/>
                </a:solidFill>
                <a:latin typeface="Segoe UI" pitchFamily="34" charset="0"/>
                <a:ea typeface="Segoe UI" pitchFamily="34" charset="-122"/>
                <a:cs typeface="Segoe UI" pitchFamily="34" charset="-120"/>
              </a:rPr>
              <a:t>SAP S/4HANA, TRM, analytics, non-SAP apps</a:t>
            </a:r>
            <a:endParaRPr lang="en-US" sz="1200" dirty="0"/>
          </a:p>
        </p:txBody>
      </p:sp>
      <p:sp>
        <p:nvSpPr>
          <p:cNvPr id="19" name="Shape 14"/>
          <p:cNvSpPr/>
          <p:nvPr/>
        </p:nvSpPr>
        <p:spPr>
          <a:xfrm>
            <a:off x="3813048" y="4183380"/>
            <a:ext cx="457200" cy="0"/>
          </a:xfrm>
          <a:prstGeom prst="line">
            <a:avLst/>
          </a:prstGeom>
          <a:noFill/>
          <a:ln w="25400">
            <a:solidFill>
              <a:srgbClr val="FFC96B"/>
            </a:solidFill>
            <a:prstDash val="solid"/>
            <a:tailEnd type="triangle"/>
          </a:ln>
        </p:spPr>
      </p:sp>
      <p:sp>
        <p:nvSpPr>
          <p:cNvPr id="20" name="Shape 15"/>
          <p:cNvSpPr/>
          <p:nvPr/>
        </p:nvSpPr>
        <p:spPr>
          <a:xfrm>
            <a:off x="7927848" y="4183380"/>
            <a:ext cx="457200" cy="0"/>
          </a:xfrm>
          <a:prstGeom prst="line">
            <a:avLst/>
          </a:prstGeom>
          <a:noFill/>
          <a:ln w="25400">
            <a:solidFill>
              <a:srgbClr val="FFC96B"/>
            </a:solidFill>
            <a:prstDash val="solid"/>
            <a:tailEnd type="triangle"/>
          </a:ln>
        </p:spPr>
      </p:sp>
      <p:sp>
        <p:nvSpPr>
          <p:cNvPr id="21" name="Text 16"/>
          <p:cNvSpPr/>
          <p:nvPr/>
        </p:nvSpPr>
        <p:spPr>
          <a:xfrm>
            <a:off x="566928" y="5532120"/>
            <a:ext cx="11057839" cy="457200"/>
          </a:xfrm>
          <a:prstGeom prst="rect">
            <a:avLst/>
          </a:prstGeom>
          <a:noFill/>
          <a:ln/>
        </p:spPr>
        <p:txBody>
          <a:bodyPr wrap="square" rtlCol="0" anchor="ctr"/>
          <a:lstStyle/>
          <a:p>
            <a:pPr indent="0" marL="0">
              <a:buNone/>
            </a:pPr>
            <a:r>
              <a:rPr lang="en-US" sz="1600" dirty="0">
                <a:solidFill>
                  <a:srgbClr val="3BE3E0"/>
                </a:solidFill>
                <a:latin typeface="Segoe UI" pitchFamily="34" charset="0"/>
                <a:ea typeface="Segoe UI" pitchFamily="34" charset="-122"/>
                <a:cs typeface="Segoe UI" pitchFamily="34" charset="-120"/>
              </a:rPr>
              <a:t>TreasuryCentral is that middle, so one clean, governed set of data drives every treasury decision on its own.</a:t>
            </a:r>
            <a:endParaRPr lang="en-US" sz="1600" dirty="0"/>
          </a:p>
        </p:txBody>
      </p:sp>
      <p:sp>
        <p:nvSpPr>
          <p:cNvPr id="22" name="Text 17"/>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23" name="Text 18"/>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02 / 10</a:t>
            </a:r>
            <a:endParaRPr lang="en-US" sz="900" dirty="0"/>
          </a:p>
        </p:txBody>
      </p:sp>
      <p:sp>
        <p:nvSpPr>
          <p:cNvPr id="24" name="Shape 19"/>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THE SOLUTION</a:t>
            </a:r>
            <a:endParaRPr lang="en-US" sz="1200" dirty="0"/>
          </a:p>
        </p:txBody>
      </p:sp>
      <p:sp>
        <p:nvSpPr>
          <p:cNvPr id="4" name="Text 2"/>
          <p:cNvSpPr/>
          <p:nvPr/>
        </p:nvSpPr>
        <p:spPr>
          <a:xfrm>
            <a:off x="566928" y="960120"/>
            <a:ext cx="10972800" cy="731520"/>
          </a:xfrm>
          <a:prstGeom prst="rect">
            <a:avLst/>
          </a:prstGeom>
          <a:noFill/>
          <a:ln/>
        </p:spPr>
        <p:txBody>
          <a:bodyPr wrap="square" rtlCol="0" anchor="ctr"/>
          <a:lstStyle/>
          <a:p>
            <a:pPr indent="0" marL="0">
              <a:buNone/>
            </a:pPr>
            <a:r>
              <a:rPr lang="en-US" sz="3000" b="1" dirty="0">
                <a:solidFill>
                  <a:srgbClr val="F3F6FB"/>
                </a:solidFill>
                <a:latin typeface="Segoe UI Semibold" pitchFamily="34" charset="0"/>
                <a:ea typeface="Segoe UI Semibold" pitchFamily="34" charset="-122"/>
                <a:cs typeface="Segoe UI Semibold" pitchFamily="34" charset="-120"/>
              </a:rPr>
              <a:t>One cockpit for the whole treasury.</a:t>
            </a:r>
            <a:endParaRPr lang="en-US" sz="3000" dirty="0"/>
          </a:p>
        </p:txBody>
      </p:sp>
      <p:sp>
        <p:nvSpPr>
          <p:cNvPr id="5" name="Text 3"/>
          <p:cNvSpPr/>
          <p:nvPr/>
        </p:nvSpPr>
        <p:spPr>
          <a:xfrm>
            <a:off x="566928" y="1783080"/>
            <a:ext cx="10881360" cy="960120"/>
          </a:xfrm>
          <a:prstGeom prst="rect">
            <a:avLst/>
          </a:prstGeom>
          <a:noFill/>
          <a:ln/>
        </p:spPr>
        <p:txBody>
          <a:bodyPr wrap="square" rtlCol="0" anchor="t"/>
          <a:lstStyle/>
          <a:p>
            <a:pPr indent="0" marL="0">
              <a:lnSpc>
                <a:spcPct val="128000"/>
              </a:lnSpc>
              <a:buNone/>
            </a:pPr>
            <a:r>
              <a:rPr lang="en-US" sz="1650" dirty="0">
                <a:solidFill>
                  <a:srgbClr val="AAB6C7"/>
                </a:solidFill>
                <a:latin typeface="Segoe UI" pitchFamily="34" charset="0"/>
                <a:ea typeface="Segoe UI" pitchFamily="34" charset="-122"/>
                <a:cs typeface="Segoe UI" pitchFamily="34" charset="-120"/>
              </a:rPr>
              <a:t>The command center your team runs treasury from, on live SAP data, with market data, trading, and AI automation and orchestration around it. </a:t>
            </a:r>
            <a:pPr indent="0" marL="0">
              <a:lnSpc>
                <a:spcPct val="128000"/>
              </a:lnSpc>
              <a:buNone/>
            </a:pPr>
            <a:r>
              <a:rPr lang="en-US" sz="1650" dirty="0">
                <a:solidFill>
                  <a:srgbClr val="3BE3E0"/>
                </a:solidFill>
                <a:latin typeface="Segoe UI" pitchFamily="34" charset="0"/>
                <a:ea typeface="Segoe UI" pitchFamily="34" charset="-122"/>
                <a:cs typeface="Segoe UI" pitchFamily="34" charset="-120"/>
              </a:rPr>
              <a:t>All live with customers today, not on a roadmap.</a:t>
            </a:r>
            <a:endParaRPr lang="en-US" sz="1650" dirty="0"/>
          </a:p>
        </p:txBody>
      </p:sp>
      <p:sp>
        <p:nvSpPr>
          <p:cNvPr id="6" name="Shape 4"/>
          <p:cNvSpPr/>
          <p:nvPr/>
        </p:nvSpPr>
        <p:spPr>
          <a:xfrm>
            <a:off x="566928" y="3200400"/>
            <a:ext cx="3442106" cy="1737360"/>
          </a:xfrm>
          <a:prstGeom prst="roundRect">
            <a:avLst>
              <a:gd name="adj" fmla="val 4737"/>
            </a:avLst>
          </a:prstGeom>
          <a:solidFill>
            <a:srgbClr val="141A25"/>
          </a:solidFill>
          <a:ln w="13970">
            <a:solidFill>
              <a:srgbClr val="36414F"/>
            </a:solidFill>
            <a:prstDash val="solid"/>
          </a:ln>
        </p:spPr>
      </p:sp>
      <p:sp>
        <p:nvSpPr>
          <p:cNvPr id="7" name="Shape 5"/>
          <p:cNvSpPr/>
          <p:nvPr/>
        </p:nvSpPr>
        <p:spPr>
          <a:xfrm>
            <a:off x="841248" y="3493008"/>
            <a:ext cx="603504" cy="603504"/>
          </a:xfrm>
          <a:prstGeom prst="roundRect">
            <a:avLst>
              <a:gd name="adj" fmla="val 16667"/>
            </a:avLst>
          </a:prstGeom>
          <a:solidFill>
            <a:srgbClr val="1B2330"/>
          </a:solidFill>
          <a:ln w="15240">
            <a:solidFill>
              <a:srgbClr val="3BE3E0"/>
            </a:solidFill>
            <a:prstDash val="solid"/>
          </a:ln>
        </p:spPr>
      </p:sp>
      <p:pic>
        <p:nvPicPr>
          <p:cNvPr id="8" name="Image 0" descr="C:/Users/neuma_p1qrsic/Repo/agentic-ops1/.scratch/icons/link.png">    </p:cNvPr>
          <p:cNvPicPr>
            <a:picLocks noChangeAspect="1"/>
          </p:cNvPicPr>
          <p:nvPr/>
        </p:nvPicPr>
        <p:blipFill>
          <a:blip r:embed="rId1"/>
          <a:stretch>
            <a:fillRect/>
          </a:stretch>
        </p:blipFill>
        <p:spPr>
          <a:xfrm>
            <a:off x="986089" y="3637849"/>
            <a:ext cx="313822" cy="313822"/>
          </a:xfrm>
          <a:prstGeom prst="rect">
            <a:avLst/>
          </a:prstGeom>
        </p:spPr>
      </p:pic>
      <p:sp>
        <p:nvSpPr>
          <p:cNvPr id="9" name="Text 6"/>
          <p:cNvSpPr/>
          <p:nvPr/>
        </p:nvSpPr>
        <p:spPr>
          <a:xfrm>
            <a:off x="1572768" y="3511296"/>
            <a:ext cx="2253386" cy="566928"/>
          </a:xfrm>
          <a:prstGeom prst="rect">
            <a:avLst/>
          </a:prstGeom>
          <a:noFill/>
          <a:ln/>
        </p:spPr>
        <p:txBody>
          <a:bodyPr wrap="square" rtlCol="0" anchor="ctr"/>
          <a:lstStyle/>
          <a:p>
            <a:pPr indent="0" marL="0">
              <a:buNone/>
            </a:pPr>
            <a:r>
              <a:rPr lang="en-US" sz="1700" b="1" dirty="0">
                <a:solidFill>
                  <a:srgbClr val="F3F6FB"/>
                </a:solidFill>
                <a:latin typeface="Segoe UI Semibold" pitchFamily="34" charset="0"/>
                <a:ea typeface="Segoe UI Semibold" pitchFamily="34" charset="-122"/>
                <a:cs typeface="Segoe UI Semibold" pitchFamily="34" charset="-120"/>
              </a:rPr>
              <a:t>Market data</a:t>
            </a:r>
            <a:endParaRPr lang="en-US" sz="1700" dirty="0"/>
          </a:p>
        </p:txBody>
      </p:sp>
      <p:sp>
        <p:nvSpPr>
          <p:cNvPr id="10" name="Text 7"/>
          <p:cNvSpPr/>
          <p:nvPr/>
        </p:nvSpPr>
        <p:spPr>
          <a:xfrm>
            <a:off x="841248" y="4224528"/>
            <a:ext cx="2893466" cy="594360"/>
          </a:xfrm>
          <a:prstGeom prst="rect">
            <a:avLst/>
          </a:prstGeom>
          <a:noFill/>
          <a:ln/>
        </p:spPr>
        <p:txBody>
          <a:bodyPr wrap="square" rtlCol="0" anchor="t"/>
          <a:lstStyle/>
          <a:p>
            <a:pPr indent="0" marL="0">
              <a:lnSpc>
                <a:spcPct val="112000"/>
              </a:lnSpc>
              <a:buNone/>
            </a:pPr>
            <a:r>
              <a:rPr lang="en-US" sz="1250" dirty="0">
                <a:solidFill>
                  <a:srgbClr val="AAB6C7"/>
                </a:solidFill>
                <a:latin typeface="Segoe UI" pitchFamily="34" charset="0"/>
                <a:ea typeface="Segoe UI" pitchFamily="34" charset="-122"/>
                <a:cs typeface="Segoe UI" pitchFamily="34" charset="-120"/>
              </a:rPr>
              <a:t>Every rate and reference, curated once</a:t>
            </a:r>
            <a:endParaRPr lang="en-US" sz="1250" dirty="0"/>
          </a:p>
        </p:txBody>
      </p:sp>
      <p:sp>
        <p:nvSpPr>
          <p:cNvPr id="11" name="Shape 8"/>
          <p:cNvSpPr/>
          <p:nvPr/>
        </p:nvSpPr>
        <p:spPr>
          <a:xfrm>
            <a:off x="4374794" y="3200400"/>
            <a:ext cx="3442106" cy="1737360"/>
          </a:xfrm>
          <a:prstGeom prst="roundRect">
            <a:avLst>
              <a:gd name="adj" fmla="val 4737"/>
            </a:avLst>
          </a:prstGeom>
          <a:solidFill>
            <a:srgbClr val="141A25"/>
          </a:solidFill>
          <a:ln w="13970">
            <a:solidFill>
              <a:srgbClr val="36414F"/>
            </a:solidFill>
            <a:prstDash val="solid"/>
          </a:ln>
        </p:spPr>
      </p:sp>
      <p:sp>
        <p:nvSpPr>
          <p:cNvPr id="12" name="Shape 9"/>
          <p:cNvSpPr/>
          <p:nvPr/>
        </p:nvSpPr>
        <p:spPr>
          <a:xfrm>
            <a:off x="4649114" y="3493008"/>
            <a:ext cx="603504" cy="603504"/>
          </a:xfrm>
          <a:prstGeom prst="roundRect">
            <a:avLst>
              <a:gd name="adj" fmla="val 16667"/>
            </a:avLst>
          </a:prstGeom>
          <a:solidFill>
            <a:srgbClr val="1B2330"/>
          </a:solidFill>
          <a:ln w="15240">
            <a:solidFill>
              <a:srgbClr val="3BE3E0"/>
            </a:solidFill>
            <a:prstDash val="solid"/>
          </a:ln>
        </p:spPr>
      </p:sp>
      <p:pic>
        <p:nvPicPr>
          <p:cNvPr id="13" name="Image 1" descr="C:/Users/neuma_p1qrsic/Repo/agentic-ops1/.scratch/icons/merge.png">    </p:cNvPr>
          <p:cNvPicPr>
            <a:picLocks noChangeAspect="1"/>
          </p:cNvPicPr>
          <p:nvPr/>
        </p:nvPicPr>
        <p:blipFill>
          <a:blip r:embed="rId2"/>
          <a:stretch>
            <a:fillRect/>
          </a:stretch>
        </p:blipFill>
        <p:spPr>
          <a:xfrm>
            <a:off x="4793955" y="3637849"/>
            <a:ext cx="313822" cy="313822"/>
          </a:xfrm>
          <a:prstGeom prst="rect">
            <a:avLst/>
          </a:prstGeom>
        </p:spPr>
      </p:pic>
      <p:sp>
        <p:nvSpPr>
          <p:cNvPr id="14" name="Text 10"/>
          <p:cNvSpPr/>
          <p:nvPr/>
        </p:nvSpPr>
        <p:spPr>
          <a:xfrm>
            <a:off x="5380634" y="3511296"/>
            <a:ext cx="2253386" cy="566928"/>
          </a:xfrm>
          <a:prstGeom prst="rect">
            <a:avLst/>
          </a:prstGeom>
          <a:noFill/>
          <a:ln/>
        </p:spPr>
        <p:txBody>
          <a:bodyPr wrap="square" rtlCol="0" anchor="ctr"/>
          <a:lstStyle/>
          <a:p>
            <a:pPr indent="0" marL="0">
              <a:buNone/>
            </a:pPr>
            <a:r>
              <a:rPr lang="en-US" sz="1700" b="1" dirty="0">
                <a:solidFill>
                  <a:srgbClr val="F3F6FB"/>
                </a:solidFill>
                <a:latin typeface="Segoe UI Semibold" pitchFamily="34" charset="0"/>
                <a:ea typeface="Segoe UI Semibold" pitchFamily="34" charset="-122"/>
                <a:cs typeface="Segoe UI Semibold" pitchFamily="34" charset="-120"/>
              </a:rPr>
              <a:t>Trading</a:t>
            </a:r>
            <a:endParaRPr lang="en-US" sz="1700" dirty="0"/>
          </a:p>
        </p:txBody>
      </p:sp>
      <p:sp>
        <p:nvSpPr>
          <p:cNvPr id="15" name="Text 11"/>
          <p:cNvSpPr/>
          <p:nvPr/>
        </p:nvSpPr>
        <p:spPr>
          <a:xfrm>
            <a:off x="4649114" y="4224528"/>
            <a:ext cx="2893466" cy="594360"/>
          </a:xfrm>
          <a:prstGeom prst="rect">
            <a:avLst/>
          </a:prstGeom>
          <a:noFill/>
          <a:ln/>
        </p:spPr>
        <p:txBody>
          <a:bodyPr wrap="square" rtlCol="0" anchor="t"/>
          <a:lstStyle/>
          <a:p>
            <a:pPr indent="0" marL="0">
              <a:lnSpc>
                <a:spcPct val="112000"/>
              </a:lnSpc>
              <a:buNone/>
            </a:pPr>
            <a:r>
              <a:rPr lang="en-US" sz="1250" dirty="0">
                <a:solidFill>
                  <a:srgbClr val="AAB6C7"/>
                </a:solidFill>
                <a:latin typeface="Segoe UI" pitchFamily="34" charset="0"/>
                <a:ea typeface="Segoe UI" pitchFamily="34" charset="-122"/>
                <a:cs typeface="Segoe UI" pitchFamily="34" charset="-120"/>
              </a:rPr>
              <a:t>From capture to the deal in SAP</a:t>
            </a:r>
            <a:endParaRPr lang="en-US" sz="1250" dirty="0"/>
          </a:p>
        </p:txBody>
      </p:sp>
      <p:sp>
        <p:nvSpPr>
          <p:cNvPr id="16" name="Shape 12"/>
          <p:cNvSpPr/>
          <p:nvPr/>
        </p:nvSpPr>
        <p:spPr>
          <a:xfrm>
            <a:off x="8182661" y="3200400"/>
            <a:ext cx="3442106" cy="1737360"/>
          </a:xfrm>
          <a:prstGeom prst="roundRect">
            <a:avLst>
              <a:gd name="adj" fmla="val 4737"/>
            </a:avLst>
          </a:prstGeom>
          <a:solidFill>
            <a:srgbClr val="141A25"/>
          </a:solidFill>
          <a:ln w="13970">
            <a:solidFill>
              <a:srgbClr val="36414F"/>
            </a:solidFill>
            <a:prstDash val="solid"/>
          </a:ln>
        </p:spPr>
      </p:sp>
      <p:sp>
        <p:nvSpPr>
          <p:cNvPr id="17" name="Shape 13"/>
          <p:cNvSpPr/>
          <p:nvPr/>
        </p:nvSpPr>
        <p:spPr>
          <a:xfrm>
            <a:off x="8456981" y="3493008"/>
            <a:ext cx="603504" cy="603504"/>
          </a:xfrm>
          <a:prstGeom prst="roundRect">
            <a:avLst>
              <a:gd name="adj" fmla="val 16667"/>
            </a:avLst>
          </a:prstGeom>
          <a:solidFill>
            <a:srgbClr val="1B2330"/>
          </a:solidFill>
          <a:ln w="15240">
            <a:solidFill>
              <a:srgbClr val="3BE3E0"/>
            </a:solidFill>
            <a:prstDash val="solid"/>
          </a:ln>
        </p:spPr>
      </p:sp>
      <p:pic>
        <p:nvPicPr>
          <p:cNvPr id="18" name="Image 2" descr="C:/Users/neuma_p1qrsic/Repo/agentic-ops1/.scratch/icons/spark.png">    </p:cNvPr>
          <p:cNvPicPr>
            <a:picLocks noChangeAspect="1"/>
          </p:cNvPicPr>
          <p:nvPr/>
        </p:nvPicPr>
        <p:blipFill>
          <a:blip r:embed="rId3"/>
          <a:stretch>
            <a:fillRect/>
          </a:stretch>
        </p:blipFill>
        <p:spPr>
          <a:xfrm>
            <a:off x="8601822" y="3637849"/>
            <a:ext cx="313822" cy="313822"/>
          </a:xfrm>
          <a:prstGeom prst="rect">
            <a:avLst/>
          </a:prstGeom>
        </p:spPr>
      </p:pic>
      <p:sp>
        <p:nvSpPr>
          <p:cNvPr id="19" name="Text 14"/>
          <p:cNvSpPr/>
          <p:nvPr/>
        </p:nvSpPr>
        <p:spPr>
          <a:xfrm>
            <a:off x="9188501" y="3511296"/>
            <a:ext cx="2253386" cy="566928"/>
          </a:xfrm>
          <a:prstGeom prst="rect">
            <a:avLst/>
          </a:prstGeom>
          <a:noFill/>
          <a:ln/>
        </p:spPr>
        <p:txBody>
          <a:bodyPr wrap="square" rtlCol="0" anchor="ctr"/>
          <a:lstStyle/>
          <a:p>
            <a:pPr indent="0" marL="0">
              <a:buNone/>
            </a:pPr>
            <a:r>
              <a:rPr lang="en-US" sz="1700" b="1" dirty="0">
                <a:solidFill>
                  <a:srgbClr val="F3F6FB"/>
                </a:solidFill>
                <a:latin typeface="Segoe UI Semibold" pitchFamily="34" charset="0"/>
                <a:ea typeface="Segoe UI Semibold" pitchFamily="34" charset="-122"/>
                <a:cs typeface="Segoe UI Semibold" pitchFamily="34" charset="-120"/>
              </a:rPr>
              <a:t>AI automation</a:t>
            </a:r>
            <a:endParaRPr lang="en-US" sz="1700" dirty="0"/>
          </a:p>
        </p:txBody>
      </p:sp>
      <p:sp>
        <p:nvSpPr>
          <p:cNvPr id="20" name="Text 15"/>
          <p:cNvSpPr/>
          <p:nvPr/>
        </p:nvSpPr>
        <p:spPr>
          <a:xfrm>
            <a:off x="8456981" y="4224528"/>
            <a:ext cx="2893466" cy="594360"/>
          </a:xfrm>
          <a:prstGeom prst="rect">
            <a:avLst/>
          </a:prstGeom>
          <a:noFill/>
          <a:ln/>
        </p:spPr>
        <p:txBody>
          <a:bodyPr wrap="square" rtlCol="0" anchor="t"/>
          <a:lstStyle/>
          <a:p>
            <a:pPr indent="0" marL="0">
              <a:lnSpc>
                <a:spcPct val="112000"/>
              </a:lnSpc>
              <a:buNone/>
            </a:pPr>
            <a:r>
              <a:rPr lang="en-US" sz="1250" dirty="0">
                <a:solidFill>
                  <a:srgbClr val="AAB6C7"/>
                </a:solidFill>
                <a:latin typeface="Segoe UI" pitchFamily="34" charset="0"/>
                <a:ea typeface="Segoe UI" pitchFamily="34" charset="-122"/>
                <a:cs typeface="Segoe UI" pitchFamily="34" charset="-120"/>
              </a:rPr>
              <a:t>Digital co-workers on your SAP data</a:t>
            </a:r>
            <a:endParaRPr lang="en-US" sz="1250" dirty="0"/>
          </a:p>
        </p:txBody>
      </p:sp>
      <p:sp>
        <p:nvSpPr>
          <p:cNvPr id="21" name="Shape 16"/>
          <p:cNvSpPr/>
          <p:nvPr/>
        </p:nvSpPr>
        <p:spPr>
          <a:xfrm>
            <a:off x="566928" y="5212080"/>
            <a:ext cx="11057839" cy="749808"/>
          </a:xfrm>
          <a:prstGeom prst="roundRect">
            <a:avLst>
              <a:gd name="adj" fmla="val 9756"/>
            </a:avLst>
          </a:prstGeom>
          <a:solidFill>
            <a:srgbClr val="10222A"/>
          </a:solidFill>
          <a:ln w="16510">
            <a:solidFill>
              <a:srgbClr val="3BE3E0"/>
            </a:solidFill>
            <a:prstDash val="solid"/>
          </a:ln>
        </p:spPr>
      </p:sp>
      <p:pic>
        <p:nvPicPr>
          <p:cNvPr id="22" name="Image 3" descr="C:/Users/neuma_p1qrsic/Repo/agentic-ops1/.scratch/logo/favicon.png">    </p:cNvPr>
          <p:cNvPicPr>
            <a:picLocks noChangeAspect="1"/>
          </p:cNvPicPr>
          <p:nvPr/>
        </p:nvPicPr>
        <p:blipFill>
          <a:blip r:embed="rId4"/>
          <a:stretch>
            <a:fillRect/>
          </a:stretch>
        </p:blipFill>
        <p:spPr>
          <a:xfrm>
            <a:off x="859536" y="5431536"/>
            <a:ext cx="310896" cy="310896"/>
          </a:xfrm>
          <a:prstGeom prst="rect">
            <a:avLst/>
          </a:prstGeom>
        </p:spPr>
      </p:pic>
      <p:sp>
        <p:nvSpPr>
          <p:cNvPr id="23" name="Text 17"/>
          <p:cNvSpPr/>
          <p:nvPr/>
        </p:nvSpPr>
        <p:spPr>
          <a:xfrm>
            <a:off x="1389888" y="5212080"/>
            <a:ext cx="9960559" cy="749808"/>
          </a:xfrm>
          <a:prstGeom prst="rect">
            <a:avLst/>
          </a:prstGeom>
          <a:noFill/>
          <a:ln/>
        </p:spPr>
        <p:txBody>
          <a:bodyPr wrap="square" rtlCol="0" anchor="ctr"/>
          <a:lstStyle/>
          <a:p>
            <a:pPr indent="0" marL="0">
              <a:lnSpc>
                <a:spcPct val="110000"/>
              </a:lnSpc>
              <a:buNone/>
            </a:pPr>
            <a:r>
              <a:rPr lang="en-US" sz="1400" dirty="0">
                <a:solidFill>
                  <a:srgbClr val="AAB6C7"/>
                </a:solidFill>
                <a:latin typeface="Segoe UI" pitchFamily="34" charset="0"/>
                <a:ea typeface="Segoe UI" pitchFamily="34" charset="-122"/>
                <a:cs typeface="Segoe UI" pitchFamily="34" charset="-120"/>
              </a:rPr>
              <a:t>All of it runs on </a:t>
            </a:r>
            <a:pPr indent="0" marL="0">
              <a:lnSpc>
                <a:spcPct val="110000"/>
              </a:lnSpc>
              <a:buNone/>
            </a:pPr>
            <a:r>
              <a:rPr lang="en-US" sz="1400" b="1" dirty="0">
                <a:solidFill>
                  <a:srgbClr val="3BE3E0"/>
                </a:solidFill>
                <a:latin typeface="Segoe UI" pitchFamily="34" charset="0"/>
                <a:ea typeface="Segoe UI" pitchFamily="34" charset="-122"/>
                <a:cs typeface="Segoe UI" pitchFamily="34" charset="-120"/>
              </a:rPr>
              <a:t>OnePilot</a:t>
            </a:r>
            <a:pPr indent="0" marL="0">
              <a:lnSpc>
                <a:spcPct val="110000"/>
              </a:lnSpc>
              <a:buNone/>
            </a:pPr>
            <a:r>
              <a:rPr lang="en-US" sz="1400" dirty="0">
                <a:solidFill>
                  <a:srgbClr val="F3F6FB"/>
                </a:solidFill>
                <a:latin typeface="Segoe UI" pitchFamily="34" charset="0"/>
                <a:ea typeface="Segoe UI" pitchFamily="34" charset="-122"/>
                <a:cs typeface="Segoe UI" pitchFamily="34" charset="-120"/>
              </a:rPr>
              <a:t>, on your own live SAP data (S/4HANA, ECC, TRM), checked and logged on every value.</a:t>
            </a:r>
            <a:endParaRPr lang="en-US" sz="1400" dirty="0"/>
          </a:p>
        </p:txBody>
      </p:sp>
      <p:sp>
        <p:nvSpPr>
          <p:cNvPr id="24" name="Text 18"/>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25" name="Text 19"/>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03 / 10</a:t>
            </a:r>
            <a:endParaRPr lang="en-US" sz="900" dirty="0"/>
          </a:p>
        </p:txBody>
      </p:sp>
      <p:sp>
        <p:nvSpPr>
          <p:cNvPr id="26" name="Shape 20"/>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21B"/>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WHAT RUNS IN IT</a:t>
            </a:r>
            <a:endParaRPr lang="en-US" sz="1200" dirty="0"/>
          </a:p>
        </p:txBody>
      </p:sp>
      <p:sp>
        <p:nvSpPr>
          <p:cNvPr id="4" name="Text 2"/>
          <p:cNvSpPr/>
          <p:nvPr/>
        </p:nvSpPr>
        <p:spPr>
          <a:xfrm>
            <a:off x="566928" y="960120"/>
            <a:ext cx="10972800" cy="731520"/>
          </a:xfrm>
          <a:prstGeom prst="rect">
            <a:avLst/>
          </a:prstGeom>
          <a:noFill/>
          <a:ln/>
        </p:spPr>
        <p:txBody>
          <a:bodyPr wrap="square" rtlCol="0" anchor="ctr"/>
          <a:lstStyle/>
          <a:p>
            <a:pPr indent="0" marL="0">
              <a:buNone/>
            </a:pPr>
            <a:r>
              <a:rPr lang="en-US" sz="2900" b="1" dirty="0">
                <a:solidFill>
                  <a:srgbClr val="F3F6FB"/>
                </a:solidFill>
                <a:latin typeface="Segoe UI Semibold" pitchFamily="34" charset="0"/>
                <a:ea typeface="Segoe UI Semibold" pitchFamily="34" charset="-122"/>
                <a:cs typeface="Segoe UI Semibold" pitchFamily="34" charset="-120"/>
              </a:rPr>
              <a:t>Three engines, one governed layer.</a:t>
            </a:r>
            <a:endParaRPr lang="en-US" sz="2900" dirty="0"/>
          </a:p>
        </p:txBody>
      </p:sp>
      <p:sp>
        <p:nvSpPr>
          <p:cNvPr id="5" name="Shape 3"/>
          <p:cNvSpPr/>
          <p:nvPr/>
        </p:nvSpPr>
        <p:spPr>
          <a:xfrm>
            <a:off x="566928" y="2148840"/>
            <a:ext cx="3472586" cy="2971800"/>
          </a:xfrm>
          <a:prstGeom prst="roundRect">
            <a:avLst>
              <a:gd name="adj" fmla="val 2769"/>
            </a:avLst>
          </a:prstGeom>
          <a:solidFill>
            <a:srgbClr val="141A25"/>
          </a:solidFill>
          <a:ln w="13970">
            <a:solidFill>
              <a:srgbClr val="36414F"/>
            </a:solidFill>
            <a:prstDash val="solid"/>
          </a:ln>
        </p:spPr>
      </p:sp>
      <p:sp>
        <p:nvSpPr>
          <p:cNvPr id="6" name="Shape 4"/>
          <p:cNvSpPr/>
          <p:nvPr/>
        </p:nvSpPr>
        <p:spPr>
          <a:xfrm>
            <a:off x="841248" y="2459736"/>
            <a:ext cx="713232" cy="713232"/>
          </a:xfrm>
          <a:prstGeom prst="roundRect">
            <a:avLst>
              <a:gd name="adj" fmla="val 14103"/>
            </a:avLst>
          </a:prstGeom>
          <a:solidFill>
            <a:srgbClr val="1B2330"/>
          </a:solidFill>
          <a:ln w="15240">
            <a:solidFill>
              <a:srgbClr val="3BE3E0"/>
            </a:solidFill>
            <a:prstDash val="solid"/>
          </a:ln>
        </p:spPr>
      </p:sp>
      <p:pic>
        <p:nvPicPr>
          <p:cNvPr id="7" name="Image 0" descr="C:/Users/neuma_p1qrsic/Repo/agentic-ops1/.scratch/icons/link.png">    </p:cNvPr>
          <p:cNvPicPr>
            <a:picLocks noChangeAspect="1"/>
          </p:cNvPicPr>
          <p:nvPr/>
        </p:nvPicPr>
        <p:blipFill>
          <a:blip r:embed="rId1"/>
          <a:stretch>
            <a:fillRect/>
          </a:stretch>
        </p:blipFill>
        <p:spPr>
          <a:xfrm>
            <a:off x="1012424" y="2630912"/>
            <a:ext cx="370881" cy="370881"/>
          </a:xfrm>
          <a:prstGeom prst="rect">
            <a:avLst/>
          </a:prstGeom>
        </p:spPr>
      </p:pic>
      <p:sp>
        <p:nvSpPr>
          <p:cNvPr id="8" name="Text 5"/>
          <p:cNvSpPr/>
          <p:nvPr/>
        </p:nvSpPr>
        <p:spPr>
          <a:xfrm>
            <a:off x="841248" y="3319272"/>
            <a:ext cx="2923946" cy="658368"/>
          </a:xfrm>
          <a:prstGeom prst="rect">
            <a:avLst/>
          </a:prstGeom>
          <a:noFill/>
          <a:ln/>
        </p:spPr>
        <p:txBody>
          <a:bodyPr wrap="square" rtlCol="0" anchor="t"/>
          <a:lstStyle/>
          <a:p>
            <a:pPr indent="0" marL="0">
              <a:buNone/>
            </a:pPr>
            <a:r>
              <a:rPr lang="en-US" sz="1800" b="1" dirty="0">
                <a:solidFill>
                  <a:srgbClr val="F3F6FB"/>
                </a:solidFill>
                <a:latin typeface="Segoe UI Semibold" pitchFamily="34" charset="0"/>
                <a:ea typeface="Segoe UI Semibold" pitchFamily="34" charset="-122"/>
                <a:cs typeface="Segoe UI Semibold" pitchFamily="34" charset="-120"/>
              </a:rPr>
              <a:t>Market Data Hub</a:t>
            </a:r>
            <a:endParaRPr lang="en-US" sz="1800" dirty="0"/>
          </a:p>
        </p:txBody>
      </p:sp>
      <p:sp>
        <p:nvSpPr>
          <p:cNvPr id="9" name="Text 6"/>
          <p:cNvSpPr/>
          <p:nvPr/>
        </p:nvSpPr>
        <p:spPr>
          <a:xfrm>
            <a:off x="841248" y="3995928"/>
            <a:ext cx="2923946" cy="1005840"/>
          </a:xfrm>
          <a:prstGeom prst="rect">
            <a:avLst/>
          </a:prstGeom>
          <a:noFill/>
          <a:ln/>
        </p:spPr>
        <p:txBody>
          <a:bodyPr wrap="square" rtlCol="0" anchor="t"/>
          <a:lstStyle/>
          <a:p>
            <a:pPr indent="0" marL="0">
              <a:lnSpc>
                <a:spcPct val="120000"/>
              </a:lnSpc>
              <a:buNone/>
            </a:pPr>
            <a:r>
              <a:rPr lang="en-US" sz="1300" dirty="0">
                <a:solidFill>
                  <a:srgbClr val="AAB6C7"/>
                </a:solidFill>
                <a:latin typeface="Segoe UI" pitchFamily="34" charset="0"/>
                <a:ea typeface="Segoe UI" pitchFamily="34" charset="-122"/>
                <a:cs typeface="Segoe UI" pitchFamily="34" charset="-120"/>
              </a:rPr>
              <a:t>Every rate and reference you rely on, from any source to every system. Curated once, governed end to end.</a:t>
            </a:r>
            <a:endParaRPr lang="en-US" sz="1300" dirty="0"/>
          </a:p>
        </p:txBody>
      </p:sp>
      <p:sp>
        <p:nvSpPr>
          <p:cNvPr id="10" name="Shape 7"/>
          <p:cNvSpPr/>
          <p:nvPr/>
        </p:nvSpPr>
        <p:spPr>
          <a:xfrm>
            <a:off x="841248" y="4517136"/>
            <a:ext cx="648691" cy="402336"/>
          </a:xfrm>
          <a:prstGeom prst="roundRect">
            <a:avLst>
              <a:gd name="adj" fmla="val 31818"/>
            </a:avLst>
          </a:prstGeom>
          <a:solidFill>
            <a:srgbClr val="FFFFFF"/>
          </a:solidFill>
          <a:ln w="9525">
            <a:solidFill>
              <a:srgbClr val="36414F"/>
            </a:solidFill>
            <a:prstDash val="solid"/>
          </a:ln>
        </p:spPr>
      </p:sp>
      <p:pic>
        <p:nvPicPr>
          <p:cNvPr id="11" name="Image 1" descr="C:/Users/neuma_p1qrsic/Repo/agentic-ops1/.scratch/deckgen/logos/bloomberg.png">    </p:cNvPr>
          <p:cNvPicPr>
            <a:picLocks noChangeAspect="1"/>
          </p:cNvPicPr>
          <p:nvPr/>
        </p:nvPicPr>
        <p:blipFill>
          <a:blip r:embed="rId2"/>
          <a:stretch>
            <a:fillRect/>
          </a:stretch>
        </p:blipFill>
        <p:spPr>
          <a:xfrm>
            <a:off x="899630" y="4664696"/>
            <a:ext cx="531926" cy="107216"/>
          </a:xfrm>
          <a:prstGeom prst="rect">
            <a:avLst/>
          </a:prstGeom>
        </p:spPr>
      </p:pic>
      <p:sp>
        <p:nvSpPr>
          <p:cNvPr id="12" name="Shape 8"/>
          <p:cNvSpPr/>
          <p:nvPr/>
        </p:nvSpPr>
        <p:spPr>
          <a:xfrm>
            <a:off x="1599667" y="4517136"/>
            <a:ext cx="648691" cy="402336"/>
          </a:xfrm>
          <a:prstGeom prst="roundRect">
            <a:avLst>
              <a:gd name="adj" fmla="val 31818"/>
            </a:avLst>
          </a:prstGeom>
          <a:solidFill>
            <a:srgbClr val="FFFFFF"/>
          </a:solidFill>
          <a:ln w="9525">
            <a:solidFill>
              <a:srgbClr val="36414F"/>
            </a:solidFill>
            <a:prstDash val="solid"/>
          </a:ln>
        </p:spPr>
      </p:sp>
      <p:pic>
        <p:nvPicPr>
          <p:cNvPr id="13" name="Image 2" descr="C:/Users/neuma_p1qrsic/Repo/agentic-ops1/.scratch/deckgen/logos/lseg.png">    </p:cNvPr>
          <p:cNvPicPr>
            <a:picLocks noChangeAspect="1"/>
          </p:cNvPicPr>
          <p:nvPr/>
        </p:nvPicPr>
        <p:blipFill>
          <a:blip r:embed="rId3"/>
          <a:stretch>
            <a:fillRect/>
          </a:stretch>
        </p:blipFill>
        <p:spPr>
          <a:xfrm>
            <a:off x="1658049" y="4648369"/>
            <a:ext cx="531926" cy="139869"/>
          </a:xfrm>
          <a:prstGeom prst="rect">
            <a:avLst/>
          </a:prstGeom>
        </p:spPr>
      </p:pic>
      <p:sp>
        <p:nvSpPr>
          <p:cNvPr id="14" name="Shape 9"/>
          <p:cNvSpPr/>
          <p:nvPr/>
        </p:nvSpPr>
        <p:spPr>
          <a:xfrm>
            <a:off x="2358085" y="4517136"/>
            <a:ext cx="648691" cy="402336"/>
          </a:xfrm>
          <a:prstGeom prst="roundRect">
            <a:avLst>
              <a:gd name="adj" fmla="val 31818"/>
            </a:avLst>
          </a:prstGeom>
          <a:solidFill>
            <a:srgbClr val="FFFFFF"/>
          </a:solidFill>
          <a:ln w="9525">
            <a:solidFill>
              <a:srgbClr val="36414F"/>
            </a:solidFill>
            <a:prstDash val="solid"/>
          </a:ln>
        </p:spPr>
      </p:sp>
      <p:pic>
        <p:nvPicPr>
          <p:cNvPr id="15" name="Image 3" descr="C:/Users/neuma_p1qrsic/Repo/agentic-ops1/.scratch/deckgen/logos/ice.png">    </p:cNvPr>
          <p:cNvPicPr>
            <a:picLocks noChangeAspect="1"/>
          </p:cNvPicPr>
          <p:nvPr/>
        </p:nvPicPr>
        <p:blipFill>
          <a:blip r:embed="rId4"/>
          <a:stretch>
            <a:fillRect/>
          </a:stretch>
        </p:blipFill>
        <p:spPr>
          <a:xfrm>
            <a:off x="2549660" y="4585533"/>
            <a:ext cx="265542" cy="265542"/>
          </a:xfrm>
          <a:prstGeom prst="rect">
            <a:avLst/>
          </a:prstGeom>
        </p:spPr>
      </p:pic>
      <p:sp>
        <p:nvSpPr>
          <p:cNvPr id="16" name="Shape 10"/>
          <p:cNvSpPr/>
          <p:nvPr/>
        </p:nvSpPr>
        <p:spPr>
          <a:xfrm>
            <a:off x="3116504" y="4517136"/>
            <a:ext cx="648691" cy="402336"/>
          </a:xfrm>
          <a:prstGeom prst="roundRect">
            <a:avLst>
              <a:gd name="adj" fmla="val 31818"/>
            </a:avLst>
          </a:prstGeom>
          <a:solidFill>
            <a:srgbClr val="FFFFFF"/>
          </a:solidFill>
          <a:ln w="9525">
            <a:solidFill>
              <a:srgbClr val="36414F"/>
            </a:solidFill>
            <a:prstDash val="solid"/>
          </a:ln>
        </p:spPr>
      </p:sp>
      <p:pic>
        <p:nvPicPr>
          <p:cNvPr id="17" name="Image 4" descr="C:/Users/neuma_p1qrsic/Repo/agentic-ops1/.scratch/deckgen/logos/cme.png">    </p:cNvPr>
          <p:cNvPicPr>
            <a:picLocks noChangeAspect="1"/>
          </p:cNvPicPr>
          <p:nvPr/>
        </p:nvPicPr>
        <p:blipFill>
          <a:blip r:embed="rId5"/>
          <a:stretch>
            <a:fillRect/>
          </a:stretch>
        </p:blipFill>
        <p:spPr>
          <a:xfrm>
            <a:off x="3174886" y="4677371"/>
            <a:ext cx="531926" cy="81867"/>
          </a:xfrm>
          <a:prstGeom prst="rect">
            <a:avLst/>
          </a:prstGeom>
        </p:spPr>
      </p:pic>
      <p:sp>
        <p:nvSpPr>
          <p:cNvPr id="18" name="Shape 11"/>
          <p:cNvSpPr/>
          <p:nvPr/>
        </p:nvSpPr>
        <p:spPr>
          <a:xfrm>
            <a:off x="4359554" y="2148840"/>
            <a:ext cx="3472586" cy="2971800"/>
          </a:xfrm>
          <a:prstGeom prst="roundRect">
            <a:avLst>
              <a:gd name="adj" fmla="val 2769"/>
            </a:avLst>
          </a:prstGeom>
          <a:solidFill>
            <a:srgbClr val="141A25"/>
          </a:solidFill>
          <a:ln w="13970">
            <a:solidFill>
              <a:srgbClr val="36414F"/>
            </a:solidFill>
            <a:prstDash val="solid"/>
          </a:ln>
        </p:spPr>
      </p:sp>
      <p:sp>
        <p:nvSpPr>
          <p:cNvPr id="19" name="Shape 12"/>
          <p:cNvSpPr/>
          <p:nvPr/>
        </p:nvSpPr>
        <p:spPr>
          <a:xfrm>
            <a:off x="4633874" y="2459736"/>
            <a:ext cx="713232" cy="713232"/>
          </a:xfrm>
          <a:prstGeom prst="roundRect">
            <a:avLst>
              <a:gd name="adj" fmla="val 14103"/>
            </a:avLst>
          </a:prstGeom>
          <a:solidFill>
            <a:srgbClr val="1B2330"/>
          </a:solidFill>
          <a:ln w="15240">
            <a:solidFill>
              <a:srgbClr val="3BE3E0"/>
            </a:solidFill>
            <a:prstDash val="solid"/>
          </a:ln>
        </p:spPr>
      </p:sp>
      <p:pic>
        <p:nvPicPr>
          <p:cNvPr id="20" name="Image 5" descr="C:/Users/neuma_p1qrsic/Repo/agentic-ops1/.scratch/icons/merge.png">    </p:cNvPr>
          <p:cNvPicPr>
            <a:picLocks noChangeAspect="1"/>
          </p:cNvPicPr>
          <p:nvPr/>
        </p:nvPicPr>
        <p:blipFill>
          <a:blip r:embed="rId6"/>
          <a:stretch>
            <a:fillRect/>
          </a:stretch>
        </p:blipFill>
        <p:spPr>
          <a:xfrm>
            <a:off x="4805050" y="2630912"/>
            <a:ext cx="370881" cy="370881"/>
          </a:xfrm>
          <a:prstGeom prst="rect">
            <a:avLst/>
          </a:prstGeom>
        </p:spPr>
      </p:pic>
      <p:sp>
        <p:nvSpPr>
          <p:cNvPr id="21" name="Text 13"/>
          <p:cNvSpPr/>
          <p:nvPr/>
        </p:nvSpPr>
        <p:spPr>
          <a:xfrm>
            <a:off x="4633874" y="3319272"/>
            <a:ext cx="2923946" cy="658368"/>
          </a:xfrm>
          <a:prstGeom prst="rect">
            <a:avLst/>
          </a:prstGeom>
          <a:noFill/>
          <a:ln/>
        </p:spPr>
        <p:txBody>
          <a:bodyPr wrap="square" rtlCol="0" anchor="t"/>
          <a:lstStyle/>
          <a:p>
            <a:pPr indent="0" marL="0">
              <a:buNone/>
            </a:pPr>
            <a:r>
              <a:rPr lang="en-US" sz="1800" b="1" dirty="0">
                <a:solidFill>
                  <a:srgbClr val="F3F6FB"/>
                </a:solidFill>
                <a:latin typeface="Segoe UI Semibold" pitchFamily="34" charset="0"/>
                <a:ea typeface="Segoe UI Semibold" pitchFamily="34" charset="-122"/>
                <a:cs typeface="Segoe UI Semibold" pitchFamily="34" charset="-120"/>
              </a:rPr>
              <a:t>Smart Trading</a:t>
            </a:r>
            <a:endParaRPr lang="en-US" sz="1800" dirty="0"/>
          </a:p>
        </p:txBody>
      </p:sp>
      <p:sp>
        <p:nvSpPr>
          <p:cNvPr id="22" name="Text 14"/>
          <p:cNvSpPr/>
          <p:nvPr/>
        </p:nvSpPr>
        <p:spPr>
          <a:xfrm>
            <a:off x="4633874" y="3995928"/>
            <a:ext cx="2923946" cy="1005840"/>
          </a:xfrm>
          <a:prstGeom prst="rect">
            <a:avLst/>
          </a:prstGeom>
          <a:noFill/>
          <a:ln/>
        </p:spPr>
        <p:txBody>
          <a:bodyPr wrap="square" rtlCol="0" anchor="t"/>
          <a:lstStyle/>
          <a:p>
            <a:pPr indent="0" marL="0">
              <a:lnSpc>
                <a:spcPct val="120000"/>
              </a:lnSpc>
              <a:buNone/>
            </a:pPr>
            <a:r>
              <a:rPr lang="en-US" sz="1300" dirty="0">
                <a:solidFill>
                  <a:srgbClr val="AAB6C7"/>
                </a:solidFill>
                <a:latin typeface="Segoe UI" pitchFamily="34" charset="0"/>
                <a:ea typeface="Segoe UI" pitchFamily="34" charset="-122"/>
                <a:cs typeface="Segoe UI" pitchFamily="34" charset="-120"/>
              </a:rPr>
              <a:t>The manual middle between your trading venues and SAP, closed. From capture through to the deal in SAP.</a:t>
            </a:r>
            <a:endParaRPr lang="en-US" sz="1300" dirty="0"/>
          </a:p>
        </p:txBody>
      </p:sp>
      <p:sp>
        <p:nvSpPr>
          <p:cNvPr id="23" name="Shape 15"/>
          <p:cNvSpPr/>
          <p:nvPr/>
        </p:nvSpPr>
        <p:spPr>
          <a:xfrm>
            <a:off x="8152181" y="2148840"/>
            <a:ext cx="3472586" cy="2971800"/>
          </a:xfrm>
          <a:prstGeom prst="roundRect">
            <a:avLst>
              <a:gd name="adj" fmla="val 2769"/>
            </a:avLst>
          </a:prstGeom>
          <a:solidFill>
            <a:srgbClr val="141A25"/>
          </a:solidFill>
          <a:ln w="13970">
            <a:solidFill>
              <a:srgbClr val="36414F"/>
            </a:solidFill>
            <a:prstDash val="solid"/>
          </a:ln>
        </p:spPr>
      </p:sp>
      <p:sp>
        <p:nvSpPr>
          <p:cNvPr id="24" name="Shape 16"/>
          <p:cNvSpPr/>
          <p:nvPr/>
        </p:nvSpPr>
        <p:spPr>
          <a:xfrm>
            <a:off x="8426501" y="2459736"/>
            <a:ext cx="713232" cy="713232"/>
          </a:xfrm>
          <a:prstGeom prst="roundRect">
            <a:avLst>
              <a:gd name="adj" fmla="val 14103"/>
            </a:avLst>
          </a:prstGeom>
          <a:solidFill>
            <a:srgbClr val="1B2330"/>
          </a:solidFill>
          <a:ln w="15240">
            <a:solidFill>
              <a:srgbClr val="3BE3E0"/>
            </a:solidFill>
            <a:prstDash val="solid"/>
          </a:ln>
        </p:spPr>
      </p:sp>
      <p:pic>
        <p:nvPicPr>
          <p:cNvPr id="25" name="Image 6" descr="C:/Users/neuma_p1qrsic/Repo/agentic-ops1/.scratch/icons/spark.png">    </p:cNvPr>
          <p:cNvPicPr>
            <a:picLocks noChangeAspect="1"/>
          </p:cNvPicPr>
          <p:nvPr/>
        </p:nvPicPr>
        <p:blipFill>
          <a:blip r:embed="rId7"/>
          <a:stretch>
            <a:fillRect/>
          </a:stretch>
        </p:blipFill>
        <p:spPr>
          <a:xfrm>
            <a:off x="8597676" y="2630912"/>
            <a:ext cx="370881" cy="370881"/>
          </a:xfrm>
          <a:prstGeom prst="rect">
            <a:avLst/>
          </a:prstGeom>
        </p:spPr>
      </p:pic>
      <p:sp>
        <p:nvSpPr>
          <p:cNvPr id="26" name="Text 17"/>
          <p:cNvSpPr/>
          <p:nvPr/>
        </p:nvSpPr>
        <p:spPr>
          <a:xfrm>
            <a:off x="8426501" y="3319272"/>
            <a:ext cx="2923946" cy="658368"/>
          </a:xfrm>
          <a:prstGeom prst="rect">
            <a:avLst/>
          </a:prstGeom>
          <a:noFill/>
          <a:ln/>
        </p:spPr>
        <p:txBody>
          <a:bodyPr wrap="square" rtlCol="0" anchor="t"/>
          <a:lstStyle/>
          <a:p>
            <a:pPr indent="0" marL="0">
              <a:buNone/>
            </a:pPr>
            <a:r>
              <a:rPr lang="en-US" sz="1800" b="1" dirty="0">
                <a:solidFill>
                  <a:srgbClr val="F3F6FB"/>
                </a:solidFill>
                <a:latin typeface="Segoe UI Semibold" pitchFamily="34" charset="0"/>
                <a:ea typeface="Segoe UI Semibold" pitchFamily="34" charset="-122"/>
                <a:cs typeface="Segoe UI Semibold" pitchFamily="34" charset="-120"/>
              </a:rPr>
              <a:t>AI automation &amp; orchestration</a:t>
            </a:r>
            <a:endParaRPr lang="en-US" sz="1800" dirty="0"/>
          </a:p>
        </p:txBody>
      </p:sp>
      <p:sp>
        <p:nvSpPr>
          <p:cNvPr id="27" name="Text 18"/>
          <p:cNvSpPr/>
          <p:nvPr/>
        </p:nvSpPr>
        <p:spPr>
          <a:xfrm>
            <a:off x="8426501" y="3995928"/>
            <a:ext cx="2923946" cy="1005840"/>
          </a:xfrm>
          <a:prstGeom prst="rect">
            <a:avLst/>
          </a:prstGeom>
          <a:noFill/>
          <a:ln/>
        </p:spPr>
        <p:txBody>
          <a:bodyPr wrap="square" rtlCol="0" anchor="t"/>
          <a:lstStyle/>
          <a:p>
            <a:pPr indent="0" marL="0">
              <a:lnSpc>
                <a:spcPct val="120000"/>
              </a:lnSpc>
              <a:buNone/>
            </a:pPr>
            <a:r>
              <a:rPr lang="en-US" sz="1300" dirty="0">
                <a:solidFill>
                  <a:srgbClr val="AAB6C7"/>
                </a:solidFill>
                <a:latin typeface="Segoe UI" pitchFamily="34" charset="0"/>
                <a:ea typeface="Segoe UI" pitchFamily="34" charset="-122"/>
                <a:cs typeface="Segoe UI" pitchFamily="34" charset="-120"/>
              </a:rPr>
              <a:t>Digital co-workers that read, decide and post on your own SAP data: remittance advice, intercompany funding, and more.</a:t>
            </a:r>
            <a:endParaRPr lang="en-US" sz="1300" dirty="0"/>
          </a:p>
        </p:txBody>
      </p:sp>
      <p:sp>
        <p:nvSpPr>
          <p:cNvPr id="28" name="Text 19"/>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29" name="Text 20"/>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04 / 10</a:t>
            </a:r>
            <a:endParaRPr lang="en-US" sz="900" dirty="0"/>
          </a:p>
        </p:txBody>
      </p:sp>
      <p:sp>
        <p:nvSpPr>
          <p:cNvPr id="30" name="Shape 21"/>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HOW IT FITS TOGETHER</a:t>
            </a:r>
            <a:endParaRPr lang="en-US" sz="1200" dirty="0"/>
          </a:p>
        </p:txBody>
      </p:sp>
      <p:sp>
        <p:nvSpPr>
          <p:cNvPr id="4" name="Text 2"/>
          <p:cNvSpPr/>
          <p:nvPr/>
        </p:nvSpPr>
        <p:spPr>
          <a:xfrm>
            <a:off x="566928" y="960120"/>
            <a:ext cx="10881360" cy="731520"/>
          </a:xfrm>
          <a:prstGeom prst="rect">
            <a:avLst/>
          </a:prstGeom>
          <a:noFill/>
          <a:ln/>
        </p:spPr>
        <p:txBody>
          <a:bodyPr wrap="square" rtlCol="0" anchor="ctr"/>
          <a:lstStyle/>
          <a:p>
            <a:pPr indent="0" marL="0">
              <a:buNone/>
            </a:pPr>
            <a:r>
              <a:rPr lang="en-US" sz="2800" b="1" dirty="0">
                <a:solidFill>
                  <a:srgbClr val="F3F6FB"/>
                </a:solidFill>
                <a:latin typeface="Segoe UI Semibold" pitchFamily="34" charset="0"/>
                <a:ea typeface="Segoe UI Semibold" pitchFamily="34" charset="-122"/>
                <a:cs typeface="Segoe UI Semibold" pitchFamily="34" charset="-120"/>
              </a:rPr>
              <a:t>One layer between your sources and SAP. Both ways.</a:t>
            </a:r>
            <a:endParaRPr lang="en-US" sz="2800" dirty="0"/>
          </a:p>
        </p:txBody>
      </p:sp>
      <p:sp>
        <p:nvSpPr>
          <p:cNvPr id="5" name="Shape 3"/>
          <p:cNvSpPr/>
          <p:nvPr/>
        </p:nvSpPr>
        <p:spPr>
          <a:xfrm>
            <a:off x="566928" y="2148840"/>
            <a:ext cx="3063240" cy="2514600"/>
          </a:xfrm>
          <a:prstGeom prst="roundRect">
            <a:avLst>
              <a:gd name="adj" fmla="val 3273"/>
            </a:avLst>
          </a:prstGeom>
          <a:solidFill>
            <a:srgbClr val="141A25"/>
          </a:solidFill>
          <a:ln w="13970">
            <a:solidFill>
              <a:srgbClr val="36414F"/>
            </a:solidFill>
            <a:prstDash val="solid"/>
          </a:ln>
        </p:spPr>
      </p:sp>
      <p:sp>
        <p:nvSpPr>
          <p:cNvPr id="6" name="Shape 4"/>
          <p:cNvSpPr/>
          <p:nvPr/>
        </p:nvSpPr>
        <p:spPr>
          <a:xfrm>
            <a:off x="841248" y="2423160"/>
            <a:ext cx="548640" cy="548640"/>
          </a:xfrm>
          <a:prstGeom prst="roundRect">
            <a:avLst>
              <a:gd name="adj" fmla="val 18333"/>
            </a:avLst>
          </a:prstGeom>
          <a:solidFill>
            <a:srgbClr val="1B2330"/>
          </a:solidFill>
          <a:ln w="15240">
            <a:solidFill>
              <a:srgbClr val="3BE3E0"/>
            </a:solidFill>
            <a:prstDash val="solid"/>
          </a:ln>
        </p:spPr>
      </p:sp>
      <p:pic>
        <p:nvPicPr>
          <p:cNvPr id="7" name="Image 0" descr="C:/Users/neuma_p1qrsic/Repo/agentic-ops1/.scratch/icons/venue.png">    </p:cNvPr>
          <p:cNvPicPr>
            <a:picLocks noChangeAspect="1"/>
          </p:cNvPicPr>
          <p:nvPr/>
        </p:nvPicPr>
        <p:blipFill>
          <a:blip r:embed="rId1"/>
          <a:stretch>
            <a:fillRect/>
          </a:stretch>
        </p:blipFill>
        <p:spPr>
          <a:xfrm>
            <a:off x="972922" y="2554834"/>
            <a:ext cx="285293" cy="285293"/>
          </a:xfrm>
          <a:prstGeom prst="rect">
            <a:avLst/>
          </a:prstGeom>
        </p:spPr>
      </p:pic>
      <p:sp>
        <p:nvSpPr>
          <p:cNvPr id="8" name="Text 5"/>
          <p:cNvSpPr/>
          <p:nvPr/>
        </p:nvSpPr>
        <p:spPr>
          <a:xfrm>
            <a:off x="1527048" y="2423160"/>
            <a:ext cx="1920240" cy="548640"/>
          </a:xfrm>
          <a:prstGeom prst="rect">
            <a:avLst/>
          </a:prstGeom>
          <a:noFill/>
          <a:ln/>
        </p:spPr>
        <p:txBody>
          <a:bodyPr wrap="square" rtlCol="0" anchor="ctr"/>
          <a:lstStyle/>
          <a:p>
            <a:pPr indent="0" marL="0">
              <a:buNone/>
            </a:pPr>
            <a:r>
              <a:rPr lang="en-US" sz="1350" b="1" dirty="0">
                <a:solidFill>
                  <a:srgbClr val="F3F6FB"/>
                </a:solidFill>
                <a:latin typeface="Segoe UI Semibold" pitchFamily="34" charset="0"/>
                <a:ea typeface="Segoe UI Semibold" pitchFamily="34" charset="-122"/>
                <a:cs typeface="Segoe UI Semibold" pitchFamily="34" charset="-120"/>
              </a:rPr>
              <a:t>Sources &amp; feeds</a:t>
            </a:r>
            <a:endParaRPr lang="en-US" sz="1350" dirty="0"/>
          </a:p>
        </p:txBody>
      </p:sp>
      <p:sp>
        <p:nvSpPr>
          <p:cNvPr id="9" name="Text 6"/>
          <p:cNvSpPr/>
          <p:nvPr/>
        </p:nvSpPr>
        <p:spPr>
          <a:xfrm>
            <a:off x="841248" y="3200400"/>
            <a:ext cx="2606040" cy="1371600"/>
          </a:xfrm>
          <a:prstGeom prst="rect">
            <a:avLst/>
          </a:prstGeom>
          <a:noFill/>
          <a:ln/>
        </p:spPr>
        <p:txBody>
          <a:bodyPr wrap="square" rtlCol="0" anchor="ctr"/>
          <a:lstStyle/>
          <a:p>
            <a:pPr indent="0" marL="0">
              <a:lnSpc>
                <a:spcPct val="125000"/>
              </a:lnSpc>
              <a:buNone/>
            </a:pPr>
            <a:r>
              <a:rPr lang="en-US" sz="1300" dirty="0">
                <a:solidFill>
                  <a:srgbClr val="AAB6C7"/>
                </a:solidFill>
                <a:latin typeface="Segoe UI" pitchFamily="34" charset="0"/>
                <a:ea typeface="Segoe UI" pitchFamily="34" charset="-122"/>
                <a:cs typeface="Segoe UI" pitchFamily="34" charset="-120"/>
              </a:rPr>
              <a:t>Banks, market data,</a:t>
            </a:r>
            <a:endParaRPr lang="en-US" sz="1300" dirty="0"/>
          </a:p>
          <a:p>
            <a:pPr indent="0" marL="0">
              <a:lnSpc>
                <a:spcPct val="125000"/>
              </a:lnSpc>
              <a:buNone/>
            </a:pPr>
            <a:r>
              <a:rPr lang="en-US" sz="1300" dirty="0">
                <a:solidFill>
                  <a:srgbClr val="AAB6C7"/>
                </a:solidFill>
                <a:latin typeface="Segoe UI" pitchFamily="34" charset="0"/>
                <a:ea typeface="Segoe UI" pitchFamily="34" charset="-122"/>
                <a:cs typeface="Segoe UI" pitchFamily="34" charset="-120"/>
              </a:rPr>
              <a:t>trading venues, central</a:t>
            </a:r>
            <a:endParaRPr lang="en-US" sz="1300" dirty="0"/>
          </a:p>
          <a:p>
            <a:pPr indent="0" marL="0">
              <a:lnSpc>
                <a:spcPct val="125000"/>
              </a:lnSpc>
              <a:buNone/>
            </a:pPr>
            <a:r>
              <a:rPr lang="en-US" sz="1300" dirty="0">
                <a:solidFill>
                  <a:srgbClr val="AAB6C7"/>
                </a:solidFill>
                <a:latin typeface="Segoe UI" pitchFamily="34" charset="0"/>
                <a:ea typeface="Segoe UI" pitchFamily="34" charset="-122"/>
                <a:cs typeface="Segoe UI" pitchFamily="34" charset="-120"/>
              </a:rPr>
              <a:t>banks, websites, internal</a:t>
            </a:r>
            <a:endParaRPr lang="en-US" sz="1300" dirty="0"/>
          </a:p>
        </p:txBody>
      </p:sp>
      <p:sp>
        <p:nvSpPr>
          <p:cNvPr id="10" name="Shape 7"/>
          <p:cNvSpPr/>
          <p:nvPr/>
        </p:nvSpPr>
        <p:spPr>
          <a:xfrm>
            <a:off x="4087368" y="2148840"/>
            <a:ext cx="3566160" cy="2514600"/>
          </a:xfrm>
          <a:prstGeom prst="roundRect">
            <a:avLst>
              <a:gd name="adj" fmla="val 3273"/>
            </a:avLst>
          </a:prstGeom>
          <a:solidFill>
            <a:srgbClr val="10222A"/>
          </a:solidFill>
          <a:ln w="19050">
            <a:solidFill>
              <a:srgbClr val="3BE3E0"/>
            </a:solidFill>
            <a:prstDash val="solid"/>
          </a:ln>
        </p:spPr>
      </p:sp>
      <p:pic>
        <p:nvPicPr>
          <p:cNvPr id="11" name="Image 1" descr="C:/Users/neuma_p1qrsic/Repo/agentic-ops1/.scratch/logo/favicon.png">    </p:cNvPr>
          <p:cNvPicPr>
            <a:picLocks noChangeAspect="1"/>
          </p:cNvPicPr>
          <p:nvPr/>
        </p:nvPicPr>
        <p:blipFill>
          <a:blip r:embed="rId2"/>
          <a:stretch>
            <a:fillRect/>
          </a:stretch>
        </p:blipFill>
        <p:spPr>
          <a:xfrm>
            <a:off x="5650992" y="2514600"/>
            <a:ext cx="438912" cy="438912"/>
          </a:xfrm>
          <a:prstGeom prst="rect">
            <a:avLst/>
          </a:prstGeom>
        </p:spPr>
      </p:pic>
      <p:sp>
        <p:nvSpPr>
          <p:cNvPr id="12" name="Text 8"/>
          <p:cNvSpPr/>
          <p:nvPr/>
        </p:nvSpPr>
        <p:spPr>
          <a:xfrm>
            <a:off x="4087368" y="3063240"/>
            <a:ext cx="3566160" cy="411480"/>
          </a:xfrm>
          <a:prstGeom prst="rect">
            <a:avLst/>
          </a:prstGeom>
          <a:noFill/>
          <a:ln/>
        </p:spPr>
        <p:txBody>
          <a:bodyPr wrap="square" rtlCol="0" anchor="ctr"/>
          <a:lstStyle/>
          <a:p>
            <a:pPr algn="ctr" indent="0" marL="0">
              <a:buNone/>
            </a:pPr>
            <a:r>
              <a:rPr lang="en-US" sz="2000" b="1" dirty="0">
                <a:solidFill>
                  <a:srgbClr val="F3F6FB"/>
                </a:solidFill>
                <a:latin typeface="Segoe UI Semibold" pitchFamily="34" charset="0"/>
                <a:ea typeface="Segoe UI Semibold" pitchFamily="34" charset="-122"/>
                <a:cs typeface="Segoe UI Semibold" pitchFamily="34" charset="-120"/>
              </a:rPr>
              <a:t>TreasuryCentral</a:t>
            </a:r>
            <a:endParaRPr lang="en-US" sz="2000" dirty="0"/>
          </a:p>
        </p:txBody>
      </p:sp>
      <p:sp>
        <p:nvSpPr>
          <p:cNvPr id="13" name="Text 9"/>
          <p:cNvSpPr/>
          <p:nvPr/>
        </p:nvSpPr>
        <p:spPr>
          <a:xfrm>
            <a:off x="4087368" y="3447288"/>
            <a:ext cx="3566160" cy="320040"/>
          </a:xfrm>
          <a:prstGeom prst="rect">
            <a:avLst/>
          </a:prstGeom>
          <a:noFill/>
          <a:ln/>
        </p:spPr>
        <p:txBody>
          <a:bodyPr wrap="square" rtlCol="0" anchor="ctr"/>
          <a:lstStyle/>
          <a:p>
            <a:pPr algn="ctr" indent="0" marL="0">
              <a:buNone/>
            </a:pPr>
            <a:r>
              <a:rPr lang="en-US" sz="1350" dirty="0">
                <a:solidFill>
                  <a:srgbClr val="3BE3E0"/>
                </a:solidFill>
                <a:latin typeface="Segoe UI" pitchFamily="34" charset="0"/>
                <a:ea typeface="Segoe UI" pitchFamily="34" charset="-122"/>
                <a:cs typeface="Segoe UI" pitchFamily="34" charset="-120"/>
              </a:rPr>
              <a:t>on OnePilot</a:t>
            </a:r>
            <a:endParaRPr lang="en-US" sz="1350" dirty="0"/>
          </a:p>
        </p:txBody>
      </p:sp>
      <p:sp>
        <p:nvSpPr>
          <p:cNvPr id="14" name="Text 10"/>
          <p:cNvSpPr/>
          <p:nvPr/>
        </p:nvSpPr>
        <p:spPr>
          <a:xfrm>
            <a:off x="4087368" y="3813048"/>
            <a:ext cx="3566160" cy="685800"/>
          </a:xfrm>
          <a:prstGeom prst="rect">
            <a:avLst/>
          </a:prstGeom>
          <a:noFill/>
          <a:ln/>
        </p:spPr>
        <p:txBody>
          <a:bodyPr wrap="square" rtlCol="0" anchor="ctr"/>
          <a:lstStyle/>
          <a:p>
            <a:pPr algn="ctr" indent="0" marL="0">
              <a:lnSpc>
                <a:spcPct val="110000"/>
              </a:lnSpc>
              <a:buNone/>
            </a:pPr>
            <a:r>
              <a:rPr lang="en-US" sz="1200" dirty="0">
                <a:solidFill>
                  <a:srgbClr val="AAB6C7"/>
                </a:solidFill>
                <a:latin typeface="Segoe UI" pitchFamily="34" charset="0"/>
                <a:ea typeface="Segoe UI" pitchFamily="34" charset="-122"/>
                <a:cs typeface="Segoe UI" pitchFamily="34" charset="-120"/>
              </a:rPr>
              <a:t>runs on SAP HANA,</a:t>
            </a:r>
            <a:endParaRPr lang="en-US" sz="1200" dirty="0"/>
          </a:p>
          <a:p>
            <a:pPr algn="ctr" indent="0" marL="0">
              <a:lnSpc>
                <a:spcPct val="110000"/>
              </a:lnSpc>
              <a:buNone/>
            </a:pPr>
            <a:r>
              <a:rPr lang="en-US" sz="1200" dirty="0">
                <a:solidFill>
                  <a:srgbClr val="AAB6C7"/>
                </a:solidFill>
                <a:latin typeface="Segoe UI" pitchFamily="34" charset="0"/>
                <a:ea typeface="Segoe UI" pitchFamily="34" charset="-122"/>
                <a:cs typeface="Segoe UI" pitchFamily="34" charset="-120"/>
              </a:rPr>
              <a:t>checks and logs every value</a:t>
            </a:r>
            <a:endParaRPr lang="en-US" sz="1200" dirty="0"/>
          </a:p>
        </p:txBody>
      </p:sp>
      <p:sp>
        <p:nvSpPr>
          <p:cNvPr id="15" name="Shape 11"/>
          <p:cNvSpPr/>
          <p:nvPr/>
        </p:nvSpPr>
        <p:spPr>
          <a:xfrm>
            <a:off x="8110728" y="2148840"/>
            <a:ext cx="3514039" cy="2514600"/>
          </a:xfrm>
          <a:prstGeom prst="roundRect">
            <a:avLst>
              <a:gd name="adj" fmla="val 3273"/>
            </a:avLst>
          </a:prstGeom>
          <a:solidFill>
            <a:srgbClr val="141A25"/>
          </a:solidFill>
          <a:ln w="13970">
            <a:solidFill>
              <a:srgbClr val="36414F"/>
            </a:solidFill>
            <a:prstDash val="solid"/>
          </a:ln>
        </p:spPr>
      </p:sp>
      <p:sp>
        <p:nvSpPr>
          <p:cNvPr id="16" name="Shape 12"/>
          <p:cNvSpPr/>
          <p:nvPr/>
        </p:nvSpPr>
        <p:spPr>
          <a:xfrm>
            <a:off x="8385048" y="2423160"/>
            <a:ext cx="548640" cy="548640"/>
          </a:xfrm>
          <a:prstGeom prst="roundRect">
            <a:avLst>
              <a:gd name="adj" fmla="val 18333"/>
            </a:avLst>
          </a:prstGeom>
          <a:solidFill>
            <a:srgbClr val="1B2330"/>
          </a:solidFill>
          <a:ln w="15240">
            <a:solidFill>
              <a:srgbClr val="3BE3E0"/>
            </a:solidFill>
            <a:prstDash val="solid"/>
          </a:ln>
        </p:spPr>
      </p:sp>
      <p:pic>
        <p:nvPicPr>
          <p:cNvPr id="17" name="Image 2" descr="C:/Users/neuma_p1qrsic/Repo/agentic-ops1/.scratch/icons/database.png">    </p:cNvPr>
          <p:cNvPicPr>
            <a:picLocks noChangeAspect="1"/>
          </p:cNvPicPr>
          <p:nvPr/>
        </p:nvPicPr>
        <p:blipFill>
          <a:blip r:embed="rId3"/>
          <a:stretch>
            <a:fillRect/>
          </a:stretch>
        </p:blipFill>
        <p:spPr>
          <a:xfrm>
            <a:off x="8516722" y="2554834"/>
            <a:ext cx="285293" cy="285293"/>
          </a:xfrm>
          <a:prstGeom prst="rect">
            <a:avLst/>
          </a:prstGeom>
        </p:spPr>
      </p:pic>
      <p:sp>
        <p:nvSpPr>
          <p:cNvPr id="18" name="Text 13"/>
          <p:cNvSpPr/>
          <p:nvPr/>
        </p:nvSpPr>
        <p:spPr>
          <a:xfrm>
            <a:off x="9070848" y="2423160"/>
            <a:ext cx="2325319" cy="548640"/>
          </a:xfrm>
          <a:prstGeom prst="rect">
            <a:avLst/>
          </a:prstGeom>
          <a:noFill/>
          <a:ln/>
        </p:spPr>
        <p:txBody>
          <a:bodyPr wrap="square" rtlCol="0" anchor="ctr"/>
          <a:lstStyle/>
          <a:p>
            <a:pPr indent="0" marL="0">
              <a:buNone/>
            </a:pPr>
            <a:r>
              <a:rPr lang="en-US" sz="1350" b="1" dirty="0">
                <a:solidFill>
                  <a:srgbClr val="F3F6FB"/>
                </a:solidFill>
                <a:latin typeface="Segoe UI Semibold" pitchFamily="34" charset="0"/>
                <a:ea typeface="Segoe UI Semibold" pitchFamily="34" charset="-122"/>
                <a:cs typeface="Segoe UI Semibold" pitchFamily="34" charset="-120"/>
              </a:rPr>
              <a:t>Systems &amp; analytics</a:t>
            </a:r>
            <a:endParaRPr lang="en-US" sz="1350" dirty="0"/>
          </a:p>
        </p:txBody>
      </p:sp>
      <p:sp>
        <p:nvSpPr>
          <p:cNvPr id="19" name="Text 14"/>
          <p:cNvSpPr/>
          <p:nvPr/>
        </p:nvSpPr>
        <p:spPr>
          <a:xfrm>
            <a:off x="8385048" y="3200400"/>
            <a:ext cx="3011119" cy="1371600"/>
          </a:xfrm>
          <a:prstGeom prst="rect">
            <a:avLst/>
          </a:prstGeom>
          <a:noFill/>
          <a:ln/>
        </p:spPr>
        <p:txBody>
          <a:bodyPr wrap="square" rtlCol="0" anchor="ctr"/>
          <a:lstStyle/>
          <a:p>
            <a:pPr indent="0" marL="0">
              <a:lnSpc>
                <a:spcPct val="125000"/>
              </a:lnSpc>
              <a:buNone/>
            </a:pPr>
            <a:r>
              <a:rPr lang="en-US" sz="1300" dirty="0">
                <a:solidFill>
                  <a:srgbClr val="AAB6C7"/>
                </a:solidFill>
                <a:latin typeface="Segoe UI" pitchFamily="34" charset="0"/>
                <a:ea typeface="Segoe UI" pitchFamily="34" charset="-122"/>
                <a:cs typeface="Segoe UI" pitchFamily="34" charset="-120"/>
              </a:rPr>
              <a:t>SAP ECC, S/4HANA, TRM,</a:t>
            </a:r>
            <a:endParaRPr lang="en-US" sz="1300" dirty="0"/>
          </a:p>
          <a:p>
            <a:pPr indent="0" marL="0">
              <a:lnSpc>
                <a:spcPct val="125000"/>
              </a:lnSpc>
              <a:buNone/>
            </a:pPr>
            <a:r>
              <a:rPr lang="en-US" sz="1300" dirty="0">
                <a:solidFill>
                  <a:srgbClr val="AAB6C7"/>
                </a:solidFill>
                <a:latin typeface="Segoe UI" pitchFamily="34" charset="0"/>
                <a:ea typeface="Segoe UI" pitchFamily="34" charset="-122"/>
                <a:cs typeface="Segoe UI" pitchFamily="34" charset="-120"/>
              </a:rPr>
              <a:t>non-SAP apps, databases,</a:t>
            </a:r>
            <a:endParaRPr lang="en-US" sz="1300" dirty="0"/>
          </a:p>
          <a:p>
            <a:pPr indent="0" marL="0">
              <a:lnSpc>
                <a:spcPct val="125000"/>
              </a:lnSpc>
              <a:buNone/>
            </a:pPr>
            <a:r>
              <a:rPr lang="en-US" sz="1300" dirty="0">
                <a:solidFill>
                  <a:srgbClr val="AAB6C7"/>
                </a:solidFill>
                <a:latin typeface="Segoe UI" pitchFamily="34" charset="0"/>
                <a:ea typeface="Segoe UI" pitchFamily="34" charset="-122"/>
                <a:cs typeface="Segoe UI" pitchFamily="34" charset="-120"/>
              </a:rPr>
              <a:t>Analytics Cloud</a:t>
            </a:r>
            <a:endParaRPr lang="en-US" sz="1300" dirty="0"/>
          </a:p>
        </p:txBody>
      </p:sp>
      <p:sp>
        <p:nvSpPr>
          <p:cNvPr id="20" name="Shape 15"/>
          <p:cNvSpPr/>
          <p:nvPr/>
        </p:nvSpPr>
        <p:spPr>
          <a:xfrm>
            <a:off x="3630168" y="3406140"/>
            <a:ext cx="457200" cy="0"/>
          </a:xfrm>
          <a:prstGeom prst="line">
            <a:avLst/>
          </a:prstGeom>
          <a:noFill/>
          <a:ln w="19050">
            <a:solidFill>
              <a:srgbClr val="3BE3E0"/>
            </a:solidFill>
            <a:prstDash val="solid"/>
            <a:headEnd type="triangle"/>
            <a:tailEnd type="triangle"/>
          </a:ln>
        </p:spPr>
      </p:sp>
      <p:sp>
        <p:nvSpPr>
          <p:cNvPr id="21" name="Shape 16"/>
          <p:cNvSpPr/>
          <p:nvPr/>
        </p:nvSpPr>
        <p:spPr>
          <a:xfrm>
            <a:off x="7653528" y="3406140"/>
            <a:ext cx="457200" cy="0"/>
          </a:xfrm>
          <a:prstGeom prst="line">
            <a:avLst/>
          </a:prstGeom>
          <a:noFill/>
          <a:ln w="19050">
            <a:solidFill>
              <a:srgbClr val="3BE3E0"/>
            </a:solidFill>
            <a:prstDash val="solid"/>
            <a:headEnd type="triangle"/>
            <a:tailEnd type="triangle"/>
          </a:ln>
        </p:spPr>
      </p:sp>
      <p:sp>
        <p:nvSpPr>
          <p:cNvPr id="22" name="Shape 17"/>
          <p:cNvSpPr/>
          <p:nvPr/>
        </p:nvSpPr>
        <p:spPr>
          <a:xfrm>
            <a:off x="566928" y="4956048"/>
            <a:ext cx="11057839" cy="914400"/>
          </a:xfrm>
          <a:prstGeom prst="roundRect">
            <a:avLst>
              <a:gd name="adj" fmla="val 8000"/>
            </a:avLst>
          </a:prstGeom>
          <a:solidFill>
            <a:srgbClr val="141A25"/>
          </a:solidFill>
          <a:ln w="13970">
            <a:solidFill>
              <a:srgbClr val="36414F"/>
            </a:solidFill>
            <a:prstDash val="solid"/>
          </a:ln>
        </p:spPr>
      </p:sp>
      <p:pic>
        <p:nvPicPr>
          <p:cNvPr id="23" name="Image 3" descr="C:/Users/neuma_p1qrsic/Repo/agentic-ops1/.scratch/icons/shield.png">    </p:cNvPr>
          <p:cNvPicPr>
            <a:picLocks noChangeAspect="1"/>
          </p:cNvPicPr>
          <p:nvPr/>
        </p:nvPicPr>
        <p:blipFill>
          <a:blip r:embed="rId4"/>
          <a:stretch>
            <a:fillRect/>
          </a:stretch>
        </p:blipFill>
        <p:spPr>
          <a:xfrm>
            <a:off x="841248" y="5212080"/>
            <a:ext cx="402336" cy="402336"/>
          </a:xfrm>
          <a:prstGeom prst="rect">
            <a:avLst/>
          </a:prstGeom>
        </p:spPr>
      </p:pic>
      <p:sp>
        <p:nvSpPr>
          <p:cNvPr id="24" name="Text 18"/>
          <p:cNvSpPr/>
          <p:nvPr/>
        </p:nvSpPr>
        <p:spPr>
          <a:xfrm>
            <a:off x="1435608" y="4956048"/>
            <a:ext cx="9914839" cy="914400"/>
          </a:xfrm>
          <a:prstGeom prst="rect">
            <a:avLst/>
          </a:prstGeom>
          <a:noFill/>
          <a:ln/>
        </p:spPr>
        <p:txBody>
          <a:bodyPr wrap="square" rtlCol="0" anchor="ctr"/>
          <a:lstStyle/>
          <a:p>
            <a:pPr indent="0" marL="0">
              <a:lnSpc>
                <a:spcPct val="110000"/>
              </a:lnSpc>
              <a:buNone/>
            </a:pPr>
            <a:r>
              <a:rPr lang="en-US" sz="1350" dirty="0">
                <a:solidFill>
                  <a:srgbClr val="F3F6FB"/>
                </a:solidFill>
                <a:latin typeface="Segoe UI" pitchFamily="34" charset="0"/>
                <a:ea typeface="Segoe UI" pitchFamily="34" charset="-122"/>
                <a:cs typeface="Segoe UI" pitchFamily="34" charset="-120"/>
              </a:rPr>
              <a:t>Every value is validated, checked for anomalies and logged: a full audit trail, segregation of duty, no-code rules, ISO 27001 and SOC 1.</a:t>
            </a:r>
            <a:endParaRPr lang="en-US" sz="1350" dirty="0"/>
          </a:p>
        </p:txBody>
      </p:sp>
      <p:sp>
        <p:nvSpPr>
          <p:cNvPr id="25" name="Text 19"/>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26" name="Text 20"/>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05 / 10</a:t>
            </a:r>
            <a:endParaRPr lang="en-US" sz="900" dirty="0"/>
          </a:p>
        </p:txBody>
      </p:sp>
      <p:sp>
        <p:nvSpPr>
          <p:cNvPr id="27" name="Shape 21"/>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WHY IT IS SAFE TO AUTOMATE</a:t>
            </a:r>
            <a:endParaRPr lang="en-US" sz="1200" dirty="0"/>
          </a:p>
        </p:txBody>
      </p:sp>
      <p:sp>
        <p:nvSpPr>
          <p:cNvPr id="4" name="Text 2"/>
          <p:cNvSpPr/>
          <p:nvPr/>
        </p:nvSpPr>
        <p:spPr>
          <a:xfrm>
            <a:off x="566928" y="960120"/>
            <a:ext cx="10789920" cy="731520"/>
          </a:xfrm>
          <a:prstGeom prst="rect">
            <a:avLst/>
          </a:prstGeom>
          <a:noFill/>
          <a:ln/>
        </p:spPr>
        <p:txBody>
          <a:bodyPr wrap="square" rtlCol="0" anchor="ctr"/>
          <a:lstStyle/>
          <a:p>
            <a:pPr indent="0" marL="0">
              <a:buNone/>
            </a:pPr>
            <a:r>
              <a:rPr lang="en-US" sz="2800" b="1" dirty="0">
                <a:solidFill>
                  <a:srgbClr val="F3F6FB"/>
                </a:solidFill>
                <a:latin typeface="Segoe UI Semibold" pitchFamily="34" charset="0"/>
                <a:ea typeface="Segoe UI Semibold" pitchFamily="34" charset="-122"/>
                <a:cs typeface="Segoe UI Semibold" pitchFamily="34" charset="-120"/>
              </a:rPr>
              <a:t>The controls are built in, not bolted on.</a:t>
            </a:r>
            <a:endParaRPr lang="en-US" sz="2800" dirty="0"/>
          </a:p>
        </p:txBody>
      </p:sp>
      <p:sp>
        <p:nvSpPr>
          <p:cNvPr id="5" name="Shape 3"/>
          <p:cNvSpPr/>
          <p:nvPr/>
        </p:nvSpPr>
        <p:spPr>
          <a:xfrm>
            <a:off x="566928" y="2194560"/>
            <a:ext cx="5346040" cy="1188720"/>
          </a:xfrm>
          <a:prstGeom prst="roundRect">
            <a:avLst>
              <a:gd name="adj" fmla="val 6154"/>
            </a:avLst>
          </a:prstGeom>
          <a:solidFill>
            <a:srgbClr val="141A25"/>
          </a:solidFill>
          <a:ln w="13970">
            <a:solidFill>
              <a:srgbClr val="36414F"/>
            </a:solidFill>
            <a:prstDash val="solid"/>
          </a:ln>
        </p:spPr>
      </p:sp>
      <p:sp>
        <p:nvSpPr>
          <p:cNvPr id="6" name="Shape 4"/>
          <p:cNvSpPr/>
          <p:nvPr/>
        </p:nvSpPr>
        <p:spPr>
          <a:xfrm>
            <a:off x="822960" y="2496312"/>
            <a:ext cx="566928" cy="566928"/>
          </a:xfrm>
          <a:prstGeom prst="roundRect">
            <a:avLst>
              <a:gd name="adj" fmla="val 17742"/>
            </a:avLst>
          </a:prstGeom>
          <a:solidFill>
            <a:srgbClr val="1B2330"/>
          </a:solidFill>
          <a:ln w="15240">
            <a:solidFill>
              <a:srgbClr val="3BE3E0"/>
            </a:solidFill>
            <a:prstDash val="solid"/>
          </a:ln>
        </p:spPr>
      </p:sp>
      <p:pic>
        <p:nvPicPr>
          <p:cNvPr id="7" name="Image 0" descr="C:/Users/neuma_p1qrsic/Repo/agentic-ops1/.scratch/icons/list.png">    </p:cNvPr>
          <p:cNvPicPr>
            <a:picLocks noChangeAspect="1"/>
          </p:cNvPicPr>
          <p:nvPr/>
        </p:nvPicPr>
        <p:blipFill>
          <a:blip r:embed="rId1"/>
          <a:stretch>
            <a:fillRect/>
          </a:stretch>
        </p:blipFill>
        <p:spPr>
          <a:xfrm>
            <a:off x="959023" y="2632375"/>
            <a:ext cx="294803" cy="294803"/>
          </a:xfrm>
          <a:prstGeom prst="rect">
            <a:avLst/>
          </a:prstGeom>
        </p:spPr>
      </p:pic>
      <p:sp>
        <p:nvSpPr>
          <p:cNvPr id="8" name="Text 5"/>
          <p:cNvSpPr/>
          <p:nvPr/>
        </p:nvSpPr>
        <p:spPr>
          <a:xfrm>
            <a:off x="1572768" y="2414016"/>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A full audit trail</a:t>
            </a:r>
            <a:endParaRPr lang="en-US" sz="1650" dirty="0"/>
          </a:p>
        </p:txBody>
      </p:sp>
      <p:sp>
        <p:nvSpPr>
          <p:cNvPr id="9" name="Text 6"/>
          <p:cNvSpPr/>
          <p:nvPr/>
        </p:nvSpPr>
        <p:spPr>
          <a:xfrm>
            <a:off x="1572768" y="2798064"/>
            <a:ext cx="4111600" cy="45720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Every value and every change is recorded, end to end.</a:t>
            </a:r>
            <a:endParaRPr lang="en-US" sz="1250" dirty="0"/>
          </a:p>
        </p:txBody>
      </p:sp>
      <p:sp>
        <p:nvSpPr>
          <p:cNvPr id="10" name="Shape 7"/>
          <p:cNvSpPr/>
          <p:nvPr/>
        </p:nvSpPr>
        <p:spPr>
          <a:xfrm>
            <a:off x="6278728" y="2194560"/>
            <a:ext cx="5346040" cy="1188720"/>
          </a:xfrm>
          <a:prstGeom prst="roundRect">
            <a:avLst>
              <a:gd name="adj" fmla="val 6154"/>
            </a:avLst>
          </a:prstGeom>
          <a:solidFill>
            <a:srgbClr val="141A25"/>
          </a:solidFill>
          <a:ln w="13970">
            <a:solidFill>
              <a:srgbClr val="36414F"/>
            </a:solidFill>
            <a:prstDash val="solid"/>
          </a:ln>
        </p:spPr>
      </p:sp>
      <p:sp>
        <p:nvSpPr>
          <p:cNvPr id="11" name="Shape 8"/>
          <p:cNvSpPr/>
          <p:nvPr/>
        </p:nvSpPr>
        <p:spPr>
          <a:xfrm>
            <a:off x="6534760" y="2496312"/>
            <a:ext cx="566928" cy="566928"/>
          </a:xfrm>
          <a:prstGeom prst="roundRect">
            <a:avLst>
              <a:gd name="adj" fmla="val 17742"/>
            </a:avLst>
          </a:prstGeom>
          <a:solidFill>
            <a:srgbClr val="1B2330"/>
          </a:solidFill>
          <a:ln w="15240">
            <a:solidFill>
              <a:srgbClr val="3BE3E0"/>
            </a:solidFill>
            <a:prstDash val="solid"/>
          </a:ln>
        </p:spPr>
      </p:sp>
      <p:pic>
        <p:nvPicPr>
          <p:cNvPr id="12" name="Image 1" descr="C:/Users/neuma_p1qrsic/Repo/agentic-ops1/.scratch/icons/shield.png">    </p:cNvPr>
          <p:cNvPicPr>
            <a:picLocks noChangeAspect="1"/>
          </p:cNvPicPr>
          <p:nvPr/>
        </p:nvPicPr>
        <p:blipFill>
          <a:blip r:embed="rId2"/>
          <a:stretch>
            <a:fillRect/>
          </a:stretch>
        </p:blipFill>
        <p:spPr>
          <a:xfrm>
            <a:off x="6670822" y="2632375"/>
            <a:ext cx="294803" cy="294803"/>
          </a:xfrm>
          <a:prstGeom prst="rect">
            <a:avLst/>
          </a:prstGeom>
        </p:spPr>
      </p:pic>
      <p:sp>
        <p:nvSpPr>
          <p:cNvPr id="13" name="Text 9"/>
          <p:cNvSpPr/>
          <p:nvPr/>
        </p:nvSpPr>
        <p:spPr>
          <a:xfrm>
            <a:off x="7284568" y="2414016"/>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Segregation of duty</a:t>
            </a:r>
            <a:endParaRPr lang="en-US" sz="1650" dirty="0"/>
          </a:p>
        </p:txBody>
      </p:sp>
      <p:sp>
        <p:nvSpPr>
          <p:cNvPr id="14" name="Text 10"/>
          <p:cNvSpPr/>
          <p:nvPr/>
        </p:nvSpPr>
        <p:spPr>
          <a:xfrm>
            <a:off x="7284568" y="2798064"/>
            <a:ext cx="4111600" cy="45720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The changes that matter need a second person.</a:t>
            </a:r>
            <a:endParaRPr lang="en-US" sz="1250" dirty="0"/>
          </a:p>
        </p:txBody>
      </p:sp>
      <p:sp>
        <p:nvSpPr>
          <p:cNvPr id="15" name="Shape 11"/>
          <p:cNvSpPr/>
          <p:nvPr/>
        </p:nvSpPr>
        <p:spPr>
          <a:xfrm>
            <a:off x="566928" y="3547872"/>
            <a:ext cx="5346040" cy="1188720"/>
          </a:xfrm>
          <a:prstGeom prst="roundRect">
            <a:avLst>
              <a:gd name="adj" fmla="val 6154"/>
            </a:avLst>
          </a:prstGeom>
          <a:solidFill>
            <a:srgbClr val="141A25"/>
          </a:solidFill>
          <a:ln w="13970">
            <a:solidFill>
              <a:srgbClr val="36414F"/>
            </a:solidFill>
            <a:prstDash val="solid"/>
          </a:ln>
        </p:spPr>
      </p:sp>
      <p:sp>
        <p:nvSpPr>
          <p:cNvPr id="16" name="Shape 12"/>
          <p:cNvSpPr/>
          <p:nvPr/>
        </p:nvSpPr>
        <p:spPr>
          <a:xfrm>
            <a:off x="822960" y="3849624"/>
            <a:ext cx="566928" cy="566928"/>
          </a:xfrm>
          <a:prstGeom prst="roundRect">
            <a:avLst>
              <a:gd name="adj" fmla="val 17742"/>
            </a:avLst>
          </a:prstGeom>
          <a:solidFill>
            <a:srgbClr val="1B2330"/>
          </a:solidFill>
          <a:ln w="15240">
            <a:solidFill>
              <a:srgbClr val="3BE3E0"/>
            </a:solidFill>
            <a:prstDash val="solid"/>
          </a:ln>
        </p:spPr>
      </p:sp>
      <p:pic>
        <p:nvPicPr>
          <p:cNvPr id="17" name="Image 2" descr="C:/Users/neuma_p1qrsic/Repo/agentic-ops1/.scratch/icons/eye.png">    </p:cNvPr>
          <p:cNvPicPr>
            <a:picLocks noChangeAspect="1"/>
          </p:cNvPicPr>
          <p:nvPr/>
        </p:nvPicPr>
        <p:blipFill>
          <a:blip r:embed="rId3"/>
          <a:stretch>
            <a:fillRect/>
          </a:stretch>
        </p:blipFill>
        <p:spPr>
          <a:xfrm>
            <a:off x="959023" y="3985687"/>
            <a:ext cx="294803" cy="294803"/>
          </a:xfrm>
          <a:prstGeom prst="rect">
            <a:avLst/>
          </a:prstGeom>
        </p:spPr>
      </p:pic>
      <p:sp>
        <p:nvSpPr>
          <p:cNvPr id="18" name="Text 13"/>
          <p:cNvSpPr/>
          <p:nvPr/>
        </p:nvSpPr>
        <p:spPr>
          <a:xfrm>
            <a:off x="1572768" y="3767328"/>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Automatic checks</a:t>
            </a:r>
            <a:endParaRPr lang="en-US" sz="1650" dirty="0"/>
          </a:p>
        </p:txBody>
      </p:sp>
      <p:sp>
        <p:nvSpPr>
          <p:cNvPr id="19" name="Text 14"/>
          <p:cNvSpPr/>
          <p:nvPr/>
        </p:nvSpPr>
        <p:spPr>
          <a:xfrm>
            <a:off x="1572768" y="4151376"/>
            <a:ext cx="4111600" cy="45720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Odd or bad data is caught before it reaches a system.</a:t>
            </a:r>
            <a:endParaRPr lang="en-US" sz="1250" dirty="0"/>
          </a:p>
        </p:txBody>
      </p:sp>
      <p:sp>
        <p:nvSpPr>
          <p:cNvPr id="20" name="Shape 15"/>
          <p:cNvSpPr/>
          <p:nvPr/>
        </p:nvSpPr>
        <p:spPr>
          <a:xfrm>
            <a:off x="6278728" y="3547872"/>
            <a:ext cx="5346040" cy="1188720"/>
          </a:xfrm>
          <a:prstGeom prst="roundRect">
            <a:avLst>
              <a:gd name="adj" fmla="val 6154"/>
            </a:avLst>
          </a:prstGeom>
          <a:solidFill>
            <a:srgbClr val="141A25"/>
          </a:solidFill>
          <a:ln w="13970">
            <a:solidFill>
              <a:srgbClr val="36414F"/>
            </a:solidFill>
            <a:prstDash val="solid"/>
          </a:ln>
        </p:spPr>
      </p:sp>
      <p:sp>
        <p:nvSpPr>
          <p:cNvPr id="21" name="Shape 16"/>
          <p:cNvSpPr/>
          <p:nvPr/>
        </p:nvSpPr>
        <p:spPr>
          <a:xfrm>
            <a:off x="6534760" y="3849624"/>
            <a:ext cx="566928" cy="566928"/>
          </a:xfrm>
          <a:prstGeom prst="roundRect">
            <a:avLst>
              <a:gd name="adj" fmla="val 17742"/>
            </a:avLst>
          </a:prstGeom>
          <a:solidFill>
            <a:srgbClr val="1B2330"/>
          </a:solidFill>
          <a:ln w="15240">
            <a:solidFill>
              <a:srgbClr val="3BE3E0"/>
            </a:solidFill>
            <a:prstDash val="solid"/>
          </a:ln>
        </p:spPr>
      </p:sp>
      <p:pic>
        <p:nvPicPr>
          <p:cNvPr id="22" name="Image 3" descr="C:/Users/neuma_p1qrsic/Repo/agentic-ops1/.scratch/icons/bell.png">    </p:cNvPr>
          <p:cNvPicPr>
            <a:picLocks noChangeAspect="1"/>
          </p:cNvPicPr>
          <p:nvPr/>
        </p:nvPicPr>
        <p:blipFill>
          <a:blip r:embed="rId4"/>
          <a:stretch>
            <a:fillRect/>
          </a:stretch>
        </p:blipFill>
        <p:spPr>
          <a:xfrm>
            <a:off x="6670822" y="3985687"/>
            <a:ext cx="294803" cy="294803"/>
          </a:xfrm>
          <a:prstGeom prst="rect">
            <a:avLst/>
          </a:prstGeom>
        </p:spPr>
      </p:pic>
      <p:sp>
        <p:nvSpPr>
          <p:cNvPr id="23" name="Text 17"/>
          <p:cNvSpPr/>
          <p:nvPr/>
        </p:nvSpPr>
        <p:spPr>
          <a:xfrm>
            <a:off x="7284568" y="3767328"/>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Alerts on exceptions</a:t>
            </a:r>
            <a:endParaRPr lang="en-US" sz="1650" dirty="0"/>
          </a:p>
        </p:txBody>
      </p:sp>
      <p:sp>
        <p:nvSpPr>
          <p:cNvPr id="24" name="Text 18"/>
          <p:cNvSpPr/>
          <p:nvPr/>
        </p:nvSpPr>
        <p:spPr>
          <a:xfrm>
            <a:off x="7284568" y="4151376"/>
            <a:ext cx="4111600" cy="45720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You hear about the odd one out; the rest just runs.</a:t>
            </a:r>
            <a:endParaRPr lang="en-US" sz="1250" dirty="0"/>
          </a:p>
        </p:txBody>
      </p:sp>
      <p:sp>
        <p:nvSpPr>
          <p:cNvPr id="25" name="Shape 19"/>
          <p:cNvSpPr/>
          <p:nvPr/>
        </p:nvSpPr>
        <p:spPr>
          <a:xfrm>
            <a:off x="566928" y="4901184"/>
            <a:ext cx="5346040" cy="1188720"/>
          </a:xfrm>
          <a:prstGeom prst="roundRect">
            <a:avLst>
              <a:gd name="adj" fmla="val 6154"/>
            </a:avLst>
          </a:prstGeom>
          <a:solidFill>
            <a:srgbClr val="141A25"/>
          </a:solidFill>
          <a:ln w="13970">
            <a:solidFill>
              <a:srgbClr val="36414F"/>
            </a:solidFill>
            <a:prstDash val="solid"/>
          </a:ln>
        </p:spPr>
      </p:sp>
      <p:sp>
        <p:nvSpPr>
          <p:cNvPr id="26" name="Shape 20"/>
          <p:cNvSpPr/>
          <p:nvPr/>
        </p:nvSpPr>
        <p:spPr>
          <a:xfrm>
            <a:off x="822960" y="5202936"/>
            <a:ext cx="566928" cy="566928"/>
          </a:xfrm>
          <a:prstGeom prst="roundRect">
            <a:avLst>
              <a:gd name="adj" fmla="val 17742"/>
            </a:avLst>
          </a:prstGeom>
          <a:solidFill>
            <a:srgbClr val="1B2330"/>
          </a:solidFill>
          <a:ln w="15240">
            <a:solidFill>
              <a:srgbClr val="3BE3E0"/>
            </a:solidFill>
            <a:prstDash val="solid"/>
          </a:ln>
        </p:spPr>
      </p:sp>
      <p:pic>
        <p:nvPicPr>
          <p:cNvPr id="27" name="Image 4" descr="C:/Users/neuma_p1qrsic/Repo/agentic-ops1/.scratch/icons/blocks.png">    </p:cNvPr>
          <p:cNvPicPr>
            <a:picLocks noChangeAspect="1"/>
          </p:cNvPicPr>
          <p:nvPr/>
        </p:nvPicPr>
        <p:blipFill>
          <a:blip r:embed="rId5"/>
          <a:stretch>
            <a:fillRect/>
          </a:stretch>
        </p:blipFill>
        <p:spPr>
          <a:xfrm>
            <a:off x="959023" y="5338999"/>
            <a:ext cx="294803" cy="294803"/>
          </a:xfrm>
          <a:prstGeom prst="rect">
            <a:avLst/>
          </a:prstGeom>
        </p:spPr>
      </p:pic>
      <p:sp>
        <p:nvSpPr>
          <p:cNvPr id="28" name="Text 21"/>
          <p:cNvSpPr/>
          <p:nvPr/>
        </p:nvSpPr>
        <p:spPr>
          <a:xfrm>
            <a:off x="1572768" y="5120640"/>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No code to change it</a:t>
            </a:r>
            <a:endParaRPr lang="en-US" sz="1650" dirty="0"/>
          </a:p>
        </p:txBody>
      </p:sp>
      <p:sp>
        <p:nvSpPr>
          <p:cNvPr id="29" name="Text 22"/>
          <p:cNvSpPr/>
          <p:nvPr/>
        </p:nvSpPr>
        <p:spPr>
          <a:xfrm>
            <a:off x="1572768" y="5504688"/>
            <a:ext cx="4111600" cy="45720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Your rules, changed by your team, no IT project.</a:t>
            </a:r>
            <a:endParaRPr lang="en-US" sz="1250" dirty="0"/>
          </a:p>
        </p:txBody>
      </p:sp>
      <p:sp>
        <p:nvSpPr>
          <p:cNvPr id="30" name="Shape 23"/>
          <p:cNvSpPr/>
          <p:nvPr/>
        </p:nvSpPr>
        <p:spPr>
          <a:xfrm>
            <a:off x="6278728" y="4901184"/>
            <a:ext cx="5346040" cy="1188720"/>
          </a:xfrm>
          <a:prstGeom prst="roundRect">
            <a:avLst>
              <a:gd name="adj" fmla="val 6154"/>
            </a:avLst>
          </a:prstGeom>
          <a:solidFill>
            <a:srgbClr val="141A25"/>
          </a:solidFill>
          <a:ln w="13970">
            <a:solidFill>
              <a:srgbClr val="36414F"/>
            </a:solidFill>
            <a:prstDash val="solid"/>
          </a:ln>
        </p:spPr>
      </p:sp>
      <p:sp>
        <p:nvSpPr>
          <p:cNvPr id="31" name="Shape 24"/>
          <p:cNvSpPr/>
          <p:nvPr/>
        </p:nvSpPr>
        <p:spPr>
          <a:xfrm>
            <a:off x="6534760" y="5202936"/>
            <a:ext cx="566928" cy="566928"/>
          </a:xfrm>
          <a:prstGeom prst="roundRect">
            <a:avLst>
              <a:gd name="adj" fmla="val 17742"/>
            </a:avLst>
          </a:prstGeom>
          <a:solidFill>
            <a:srgbClr val="1B2330"/>
          </a:solidFill>
          <a:ln w="15240">
            <a:solidFill>
              <a:srgbClr val="3BE3E0"/>
            </a:solidFill>
            <a:prstDash val="solid"/>
          </a:ln>
        </p:spPr>
      </p:sp>
      <p:pic>
        <p:nvPicPr>
          <p:cNvPr id="32" name="Image 5" descr="C:/Users/neuma_p1qrsic/Repo/agentic-ops1/.scratch/icons/lock.png">    </p:cNvPr>
          <p:cNvPicPr>
            <a:picLocks noChangeAspect="1"/>
          </p:cNvPicPr>
          <p:nvPr/>
        </p:nvPicPr>
        <p:blipFill>
          <a:blip r:embed="rId6"/>
          <a:stretch>
            <a:fillRect/>
          </a:stretch>
        </p:blipFill>
        <p:spPr>
          <a:xfrm>
            <a:off x="6670822" y="5338999"/>
            <a:ext cx="294803" cy="294803"/>
          </a:xfrm>
          <a:prstGeom prst="rect">
            <a:avLst/>
          </a:prstGeom>
        </p:spPr>
      </p:pic>
      <p:sp>
        <p:nvSpPr>
          <p:cNvPr id="33" name="Text 25"/>
          <p:cNvSpPr/>
          <p:nvPr/>
        </p:nvSpPr>
        <p:spPr>
          <a:xfrm>
            <a:off x="7284568" y="5120640"/>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ISO 27001 and SOC 1</a:t>
            </a:r>
            <a:endParaRPr lang="en-US" sz="1650" dirty="0"/>
          </a:p>
        </p:txBody>
      </p:sp>
      <p:sp>
        <p:nvSpPr>
          <p:cNvPr id="34" name="Text 26"/>
          <p:cNvSpPr/>
          <p:nvPr/>
        </p:nvSpPr>
        <p:spPr>
          <a:xfrm>
            <a:off x="7284568" y="5504688"/>
            <a:ext cx="4111600" cy="45720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The security controls your auditors already expect.</a:t>
            </a:r>
            <a:endParaRPr lang="en-US" sz="1250" dirty="0"/>
          </a:p>
        </p:txBody>
      </p:sp>
      <p:sp>
        <p:nvSpPr>
          <p:cNvPr id="35" name="Text 27"/>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36" name="Text 28"/>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06 / 10</a:t>
            </a:r>
            <a:endParaRPr lang="en-US" sz="900" dirty="0"/>
          </a:p>
        </p:txBody>
      </p:sp>
      <p:sp>
        <p:nvSpPr>
          <p:cNvPr id="37" name="Shape 29"/>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21B"/>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WHAT IT RUNS ON</a:t>
            </a:r>
            <a:endParaRPr lang="en-US" sz="1200" dirty="0"/>
          </a:p>
        </p:txBody>
      </p:sp>
      <p:sp>
        <p:nvSpPr>
          <p:cNvPr id="4" name="Text 2"/>
          <p:cNvSpPr/>
          <p:nvPr/>
        </p:nvSpPr>
        <p:spPr>
          <a:xfrm>
            <a:off x="566928" y="960120"/>
            <a:ext cx="10789920" cy="731520"/>
          </a:xfrm>
          <a:prstGeom prst="rect">
            <a:avLst/>
          </a:prstGeom>
          <a:noFill/>
          <a:ln/>
        </p:spPr>
        <p:txBody>
          <a:bodyPr wrap="square" rtlCol="0" anchor="ctr"/>
          <a:lstStyle/>
          <a:p>
            <a:pPr indent="0" marL="0">
              <a:buNone/>
            </a:pPr>
            <a:r>
              <a:rPr lang="en-US" sz="2900" b="1" dirty="0">
                <a:solidFill>
                  <a:srgbClr val="F3F6FB"/>
                </a:solidFill>
                <a:latin typeface="Segoe UI Semibold" pitchFamily="34" charset="0"/>
                <a:ea typeface="Segoe UI Semibold" pitchFamily="34" charset="-122"/>
                <a:cs typeface="Segoe UI Semibold" pitchFamily="34" charset="-120"/>
              </a:rPr>
              <a:t>TreasuryCentral is powered by </a:t>
            </a:r>
            <a:pPr indent="0" marL="0">
              <a:buNone/>
            </a:pPr>
            <a:r>
              <a:rPr lang="en-US" sz="2900" b="1" dirty="0">
                <a:solidFill>
                  <a:srgbClr val="3BE3E0"/>
                </a:solidFill>
                <a:latin typeface="Segoe UI Semibold" pitchFamily="34" charset="0"/>
                <a:ea typeface="Segoe UI Semibold" pitchFamily="34" charset="-122"/>
                <a:cs typeface="Segoe UI Semibold" pitchFamily="34" charset="-120"/>
              </a:rPr>
              <a:t>OnePilot</a:t>
            </a:r>
            <a:pPr indent="0" marL="0">
              <a:buNone/>
            </a:pPr>
            <a:r>
              <a:rPr lang="en-US" sz="2900" b="1" dirty="0">
                <a:solidFill>
                  <a:srgbClr val="F3F6FB"/>
                </a:solidFill>
                <a:latin typeface="Segoe UI Semibold" pitchFamily="34" charset="0"/>
                <a:ea typeface="Segoe UI Semibold" pitchFamily="34" charset="-122"/>
                <a:cs typeface="Segoe UI Semibold" pitchFamily="34" charset="-120"/>
              </a:rPr>
              <a:t>.</a:t>
            </a:r>
            <a:endParaRPr lang="en-US" sz="2900" dirty="0"/>
          </a:p>
        </p:txBody>
      </p:sp>
      <p:sp>
        <p:nvSpPr>
          <p:cNvPr id="5" name="Text 3"/>
          <p:cNvSpPr/>
          <p:nvPr/>
        </p:nvSpPr>
        <p:spPr>
          <a:xfrm>
            <a:off x="566928" y="1828800"/>
            <a:ext cx="10607040" cy="960120"/>
          </a:xfrm>
          <a:prstGeom prst="rect">
            <a:avLst/>
          </a:prstGeom>
          <a:noFill/>
          <a:ln/>
        </p:spPr>
        <p:txBody>
          <a:bodyPr wrap="square" rtlCol="0" anchor="ctr"/>
          <a:lstStyle/>
          <a:p>
            <a:pPr indent="0" marL="0">
              <a:lnSpc>
                <a:spcPct val="130000"/>
              </a:lnSpc>
              <a:buNone/>
            </a:pPr>
            <a:r>
              <a:rPr lang="en-US" sz="1600" dirty="0">
                <a:solidFill>
                  <a:srgbClr val="AAB6C7"/>
                </a:solidFill>
                <a:latin typeface="Segoe UI" pitchFamily="34" charset="0"/>
                <a:ea typeface="Segoe UI" pitchFamily="34" charset="-122"/>
                <a:cs typeface="Segoe UI" pitchFamily="34" charset="-120"/>
              </a:rPr>
              <a:t>OnePilot is the layer underneath. It moves your data cleanly between systems, both ways, across SAP and everything else, with the checks and the AI built in. One way to connect to all of it:</a:t>
            </a:r>
            <a:endParaRPr lang="en-US" sz="1600" dirty="0"/>
          </a:p>
        </p:txBody>
      </p:sp>
      <p:sp>
        <p:nvSpPr>
          <p:cNvPr id="6" name="Shape 4"/>
          <p:cNvSpPr/>
          <p:nvPr/>
        </p:nvSpPr>
        <p:spPr>
          <a:xfrm>
            <a:off x="566928" y="3200400"/>
            <a:ext cx="1992112" cy="1554480"/>
          </a:xfrm>
          <a:prstGeom prst="roundRect">
            <a:avLst>
              <a:gd name="adj" fmla="val 5882"/>
            </a:avLst>
          </a:prstGeom>
          <a:solidFill>
            <a:srgbClr val="141A25"/>
          </a:solidFill>
          <a:ln w="13970">
            <a:solidFill>
              <a:srgbClr val="36414F"/>
            </a:solidFill>
            <a:prstDash val="solid"/>
          </a:ln>
        </p:spPr>
      </p:sp>
      <p:pic>
        <p:nvPicPr>
          <p:cNvPr id="7" name="Image 0" descr="C:/Users/neuma_p1qrsic/Repo/agentic-ops1/.scratch/icons/database.png">    </p:cNvPr>
          <p:cNvPicPr>
            <a:picLocks noChangeAspect="1"/>
          </p:cNvPicPr>
          <p:nvPr/>
        </p:nvPicPr>
        <p:blipFill>
          <a:blip r:embed="rId1"/>
          <a:stretch>
            <a:fillRect/>
          </a:stretch>
        </p:blipFill>
        <p:spPr>
          <a:xfrm>
            <a:off x="1252088" y="3493008"/>
            <a:ext cx="621792" cy="621792"/>
          </a:xfrm>
          <a:prstGeom prst="rect">
            <a:avLst/>
          </a:prstGeom>
        </p:spPr>
      </p:pic>
      <p:sp>
        <p:nvSpPr>
          <p:cNvPr id="8" name="Text 5"/>
          <p:cNvSpPr/>
          <p:nvPr/>
        </p:nvSpPr>
        <p:spPr>
          <a:xfrm>
            <a:off x="640080" y="4187952"/>
            <a:ext cx="1845808" cy="457200"/>
          </a:xfrm>
          <a:prstGeom prst="rect">
            <a:avLst/>
          </a:prstGeom>
          <a:noFill/>
          <a:ln/>
        </p:spPr>
        <p:txBody>
          <a:bodyPr wrap="square" rtlCol="0" anchor="ctr"/>
          <a:lstStyle/>
          <a:p>
            <a:pPr algn="ctr" indent="0" marL="0">
              <a:buNone/>
            </a:pPr>
            <a:r>
              <a:rPr lang="en-US" sz="1300" dirty="0">
                <a:solidFill>
                  <a:srgbClr val="F3F6FB"/>
                </a:solidFill>
                <a:latin typeface="Segoe UI" pitchFamily="34" charset="0"/>
                <a:ea typeface="Segoe UI" pitchFamily="34" charset="-122"/>
                <a:cs typeface="Segoe UI" pitchFamily="34" charset="-120"/>
              </a:rPr>
              <a:t>SAP systems</a:t>
            </a:r>
            <a:endParaRPr lang="en-US" sz="1300" dirty="0"/>
          </a:p>
        </p:txBody>
      </p:sp>
      <p:sp>
        <p:nvSpPr>
          <p:cNvPr id="9" name="Shape 6"/>
          <p:cNvSpPr/>
          <p:nvPr/>
        </p:nvSpPr>
        <p:spPr>
          <a:xfrm>
            <a:off x="2833360" y="3200400"/>
            <a:ext cx="1992112" cy="1554480"/>
          </a:xfrm>
          <a:prstGeom prst="roundRect">
            <a:avLst>
              <a:gd name="adj" fmla="val 5882"/>
            </a:avLst>
          </a:prstGeom>
          <a:solidFill>
            <a:srgbClr val="141A25"/>
          </a:solidFill>
          <a:ln w="13970">
            <a:solidFill>
              <a:srgbClr val="36414F"/>
            </a:solidFill>
            <a:prstDash val="solid"/>
          </a:ln>
        </p:spPr>
      </p:sp>
      <p:pic>
        <p:nvPicPr>
          <p:cNvPr id="10" name="Image 1" descr="C:/Users/neuma_p1qrsic/Repo/agentic-ops1/.scratch/icons/sheet.png">    </p:cNvPr>
          <p:cNvPicPr>
            <a:picLocks noChangeAspect="1"/>
          </p:cNvPicPr>
          <p:nvPr/>
        </p:nvPicPr>
        <p:blipFill>
          <a:blip r:embed="rId2"/>
          <a:stretch>
            <a:fillRect/>
          </a:stretch>
        </p:blipFill>
        <p:spPr>
          <a:xfrm>
            <a:off x="3518520" y="3493008"/>
            <a:ext cx="621792" cy="621792"/>
          </a:xfrm>
          <a:prstGeom prst="rect">
            <a:avLst/>
          </a:prstGeom>
        </p:spPr>
      </p:pic>
      <p:sp>
        <p:nvSpPr>
          <p:cNvPr id="11" name="Text 7"/>
          <p:cNvSpPr/>
          <p:nvPr/>
        </p:nvSpPr>
        <p:spPr>
          <a:xfrm>
            <a:off x="2906512" y="4187952"/>
            <a:ext cx="1845808" cy="457200"/>
          </a:xfrm>
          <a:prstGeom prst="rect">
            <a:avLst/>
          </a:prstGeom>
          <a:noFill/>
          <a:ln/>
        </p:spPr>
        <p:txBody>
          <a:bodyPr wrap="square" rtlCol="0" anchor="ctr"/>
          <a:lstStyle/>
          <a:p>
            <a:pPr algn="ctr" indent="0" marL="0">
              <a:buNone/>
            </a:pPr>
            <a:r>
              <a:rPr lang="en-US" sz="1300" dirty="0">
                <a:solidFill>
                  <a:srgbClr val="F3F6FB"/>
                </a:solidFill>
                <a:latin typeface="Segoe UI" pitchFamily="34" charset="0"/>
                <a:ea typeface="Segoe UI" pitchFamily="34" charset="-122"/>
                <a:cs typeface="Segoe UI" pitchFamily="34" charset="-120"/>
              </a:rPr>
              <a:t>Spreadsheets &amp; files</a:t>
            </a:r>
            <a:endParaRPr lang="en-US" sz="1300" dirty="0"/>
          </a:p>
        </p:txBody>
      </p:sp>
      <p:sp>
        <p:nvSpPr>
          <p:cNvPr id="12" name="Shape 8"/>
          <p:cNvSpPr/>
          <p:nvPr/>
        </p:nvSpPr>
        <p:spPr>
          <a:xfrm>
            <a:off x="5099792" y="3200400"/>
            <a:ext cx="1992112" cy="1554480"/>
          </a:xfrm>
          <a:prstGeom prst="roundRect">
            <a:avLst>
              <a:gd name="adj" fmla="val 5882"/>
            </a:avLst>
          </a:prstGeom>
          <a:solidFill>
            <a:srgbClr val="141A25"/>
          </a:solidFill>
          <a:ln w="13970">
            <a:solidFill>
              <a:srgbClr val="36414F"/>
            </a:solidFill>
            <a:prstDash val="solid"/>
          </a:ln>
        </p:spPr>
      </p:sp>
      <p:pic>
        <p:nvPicPr>
          <p:cNvPr id="13" name="Image 2" descr="C:/Users/neuma_p1qrsic/Repo/agentic-ops1/.scratch/icons/mail.png">    </p:cNvPr>
          <p:cNvPicPr>
            <a:picLocks noChangeAspect="1"/>
          </p:cNvPicPr>
          <p:nvPr/>
        </p:nvPicPr>
        <p:blipFill>
          <a:blip r:embed="rId3"/>
          <a:stretch>
            <a:fillRect/>
          </a:stretch>
        </p:blipFill>
        <p:spPr>
          <a:xfrm>
            <a:off x="5784952" y="3493008"/>
            <a:ext cx="621792" cy="621792"/>
          </a:xfrm>
          <a:prstGeom prst="rect">
            <a:avLst/>
          </a:prstGeom>
        </p:spPr>
      </p:pic>
      <p:sp>
        <p:nvSpPr>
          <p:cNvPr id="14" name="Text 9"/>
          <p:cNvSpPr/>
          <p:nvPr/>
        </p:nvSpPr>
        <p:spPr>
          <a:xfrm>
            <a:off x="5172944" y="4187952"/>
            <a:ext cx="1845808" cy="457200"/>
          </a:xfrm>
          <a:prstGeom prst="rect">
            <a:avLst/>
          </a:prstGeom>
          <a:noFill/>
          <a:ln/>
        </p:spPr>
        <p:txBody>
          <a:bodyPr wrap="square" rtlCol="0" anchor="ctr"/>
          <a:lstStyle/>
          <a:p>
            <a:pPr algn="ctr" indent="0" marL="0">
              <a:buNone/>
            </a:pPr>
            <a:r>
              <a:rPr lang="en-US" sz="1300" dirty="0">
                <a:solidFill>
                  <a:srgbClr val="F3F6FB"/>
                </a:solidFill>
                <a:latin typeface="Segoe UI" pitchFamily="34" charset="0"/>
                <a:ea typeface="Segoe UI" pitchFamily="34" charset="-122"/>
                <a:cs typeface="Segoe UI" pitchFamily="34" charset="-120"/>
              </a:rPr>
              <a:t>Email</a:t>
            </a:r>
            <a:endParaRPr lang="en-US" sz="1300" dirty="0"/>
          </a:p>
        </p:txBody>
      </p:sp>
      <p:sp>
        <p:nvSpPr>
          <p:cNvPr id="15" name="Shape 10"/>
          <p:cNvSpPr/>
          <p:nvPr/>
        </p:nvSpPr>
        <p:spPr>
          <a:xfrm>
            <a:off x="7366224" y="3200400"/>
            <a:ext cx="1992112" cy="1554480"/>
          </a:xfrm>
          <a:prstGeom prst="roundRect">
            <a:avLst>
              <a:gd name="adj" fmla="val 5882"/>
            </a:avLst>
          </a:prstGeom>
          <a:solidFill>
            <a:srgbClr val="141A25"/>
          </a:solidFill>
          <a:ln w="13970">
            <a:solidFill>
              <a:srgbClr val="36414F"/>
            </a:solidFill>
            <a:prstDash val="solid"/>
          </a:ln>
        </p:spPr>
      </p:sp>
      <p:pic>
        <p:nvPicPr>
          <p:cNvPr id="16" name="Image 3" descr="C:/Users/neuma_p1qrsic/Repo/agentic-ops1/.scratch/icons/globe.png">    </p:cNvPr>
          <p:cNvPicPr>
            <a:picLocks noChangeAspect="1"/>
          </p:cNvPicPr>
          <p:nvPr/>
        </p:nvPicPr>
        <p:blipFill>
          <a:blip r:embed="rId4"/>
          <a:stretch>
            <a:fillRect/>
          </a:stretch>
        </p:blipFill>
        <p:spPr>
          <a:xfrm>
            <a:off x="8051383" y="3493008"/>
            <a:ext cx="621792" cy="621792"/>
          </a:xfrm>
          <a:prstGeom prst="rect">
            <a:avLst/>
          </a:prstGeom>
        </p:spPr>
      </p:pic>
      <p:sp>
        <p:nvSpPr>
          <p:cNvPr id="17" name="Text 11"/>
          <p:cNvSpPr/>
          <p:nvPr/>
        </p:nvSpPr>
        <p:spPr>
          <a:xfrm>
            <a:off x="7439376" y="4187952"/>
            <a:ext cx="1845808" cy="457200"/>
          </a:xfrm>
          <a:prstGeom prst="rect">
            <a:avLst/>
          </a:prstGeom>
          <a:noFill/>
          <a:ln/>
        </p:spPr>
        <p:txBody>
          <a:bodyPr wrap="square" rtlCol="0" anchor="ctr"/>
          <a:lstStyle/>
          <a:p>
            <a:pPr algn="ctr" indent="0" marL="0">
              <a:buNone/>
            </a:pPr>
            <a:r>
              <a:rPr lang="en-US" sz="1300" dirty="0">
                <a:solidFill>
                  <a:srgbClr val="F3F6FB"/>
                </a:solidFill>
                <a:latin typeface="Segoe UI" pitchFamily="34" charset="0"/>
                <a:ea typeface="Segoe UI" pitchFamily="34" charset="-122"/>
                <a:cs typeface="Segoe UI" pitchFamily="34" charset="-120"/>
              </a:rPr>
              <a:t>Web &amp; APIs</a:t>
            </a:r>
            <a:endParaRPr lang="en-US" sz="1300" dirty="0"/>
          </a:p>
        </p:txBody>
      </p:sp>
      <p:sp>
        <p:nvSpPr>
          <p:cNvPr id="18" name="Shape 12"/>
          <p:cNvSpPr/>
          <p:nvPr/>
        </p:nvSpPr>
        <p:spPr>
          <a:xfrm>
            <a:off x="9632655" y="3200400"/>
            <a:ext cx="1992112" cy="1554480"/>
          </a:xfrm>
          <a:prstGeom prst="roundRect">
            <a:avLst>
              <a:gd name="adj" fmla="val 5882"/>
            </a:avLst>
          </a:prstGeom>
          <a:solidFill>
            <a:srgbClr val="141A25"/>
          </a:solidFill>
          <a:ln w="13970">
            <a:solidFill>
              <a:srgbClr val="36414F"/>
            </a:solidFill>
            <a:prstDash val="solid"/>
          </a:ln>
        </p:spPr>
      </p:sp>
      <p:pic>
        <p:nvPicPr>
          <p:cNvPr id="19" name="Image 4" descr="C:/Users/neuma_p1qrsic/Repo/agentic-ops1/.scratch/icons/spark.png">    </p:cNvPr>
          <p:cNvPicPr>
            <a:picLocks noChangeAspect="1"/>
          </p:cNvPicPr>
          <p:nvPr/>
        </p:nvPicPr>
        <p:blipFill>
          <a:blip r:embed="rId5"/>
          <a:stretch>
            <a:fillRect/>
          </a:stretch>
        </p:blipFill>
        <p:spPr>
          <a:xfrm>
            <a:off x="10317815" y="3493008"/>
            <a:ext cx="621792" cy="621792"/>
          </a:xfrm>
          <a:prstGeom prst="rect">
            <a:avLst/>
          </a:prstGeom>
        </p:spPr>
      </p:pic>
      <p:sp>
        <p:nvSpPr>
          <p:cNvPr id="20" name="Text 13"/>
          <p:cNvSpPr/>
          <p:nvPr/>
        </p:nvSpPr>
        <p:spPr>
          <a:xfrm>
            <a:off x="9705807" y="4187952"/>
            <a:ext cx="1845808" cy="457200"/>
          </a:xfrm>
          <a:prstGeom prst="rect">
            <a:avLst/>
          </a:prstGeom>
          <a:noFill/>
          <a:ln/>
        </p:spPr>
        <p:txBody>
          <a:bodyPr wrap="square" rtlCol="0" anchor="ctr"/>
          <a:lstStyle/>
          <a:p>
            <a:pPr algn="ctr" indent="0" marL="0">
              <a:buNone/>
            </a:pPr>
            <a:r>
              <a:rPr lang="en-US" sz="1300" dirty="0">
                <a:solidFill>
                  <a:srgbClr val="F3F6FB"/>
                </a:solidFill>
                <a:latin typeface="Segoe UI" pitchFamily="34" charset="0"/>
                <a:ea typeface="Segoe UI" pitchFamily="34" charset="-122"/>
                <a:cs typeface="Segoe UI" pitchFamily="34" charset="-120"/>
              </a:rPr>
              <a:t>AI</a:t>
            </a:r>
            <a:endParaRPr lang="en-US" sz="1300" dirty="0"/>
          </a:p>
        </p:txBody>
      </p:sp>
      <p:sp>
        <p:nvSpPr>
          <p:cNvPr id="21" name="Text 14"/>
          <p:cNvSpPr/>
          <p:nvPr/>
        </p:nvSpPr>
        <p:spPr>
          <a:xfrm>
            <a:off x="566928" y="5120640"/>
            <a:ext cx="11057839" cy="457200"/>
          </a:xfrm>
          <a:prstGeom prst="rect">
            <a:avLst/>
          </a:prstGeom>
          <a:noFill/>
          <a:ln/>
        </p:spPr>
        <p:txBody>
          <a:bodyPr wrap="square" rtlCol="0" anchor="ctr"/>
          <a:lstStyle/>
          <a:p>
            <a:pPr indent="0" marL="0">
              <a:buNone/>
            </a:pPr>
            <a:r>
              <a:rPr lang="en-US" sz="1500" b="1" dirty="0">
                <a:solidFill>
                  <a:srgbClr val="3BE3E0"/>
                </a:solidFill>
                <a:latin typeface="Segoe UI" pitchFamily="34" charset="0"/>
                <a:ea typeface="Segoe UI" pitchFamily="34" charset="-122"/>
                <a:cs typeface="Segoe UI" pitchFamily="34" charset="-120"/>
              </a:rPr>
              <a:t>Live in weeks, not a rebuild. </a:t>
            </a:r>
            <a:pPr indent="0" marL="0">
              <a:buNone/>
            </a:pPr>
            <a:r>
              <a:rPr lang="en-US" sz="1500" dirty="0">
                <a:solidFill>
                  <a:srgbClr val="AAB6C7"/>
                </a:solidFill>
                <a:latin typeface="Segoe UI" pitchFamily="34" charset="0"/>
                <a:ea typeface="Segoe UI" pitchFamily="34" charset="-122"/>
                <a:cs typeface="Segoe UI" pitchFamily="34" charset="-120"/>
              </a:rPr>
              <a:t>It sits inside your SAP landscape, not beside it.</a:t>
            </a:r>
            <a:endParaRPr lang="en-US" sz="1500" dirty="0"/>
          </a:p>
        </p:txBody>
      </p:sp>
      <p:sp>
        <p:nvSpPr>
          <p:cNvPr id="22" name="Text 15"/>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23" name="Text 16"/>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07 / 10</a:t>
            </a:r>
            <a:endParaRPr lang="en-US" sz="900" dirty="0"/>
          </a:p>
        </p:txBody>
      </p:sp>
      <p:sp>
        <p:nvSpPr>
          <p:cNvPr id="24" name="Shape 17"/>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E14"/>
        </a:solidFill>
      </p:bgPr>
    </p:bg>
    <p:spTree>
      <p:nvGrpSpPr>
        <p:cNvPr id="1" name=""/>
        <p:cNvGrpSpPr/>
        <p:nvPr/>
      </p:nvGrpSpPr>
      <p:grpSpPr>
        <a:xfrm>
          <a:off x="0" y="0"/>
          <a:ext cx="0" cy="0"/>
          <a:chOff x="0" y="0"/>
          <a:chExt cx="0" cy="0"/>
        </a:xfrm>
      </p:grpSpPr>
      <p:pic>
        <p:nvPicPr>
          <p:cNvPr id="2" name="Image 0" descr="C:/Users/neuma_p1qrsic/Repo/agentic-ops1/.scratch/logo/favicon.png">    </p:cNvPr>
          <p:cNvPicPr>
            <a:picLocks noChangeAspect="1"/>
          </p:cNvPicPr>
          <p:nvPr/>
        </p:nvPicPr>
        <p:blipFill>
          <a:blip r:embed="rId1"/>
          <a:stretch>
            <a:fillRect/>
          </a:stretch>
        </p:blipFill>
        <p:spPr>
          <a:xfrm>
            <a:off x="11313871" y="502920"/>
            <a:ext cx="310896" cy="310896"/>
          </a:xfrm>
          <a:prstGeom prst="rect">
            <a:avLst/>
          </a:prstGeom>
        </p:spPr>
      </p:pic>
      <p:sp>
        <p:nvSpPr>
          <p:cNvPr id="3"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4"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PROVEN WHERE IT COUNTS</a:t>
            </a:r>
            <a:endParaRPr lang="en-US" sz="1200" dirty="0"/>
          </a:p>
        </p:txBody>
      </p:sp>
      <p:sp>
        <p:nvSpPr>
          <p:cNvPr id="5" name="Text 2"/>
          <p:cNvSpPr/>
          <p:nvPr/>
        </p:nvSpPr>
        <p:spPr>
          <a:xfrm>
            <a:off x="566928" y="960120"/>
            <a:ext cx="10881360" cy="731520"/>
          </a:xfrm>
          <a:prstGeom prst="rect">
            <a:avLst/>
          </a:prstGeom>
          <a:noFill/>
          <a:ln/>
        </p:spPr>
        <p:txBody>
          <a:bodyPr wrap="square" rtlCol="0" anchor="ctr"/>
          <a:lstStyle/>
          <a:p>
            <a:pPr indent="0" marL="0">
              <a:buNone/>
            </a:pPr>
            <a:r>
              <a:rPr lang="en-US" sz="2900" b="1" dirty="0">
                <a:solidFill>
                  <a:srgbClr val="F3F6FB"/>
                </a:solidFill>
                <a:latin typeface="Segoe UI Semibold" pitchFamily="34" charset="0"/>
                <a:ea typeface="Segoe UI Semibold" pitchFamily="34" charset="-122"/>
                <a:cs typeface="Segoe UI Semibold" pitchFamily="34" charset="-120"/>
              </a:rPr>
              <a:t>Live with customers today, not on a roadmap.</a:t>
            </a:r>
            <a:endParaRPr lang="en-US" sz="2900" dirty="0"/>
          </a:p>
        </p:txBody>
      </p:sp>
      <p:sp>
        <p:nvSpPr>
          <p:cNvPr id="6" name="Text 3"/>
          <p:cNvSpPr/>
          <p:nvPr/>
        </p:nvSpPr>
        <p:spPr>
          <a:xfrm>
            <a:off x="566928" y="1810512"/>
            <a:ext cx="10698480" cy="1005840"/>
          </a:xfrm>
          <a:prstGeom prst="rect">
            <a:avLst/>
          </a:prstGeom>
          <a:noFill/>
          <a:ln/>
        </p:spPr>
        <p:txBody>
          <a:bodyPr wrap="square" rtlCol="0" anchor="ctr"/>
          <a:lstStyle/>
          <a:p>
            <a:pPr indent="0" marL="0">
              <a:lnSpc>
                <a:spcPct val="128000"/>
              </a:lnSpc>
              <a:buNone/>
            </a:pPr>
            <a:r>
              <a:rPr lang="en-US" sz="1600" dirty="0">
                <a:solidFill>
                  <a:srgbClr val="AAB6C7"/>
                </a:solidFill>
                <a:latin typeface="Segoe UI" pitchFamily="34" charset="0"/>
                <a:ea typeface="Segoe UI" pitchFamily="34" charset="-122"/>
                <a:cs typeface="Segoe UI" pitchFamily="34" charset="-120"/>
              </a:rPr>
              <a:t>Teams like Evonik and RWZ build on OnePilot directly, SAP and non-SAP, on-prem included, and move at the speed of their own ideas rather than a vendor roadmap.</a:t>
            </a:r>
            <a:endParaRPr lang="en-US" sz="1600" dirty="0"/>
          </a:p>
        </p:txBody>
      </p:sp>
      <p:sp>
        <p:nvSpPr>
          <p:cNvPr id="7" name="Shape 4"/>
          <p:cNvSpPr/>
          <p:nvPr/>
        </p:nvSpPr>
        <p:spPr>
          <a:xfrm>
            <a:off x="566928" y="3108960"/>
            <a:ext cx="11057839" cy="1325880"/>
          </a:xfrm>
          <a:prstGeom prst="roundRect">
            <a:avLst>
              <a:gd name="adj" fmla="val 6207"/>
            </a:avLst>
          </a:prstGeom>
          <a:solidFill>
            <a:srgbClr val="141A25"/>
          </a:solidFill>
          <a:ln w="13970">
            <a:solidFill>
              <a:srgbClr val="36414F"/>
            </a:solidFill>
            <a:prstDash val="solid"/>
          </a:ln>
        </p:spPr>
      </p:sp>
      <p:pic>
        <p:nvPicPr>
          <p:cNvPr id="8" name="Image 1" descr="C:/Users/neuma_p1qrsic/Repo/agentic-ops1/.scratch/icons/target.png">    </p:cNvPr>
          <p:cNvPicPr>
            <a:picLocks noChangeAspect="1"/>
          </p:cNvPicPr>
          <p:nvPr/>
        </p:nvPicPr>
        <p:blipFill>
          <a:blip r:embed="rId2"/>
          <a:stretch>
            <a:fillRect/>
          </a:stretch>
        </p:blipFill>
        <p:spPr>
          <a:xfrm>
            <a:off x="877824" y="3566160"/>
            <a:ext cx="420624" cy="420624"/>
          </a:xfrm>
          <a:prstGeom prst="rect">
            <a:avLst/>
          </a:prstGeom>
        </p:spPr>
      </p:pic>
      <p:sp>
        <p:nvSpPr>
          <p:cNvPr id="9" name="Text 5"/>
          <p:cNvSpPr/>
          <p:nvPr/>
        </p:nvSpPr>
        <p:spPr>
          <a:xfrm>
            <a:off x="1527048" y="3108960"/>
            <a:ext cx="9823399" cy="1325880"/>
          </a:xfrm>
          <a:prstGeom prst="rect">
            <a:avLst/>
          </a:prstGeom>
          <a:noFill/>
          <a:ln/>
        </p:spPr>
        <p:txBody>
          <a:bodyPr wrap="square" rtlCol="0" anchor="ctr"/>
          <a:lstStyle/>
          <a:p>
            <a:pPr indent="0" marL="0">
              <a:lnSpc>
                <a:spcPct val="118000"/>
              </a:lnSpc>
              <a:buNone/>
            </a:pPr>
            <a:r>
              <a:rPr lang="en-US" sz="1550" dirty="0">
                <a:solidFill>
                  <a:srgbClr val="F3F6FB"/>
                </a:solidFill>
                <a:latin typeface="Segoe UI" pitchFamily="34" charset="0"/>
                <a:ea typeface="Segoe UI" pitchFamily="34" charset="-122"/>
                <a:cs typeface="Segoe UI" pitchFamily="34" charset="-120"/>
              </a:rPr>
              <a:t>Standardise the process once, governed and analytics-ready, and run it the same way across the whole group.</a:t>
            </a:r>
            <a:endParaRPr lang="en-US" sz="1550" dirty="0"/>
          </a:p>
        </p:txBody>
      </p:sp>
      <p:sp>
        <p:nvSpPr>
          <p:cNvPr id="10" name="Shape 6"/>
          <p:cNvSpPr/>
          <p:nvPr/>
        </p:nvSpPr>
        <p:spPr>
          <a:xfrm>
            <a:off x="566928" y="4754880"/>
            <a:ext cx="1554480" cy="658368"/>
          </a:xfrm>
          <a:prstGeom prst="roundRect">
            <a:avLst>
              <a:gd name="adj" fmla="val 19444"/>
            </a:avLst>
          </a:prstGeom>
          <a:solidFill>
            <a:srgbClr val="FFFFFF"/>
          </a:solidFill>
          <a:ln w="9525">
            <a:solidFill>
              <a:srgbClr val="36414F"/>
            </a:solidFill>
            <a:prstDash val="solid"/>
          </a:ln>
        </p:spPr>
      </p:sp>
      <p:pic>
        <p:nvPicPr>
          <p:cNvPr id="11" name="Image 2" descr="C:/Users/neuma_p1qrsic/Repo/agentic-ops1/.scratch/deckgen/logos/sap.png">    </p:cNvPr>
          <p:cNvPicPr>
            <a:picLocks noChangeAspect="1"/>
          </p:cNvPicPr>
          <p:nvPr/>
        </p:nvPicPr>
        <p:blipFill>
          <a:blip r:embed="rId3"/>
          <a:stretch>
            <a:fillRect/>
          </a:stretch>
        </p:blipFill>
        <p:spPr>
          <a:xfrm>
            <a:off x="905533" y="4866803"/>
            <a:ext cx="877270" cy="434523"/>
          </a:xfrm>
          <a:prstGeom prst="rect">
            <a:avLst/>
          </a:prstGeom>
        </p:spPr>
      </p:pic>
      <p:sp>
        <p:nvSpPr>
          <p:cNvPr id="12" name="Shape 7"/>
          <p:cNvSpPr/>
          <p:nvPr/>
        </p:nvSpPr>
        <p:spPr>
          <a:xfrm>
            <a:off x="2304288" y="4754880"/>
            <a:ext cx="1554480" cy="658368"/>
          </a:xfrm>
          <a:prstGeom prst="roundRect">
            <a:avLst>
              <a:gd name="adj" fmla="val 19444"/>
            </a:avLst>
          </a:prstGeom>
          <a:solidFill>
            <a:srgbClr val="FFFFFF"/>
          </a:solidFill>
          <a:ln w="9525">
            <a:solidFill>
              <a:srgbClr val="36414F"/>
            </a:solidFill>
            <a:prstDash val="solid"/>
          </a:ln>
        </p:spPr>
      </p:sp>
      <p:pic>
        <p:nvPicPr>
          <p:cNvPr id="13" name="Image 3" descr="C:/Users/neuma_p1qrsic/Repo/agentic-ops1/.scratch/deckgen/logos/evonik.png">    </p:cNvPr>
          <p:cNvPicPr>
            <a:picLocks noChangeAspect="1"/>
          </p:cNvPicPr>
          <p:nvPr/>
        </p:nvPicPr>
        <p:blipFill>
          <a:blip r:embed="rId4"/>
          <a:stretch>
            <a:fillRect/>
          </a:stretch>
        </p:blipFill>
        <p:spPr>
          <a:xfrm>
            <a:off x="2444191" y="4919751"/>
            <a:ext cx="1274674" cy="328627"/>
          </a:xfrm>
          <a:prstGeom prst="rect">
            <a:avLst/>
          </a:prstGeom>
        </p:spPr>
      </p:pic>
      <p:sp>
        <p:nvSpPr>
          <p:cNvPr id="14" name="Text 8"/>
          <p:cNvSpPr/>
          <p:nvPr/>
        </p:nvSpPr>
        <p:spPr>
          <a:xfrm>
            <a:off x="4178808" y="4754880"/>
            <a:ext cx="7445959" cy="658368"/>
          </a:xfrm>
          <a:prstGeom prst="rect">
            <a:avLst/>
          </a:prstGeom>
          <a:noFill/>
          <a:ln/>
        </p:spPr>
        <p:txBody>
          <a:bodyPr wrap="square" rtlCol="0" anchor="ctr"/>
          <a:lstStyle/>
          <a:p>
            <a:pPr indent="0" marL="0">
              <a:lnSpc>
                <a:spcPct val="112000"/>
              </a:lnSpc>
              <a:buNone/>
            </a:pPr>
            <a:r>
              <a:rPr lang="en-US" sz="1300" dirty="0">
                <a:solidFill>
                  <a:srgbClr val="AAB6C7"/>
                </a:solidFill>
                <a:latin typeface="Segoe UI" pitchFamily="34" charset="0"/>
                <a:ea typeface="Segoe UI" pitchFamily="34" charset="-122"/>
                <a:cs typeface="Segoe UI" pitchFamily="34" charset="-120"/>
              </a:rPr>
              <a:t>An SAP co-innovation partner. The cockpit runs on SAP's own cloud, so it sits inside your landscape.</a:t>
            </a:r>
            <a:endParaRPr lang="en-US" sz="1300" dirty="0"/>
          </a:p>
        </p:txBody>
      </p:sp>
      <p:sp>
        <p:nvSpPr>
          <p:cNvPr id="15" name="Text 9"/>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16" name="Text 10"/>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08 / 10</a:t>
            </a:r>
            <a:endParaRPr lang="en-US" sz="900" dirty="0"/>
          </a:p>
        </p:txBody>
      </p:sp>
      <p:sp>
        <p:nvSpPr>
          <p:cNvPr id="17" name="Shape 11"/>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E14"/>
        </a:solidFill>
      </p:bgPr>
    </p:bg>
    <p:spTree>
      <p:nvGrpSpPr>
        <p:cNvPr id="1" name=""/>
        <p:cNvGrpSpPr/>
        <p:nvPr/>
      </p:nvGrpSpPr>
      <p:grpSpPr>
        <a:xfrm>
          <a:off x="0" y="0"/>
          <a:ext cx="0" cy="0"/>
          <a:chOff x="0" y="0"/>
          <a:chExt cx="0" cy="0"/>
        </a:xfrm>
      </p:grpSpPr>
      <p:pic>
        <p:nvPicPr>
          <p:cNvPr id="2" name="Image 0" descr="C:/Users/neuma_p1qrsic/Repo/agentic-ops1/.scratch/logo/favicon.png">    </p:cNvPr>
          <p:cNvPicPr>
            <a:picLocks noChangeAspect="1"/>
          </p:cNvPicPr>
          <p:nvPr/>
        </p:nvPicPr>
        <p:blipFill>
          <a:blip r:embed="rId1"/>
          <a:stretch>
            <a:fillRect/>
          </a:stretch>
        </p:blipFill>
        <p:spPr>
          <a:xfrm>
            <a:off x="11313871" y="502920"/>
            <a:ext cx="310896" cy="310896"/>
          </a:xfrm>
          <a:prstGeom prst="rect">
            <a:avLst/>
          </a:prstGeom>
        </p:spPr>
      </p:pic>
      <p:sp>
        <p:nvSpPr>
          <p:cNvPr id="3"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4"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WHO WE ARE</a:t>
            </a:r>
            <a:endParaRPr lang="en-US" sz="1200" dirty="0"/>
          </a:p>
        </p:txBody>
      </p:sp>
      <p:sp>
        <p:nvSpPr>
          <p:cNvPr id="5" name="Text 2"/>
          <p:cNvSpPr/>
          <p:nvPr/>
        </p:nvSpPr>
        <p:spPr>
          <a:xfrm>
            <a:off x="566928" y="960120"/>
            <a:ext cx="10881360" cy="822960"/>
          </a:xfrm>
          <a:prstGeom prst="rect">
            <a:avLst/>
          </a:prstGeom>
          <a:noFill/>
          <a:ln/>
        </p:spPr>
        <p:txBody>
          <a:bodyPr wrap="square" rtlCol="0" anchor="ctr"/>
          <a:lstStyle/>
          <a:p>
            <a:pPr indent="0" marL="0">
              <a:buNone/>
            </a:pPr>
            <a:r>
              <a:rPr lang="en-US" sz="3000" b="1" dirty="0">
                <a:solidFill>
                  <a:srgbClr val="F3F6FB"/>
                </a:solidFill>
                <a:latin typeface="Segoe UI Semibold" pitchFamily="34" charset="0"/>
                <a:ea typeface="Segoe UI Semibold" pitchFamily="34" charset="-122"/>
                <a:cs typeface="Segoe UI Semibold" pitchFamily="34" charset="-120"/>
              </a:rPr>
              <a:t>We build the data and AI layer for SAP treasury.</a:t>
            </a:r>
            <a:endParaRPr lang="en-US" sz="3000" dirty="0"/>
          </a:p>
        </p:txBody>
      </p:sp>
      <p:sp>
        <p:nvSpPr>
          <p:cNvPr id="6" name="Shape 3"/>
          <p:cNvSpPr/>
          <p:nvPr/>
        </p:nvSpPr>
        <p:spPr>
          <a:xfrm>
            <a:off x="566928" y="2148840"/>
            <a:ext cx="3472586" cy="2788920"/>
          </a:xfrm>
          <a:prstGeom prst="roundRect">
            <a:avLst>
              <a:gd name="adj" fmla="val 2951"/>
            </a:avLst>
          </a:prstGeom>
          <a:solidFill>
            <a:srgbClr val="141A25"/>
          </a:solidFill>
          <a:ln w="13970">
            <a:solidFill>
              <a:srgbClr val="36414F"/>
            </a:solidFill>
            <a:prstDash val="solid"/>
          </a:ln>
        </p:spPr>
      </p:sp>
      <p:sp>
        <p:nvSpPr>
          <p:cNvPr id="7" name="Shape 4"/>
          <p:cNvSpPr/>
          <p:nvPr/>
        </p:nvSpPr>
        <p:spPr>
          <a:xfrm>
            <a:off x="841248" y="2441448"/>
            <a:ext cx="621792" cy="621792"/>
          </a:xfrm>
          <a:prstGeom prst="roundRect">
            <a:avLst>
              <a:gd name="adj" fmla="val 16176"/>
            </a:avLst>
          </a:prstGeom>
          <a:solidFill>
            <a:srgbClr val="1B2330"/>
          </a:solidFill>
          <a:ln w="15240">
            <a:solidFill>
              <a:srgbClr val="3BE3E0"/>
            </a:solidFill>
            <a:prstDash val="solid"/>
          </a:ln>
        </p:spPr>
      </p:sp>
      <p:pic>
        <p:nvPicPr>
          <p:cNvPr id="8" name="Image 1" descr="C:/Users/neuma_p1qrsic/Repo/agentic-ops1/.scratch/icons/shield.png">    </p:cNvPr>
          <p:cNvPicPr>
            <a:picLocks noChangeAspect="1"/>
          </p:cNvPicPr>
          <p:nvPr/>
        </p:nvPicPr>
        <p:blipFill>
          <a:blip r:embed="rId2"/>
          <a:stretch>
            <a:fillRect/>
          </a:stretch>
        </p:blipFill>
        <p:spPr>
          <a:xfrm>
            <a:off x="990478" y="2590678"/>
            <a:ext cx="323332" cy="323332"/>
          </a:xfrm>
          <a:prstGeom prst="rect">
            <a:avLst/>
          </a:prstGeom>
        </p:spPr>
      </p:pic>
      <p:sp>
        <p:nvSpPr>
          <p:cNvPr id="9" name="Text 5"/>
          <p:cNvSpPr/>
          <p:nvPr/>
        </p:nvSpPr>
        <p:spPr>
          <a:xfrm>
            <a:off x="841248" y="3191256"/>
            <a:ext cx="2923946" cy="457200"/>
          </a:xfrm>
          <a:prstGeom prst="rect">
            <a:avLst/>
          </a:prstGeom>
          <a:noFill/>
          <a:ln/>
        </p:spPr>
        <p:txBody>
          <a:bodyPr wrap="square" rtlCol="0" anchor="ctr"/>
          <a:lstStyle/>
          <a:p>
            <a:pPr indent="0" marL="0">
              <a:buNone/>
            </a:pPr>
            <a:r>
              <a:rPr lang="en-US" sz="1850" b="1" dirty="0">
                <a:solidFill>
                  <a:srgbClr val="F3F6FB"/>
                </a:solidFill>
                <a:latin typeface="Segoe UI Semibold" pitchFamily="34" charset="0"/>
                <a:ea typeface="Segoe UI Semibold" pitchFamily="34" charset="-122"/>
                <a:cs typeface="Segoe UI Semibold" pitchFamily="34" charset="-120"/>
              </a:rPr>
              <a:t>Built into SAP</a:t>
            </a:r>
            <a:endParaRPr lang="en-US" sz="1850" dirty="0"/>
          </a:p>
        </p:txBody>
      </p:sp>
      <p:sp>
        <p:nvSpPr>
          <p:cNvPr id="10" name="Text 6"/>
          <p:cNvSpPr/>
          <p:nvPr/>
        </p:nvSpPr>
        <p:spPr>
          <a:xfrm>
            <a:off x="841248" y="3630168"/>
            <a:ext cx="2923946" cy="1143000"/>
          </a:xfrm>
          <a:prstGeom prst="rect">
            <a:avLst/>
          </a:prstGeom>
          <a:noFill/>
          <a:ln/>
        </p:spPr>
        <p:txBody>
          <a:bodyPr wrap="square" rtlCol="0" anchor="t"/>
          <a:lstStyle/>
          <a:p>
            <a:pPr indent="0" marL="0">
              <a:lnSpc>
                <a:spcPct val="116000"/>
              </a:lnSpc>
              <a:buNone/>
            </a:pPr>
            <a:r>
              <a:rPr lang="en-US" sz="1300" dirty="0">
                <a:solidFill>
                  <a:srgbClr val="AAB6C7"/>
                </a:solidFill>
                <a:latin typeface="Segoe UI" pitchFamily="34" charset="0"/>
                <a:ea typeface="Segoe UI" pitchFamily="34" charset="-122"/>
                <a:cs typeface="Segoe UI" pitchFamily="34" charset="-120"/>
              </a:rPr>
              <a:t>An SAP co-innovation partner. The cockpit runs on SAP HANA, so it sits inside your landscape, not beside it.</a:t>
            </a:r>
            <a:endParaRPr lang="en-US" sz="1300" dirty="0"/>
          </a:p>
        </p:txBody>
      </p:sp>
      <p:sp>
        <p:nvSpPr>
          <p:cNvPr id="11" name="Shape 7"/>
          <p:cNvSpPr/>
          <p:nvPr/>
        </p:nvSpPr>
        <p:spPr>
          <a:xfrm>
            <a:off x="4359554" y="2148840"/>
            <a:ext cx="3472586" cy="2788920"/>
          </a:xfrm>
          <a:prstGeom prst="roundRect">
            <a:avLst>
              <a:gd name="adj" fmla="val 2951"/>
            </a:avLst>
          </a:prstGeom>
          <a:solidFill>
            <a:srgbClr val="141A25"/>
          </a:solidFill>
          <a:ln w="13970">
            <a:solidFill>
              <a:srgbClr val="36414F"/>
            </a:solidFill>
            <a:prstDash val="solid"/>
          </a:ln>
        </p:spPr>
      </p:sp>
      <p:sp>
        <p:nvSpPr>
          <p:cNvPr id="12" name="Shape 8"/>
          <p:cNvSpPr/>
          <p:nvPr/>
        </p:nvSpPr>
        <p:spPr>
          <a:xfrm>
            <a:off x="4633874" y="2441448"/>
            <a:ext cx="621792" cy="621792"/>
          </a:xfrm>
          <a:prstGeom prst="roundRect">
            <a:avLst>
              <a:gd name="adj" fmla="val 16176"/>
            </a:avLst>
          </a:prstGeom>
          <a:solidFill>
            <a:srgbClr val="1B2330"/>
          </a:solidFill>
          <a:ln w="15240">
            <a:solidFill>
              <a:srgbClr val="3BE3E0"/>
            </a:solidFill>
            <a:prstDash val="solid"/>
          </a:ln>
        </p:spPr>
      </p:sp>
      <p:pic>
        <p:nvPicPr>
          <p:cNvPr id="13" name="Image 2" descr="C:/Users/neuma_p1qrsic/Repo/agentic-ops1/.scratch/icons/globe.png">    </p:cNvPr>
          <p:cNvPicPr>
            <a:picLocks noChangeAspect="1"/>
          </p:cNvPicPr>
          <p:nvPr/>
        </p:nvPicPr>
        <p:blipFill>
          <a:blip r:embed="rId3"/>
          <a:stretch>
            <a:fillRect/>
          </a:stretch>
        </p:blipFill>
        <p:spPr>
          <a:xfrm>
            <a:off x="4783104" y="2590678"/>
            <a:ext cx="323332" cy="323332"/>
          </a:xfrm>
          <a:prstGeom prst="rect">
            <a:avLst/>
          </a:prstGeom>
        </p:spPr>
      </p:pic>
      <p:sp>
        <p:nvSpPr>
          <p:cNvPr id="14" name="Text 9"/>
          <p:cNvSpPr/>
          <p:nvPr/>
        </p:nvSpPr>
        <p:spPr>
          <a:xfrm>
            <a:off x="4633874" y="3191256"/>
            <a:ext cx="2923946" cy="457200"/>
          </a:xfrm>
          <a:prstGeom prst="rect">
            <a:avLst/>
          </a:prstGeom>
          <a:noFill/>
          <a:ln/>
        </p:spPr>
        <p:txBody>
          <a:bodyPr wrap="square" rtlCol="0" anchor="ctr"/>
          <a:lstStyle/>
          <a:p>
            <a:pPr indent="0" marL="0">
              <a:buNone/>
            </a:pPr>
            <a:r>
              <a:rPr lang="en-US" sz="1850" b="1" dirty="0">
                <a:solidFill>
                  <a:srgbClr val="F3F6FB"/>
                </a:solidFill>
                <a:latin typeface="Segoe UI Semibold" pitchFamily="34" charset="0"/>
                <a:ea typeface="Segoe UI Semibold" pitchFamily="34" charset="-122"/>
                <a:cs typeface="Segoe UI Semibold" pitchFamily="34" charset="-120"/>
              </a:rPr>
              <a:t>Any source, any system</a:t>
            </a:r>
            <a:endParaRPr lang="en-US" sz="1850" dirty="0"/>
          </a:p>
        </p:txBody>
      </p:sp>
      <p:sp>
        <p:nvSpPr>
          <p:cNvPr id="15" name="Text 10"/>
          <p:cNvSpPr/>
          <p:nvPr/>
        </p:nvSpPr>
        <p:spPr>
          <a:xfrm>
            <a:off x="4633874" y="3630168"/>
            <a:ext cx="2923946" cy="1143000"/>
          </a:xfrm>
          <a:prstGeom prst="rect">
            <a:avLst/>
          </a:prstGeom>
          <a:noFill/>
          <a:ln/>
        </p:spPr>
        <p:txBody>
          <a:bodyPr wrap="square" rtlCol="0" anchor="t"/>
          <a:lstStyle/>
          <a:p>
            <a:pPr indent="0" marL="0">
              <a:lnSpc>
                <a:spcPct val="116000"/>
              </a:lnSpc>
              <a:buNone/>
            </a:pPr>
            <a:r>
              <a:rPr lang="en-US" sz="1300" dirty="0">
                <a:solidFill>
                  <a:srgbClr val="AAB6C7"/>
                </a:solidFill>
                <a:latin typeface="Segoe UI" pitchFamily="34" charset="0"/>
                <a:ea typeface="Segoe UI" pitchFamily="34" charset="-122"/>
                <a:cs typeface="Segoe UI" pitchFamily="34" charset="-120"/>
              </a:rPr>
              <a:t>Provider and target agnostic. Pull from any feed, push to any system, SAP or not, and change your sources any time.</a:t>
            </a:r>
            <a:endParaRPr lang="en-US" sz="1300" dirty="0"/>
          </a:p>
        </p:txBody>
      </p:sp>
      <p:sp>
        <p:nvSpPr>
          <p:cNvPr id="16" name="Shape 11"/>
          <p:cNvSpPr/>
          <p:nvPr/>
        </p:nvSpPr>
        <p:spPr>
          <a:xfrm>
            <a:off x="8152181" y="2148840"/>
            <a:ext cx="3472586" cy="2788920"/>
          </a:xfrm>
          <a:prstGeom prst="roundRect">
            <a:avLst>
              <a:gd name="adj" fmla="val 2951"/>
            </a:avLst>
          </a:prstGeom>
          <a:solidFill>
            <a:srgbClr val="141A25"/>
          </a:solidFill>
          <a:ln w="13970">
            <a:solidFill>
              <a:srgbClr val="36414F"/>
            </a:solidFill>
            <a:prstDash val="solid"/>
          </a:ln>
        </p:spPr>
      </p:sp>
      <p:sp>
        <p:nvSpPr>
          <p:cNvPr id="17" name="Shape 12"/>
          <p:cNvSpPr/>
          <p:nvPr/>
        </p:nvSpPr>
        <p:spPr>
          <a:xfrm>
            <a:off x="8426501" y="2441448"/>
            <a:ext cx="621792" cy="621792"/>
          </a:xfrm>
          <a:prstGeom prst="roundRect">
            <a:avLst>
              <a:gd name="adj" fmla="val 16176"/>
            </a:avLst>
          </a:prstGeom>
          <a:solidFill>
            <a:srgbClr val="1B2330"/>
          </a:solidFill>
          <a:ln w="15240">
            <a:solidFill>
              <a:srgbClr val="3BE3E0"/>
            </a:solidFill>
            <a:prstDash val="solid"/>
          </a:ln>
        </p:spPr>
      </p:sp>
      <p:pic>
        <p:nvPicPr>
          <p:cNvPr id="18" name="Image 3" descr="C:/Users/neuma_p1qrsic/Repo/agentic-ops1/.scratch/icons/blocks.png">    </p:cNvPr>
          <p:cNvPicPr>
            <a:picLocks noChangeAspect="1"/>
          </p:cNvPicPr>
          <p:nvPr/>
        </p:nvPicPr>
        <p:blipFill>
          <a:blip r:embed="rId4"/>
          <a:stretch>
            <a:fillRect/>
          </a:stretch>
        </p:blipFill>
        <p:spPr>
          <a:xfrm>
            <a:off x="8575731" y="2590678"/>
            <a:ext cx="323332" cy="323332"/>
          </a:xfrm>
          <a:prstGeom prst="rect">
            <a:avLst/>
          </a:prstGeom>
        </p:spPr>
      </p:pic>
      <p:sp>
        <p:nvSpPr>
          <p:cNvPr id="19" name="Text 13"/>
          <p:cNvSpPr/>
          <p:nvPr/>
        </p:nvSpPr>
        <p:spPr>
          <a:xfrm>
            <a:off x="8426501" y="3191256"/>
            <a:ext cx="2923946" cy="457200"/>
          </a:xfrm>
          <a:prstGeom prst="rect">
            <a:avLst/>
          </a:prstGeom>
          <a:noFill/>
          <a:ln/>
        </p:spPr>
        <p:txBody>
          <a:bodyPr wrap="square" rtlCol="0" anchor="ctr"/>
          <a:lstStyle/>
          <a:p>
            <a:pPr indent="0" marL="0">
              <a:buNone/>
            </a:pPr>
            <a:r>
              <a:rPr lang="en-US" sz="1850" b="1" dirty="0">
                <a:solidFill>
                  <a:srgbClr val="F3F6FB"/>
                </a:solidFill>
                <a:latin typeface="Segoe UI Semibold" pitchFamily="34" charset="0"/>
                <a:ea typeface="Segoe UI Semibold" pitchFamily="34" charset="-122"/>
                <a:cs typeface="Segoe UI Semibold" pitchFamily="34" charset="-120"/>
              </a:rPr>
              <a:t>The whole treasury layer</a:t>
            </a:r>
            <a:endParaRPr lang="en-US" sz="1850" dirty="0"/>
          </a:p>
        </p:txBody>
      </p:sp>
      <p:sp>
        <p:nvSpPr>
          <p:cNvPr id="20" name="Text 14"/>
          <p:cNvSpPr/>
          <p:nvPr/>
        </p:nvSpPr>
        <p:spPr>
          <a:xfrm>
            <a:off x="8426501" y="3630168"/>
            <a:ext cx="2923946" cy="1143000"/>
          </a:xfrm>
          <a:prstGeom prst="rect">
            <a:avLst/>
          </a:prstGeom>
          <a:noFill/>
          <a:ln/>
        </p:spPr>
        <p:txBody>
          <a:bodyPr wrap="square" rtlCol="0" anchor="t"/>
          <a:lstStyle/>
          <a:p>
            <a:pPr indent="0" marL="0">
              <a:lnSpc>
                <a:spcPct val="116000"/>
              </a:lnSpc>
              <a:buNone/>
            </a:pPr>
            <a:r>
              <a:rPr lang="en-US" sz="1300" dirty="0">
                <a:solidFill>
                  <a:srgbClr val="AAB6C7"/>
                </a:solidFill>
                <a:latin typeface="Segoe UI" pitchFamily="34" charset="0"/>
                <a:ea typeface="Segoe UI" pitchFamily="34" charset="-122"/>
                <a:cs typeface="Segoe UI" pitchFamily="34" charset="-120"/>
              </a:rPr>
              <a:t>Market data, trading and AI automation, governed in one place, with no code to run it.</a:t>
            </a:r>
            <a:endParaRPr lang="en-US" sz="1300" dirty="0"/>
          </a:p>
        </p:txBody>
      </p:sp>
      <p:sp>
        <p:nvSpPr>
          <p:cNvPr id="21" name="Text 15"/>
          <p:cNvSpPr/>
          <p:nvPr/>
        </p:nvSpPr>
        <p:spPr>
          <a:xfrm>
            <a:off x="566928" y="5349240"/>
            <a:ext cx="1371600" cy="777240"/>
          </a:xfrm>
          <a:prstGeom prst="rect">
            <a:avLst/>
          </a:prstGeom>
          <a:noFill/>
          <a:ln/>
        </p:spPr>
        <p:txBody>
          <a:bodyPr wrap="square" rtlCol="0" anchor="ctr"/>
          <a:lstStyle/>
          <a:p>
            <a:pPr indent="0" marL="0">
              <a:buNone/>
            </a:pPr>
            <a:r>
              <a:rPr lang="en-US" sz="3800" b="1" dirty="0">
                <a:solidFill>
                  <a:srgbClr val="3BE3E0"/>
                </a:solidFill>
                <a:latin typeface="Segoe UI Semibold" pitchFamily="34" charset="0"/>
                <a:ea typeface="Segoe UI Semibold" pitchFamily="34" charset="-122"/>
                <a:cs typeface="Segoe UI Semibold" pitchFamily="34" charset="-120"/>
              </a:rPr>
              <a:t>1</a:t>
            </a:r>
            <a:endParaRPr lang="en-US" sz="3800" dirty="0"/>
          </a:p>
        </p:txBody>
      </p:sp>
      <p:sp>
        <p:nvSpPr>
          <p:cNvPr id="22" name="Text 16"/>
          <p:cNvSpPr/>
          <p:nvPr/>
        </p:nvSpPr>
        <p:spPr>
          <a:xfrm>
            <a:off x="1892808" y="5349240"/>
            <a:ext cx="2146706" cy="77724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cockpit for the whole treasury</a:t>
            </a:r>
            <a:endParaRPr lang="en-US" sz="1250" dirty="0"/>
          </a:p>
        </p:txBody>
      </p:sp>
      <p:sp>
        <p:nvSpPr>
          <p:cNvPr id="23" name="Text 17"/>
          <p:cNvSpPr/>
          <p:nvPr/>
        </p:nvSpPr>
        <p:spPr>
          <a:xfrm>
            <a:off x="4359554" y="5349240"/>
            <a:ext cx="1371600" cy="777240"/>
          </a:xfrm>
          <a:prstGeom prst="rect">
            <a:avLst/>
          </a:prstGeom>
          <a:noFill/>
          <a:ln/>
        </p:spPr>
        <p:txBody>
          <a:bodyPr wrap="square" rtlCol="0" anchor="ctr"/>
          <a:lstStyle/>
          <a:p>
            <a:pPr indent="0" marL="0">
              <a:buNone/>
            </a:pPr>
            <a:r>
              <a:rPr lang="en-US" sz="3800" b="1" dirty="0">
                <a:solidFill>
                  <a:srgbClr val="3BE3E0"/>
                </a:solidFill>
                <a:latin typeface="Segoe UI Semibold" pitchFamily="34" charset="0"/>
                <a:ea typeface="Segoe UI Semibold" pitchFamily="34" charset="-122"/>
                <a:cs typeface="Segoe UI Semibold" pitchFamily="34" charset="-120"/>
              </a:rPr>
              <a:t>0</a:t>
            </a:r>
            <a:endParaRPr lang="en-US" sz="3800" dirty="0"/>
          </a:p>
        </p:txBody>
      </p:sp>
      <p:sp>
        <p:nvSpPr>
          <p:cNvPr id="24" name="Text 18"/>
          <p:cNvSpPr/>
          <p:nvPr/>
        </p:nvSpPr>
        <p:spPr>
          <a:xfrm>
            <a:off x="5685434" y="5349240"/>
            <a:ext cx="2146706" cy="77724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code to run it</a:t>
            </a:r>
            <a:endParaRPr lang="en-US" sz="1250" dirty="0"/>
          </a:p>
        </p:txBody>
      </p:sp>
      <p:sp>
        <p:nvSpPr>
          <p:cNvPr id="25" name="Text 19"/>
          <p:cNvSpPr/>
          <p:nvPr/>
        </p:nvSpPr>
        <p:spPr>
          <a:xfrm>
            <a:off x="8152181" y="5349240"/>
            <a:ext cx="1371600" cy="777240"/>
          </a:xfrm>
          <a:prstGeom prst="rect">
            <a:avLst/>
          </a:prstGeom>
          <a:noFill/>
          <a:ln/>
        </p:spPr>
        <p:txBody>
          <a:bodyPr wrap="square" rtlCol="0" anchor="ctr"/>
          <a:lstStyle/>
          <a:p>
            <a:pPr indent="0" marL="0">
              <a:buNone/>
            </a:pPr>
            <a:r>
              <a:rPr lang="en-US" sz="3800" b="1" dirty="0">
                <a:solidFill>
                  <a:srgbClr val="3BE3E0"/>
                </a:solidFill>
                <a:latin typeface="Segoe UI Semibold" pitchFamily="34" charset="0"/>
                <a:ea typeface="Segoe UI Semibold" pitchFamily="34" charset="-122"/>
                <a:cs typeface="Segoe UI Semibold" pitchFamily="34" charset="-120"/>
              </a:rPr>
              <a:t>360°</a:t>
            </a:r>
            <a:endParaRPr lang="en-US" sz="3800" dirty="0"/>
          </a:p>
        </p:txBody>
      </p:sp>
      <p:sp>
        <p:nvSpPr>
          <p:cNvPr id="26" name="Text 20"/>
          <p:cNvSpPr/>
          <p:nvPr/>
        </p:nvSpPr>
        <p:spPr>
          <a:xfrm>
            <a:off x="9478061" y="5349240"/>
            <a:ext cx="2146706" cy="77724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audit on every change</a:t>
            </a:r>
            <a:endParaRPr lang="en-US" sz="1250" dirty="0"/>
          </a:p>
        </p:txBody>
      </p:sp>
      <p:sp>
        <p:nvSpPr>
          <p:cNvPr id="27" name="Text 21"/>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28" name="Text 22"/>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09 / 10</a:t>
            </a:r>
            <a:endParaRPr lang="en-US" sz="900" dirty="0"/>
          </a:p>
        </p:txBody>
      </p:sp>
      <p:sp>
        <p:nvSpPr>
          <p:cNvPr id="29" name="Shape 23"/>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3072384" y="0"/>
            <a:ext cx="6035040" cy="6035040"/>
          </a:xfrm>
          <a:prstGeom prst="ellipse">
            <a:avLst/>
          </a:prstGeom>
          <a:solidFill>
            <a:srgbClr val="3BE3E0">
              <a:alpha val="7000"/>
            </a:srgbClr>
          </a:solidFill>
          <a:ln w="12700">
            <a:solidFill>
              <a:srgbClr val="333333"/>
            </a:solidFill>
            <a:prstDash val="solid"/>
          </a:ln>
        </p:spPr>
      </p:sp>
      <p:sp>
        <p:nvSpPr>
          <p:cNvPr id="3" name="Shape 1"/>
          <p:cNvSpPr/>
          <p:nvPr/>
        </p:nvSpPr>
        <p:spPr>
          <a:xfrm>
            <a:off x="4443984" y="1371600"/>
            <a:ext cx="3291840" cy="3291840"/>
          </a:xfrm>
          <a:prstGeom prst="ellipse">
            <a:avLst/>
          </a:prstGeom>
          <a:solidFill>
            <a:srgbClr val="3BE3E0">
              <a:alpha val="12000"/>
            </a:srgbClr>
          </a:solidFill>
          <a:ln w="12700">
            <a:solidFill>
              <a:srgbClr val="333333"/>
            </a:solidFill>
            <a:prstDash val="solid"/>
          </a:ln>
        </p:spPr>
      </p:sp>
      <p:pic>
        <p:nvPicPr>
          <p:cNvPr id="4" name="Image 0" descr="C:/Users/neuma_p1qrsic/Repo/agentic-ops1/.scratch/brisken-logo-light.png">    </p:cNvPr>
          <p:cNvPicPr>
            <a:picLocks noChangeAspect="1"/>
          </p:cNvPicPr>
          <p:nvPr/>
        </p:nvPicPr>
        <p:blipFill>
          <a:blip r:embed="rId1"/>
          <a:stretch>
            <a:fillRect/>
          </a:stretch>
        </p:blipFill>
        <p:spPr>
          <a:xfrm>
            <a:off x="5312664" y="1371600"/>
            <a:ext cx="1554480" cy="338328"/>
          </a:xfrm>
          <a:prstGeom prst="rect">
            <a:avLst/>
          </a:prstGeom>
        </p:spPr>
      </p:pic>
      <p:sp>
        <p:nvSpPr>
          <p:cNvPr id="5" name="Text 2"/>
          <p:cNvSpPr/>
          <p:nvPr/>
        </p:nvSpPr>
        <p:spPr>
          <a:xfrm>
            <a:off x="914400" y="2468880"/>
            <a:ext cx="10360152" cy="1005840"/>
          </a:xfrm>
          <a:prstGeom prst="rect">
            <a:avLst/>
          </a:prstGeom>
          <a:noFill/>
          <a:ln/>
        </p:spPr>
        <p:txBody>
          <a:bodyPr wrap="square" rtlCol="0" anchor="ctr"/>
          <a:lstStyle/>
          <a:p>
            <a:pPr algn="ctr" indent="0" marL="0">
              <a:buNone/>
            </a:pPr>
            <a:r>
              <a:rPr lang="en-US" sz="5200" b="1" dirty="0">
                <a:solidFill>
                  <a:srgbClr val="F3F6FB"/>
                </a:solidFill>
                <a:latin typeface="Segoe UI Semibold" pitchFamily="34" charset="0"/>
                <a:ea typeface="Segoe UI Semibold" pitchFamily="34" charset="-122"/>
                <a:cs typeface="Segoe UI Semibold" pitchFamily="34" charset="-120"/>
              </a:rPr>
              <a:t>Built to stay done.</a:t>
            </a:r>
            <a:endParaRPr lang="en-US" sz="5200" dirty="0"/>
          </a:p>
        </p:txBody>
      </p:sp>
      <p:sp>
        <p:nvSpPr>
          <p:cNvPr id="6" name="Text 3"/>
          <p:cNvSpPr/>
          <p:nvPr/>
        </p:nvSpPr>
        <p:spPr>
          <a:xfrm>
            <a:off x="1645920" y="3566160"/>
            <a:ext cx="8897112" cy="868680"/>
          </a:xfrm>
          <a:prstGeom prst="rect">
            <a:avLst/>
          </a:prstGeom>
          <a:noFill/>
          <a:ln/>
        </p:spPr>
        <p:txBody>
          <a:bodyPr wrap="square" rtlCol="0" anchor="ctr"/>
          <a:lstStyle/>
          <a:p>
            <a:pPr algn="ctr" indent="0" marL="0">
              <a:lnSpc>
                <a:spcPct val="125000"/>
              </a:lnSpc>
              <a:buNone/>
            </a:pPr>
            <a:r>
              <a:rPr lang="en-US" sz="1700" dirty="0">
                <a:solidFill>
                  <a:srgbClr val="C4CEDA"/>
                </a:solidFill>
                <a:latin typeface="Segoe UI" pitchFamily="34" charset="0"/>
                <a:ea typeface="Segoe UI" pitchFamily="34" charset="-122"/>
                <a:cs typeface="Segoe UI" pitchFamily="34" charset="-120"/>
              </a:rPr>
              <a:t>When we talk, we will show TreasuryCentral live on your SAP data: the process, the analytics and the governance, end to end.</a:t>
            </a:r>
            <a:endParaRPr lang="en-US" sz="1700" dirty="0"/>
          </a:p>
        </p:txBody>
      </p:sp>
      <p:sp>
        <p:nvSpPr>
          <p:cNvPr id="7" name="Shape 4"/>
          <p:cNvSpPr/>
          <p:nvPr/>
        </p:nvSpPr>
        <p:spPr>
          <a:xfrm>
            <a:off x="3575304" y="4754880"/>
            <a:ext cx="5029200" cy="658368"/>
          </a:xfrm>
          <a:prstGeom prst="roundRect">
            <a:avLst>
              <a:gd name="adj" fmla="val 50000"/>
            </a:avLst>
          </a:prstGeom>
          <a:solidFill>
            <a:srgbClr val="3BE3E0"/>
          </a:solidFill>
          <a:ln w="12700">
            <a:solidFill>
              <a:srgbClr val="333333"/>
            </a:solidFill>
            <a:prstDash val="solid"/>
          </a:ln>
        </p:spPr>
      </p:sp>
      <p:sp>
        <p:nvSpPr>
          <p:cNvPr id="8" name="Text 5"/>
          <p:cNvSpPr/>
          <p:nvPr/>
        </p:nvSpPr>
        <p:spPr>
          <a:xfrm>
            <a:off x="3575304" y="4754880"/>
            <a:ext cx="5029200" cy="658368"/>
          </a:xfrm>
          <a:prstGeom prst="rect">
            <a:avLst/>
          </a:prstGeom>
          <a:noFill/>
          <a:ln/>
        </p:spPr>
        <p:txBody>
          <a:bodyPr wrap="square" rtlCol="0" anchor="ctr"/>
          <a:lstStyle/>
          <a:p>
            <a:pPr algn="ctr" indent="0" marL="0">
              <a:buNone/>
            </a:pPr>
            <a:r>
              <a:rPr lang="en-US" sz="1500" b="1" dirty="0">
                <a:solidFill>
                  <a:srgbClr val="07222A"/>
                </a:solidFill>
                <a:latin typeface="Segoe UI" pitchFamily="34" charset="0"/>
                <a:ea typeface="Segoe UI" pitchFamily="34" charset="-122"/>
                <a:cs typeface="Segoe UI" pitchFamily="34" charset="-120"/>
              </a:rPr>
              <a:t>Dirk Neumann   ·   dirk.neumann@brisken.com</a:t>
            </a:r>
            <a:endParaRPr lang="en-US" sz="1500" dirty="0"/>
          </a:p>
        </p:txBody>
      </p:sp>
      <p:sp>
        <p:nvSpPr>
          <p:cNvPr id="9" name="Text 6"/>
          <p:cNvSpPr/>
          <p:nvPr/>
        </p:nvSpPr>
        <p:spPr>
          <a:xfrm>
            <a:off x="914400" y="5623560"/>
            <a:ext cx="10360152" cy="365760"/>
          </a:xfrm>
          <a:prstGeom prst="rect">
            <a:avLst/>
          </a:prstGeom>
          <a:noFill/>
          <a:ln/>
        </p:spPr>
        <p:txBody>
          <a:bodyPr wrap="square" rtlCol="0" anchor="ctr"/>
          <a:lstStyle/>
          <a:p>
            <a:pPr algn="ctr" indent="0" marL="0">
              <a:buNone/>
            </a:pPr>
            <a:r>
              <a:rPr lang="en-US" sz="1150" dirty="0">
                <a:solidFill>
                  <a:srgbClr val="AAB6C7"/>
                </a:solidFill>
                <a:latin typeface="Segoe UI" pitchFamily="34" charset="0"/>
                <a:ea typeface="Segoe UI" pitchFamily="34" charset="-122"/>
                <a:cs typeface="Segoe UI" pitchFamily="34" charset="-120"/>
              </a:rPr>
              <a:t>brisken.com   ·   Houston, TX</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Brisken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Brisken</dc:creator>
  <cp:lastModifiedBy>Brisken</cp:lastModifiedBy>
  <cp:revision>1</cp:revision>
  <dcterms:created xsi:type="dcterms:W3CDTF">2026-07-09T15:51:22Z</dcterms:created>
  <dcterms:modified xsi:type="dcterms:W3CDTF">2026-07-09T15:51:22Z</dcterms:modified>
</cp:coreProperties>
</file>