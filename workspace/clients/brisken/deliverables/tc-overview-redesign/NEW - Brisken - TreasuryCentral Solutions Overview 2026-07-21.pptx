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image" Target="../media/image15.png"/><Relationship Id="rId15" Type="http://schemas.openxmlformats.org/officeDocument/2006/relationships/image" Target="../media/image16.png"/><Relationship Id="rId16" Type="http://schemas.openxmlformats.org/officeDocument/2006/relationships/image" Target="../media/image17.png"/><Relationship Id="rId17" Type="http://schemas.openxmlformats.org/officeDocument/2006/relationships/image" Target="../media/image18.png"/><Relationship Id="rId18" Type="http://schemas.openxmlformats.org/officeDocument/2006/relationships/image" Target="../media/image19.png"/><Relationship Id="rId19" Type="http://schemas.openxmlformats.org/officeDocument/2006/relationships/image" Target="../media/image20.png"/><Relationship Id="rId20" Type="http://schemas.openxmlformats.org/officeDocument/2006/relationships/image" Target="../media/image21.png"/><Relationship Id="rId21"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084831"/>
            <a:ext cx="7315200" cy="365760"/>
          </a:xfrm>
          <a:prstGeom prst="rect">
            <a:avLst/>
          </a:prstGeom>
          <a:noFill/>
        </p:spPr>
        <p:txBody>
          <a:bodyPr wrap="square" anchor="t" lIns="0" rIns="0" tIns="0" bIns="0">
            <a:noAutofit/>
          </a:bodyPr>
          <a:lstStyle/>
          <a:p>
            <a:pPr algn="l"/>
            <a:r>
              <a:rPr sz="1300" b="1" i="0" spc="320">
                <a:solidFill>
                  <a:srgbClr val="0E7C86"/>
                </a:solidFill>
                <a:latin typeface="Segoe UI Semibold"/>
              </a:rPr>
              <a:t>POWERED BY ONEPILOT</a:t>
            </a:r>
          </a:p>
        </p:txBody>
      </p:sp>
      <p:sp>
        <p:nvSpPr>
          <p:cNvPr id="3" name="TextBox 2"/>
          <p:cNvSpPr txBox="1"/>
          <p:nvPr/>
        </p:nvSpPr>
        <p:spPr>
          <a:xfrm>
            <a:off x="548640" y="2505456"/>
            <a:ext cx="10515600" cy="2011680"/>
          </a:xfrm>
          <a:prstGeom prst="rect">
            <a:avLst/>
          </a:prstGeom>
          <a:noFill/>
        </p:spPr>
        <p:txBody>
          <a:bodyPr wrap="square" anchor="t" lIns="0" rIns="0" tIns="0" bIns="0">
            <a:noAutofit/>
          </a:bodyPr>
          <a:lstStyle/>
          <a:p>
            <a:pPr algn="l">
              <a:lnSpc>
                <a:spcPct val="98000"/>
              </a:lnSpc>
            </a:pPr>
            <a:r>
              <a:rPr sz="7200" b="0" i="0">
                <a:solidFill>
                  <a:srgbClr val="0F1417"/>
                </a:solidFill>
                <a:latin typeface="Century Gothic"/>
              </a:rPr>
              <a:t>TreasuryCentral</a:t>
            </a:r>
          </a:p>
        </p:txBody>
      </p:sp>
      <p:sp>
        <p:nvSpPr>
          <p:cNvPr id="4" name="TextBox 3"/>
          <p:cNvSpPr txBox="1"/>
          <p:nvPr/>
        </p:nvSpPr>
        <p:spPr>
          <a:xfrm>
            <a:off x="566928" y="3968496"/>
            <a:ext cx="10058400" cy="822960"/>
          </a:xfrm>
          <a:prstGeom prst="rect">
            <a:avLst/>
          </a:prstGeom>
          <a:noFill/>
        </p:spPr>
        <p:txBody>
          <a:bodyPr wrap="square" anchor="t" lIns="0" rIns="0" tIns="0" bIns="0">
            <a:noAutofit/>
          </a:bodyPr>
          <a:lstStyle/>
          <a:p>
            <a:pPr algn="l"/>
            <a:r>
              <a:rPr sz="3000" b="0" i="0">
                <a:solidFill>
                  <a:srgbClr val="5B666B"/>
                </a:solidFill>
                <a:latin typeface="Century Gothic"/>
              </a:rPr>
              <a:t>Solutions Overview</a:t>
            </a:r>
          </a:p>
        </p:txBody>
      </p:sp>
      <p:sp>
        <p:nvSpPr>
          <p:cNvPr id="5" name="Rectangle 4"/>
          <p:cNvSpPr/>
          <p:nvPr/>
        </p:nvSpPr>
        <p:spPr>
          <a:xfrm>
            <a:off x="585216" y="3913632"/>
            <a:ext cx="2011680" cy="41148"/>
          </a:xfrm>
          <a:prstGeom prst="rect">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828032"/>
            <a:ext cx="9144000" cy="457200"/>
          </a:xfrm>
          <a:prstGeom prst="rect">
            <a:avLst/>
          </a:prstGeom>
          <a:noFill/>
        </p:spPr>
        <p:txBody>
          <a:bodyPr wrap="square" anchor="t" lIns="0" rIns="0" tIns="0" bIns="0">
            <a:noAutofit/>
          </a:bodyPr>
          <a:lstStyle/>
          <a:p>
            <a:pPr algn="l"/>
            <a:r>
              <a:rPr sz="1600" b="0" i="0">
                <a:solidFill>
                  <a:srgbClr val="8A9599"/>
                </a:solidFill>
                <a:latin typeface="Segoe UI"/>
              </a:rPr>
              <a:t>The autonomous treasury, grounded in your SAP context.</a:t>
            </a:r>
          </a:p>
        </p:txBody>
      </p:sp>
      <p:pic>
        <p:nvPicPr>
          <p:cNvPr id="7" name="Picture 6" descr="brisken_dark.png"/>
          <p:cNvPicPr>
            <a:picLocks noChangeAspect="1"/>
          </p:cNvPicPr>
          <p:nvPr/>
        </p:nvPicPr>
        <p:blipFill>
          <a:blip r:embed="rId2"/>
          <a:stretch>
            <a:fillRect/>
          </a:stretch>
        </p:blipFill>
        <p:spPr>
          <a:xfrm>
            <a:off x="10205068" y="6163056"/>
            <a:ext cx="1419698" cy="310896"/>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417"/>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0"/>
            <a:ext cx="2743200" cy="640080"/>
          </a:xfrm>
          <a:prstGeom prst="rect">
            <a:avLst/>
          </a:prstGeom>
          <a:noFill/>
        </p:spPr>
        <p:txBody>
          <a:bodyPr wrap="square" anchor="t" lIns="0" rIns="0" tIns="0" bIns="0">
            <a:noAutofit/>
          </a:bodyPr>
          <a:lstStyle/>
          <a:p>
            <a:pPr algn="l"/>
            <a:r>
              <a:rPr sz="2600" b="0" i="0" spc="100">
                <a:solidFill>
                  <a:srgbClr val="17B0BE"/>
                </a:solidFill>
                <a:latin typeface="Century Gothic"/>
              </a:rPr>
              <a:t>01</a:t>
            </a:r>
          </a:p>
        </p:txBody>
      </p:sp>
      <p:sp>
        <p:nvSpPr>
          <p:cNvPr id="4" name="TextBox 3"/>
          <p:cNvSpPr txBox="1"/>
          <p:nvPr/>
        </p:nvSpPr>
        <p:spPr>
          <a:xfrm>
            <a:off x="548640" y="2926080"/>
            <a:ext cx="10515600" cy="1280160"/>
          </a:xfrm>
          <a:prstGeom prst="rect">
            <a:avLst/>
          </a:prstGeom>
          <a:noFill/>
        </p:spPr>
        <p:txBody>
          <a:bodyPr wrap="square" anchor="t" lIns="0" rIns="0" tIns="0" bIns="0">
            <a:noAutofit/>
          </a:bodyPr>
          <a:lstStyle/>
          <a:p>
            <a:pPr algn="l">
              <a:lnSpc>
                <a:spcPct val="100000"/>
              </a:lnSpc>
            </a:pPr>
            <a:r>
              <a:rPr sz="4600" b="0" i="0">
                <a:solidFill>
                  <a:srgbClr val="ECEFF0"/>
                </a:solidFill>
                <a:latin typeface="Century Gothic"/>
              </a:rPr>
              <a:t>About</a:t>
            </a:r>
          </a:p>
        </p:txBody>
      </p:sp>
      <p:sp>
        <p:nvSpPr>
          <p:cNvPr id="5" name="TextBox 4"/>
          <p:cNvSpPr txBox="1"/>
          <p:nvPr/>
        </p:nvSpPr>
        <p:spPr>
          <a:xfrm>
            <a:off x="566928" y="3968496"/>
            <a:ext cx="8686800" cy="731520"/>
          </a:xfrm>
          <a:prstGeom prst="rect">
            <a:avLst/>
          </a:prstGeom>
          <a:noFill/>
        </p:spPr>
        <p:txBody>
          <a:bodyPr wrap="square" anchor="t" lIns="0" rIns="0" tIns="0" bIns="0">
            <a:noAutofit/>
          </a:bodyPr>
          <a:lstStyle/>
          <a:p>
            <a:pPr algn="l">
              <a:lnSpc>
                <a:spcPct val="120000"/>
              </a:lnSpc>
            </a:pPr>
            <a:r>
              <a:rPr sz="1600" b="0" i="0">
                <a:solidFill>
                  <a:srgbClr val="9AA6AB"/>
                </a:solidFill>
                <a:latin typeface="Segoe UI"/>
              </a:rPr>
              <a:t>Who we are, and who already runs on us.</a:t>
            </a:r>
          </a:p>
        </p:txBody>
      </p:sp>
      <p:pic>
        <p:nvPicPr>
          <p:cNvPr id="6" name="Picture 5" descr="brisken_reversed.png"/>
          <p:cNvPicPr>
            <a:picLocks noChangeAspect="1"/>
          </p:cNvPicPr>
          <p:nvPr/>
        </p:nvPicPr>
        <p:blipFill>
          <a:blip r:embed="rId2"/>
          <a:stretch>
            <a:fillRect/>
          </a:stretch>
        </p:blipFill>
        <p:spPr>
          <a:xfrm>
            <a:off x="10455603" y="6236208"/>
            <a:ext cx="1169163" cy="25603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THE SHORT VERSION</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800" b="0" i="0">
                <a:solidFill>
                  <a:srgbClr val="0F1417"/>
                </a:solidFill>
                <a:latin typeface="Century Gothic"/>
              </a:rPr>
              <a:t>One platform tour, in four lines.</a:t>
            </a:r>
          </a:p>
        </p:txBody>
      </p:sp>
      <p:sp>
        <p:nvSpPr>
          <p:cNvPr id="4" name="Rounded Rectangle 3"/>
          <p:cNvSpPr/>
          <p:nvPr/>
        </p:nvSpPr>
        <p:spPr>
          <a:xfrm>
            <a:off x="566928" y="2331720"/>
            <a:ext cx="2531287" cy="278892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6384" y="2569463"/>
            <a:ext cx="310896"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734056"/>
            <a:ext cx="2092375" cy="2240279"/>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What it is</a:t>
            </a:r>
          </a:p>
          <a:p>
            <a:pPr algn="l">
              <a:lnSpc>
                <a:spcPct val="114000"/>
              </a:lnSpc>
            </a:pPr>
            <a:r>
              <a:rPr sz="1350" b="0" i="0">
                <a:solidFill>
                  <a:srgbClr val="5B666B"/>
                </a:solidFill>
                <a:latin typeface="Segoe UI"/>
              </a:rPr>
              <a:t>The OnePilot platform and the applications that run on it, in one tour.</a:t>
            </a:r>
          </a:p>
        </p:txBody>
      </p:sp>
      <p:sp>
        <p:nvSpPr>
          <p:cNvPr id="7" name="Rounded Rectangle 6"/>
          <p:cNvSpPr/>
          <p:nvPr/>
        </p:nvSpPr>
        <p:spPr>
          <a:xfrm>
            <a:off x="3409111" y="2331720"/>
            <a:ext cx="2531287" cy="278892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28567" y="2569463"/>
            <a:ext cx="310896"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28567" y="2734056"/>
            <a:ext cx="2092375" cy="2240279"/>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What it replaces</a:t>
            </a:r>
          </a:p>
          <a:p>
            <a:pPr algn="l">
              <a:lnSpc>
                <a:spcPct val="114000"/>
              </a:lnSpc>
            </a:pPr>
            <a:r>
              <a:rPr sz="1350" b="0" i="0">
                <a:solidFill>
                  <a:srgbClr val="5B666B"/>
                </a:solidFill>
                <a:latin typeface="Segoe UI"/>
              </a:rPr>
              <a:t>A dozen separate product pitches, and the manual middle between your systems.</a:t>
            </a:r>
          </a:p>
        </p:txBody>
      </p:sp>
      <p:sp>
        <p:nvSpPr>
          <p:cNvPr id="10" name="Rounded Rectangle 9"/>
          <p:cNvSpPr/>
          <p:nvPr/>
        </p:nvSpPr>
        <p:spPr>
          <a:xfrm>
            <a:off x="6251295" y="2331720"/>
            <a:ext cx="2531287" cy="278892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70751" y="2569463"/>
            <a:ext cx="310896" cy="45720"/>
          </a:xfrm>
          <a:prstGeom prst="rect">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0751" y="2734056"/>
            <a:ext cx="2092375" cy="2240279"/>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What you get</a:t>
            </a:r>
          </a:p>
          <a:p>
            <a:pPr algn="l">
              <a:lnSpc>
                <a:spcPct val="114000"/>
              </a:lnSpc>
            </a:pPr>
            <a:r>
              <a:rPr sz="1350" b="0" i="0">
                <a:solidFill>
                  <a:srgbClr val="5B666B"/>
                </a:solidFill>
                <a:latin typeface="Segoe UI"/>
              </a:rPr>
              <a:t>The platform, three applications, working use cases, and the customers running them.</a:t>
            </a:r>
          </a:p>
        </p:txBody>
      </p:sp>
      <p:sp>
        <p:nvSpPr>
          <p:cNvPr id="13" name="Rounded Rectangle 12"/>
          <p:cNvSpPr/>
          <p:nvPr/>
        </p:nvSpPr>
        <p:spPr>
          <a:xfrm>
            <a:off x="9093479" y="2331720"/>
            <a:ext cx="2531287" cy="278892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312935" y="2569463"/>
            <a:ext cx="310896"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12935" y="2734056"/>
            <a:ext cx="2092375" cy="2240279"/>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Who it is for</a:t>
            </a:r>
          </a:p>
          <a:p>
            <a:pPr algn="l">
              <a:lnSpc>
                <a:spcPct val="114000"/>
              </a:lnSpc>
            </a:pPr>
            <a:r>
              <a:rPr sz="1350" b="0" i="0">
                <a:solidFill>
                  <a:srgbClr val="5B666B"/>
                </a:solidFill>
                <a:latin typeface="Segoe UI"/>
              </a:rPr>
              <a:t>Treasury and finance teams on SAP.</a:t>
            </a:r>
          </a:p>
        </p:txBody>
      </p:sp>
      <p:sp>
        <p:nvSpPr>
          <p:cNvPr id="16" name="TextBox 15"/>
          <p:cNvSpPr txBox="1"/>
          <p:nvPr/>
        </p:nvSpPr>
        <p:spPr>
          <a:xfrm>
            <a:off x="566928" y="5532120"/>
            <a:ext cx="11057839" cy="365760"/>
          </a:xfrm>
          <a:prstGeom prst="rect">
            <a:avLst/>
          </a:prstGeom>
          <a:noFill/>
        </p:spPr>
        <p:txBody>
          <a:bodyPr wrap="square" anchor="t" lIns="0" rIns="0" tIns="0" bIns="0">
            <a:noAutofit/>
          </a:bodyPr>
          <a:lstStyle/>
          <a:p>
            <a:pPr algn="l"/>
            <a:r>
              <a:rPr sz="1400" b="0" i="1">
                <a:solidFill>
                  <a:srgbClr val="8A9599"/>
                </a:solidFill>
                <a:latin typeface="Segoe UI"/>
              </a:rPr>
              <a:t>Start with who we are; the platform follows.</a:t>
            </a:r>
          </a:p>
        </p:txBody>
      </p:sp>
      <p:sp>
        <p:nvSpPr>
          <p:cNvPr id="17" name="Rectangle 16"/>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19" name="TextBox 18"/>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ABOUT BRISKEN</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400" b="0" i="0">
                <a:solidFill>
                  <a:srgbClr val="0F1417"/>
                </a:solidFill>
                <a:latin typeface="Century Gothic"/>
              </a:rPr>
              <a:t>An SAP co-innovation partner, live in production.</a:t>
            </a:r>
          </a:p>
        </p:txBody>
      </p:sp>
      <p:sp>
        <p:nvSpPr>
          <p:cNvPr id="4" name="TextBox 3"/>
          <p:cNvSpPr txBox="1"/>
          <p:nvPr/>
        </p:nvSpPr>
        <p:spPr>
          <a:xfrm>
            <a:off x="566928" y="1783080"/>
            <a:ext cx="10058400" cy="548640"/>
          </a:xfrm>
          <a:prstGeom prst="rect">
            <a:avLst/>
          </a:prstGeom>
          <a:noFill/>
        </p:spPr>
        <p:txBody>
          <a:bodyPr wrap="square" anchor="t" lIns="0" rIns="0" tIns="0" bIns="0">
            <a:noAutofit/>
          </a:bodyPr>
          <a:lstStyle/>
          <a:p>
            <a:pPr algn="l">
              <a:lnSpc>
                <a:spcPct val="125000"/>
              </a:lnSpc>
            </a:pPr>
            <a:r>
              <a:rPr sz="1600" b="0" i="0">
                <a:solidFill>
                  <a:srgbClr val="5B666B"/>
                </a:solidFill>
                <a:latin typeface="Segoe UI"/>
              </a:rPr>
              <a:t>Brisken builds treasury software on SAP and runs it for SAP treasury teams. Not a roadmap: real customers, in production today.</a:t>
            </a:r>
          </a:p>
        </p:txBody>
      </p:sp>
      <p:sp>
        <p:nvSpPr>
          <p:cNvPr id="5" name="Rounded Rectangle 4"/>
          <p:cNvSpPr/>
          <p:nvPr/>
        </p:nvSpPr>
        <p:spPr>
          <a:xfrm>
            <a:off x="566928" y="2743200"/>
            <a:ext cx="3466490" cy="246888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86384" y="2980944"/>
            <a:ext cx="310896"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3145536"/>
            <a:ext cx="3027578" cy="1920240"/>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SAP co-innovation partner</a:t>
            </a:r>
          </a:p>
          <a:p>
            <a:pPr algn="l">
              <a:lnSpc>
                <a:spcPct val="114000"/>
              </a:lnSpc>
            </a:pPr>
            <a:r>
              <a:rPr sz="1350" b="0" i="0">
                <a:solidFill>
                  <a:srgbClr val="5B666B"/>
                </a:solidFill>
                <a:latin typeface="Segoe UI"/>
              </a:rPr>
              <a:t>SAP Co-Innovation Partner and Partner Edge member; SAP Industry Cloud for Financial Services and for Commodities.</a:t>
            </a:r>
          </a:p>
        </p:txBody>
      </p:sp>
      <p:sp>
        <p:nvSpPr>
          <p:cNvPr id="8" name="Rounded Rectangle 7"/>
          <p:cNvSpPr/>
          <p:nvPr/>
        </p:nvSpPr>
        <p:spPr>
          <a:xfrm>
            <a:off x="4362602" y="2743200"/>
            <a:ext cx="3466490" cy="246888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82058" y="2980944"/>
            <a:ext cx="310896" cy="45720"/>
          </a:xfrm>
          <a:prstGeom prst="rect">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2058" y="3145536"/>
            <a:ext cx="3027578" cy="1920240"/>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Built on SAP</a:t>
            </a:r>
          </a:p>
          <a:p>
            <a:pPr algn="l">
              <a:lnSpc>
                <a:spcPct val="114000"/>
              </a:lnSpc>
            </a:pPr>
            <a:r>
              <a:rPr sz="1350" b="0" i="0">
                <a:solidFill>
                  <a:srgbClr val="5B666B"/>
                </a:solidFill>
                <a:latin typeface="Segoe UI"/>
              </a:rPr>
              <a:t>OnePilot runs on SAP's own cloud, inside your landscape. Your book of records (the official system where the numbers are final) stays in SAP.</a:t>
            </a:r>
          </a:p>
        </p:txBody>
      </p:sp>
      <p:sp>
        <p:nvSpPr>
          <p:cNvPr id="11" name="Rounded Rectangle 10"/>
          <p:cNvSpPr/>
          <p:nvPr/>
        </p:nvSpPr>
        <p:spPr>
          <a:xfrm>
            <a:off x="8158276" y="2743200"/>
            <a:ext cx="3466490" cy="246888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77732" y="2980944"/>
            <a:ext cx="310896"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77732" y="3145536"/>
            <a:ext cx="3027578" cy="1920240"/>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Live in production</a:t>
            </a:r>
          </a:p>
          <a:p>
            <a:pPr algn="l">
              <a:lnSpc>
                <a:spcPct val="114000"/>
              </a:lnSpc>
            </a:pPr>
            <a:r>
              <a:rPr sz="1350" b="0" i="0">
                <a:solidFill>
                  <a:srgbClr val="5B666B"/>
                </a:solidFill>
                <a:latin typeface="Segoe UI"/>
              </a:rPr>
              <a:t>Deployed across financial services, chemicals, food &amp; drink, oil &amp; gas, commodity and agricultural treasuries.</a:t>
            </a:r>
          </a:p>
        </p:txBody>
      </p:sp>
      <p:sp>
        <p:nvSpPr>
          <p:cNvPr id="14" name="TextBox 13"/>
          <p:cNvSpPr txBox="1"/>
          <p:nvPr/>
        </p:nvSpPr>
        <p:spPr>
          <a:xfrm>
            <a:off x="566928" y="5440680"/>
            <a:ext cx="11057839" cy="365760"/>
          </a:xfrm>
          <a:prstGeom prst="rect">
            <a:avLst/>
          </a:prstGeom>
          <a:noFill/>
        </p:spPr>
        <p:txBody>
          <a:bodyPr wrap="square" anchor="t" lIns="0" rIns="0" tIns="0" bIns="0">
            <a:noAutofit/>
          </a:bodyPr>
          <a:lstStyle/>
          <a:p>
            <a:pPr algn="l"/>
            <a:r>
              <a:rPr sz="1250" b="0" i="0">
                <a:solidFill>
                  <a:srgbClr val="8A9599"/>
                </a:solidFill>
                <a:latin typeface="Segoe UI"/>
              </a:rPr>
              <a:t>Market-data partners: 360T, CME, Refinitiv, Bloomberg, OANDA.   Headquarters: Houston, TX.</a:t>
            </a:r>
          </a:p>
        </p:txBody>
      </p:sp>
      <p:sp>
        <p:nvSpPr>
          <p:cNvPr id="15" name="Rectangle 14"/>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17" name="TextBox 16"/>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CUSTOMERS</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800" b="0" i="0">
                <a:solidFill>
                  <a:srgbClr val="0F1417"/>
                </a:solidFill>
                <a:latin typeface="Century Gothic"/>
              </a:rPr>
              <a:t>Treasury teams already run on it.</a:t>
            </a:r>
          </a:p>
        </p:txBody>
      </p:sp>
      <p:sp>
        <p:nvSpPr>
          <p:cNvPr id="4" name="Rounded Rectangle 3"/>
          <p:cNvSpPr/>
          <p:nvPr/>
        </p:nvSpPr>
        <p:spPr>
          <a:xfrm>
            <a:off x="566928" y="2011680"/>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oogle.png"/>
          <p:cNvPicPr>
            <a:picLocks noChangeAspect="1"/>
          </p:cNvPicPr>
          <p:nvPr/>
        </p:nvPicPr>
        <p:blipFill>
          <a:blip r:embed="rId2"/>
          <a:stretch>
            <a:fillRect/>
          </a:stretch>
        </p:blipFill>
        <p:spPr>
          <a:xfrm>
            <a:off x="1113099" y="2157984"/>
            <a:ext cx="914400" cy="457200"/>
          </a:xfrm>
          <a:prstGeom prst="rect">
            <a:avLst/>
          </a:prstGeom>
        </p:spPr>
      </p:pic>
      <p:sp>
        <p:nvSpPr>
          <p:cNvPr id="6" name="Rounded Rectangle 5"/>
          <p:cNvSpPr/>
          <p:nvPr/>
        </p:nvSpPr>
        <p:spPr>
          <a:xfrm>
            <a:off x="2829702" y="2011680"/>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centure.png"/>
          <p:cNvPicPr>
            <a:picLocks noChangeAspect="1"/>
          </p:cNvPicPr>
          <p:nvPr/>
        </p:nvPicPr>
        <p:blipFill>
          <a:blip r:embed="rId3"/>
          <a:stretch>
            <a:fillRect/>
          </a:stretch>
        </p:blipFill>
        <p:spPr>
          <a:xfrm>
            <a:off x="3375873" y="2157984"/>
            <a:ext cx="914400" cy="457200"/>
          </a:xfrm>
          <a:prstGeom prst="rect">
            <a:avLst/>
          </a:prstGeom>
        </p:spPr>
      </p:pic>
      <p:sp>
        <p:nvSpPr>
          <p:cNvPr id="8" name="Rounded Rectangle 7"/>
          <p:cNvSpPr/>
          <p:nvPr/>
        </p:nvSpPr>
        <p:spPr>
          <a:xfrm>
            <a:off x="5092476" y="2011680"/>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quinor.png"/>
          <p:cNvPicPr>
            <a:picLocks noChangeAspect="1"/>
          </p:cNvPicPr>
          <p:nvPr/>
        </p:nvPicPr>
        <p:blipFill>
          <a:blip r:embed="rId4"/>
          <a:stretch>
            <a:fillRect/>
          </a:stretch>
        </p:blipFill>
        <p:spPr>
          <a:xfrm>
            <a:off x="5518574" y="2157984"/>
            <a:ext cx="1154545" cy="457200"/>
          </a:xfrm>
          <a:prstGeom prst="rect">
            <a:avLst/>
          </a:prstGeom>
        </p:spPr>
      </p:pic>
      <p:sp>
        <p:nvSpPr>
          <p:cNvPr id="10" name="Rounded Rectangle 9"/>
          <p:cNvSpPr/>
          <p:nvPr/>
        </p:nvSpPr>
        <p:spPr>
          <a:xfrm>
            <a:off x="7355250" y="2011680"/>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nike.png"/>
          <p:cNvPicPr>
            <a:picLocks noChangeAspect="1"/>
          </p:cNvPicPr>
          <p:nvPr/>
        </p:nvPicPr>
        <p:blipFill>
          <a:blip r:embed="rId5"/>
          <a:stretch>
            <a:fillRect/>
          </a:stretch>
        </p:blipFill>
        <p:spPr>
          <a:xfrm>
            <a:off x="7921806" y="2157984"/>
            <a:ext cx="873630" cy="457200"/>
          </a:xfrm>
          <a:prstGeom prst="rect">
            <a:avLst/>
          </a:prstGeom>
        </p:spPr>
      </p:pic>
      <p:sp>
        <p:nvSpPr>
          <p:cNvPr id="12" name="Rounded Rectangle 11"/>
          <p:cNvSpPr/>
          <p:nvPr/>
        </p:nvSpPr>
        <p:spPr>
          <a:xfrm>
            <a:off x="9618024" y="2011680"/>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dm.png"/>
          <p:cNvPicPr>
            <a:picLocks noChangeAspect="1"/>
          </p:cNvPicPr>
          <p:nvPr/>
        </p:nvPicPr>
        <p:blipFill>
          <a:blip r:embed="rId6"/>
          <a:stretch>
            <a:fillRect/>
          </a:stretch>
        </p:blipFill>
        <p:spPr>
          <a:xfrm>
            <a:off x="10392796" y="2157984"/>
            <a:ext cx="457200" cy="457200"/>
          </a:xfrm>
          <a:prstGeom prst="rect">
            <a:avLst/>
          </a:prstGeom>
        </p:spPr>
      </p:pic>
      <p:sp>
        <p:nvSpPr>
          <p:cNvPr id="14" name="Rounded Rectangle 13"/>
          <p:cNvSpPr/>
          <p:nvPr/>
        </p:nvSpPr>
        <p:spPr>
          <a:xfrm>
            <a:off x="566928" y="2962656"/>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b-inbev.png"/>
          <p:cNvPicPr>
            <a:picLocks noChangeAspect="1"/>
          </p:cNvPicPr>
          <p:nvPr/>
        </p:nvPicPr>
        <p:blipFill>
          <a:blip r:embed="rId7"/>
          <a:stretch>
            <a:fillRect/>
          </a:stretch>
        </p:blipFill>
        <p:spPr>
          <a:xfrm>
            <a:off x="1224086" y="3108960"/>
            <a:ext cx="692426" cy="457200"/>
          </a:xfrm>
          <a:prstGeom prst="rect">
            <a:avLst/>
          </a:prstGeom>
        </p:spPr>
      </p:pic>
      <p:sp>
        <p:nvSpPr>
          <p:cNvPr id="16" name="Rounded Rectangle 15"/>
          <p:cNvSpPr/>
          <p:nvPr/>
        </p:nvSpPr>
        <p:spPr>
          <a:xfrm>
            <a:off x="2829702" y="2962656"/>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ulzer.png"/>
          <p:cNvPicPr>
            <a:picLocks noChangeAspect="1"/>
          </p:cNvPicPr>
          <p:nvPr/>
        </p:nvPicPr>
        <p:blipFill>
          <a:blip r:embed="rId8"/>
          <a:stretch>
            <a:fillRect/>
          </a:stretch>
        </p:blipFill>
        <p:spPr>
          <a:xfrm>
            <a:off x="3012582" y="3198325"/>
            <a:ext cx="1640982" cy="278469"/>
          </a:xfrm>
          <a:prstGeom prst="rect">
            <a:avLst/>
          </a:prstGeom>
        </p:spPr>
      </p:pic>
      <p:sp>
        <p:nvSpPr>
          <p:cNvPr id="18" name="Rounded Rectangle 17"/>
          <p:cNvSpPr/>
          <p:nvPr/>
        </p:nvSpPr>
        <p:spPr>
          <a:xfrm>
            <a:off x="5092476" y="2962656"/>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barry-callebaut.png"/>
          <p:cNvPicPr>
            <a:picLocks noChangeAspect="1"/>
          </p:cNvPicPr>
          <p:nvPr/>
        </p:nvPicPr>
        <p:blipFill>
          <a:blip r:embed="rId9"/>
          <a:stretch>
            <a:fillRect/>
          </a:stretch>
        </p:blipFill>
        <p:spPr>
          <a:xfrm>
            <a:off x="5275356" y="3210960"/>
            <a:ext cx="1640982" cy="253198"/>
          </a:xfrm>
          <a:prstGeom prst="rect">
            <a:avLst/>
          </a:prstGeom>
        </p:spPr>
      </p:pic>
      <p:sp>
        <p:nvSpPr>
          <p:cNvPr id="20" name="Rounded Rectangle 19"/>
          <p:cNvSpPr/>
          <p:nvPr/>
        </p:nvSpPr>
        <p:spPr>
          <a:xfrm>
            <a:off x="7355250" y="2962656"/>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zespri.png"/>
          <p:cNvPicPr>
            <a:picLocks noChangeAspect="1"/>
          </p:cNvPicPr>
          <p:nvPr/>
        </p:nvPicPr>
        <p:blipFill>
          <a:blip r:embed="rId10"/>
          <a:stretch>
            <a:fillRect/>
          </a:stretch>
        </p:blipFill>
        <p:spPr>
          <a:xfrm>
            <a:off x="7836107" y="3108960"/>
            <a:ext cx="1045028" cy="457200"/>
          </a:xfrm>
          <a:prstGeom prst="rect">
            <a:avLst/>
          </a:prstGeom>
        </p:spPr>
      </p:pic>
      <p:sp>
        <p:nvSpPr>
          <p:cNvPr id="22" name="Rounded Rectangle 21"/>
          <p:cNvSpPr/>
          <p:nvPr/>
        </p:nvSpPr>
        <p:spPr>
          <a:xfrm>
            <a:off x="9618024" y="2962656"/>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angus-chemical.png"/>
          <p:cNvPicPr>
            <a:picLocks noChangeAspect="1"/>
          </p:cNvPicPr>
          <p:nvPr/>
        </p:nvPicPr>
        <p:blipFill>
          <a:blip r:embed="rId11"/>
          <a:stretch>
            <a:fillRect/>
          </a:stretch>
        </p:blipFill>
        <p:spPr>
          <a:xfrm>
            <a:off x="10392796" y="3108960"/>
            <a:ext cx="457200" cy="457200"/>
          </a:xfrm>
          <a:prstGeom prst="rect">
            <a:avLst/>
          </a:prstGeom>
        </p:spPr>
      </p:pic>
      <p:sp>
        <p:nvSpPr>
          <p:cNvPr id="24" name="Rounded Rectangle 23"/>
          <p:cNvSpPr/>
          <p:nvPr/>
        </p:nvSpPr>
        <p:spPr>
          <a:xfrm>
            <a:off x="566928" y="3913632"/>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medmix.png"/>
          <p:cNvPicPr>
            <a:picLocks noChangeAspect="1"/>
          </p:cNvPicPr>
          <p:nvPr/>
        </p:nvPicPr>
        <p:blipFill>
          <a:blip r:embed="rId12"/>
          <a:stretch>
            <a:fillRect/>
          </a:stretch>
        </p:blipFill>
        <p:spPr>
          <a:xfrm>
            <a:off x="749808" y="4108302"/>
            <a:ext cx="1640982" cy="360466"/>
          </a:xfrm>
          <a:prstGeom prst="rect">
            <a:avLst/>
          </a:prstGeom>
        </p:spPr>
      </p:pic>
      <p:sp>
        <p:nvSpPr>
          <p:cNvPr id="26" name="Rounded Rectangle 25"/>
          <p:cNvSpPr/>
          <p:nvPr/>
        </p:nvSpPr>
        <p:spPr>
          <a:xfrm>
            <a:off x="2829702" y="3913632"/>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entegris.png"/>
          <p:cNvPicPr>
            <a:picLocks noChangeAspect="1"/>
          </p:cNvPicPr>
          <p:nvPr/>
        </p:nvPicPr>
        <p:blipFill>
          <a:blip r:embed="rId13"/>
          <a:stretch>
            <a:fillRect/>
          </a:stretch>
        </p:blipFill>
        <p:spPr>
          <a:xfrm>
            <a:off x="3012582" y="4080628"/>
            <a:ext cx="1640982" cy="415814"/>
          </a:xfrm>
          <a:prstGeom prst="rect">
            <a:avLst/>
          </a:prstGeom>
        </p:spPr>
      </p:pic>
      <p:sp>
        <p:nvSpPr>
          <p:cNvPr id="28" name="Rounded Rectangle 27"/>
          <p:cNvSpPr/>
          <p:nvPr/>
        </p:nvSpPr>
        <p:spPr>
          <a:xfrm>
            <a:off x="5092476" y="3913632"/>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weyerhaeuser.png"/>
          <p:cNvPicPr>
            <a:picLocks noChangeAspect="1"/>
          </p:cNvPicPr>
          <p:nvPr/>
        </p:nvPicPr>
        <p:blipFill>
          <a:blip r:embed="rId14"/>
          <a:stretch>
            <a:fillRect/>
          </a:stretch>
        </p:blipFill>
        <p:spPr>
          <a:xfrm>
            <a:off x="5275356" y="4112006"/>
            <a:ext cx="1640982" cy="353059"/>
          </a:xfrm>
          <a:prstGeom prst="rect">
            <a:avLst/>
          </a:prstGeom>
        </p:spPr>
      </p:pic>
      <p:sp>
        <p:nvSpPr>
          <p:cNvPr id="30" name="Rounded Rectangle 29"/>
          <p:cNvSpPr/>
          <p:nvPr/>
        </p:nvSpPr>
        <p:spPr>
          <a:xfrm>
            <a:off x="7355250" y="3913632"/>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southwire.png"/>
          <p:cNvPicPr>
            <a:picLocks noChangeAspect="1"/>
          </p:cNvPicPr>
          <p:nvPr/>
        </p:nvPicPr>
        <p:blipFill>
          <a:blip r:embed="rId15"/>
          <a:stretch>
            <a:fillRect/>
          </a:stretch>
        </p:blipFill>
        <p:spPr>
          <a:xfrm>
            <a:off x="7538130" y="4078605"/>
            <a:ext cx="1640982" cy="419860"/>
          </a:xfrm>
          <a:prstGeom prst="rect">
            <a:avLst/>
          </a:prstGeom>
        </p:spPr>
      </p:pic>
      <p:sp>
        <p:nvSpPr>
          <p:cNvPr id="32" name="Rounded Rectangle 31"/>
          <p:cNvSpPr/>
          <p:nvPr/>
        </p:nvSpPr>
        <p:spPr>
          <a:xfrm>
            <a:off x="9618024" y="3913632"/>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yeti.png"/>
          <p:cNvPicPr>
            <a:picLocks noChangeAspect="1"/>
          </p:cNvPicPr>
          <p:nvPr/>
        </p:nvPicPr>
        <p:blipFill>
          <a:blip r:embed="rId16"/>
          <a:stretch>
            <a:fillRect/>
          </a:stretch>
        </p:blipFill>
        <p:spPr>
          <a:xfrm>
            <a:off x="9800904" y="4062832"/>
            <a:ext cx="1640982" cy="451407"/>
          </a:xfrm>
          <a:prstGeom prst="rect">
            <a:avLst/>
          </a:prstGeom>
        </p:spPr>
      </p:pic>
      <p:sp>
        <p:nvSpPr>
          <p:cNvPr id="34" name="Rounded Rectangle 33"/>
          <p:cNvSpPr/>
          <p:nvPr/>
        </p:nvSpPr>
        <p:spPr>
          <a:xfrm>
            <a:off x="566928" y="4864608"/>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sothebys.png"/>
          <p:cNvPicPr>
            <a:picLocks noChangeAspect="1"/>
          </p:cNvPicPr>
          <p:nvPr/>
        </p:nvPicPr>
        <p:blipFill>
          <a:blip r:embed="rId17"/>
          <a:stretch>
            <a:fillRect/>
          </a:stretch>
        </p:blipFill>
        <p:spPr>
          <a:xfrm>
            <a:off x="749808" y="5020714"/>
            <a:ext cx="1640982" cy="437595"/>
          </a:xfrm>
          <a:prstGeom prst="rect">
            <a:avLst/>
          </a:prstGeom>
        </p:spPr>
      </p:pic>
      <p:sp>
        <p:nvSpPr>
          <p:cNvPr id="36" name="Rounded Rectangle 35"/>
          <p:cNvSpPr/>
          <p:nvPr/>
        </p:nvSpPr>
        <p:spPr>
          <a:xfrm>
            <a:off x="2829702" y="4864608"/>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x.png"/>
          <p:cNvPicPr>
            <a:picLocks noChangeAspect="1"/>
          </p:cNvPicPr>
          <p:nvPr/>
        </p:nvPicPr>
        <p:blipFill>
          <a:blip r:embed="rId18"/>
          <a:stretch>
            <a:fillRect/>
          </a:stretch>
        </p:blipFill>
        <p:spPr>
          <a:xfrm>
            <a:off x="3012582" y="5085359"/>
            <a:ext cx="1640982" cy="308305"/>
          </a:xfrm>
          <a:prstGeom prst="rect">
            <a:avLst/>
          </a:prstGeom>
        </p:spPr>
      </p:pic>
      <p:sp>
        <p:nvSpPr>
          <p:cNvPr id="38" name="Rounded Rectangle 37"/>
          <p:cNvSpPr/>
          <p:nvPr/>
        </p:nvSpPr>
        <p:spPr>
          <a:xfrm>
            <a:off x="5092476" y="4864608"/>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beautycounter.png"/>
          <p:cNvPicPr>
            <a:picLocks noChangeAspect="1"/>
          </p:cNvPicPr>
          <p:nvPr/>
        </p:nvPicPr>
        <p:blipFill>
          <a:blip r:embed="rId19"/>
          <a:stretch>
            <a:fillRect/>
          </a:stretch>
        </p:blipFill>
        <p:spPr>
          <a:xfrm>
            <a:off x="5541783" y="5010912"/>
            <a:ext cx="1108128" cy="457200"/>
          </a:xfrm>
          <a:prstGeom prst="rect">
            <a:avLst/>
          </a:prstGeom>
        </p:spPr>
      </p:pic>
      <p:sp>
        <p:nvSpPr>
          <p:cNvPr id="40" name="Rounded Rectangle 39"/>
          <p:cNvSpPr/>
          <p:nvPr/>
        </p:nvSpPr>
        <p:spPr>
          <a:xfrm>
            <a:off x="7355250" y="4864608"/>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global-brands.png"/>
          <p:cNvPicPr>
            <a:picLocks noChangeAspect="1"/>
          </p:cNvPicPr>
          <p:nvPr/>
        </p:nvPicPr>
        <p:blipFill>
          <a:blip r:embed="rId20"/>
          <a:stretch>
            <a:fillRect/>
          </a:stretch>
        </p:blipFill>
        <p:spPr>
          <a:xfrm>
            <a:off x="7538130" y="5095304"/>
            <a:ext cx="1640982" cy="288415"/>
          </a:xfrm>
          <a:prstGeom prst="rect">
            <a:avLst/>
          </a:prstGeom>
        </p:spPr>
      </p:pic>
      <p:sp>
        <p:nvSpPr>
          <p:cNvPr id="42" name="Rounded Rectangle 41"/>
          <p:cNvSpPr/>
          <p:nvPr/>
        </p:nvSpPr>
        <p:spPr>
          <a:xfrm>
            <a:off x="9618024" y="4864608"/>
            <a:ext cx="2006742" cy="749808"/>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asr-group.png"/>
          <p:cNvPicPr>
            <a:picLocks noChangeAspect="1"/>
          </p:cNvPicPr>
          <p:nvPr/>
        </p:nvPicPr>
        <p:blipFill>
          <a:blip r:embed="rId21"/>
          <a:stretch>
            <a:fillRect/>
          </a:stretch>
        </p:blipFill>
        <p:spPr>
          <a:xfrm>
            <a:off x="10182540" y="5010912"/>
            <a:ext cx="877711" cy="457200"/>
          </a:xfrm>
          <a:prstGeom prst="rect">
            <a:avLst/>
          </a:prstGeom>
        </p:spPr>
      </p:pic>
      <p:sp>
        <p:nvSpPr>
          <p:cNvPr id="44" name="TextBox 43"/>
          <p:cNvSpPr txBox="1"/>
          <p:nvPr/>
        </p:nvSpPr>
        <p:spPr>
          <a:xfrm>
            <a:off x="566928" y="5815584"/>
            <a:ext cx="11057839" cy="365760"/>
          </a:xfrm>
          <a:prstGeom prst="rect">
            <a:avLst/>
          </a:prstGeom>
          <a:noFill/>
        </p:spPr>
        <p:txBody>
          <a:bodyPr wrap="square" anchor="t" lIns="0" rIns="0" tIns="0" bIns="0">
            <a:noAutofit/>
          </a:bodyPr>
          <a:lstStyle/>
          <a:p>
            <a:pPr algn="l"/>
            <a:r>
              <a:rPr sz="1250" b="0" i="0">
                <a:solidFill>
                  <a:srgbClr val="8A9599"/>
                </a:solidFill>
                <a:latin typeface="Segoe UI"/>
              </a:rPr>
              <a:t>A selection of treasury and finance teams live on OnePilot applications.</a:t>
            </a:r>
          </a:p>
        </p:txBody>
      </p:sp>
      <p:sp>
        <p:nvSpPr>
          <p:cNvPr id="45" name="Rectangle 44"/>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47" name="TextBox 46"/>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417"/>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0"/>
            <a:ext cx="2743200" cy="640080"/>
          </a:xfrm>
          <a:prstGeom prst="rect">
            <a:avLst/>
          </a:prstGeom>
          <a:noFill/>
        </p:spPr>
        <p:txBody>
          <a:bodyPr wrap="square" anchor="t" lIns="0" rIns="0" tIns="0" bIns="0">
            <a:noAutofit/>
          </a:bodyPr>
          <a:lstStyle/>
          <a:p>
            <a:pPr algn="l"/>
            <a:r>
              <a:rPr sz="2600" b="0" i="0" spc="100">
                <a:solidFill>
                  <a:srgbClr val="17B0BE"/>
                </a:solidFill>
                <a:latin typeface="Century Gothic"/>
              </a:rPr>
              <a:t>02</a:t>
            </a:r>
          </a:p>
        </p:txBody>
      </p:sp>
      <p:sp>
        <p:nvSpPr>
          <p:cNvPr id="4" name="TextBox 3"/>
          <p:cNvSpPr txBox="1"/>
          <p:nvPr/>
        </p:nvSpPr>
        <p:spPr>
          <a:xfrm>
            <a:off x="548640" y="2926080"/>
            <a:ext cx="10515600" cy="1280160"/>
          </a:xfrm>
          <a:prstGeom prst="rect">
            <a:avLst/>
          </a:prstGeom>
          <a:noFill/>
        </p:spPr>
        <p:txBody>
          <a:bodyPr wrap="square" anchor="t" lIns="0" rIns="0" tIns="0" bIns="0">
            <a:noAutofit/>
          </a:bodyPr>
          <a:lstStyle/>
          <a:p>
            <a:pPr algn="l">
              <a:lnSpc>
                <a:spcPct val="100000"/>
              </a:lnSpc>
            </a:pPr>
            <a:r>
              <a:rPr sz="4600" b="0" i="0">
                <a:solidFill>
                  <a:srgbClr val="ECEFF0"/>
                </a:solidFill>
                <a:latin typeface="Century Gothic"/>
              </a:rPr>
              <a:t>The Platform</a:t>
            </a:r>
          </a:p>
        </p:txBody>
      </p:sp>
      <p:sp>
        <p:nvSpPr>
          <p:cNvPr id="5" name="TextBox 4"/>
          <p:cNvSpPr txBox="1"/>
          <p:nvPr/>
        </p:nvSpPr>
        <p:spPr>
          <a:xfrm>
            <a:off x="566928" y="3968496"/>
            <a:ext cx="8686800" cy="731520"/>
          </a:xfrm>
          <a:prstGeom prst="rect">
            <a:avLst/>
          </a:prstGeom>
          <a:noFill/>
        </p:spPr>
        <p:txBody>
          <a:bodyPr wrap="square" anchor="t" lIns="0" rIns="0" tIns="0" bIns="0">
            <a:noAutofit/>
          </a:bodyPr>
          <a:lstStyle/>
          <a:p>
            <a:pPr algn="l">
              <a:lnSpc>
                <a:spcPct val="120000"/>
              </a:lnSpc>
            </a:pPr>
            <a:r>
              <a:rPr sz="1600" b="0" i="0">
                <a:solidFill>
                  <a:srgbClr val="9AA6AB"/>
                </a:solidFill>
                <a:latin typeface="Segoe UI"/>
              </a:rPr>
              <a:t>One platform underneath every application, grounded in SAP.</a:t>
            </a:r>
          </a:p>
        </p:txBody>
      </p:sp>
      <p:pic>
        <p:nvPicPr>
          <p:cNvPr id="6" name="Picture 5" descr="brisken_reversed.png"/>
          <p:cNvPicPr>
            <a:picLocks noChangeAspect="1"/>
          </p:cNvPicPr>
          <p:nvPr/>
        </p:nvPicPr>
        <p:blipFill>
          <a:blip r:embed="rId2"/>
          <a:stretch>
            <a:fillRect/>
          </a:stretch>
        </p:blipFill>
        <p:spPr>
          <a:xfrm>
            <a:off x="10455603" y="6236208"/>
            <a:ext cx="1169163" cy="25603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THE PLATFORM</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600" b="0" i="0">
                <a:solidFill>
                  <a:srgbClr val="0F1417"/>
                </a:solidFill>
                <a:latin typeface="Century Gothic"/>
              </a:rPr>
              <a:t>Your systems, connected.
Your record, untouched.</a:t>
            </a:r>
          </a:p>
        </p:txBody>
      </p:sp>
      <p:sp>
        <p:nvSpPr>
          <p:cNvPr id="4" name="TextBox 3"/>
          <p:cNvSpPr txBox="1"/>
          <p:nvPr/>
        </p:nvSpPr>
        <p:spPr>
          <a:xfrm>
            <a:off x="566928" y="2084831"/>
            <a:ext cx="10332720" cy="731520"/>
          </a:xfrm>
          <a:prstGeom prst="rect">
            <a:avLst/>
          </a:prstGeom>
          <a:noFill/>
        </p:spPr>
        <p:txBody>
          <a:bodyPr wrap="square" anchor="t" lIns="0" rIns="0" tIns="0" bIns="0">
            <a:noAutofit/>
          </a:bodyPr>
          <a:lstStyle/>
          <a:p>
            <a:pPr algn="l">
              <a:lnSpc>
                <a:spcPct val="130000"/>
              </a:lnSpc>
            </a:pPr>
            <a:r>
              <a:rPr sz="1650" b="0" i="0">
                <a:solidFill>
                  <a:srgbClr val="5B666B"/>
                </a:solidFill>
                <a:latin typeface="Segoe UI"/>
              </a:rPr>
              <a:t>We run on top of your SAP systems and data. Whatever you need to do elsewhere, we connect, integrate and automate it, so the process runs, effort drops, and your SAP record is updated.</a:t>
            </a:r>
          </a:p>
        </p:txBody>
      </p:sp>
      <p:sp>
        <p:nvSpPr>
          <p:cNvPr id="5" name="Rounded Rectangle 4"/>
          <p:cNvSpPr/>
          <p:nvPr/>
        </p:nvSpPr>
        <p:spPr>
          <a:xfrm>
            <a:off x="566928" y="3383280"/>
            <a:ext cx="3466490" cy="228600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86384" y="3621024"/>
            <a:ext cx="310896"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3785616"/>
            <a:ext cx="3027578" cy="1737360"/>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Systems connected</a:t>
            </a:r>
          </a:p>
          <a:p>
            <a:pPr algn="l">
              <a:lnSpc>
                <a:spcPct val="114000"/>
              </a:lnSpc>
            </a:pPr>
            <a:r>
              <a:rPr sz="1350" b="0" i="0">
                <a:solidFill>
                  <a:srgbClr val="5B666B"/>
                </a:solidFill>
                <a:latin typeface="Segoe UI"/>
              </a:rPr>
              <a:t>Banks, market data, counterparties, email and spreadsheets, joined once.</a:t>
            </a:r>
          </a:p>
        </p:txBody>
      </p:sp>
      <p:sp>
        <p:nvSpPr>
          <p:cNvPr id="8" name="Rounded Rectangle 7"/>
          <p:cNvSpPr/>
          <p:nvPr/>
        </p:nvSpPr>
        <p:spPr>
          <a:xfrm>
            <a:off x="4362602" y="3383280"/>
            <a:ext cx="3466490" cy="228600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82058" y="3621024"/>
            <a:ext cx="310896"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2058" y="3785616"/>
            <a:ext cx="3027578" cy="1737360"/>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Data flowing where it's needed</a:t>
            </a:r>
          </a:p>
          <a:p>
            <a:pPr algn="l">
              <a:lnSpc>
                <a:spcPct val="114000"/>
              </a:lnSpc>
            </a:pPr>
            <a:r>
              <a:rPr sz="1350" b="0" i="0">
                <a:solidFill>
                  <a:srgbClr val="5B666B"/>
                </a:solidFill>
                <a:latin typeface="Segoe UI"/>
              </a:rPr>
              <a:t>Pushed or pulled to every target, on a schedule or on demand: SAP and non-SAP systems.</a:t>
            </a:r>
          </a:p>
        </p:txBody>
      </p:sp>
      <p:sp>
        <p:nvSpPr>
          <p:cNvPr id="11" name="Rounded Rectangle 10"/>
          <p:cNvSpPr/>
          <p:nvPr/>
        </p:nvSpPr>
        <p:spPr>
          <a:xfrm>
            <a:off x="8158276" y="3383280"/>
            <a:ext cx="3466490" cy="228600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77732" y="3621024"/>
            <a:ext cx="310896" cy="45720"/>
          </a:xfrm>
          <a:prstGeom prst="rect">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77732" y="3785616"/>
            <a:ext cx="3027578" cy="1737360"/>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Your record stays in SAP</a:t>
            </a:r>
          </a:p>
          <a:p>
            <a:pPr algn="l">
              <a:lnSpc>
                <a:spcPct val="114000"/>
              </a:lnSpc>
            </a:pPr>
            <a:r>
              <a:rPr sz="1350" b="0" i="0">
                <a:solidFill>
                  <a:srgbClr val="5B666B"/>
                </a:solidFill>
                <a:latin typeface="Segoe UI"/>
              </a:rPr>
              <a:t>Your book of records (the official system of record, here SAP) stays where it is. We connect your systems and push the updates into it.</a:t>
            </a:r>
          </a:p>
        </p:txBody>
      </p:sp>
      <p:sp>
        <p:nvSpPr>
          <p:cNvPr id="14" name="Rectangle 13"/>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16" name="TextBox 15"/>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WHERE IT SITS</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200" b="0" i="0">
                <a:solidFill>
                  <a:srgbClr val="0F1417"/>
                </a:solidFill>
                <a:latin typeface="Century Gothic"/>
              </a:rPr>
              <a:t>One platform. Every application. Grounded in SAP.</a:t>
            </a:r>
          </a:p>
        </p:txBody>
      </p:sp>
      <p:sp>
        <p:nvSpPr>
          <p:cNvPr id="4" name="Rounded Rectangle 3"/>
          <p:cNvSpPr/>
          <p:nvPr/>
        </p:nvSpPr>
        <p:spPr>
          <a:xfrm>
            <a:off x="2926080" y="1938528"/>
            <a:ext cx="6339535" cy="713232"/>
          </a:xfrm>
          <a:prstGeom prst="roundRect">
            <a:avLst>
              <a:gd name="adj" fmla="val 12000"/>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0" y="1975104"/>
            <a:ext cx="6339535" cy="384048"/>
          </a:xfrm>
          <a:prstGeom prst="rect">
            <a:avLst/>
          </a:prstGeom>
          <a:noFill/>
        </p:spPr>
        <p:txBody>
          <a:bodyPr wrap="square" anchor="ctr" lIns="0" rIns="0" tIns="0" bIns="0">
            <a:noAutofit/>
          </a:bodyPr>
          <a:lstStyle/>
          <a:p>
            <a:pPr algn="ctr"/>
            <a:r>
              <a:rPr sz="2000" b="0" i="0">
                <a:solidFill>
                  <a:srgbClr val="FFFFFF"/>
                </a:solidFill>
                <a:latin typeface="Century Gothic"/>
              </a:rPr>
              <a:t>TreasuryCentral</a:t>
            </a:r>
          </a:p>
        </p:txBody>
      </p:sp>
      <p:sp>
        <p:nvSpPr>
          <p:cNvPr id="6" name="TextBox 5"/>
          <p:cNvSpPr txBox="1"/>
          <p:nvPr/>
        </p:nvSpPr>
        <p:spPr>
          <a:xfrm>
            <a:off x="2926080" y="2313432"/>
            <a:ext cx="6339535" cy="274320"/>
          </a:xfrm>
          <a:prstGeom prst="rect">
            <a:avLst/>
          </a:prstGeom>
          <a:noFill/>
        </p:spPr>
        <p:txBody>
          <a:bodyPr wrap="square" anchor="t" lIns="0" rIns="0" tIns="0" bIns="0">
            <a:noAutofit/>
          </a:bodyPr>
          <a:lstStyle/>
          <a:p>
            <a:pPr algn="ctr"/>
            <a:r>
              <a:rPr sz="1200" b="0" i="0">
                <a:solidFill>
                  <a:srgbClr val="EAFBFC"/>
                </a:solidFill>
                <a:latin typeface="Segoe UI"/>
              </a:rPr>
              <a:t>one workspace on OnePilot</a:t>
            </a:r>
          </a:p>
        </p:txBody>
      </p:sp>
      <p:sp>
        <p:nvSpPr>
          <p:cNvPr id="7" name="Rounded Rectangle 6"/>
          <p:cNvSpPr/>
          <p:nvPr/>
        </p:nvSpPr>
        <p:spPr>
          <a:xfrm>
            <a:off x="1554480" y="2889504"/>
            <a:ext cx="9082735" cy="1993392"/>
          </a:xfrm>
          <a:prstGeom prst="roundRect">
            <a:avLst>
              <a:gd name="adj" fmla="val 4500"/>
            </a:avLst>
          </a:prstGeom>
          <a:solidFill>
            <a:srgbClr val="F4F6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3035808"/>
            <a:ext cx="8534095" cy="310896"/>
          </a:xfrm>
          <a:prstGeom prst="rect">
            <a:avLst/>
          </a:prstGeom>
          <a:noFill/>
        </p:spPr>
        <p:txBody>
          <a:bodyPr wrap="square" anchor="t" lIns="0" rIns="0" tIns="0" bIns="0">
            <a:noAutofit/>
          </a:bodyPr>
          <a:lstStyle/>
          <a:p>
            <a:pPr algn="l"/>
            <a:r>
              <a:rPr sz="1500" b="0" i="0">
                <a:solidFill>
                  <a:srgbClr val="0E7C86"/>
                </a:solidFill>
                <a:latin typeface="Century Gothic"/>
              </a:rPr>
              <a:t>OnePilot</a:t>
            </a:r>
          </a:p>
        </p:txBody>
      </p:sp>
      <p:sp>
        <p:nvSpPr>
          <p:cNvPr id="9" name="TextBox 8"/>
          <p:cNvSpPr txBox="1"/>
          <p:nvPr/>
        </p:nvSpPr>
        <p:spPr>
          <a:xfrm>
            <a:off x="1828800" y="3035808"/>
            <a:ext cx="8534095" cy="310896"/>
          </a:xfrm>
          <a:prstGeom prst="rect">
            <a:avLst/>
          </a:prstGeom>
          <a:noFill/>
        </p:spPr>
        <p:txBody>
          <a:bodyPr wrap="square" anchor="t" lIns="0" rIns="0" tIns="0" bIns="0">
            <a:noAutofit/>
          </a:bodyPr>
          <a:lstStyle/>
          <a:p>
            <a:pPr algn="r"/>
            <a:r>
              <a:rPr sz="1200" b="0" i="0">
                <a:solidFill>
                  <a:srgbClr val="5B666B"/>
                </a:solidFill>
                <a:latin typeface="Segoe UI"/>
              </a:rPr>
              <a:t>the platform underneath</a:t>
            </a:r>
          </a:p>
        </p:txBody>
      </p:sp>
      <p:sp>
        <p:nvSpPr>
          <p:cNvPr id="10" name="Rounded Rectangle 9"/>
          <p:cNvSpPr/>
          <p:nvPr/>
        </p:nvSpPr>
        <p:spPr>
          <a:xfrm>
            <a:off x="1883664" y="3493008"/>
            <a:ext cx="1914067" cy="1280160"/>
          </a:xfrm>
          <a:prstGeom prst="roundRect">
            <a:avLst>
              <a:gd name="adj" fmla="val 9000"/>
            </a:avLst>
          </a:prstGeom>
          <a:solidFill>
            <a:srgbClr val="FFFFFF"/>
          </a:solidFill>
          <a:ln w="12700">
            <a:solidFill>
              <a:srgbClr val="E2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84832" y="3712464"/>
            <a:ext cx="292608"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84832" y="3877056"/>
            <a:ext cx="1511731" cy="640080"/>
          </a:xfrm>
          <a:prstGeom prst="rect">
            <a:avLst/>
          </a:prstGeom>
          <a:noFill/>
        </p:spPr>
        <p:txBody>
          <a:bodyPr wrap="square" anchor="t" lIns="0" rIns="0" tIns="0" bIns="0">
            <a:noAutofit/>
          </a:bodyPr>
          <a:lstStyle/>
          <a:p>
            <a:pPr algn="l"/>
            <a:r>
              <a:rPr sz="1350" b="1" i="0">
                <a:solidFill>
                  <a:srgbClr val="0F1417"/>
                </a:solidFill>
                <a:latin typeface="Segoe UI Semibold"/>
              </a:rPr>
              <a:t>Market Data Hub</a:t>
            </a:r>
          </a:p>
        </p:txBody>
      </p:sp>
      <p:sp>
        <p:nvSpPr>
          <p:cNvPr id="13" name="TextBox 12"/>
          <p:cNvSpPr txBox="1"/>
          <p:nvPr/>
        </p:nvSpPr>
        <p:spPr>
          <a:xfrm>
            <a:off x="2084832" y="4389120"/>
            <a:ext cx="1511731" cy="274320"/>
          </a:xfrm>
          <a:prstGeom prst="rect">
            <a:avLst/>
          </a:prstGeom>
          <a:noFill/>
        </p:spPr>
        <p:txBody>
          <a:bodyPr wrap="square" anchor="t" lIns="0" rIns="0" tIns="0" bIns="0">
            <a:noAutofit/>
          </a:bodyPr>
          <a:lstStyle/>
          <a:p>
            <a:pPr algn="l"/>
            <a:r>
              <a:rPr sz="1150" b="0" i="0">
                <a:solidFill>
                  <a:srgbClr val="8A9599"/>
                </a:solidFill>
                <a:latin typeface="Segoe UI"/>
              </a:rPr>
              <a:t>market truth</a:t>
            </a:r>
          </a:p>
        </p:txBody>
      </p:sp>
      <p:sp>
        <p:nvSpPr>
          <p:cNvPr id="14" name="Rounded Rectangle 13"/>
          <p:cNvSpPr/>
          <p:nvPr/>
        </p:nvSpPr>
        <p:spPr>
          <a:xfrm>
            <a:off x="4053763" y="3493008"/>
            <a:ext cx="1914067" cy="1280160"/>
          </a:xfrm>
          <a:prstGeom prst="roundRect">
            <a:avLst>
              <a:gd name="adj" fmla="val 9000"/>
            </a:avLst>
          </a:prstGeom>
          <a:solidFill>
            <a:srgbClr val="FFFFFF"/>
          </a:solidFill>
          <a:ln w="12700">
            <a:solidFill>
              <a:srgbClr val="E2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54931" y="3712464"/>
            <a:ext cx="292608"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54931" y="3877056"/>
            <a:ext cx="1511731" cy="640080"/>
          </a:xfrm>
          <a:prstGeom prst="rect">
            <a:avLst/>
          </a:prstGeom>
          <a:noFill/>
        </p:spPr>
        <p:txBody>
          <a:bodyPr wrap="square" anchor="t" lIns="0" rIns="0" tIns="0" bIns="0">
            <a:noAutofit/>
          </a:bodyPr>
          <a:lstStyle/>
          <a:p>
            <a:pPr algn="l"/>
            <a:r>
              <a:rPr sz="1350" b="1" i="0">
                <a:solidFill>
                  <a:srgbClr val="0F1417"/>
                </a:solidFill>
                <a:latin typeface="Segoe UI Semibold"/>
              </a:rPr>
              <a:t>Brisken Smart Trading</a:t>
            </a:r>
          </a:p>
        </p:txBody>
      </p:sp>
      <p:sp>
        <p:nvSpPr>
          <p:cNvPr id="17" name="TextBox 16"/>
          <p:cNvSpPr txBox="1"/>
          <p:nvPr/>
        </p:nvSpPr>
        <p:spPr>
          <a:xfrm>
            <a:off x="4254931" y="4389120"/>
            <a:ext cx="1511731" cy="274320"/>
          </a:xfrm>
          <a:prstGeom prst="rect">
            <a:avLst/>
          </a:prstGeom>
          <a:noFill/>
        </p:spPr>
        <p:txBody>
          <a:bodyPr wrap="square" anchor="t" lIns="0" rIns="0" tIns="0" bIns="0">
            <a:noAutofit/>
          </a:bodyPr>
          <a:lstStyle/>
          <a:p>
            <a:pPr algn="l"/>
            <a:r>
              <a:rPr sz="1150" b="0" i="0">
                <a:solidFill>
                  <a:srgbClr val="8A9599"/>
                </a:solidFill>
                <a:latin typeface="Segoe UI"/>
              </a:rPr>
              <a:t>autonomous trading</a:t>
            </a:r>
          </a:p>
        </p:txBody>
      </p:sp>
      <p:sp>
        <p:nvSpPr>
          <p:cNvPr id="18" name="Rounded Rectangle 17"/>
          <p:cNvSpPr/>
          <p:nvPr/>
        </p:nvSpPr>
        <p:spPr>
          <a:xfrm>
            <a:off x="6223863" y="3493008"/>
            <a:ext cx="1914067" cy="1280160"/>
          </a:xfrm>
          <a:prstGeom prst="roundRect">
            <a:avLst>
              <a:gd name="adj" fmla="val 9000"/>
            </a:avLst>
          </a:prstGeom>
          <a:solidFill>
            <a:srgbClr val="FFFFFF"/>
          </a:solidFill>
          <a:ln w="12700">
            <a:solidFill>
              <a:srgbClr val="E2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25031" y="3712464"/>
            <a:ext cx="292608"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5031" y="3877056"/>
            <a:ext cx="1511731" cy="640080"/>
          </a:xfrm>
          <a:prstGeom prst="rect">
            <a:avLst/>
          </a:prstGeom>
          <a:noFill/>
        </p:spPr>
        <p:txBody>
          <a:bodyPr wrap="square" anchor="t" lIns="0" rIns="0" tIns="0" bIns="0">
            <a:noAutofit/>
          </a:bodyPr>
          <a:lstStyle/>
          <a:p>
            <a:pPr algn="l"/>
            <a:r>
              <a:rPr sz="1350" b="1" i="0">
                <a:solidFill>
                  <a:srgbClr val="0F1417"/>
                </a:solidFill>
                <a:latin typeface="Segoe UI Semibold"/>
              </a:rPr>
              <a:t>Digital Co-Worker</a:t>
            </a:r>
          </a:p>
        </p:txBody>
      </p:sp>
      <p:sp>
        <p:nvSpPr>
          <p:cNvPr id="21" name="TextBox 20"/>
          <p:cNvSpPr txBox="1"/>
          <p:nvPr/>
        </p:nvSpPr>
        <p:spPr>
          <a:xfrm>
            <a:off x="6425031" y="4389120"/>
            <a:ext cx="1511731" cy="274320"/>
          </a:xfrm>
          <a:prstGeom prst="rect">
            <a:avLst/>
          </a:prstGeom>
          <a:noFill/>
        </p:spPr>
        <p:txBody>
          <a:bodyPr wrap="square" anchor="t" lIns="0" rIns="0" tIns="0" bIns="0">
            <a:noAutofit/>
          </a:bodyPr>
          <a:lstStyle/>
          <a:p>
            <a:pPr algn="l"/>
            <a:r>
              <a:rPr sz="1150" b="0" i="0">
                <a:solidFill>
                  <a:srgbClr val="8A9599"/>
                </a:solidFill>
                <a:latin typeface="Segoe UI"/>
              </a:rPr>
              <a:t>the manual middle</a:t>
            </a:r>
          </a:p>
        </p:txBody>
      </p:sp>
      <p:sp>
        <p:nvSpPr>
          <p:cNvPr id="22" name="Rounded Rectangle 21"/>
          <p:cNvSpPr/>
          <p:nvPr/>
        </p:nvSpPr>
        <p:spPr>
          <a:xfrm>
            <a:off x="8393963" y="3493008"/>
            <a:ext cx="1914067" cy="1280160"/>
          </a:xfrm>
          <a:prstGeom prst="roundRect">
            <a:avLst>
              <a:gd name="adj" fmla="val 9000"/>
            </a:avLst>
          </a:prstGeom>
          <a:noFill/>
          <a:ln w="15875">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95131" y="3712464"/>
            <a:ext cx="292608"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131" y="3877056"/>
            <a:ext cx="1511731" cy="640080"/>
          </a:xfrm>
          <a:prstGeom prst="rect">
            <a:avLst/>
          </a:prstGeom>
          <a:noFill/>
        </p:spPr>
        <p:txBody>
          <a:bodyPr wrap="square" anchor="t" lIns="0" rIns="0" tIns="0" bIns="0">
            <a:noAutofit/>
          </a:bodyPr>
          <a:lstStyle/>
          <a:p>
            <a:pPr algn="l"/>
            <a:r>
              <a:rPr sz="1350" b="1" i="0">
                <a:solidFill>
                  <a:srgbClr val="0E7C86"/>
                </a:solidFill>
                <a:latin typeface="Segoe UI Semibold"/>
              </a:rPr>
              <a:t>+ your own apps</a:t>
            </a:r>
          </a:p>
        </p:txBody>
      </p:sp>
      <p:sp>
        <p:nvSpPr>
          <p:cNvPr id="25" name="TextBox 24"/>
          <p:cNvSpPr txBox="1"/>
          <p:nvPr/>
        </p:nvSpPr>
        <p:spPr>
          <a:xfrm>
            <a:off x="8595131" y="4389120"/>
            <a:ext cx="1511731" cy="274320"/>
          </a:xfrm>
          <a:prstGeom prst="rect">
            <a:avLst/>
          </a:prstGeom>
          <a:noFill/>
        </p:spPr>
        <p:txBody>
          <a:bodyPr wrap="square" anchor="t" lIns="0" rIns="0" tIns="0" bIns="0">
            <a:noAutofit/>
          </a:bodyPr>
          <a:lstStyle/>
          <a:p>
            <a:pPr algn="l"/>
            <a:r>
              <a:rPr sz="1150" b="0" i="0">
                <a:solidFill>
                  <a:srgbClr val="8A9599"/>
                </a:solidFill>
                <a:latin typeface="Segoe UI"/>
              </a:rPr>
              <a:t>an open platform</a:t>
            </a:r>
          </a:p>
        </p:txBody>
      </p:sp>
      <p:sp>
        <p:nvSpPr>
          <p:cNvPr id="26" name="TextBox 25"/>
          <p:cNvSpPr txBox="1"/>
          <p:nvPr/>
        </p:nvSpPr>
        <p:spPr>
          <a:xfrm>
            <a:off x="1554480" y="4937760"/>
            <a:ext cx="9082735" cy="219456"/>
          </a:xfrm>
          <a:prstGeom prst="rect">
            <a:avLst/>
          </a:prstGeom>
          <a:noFill/>
        </p:spPr>
        <p:txBody>
          <a:bodyPr wrap="square" anchor="t" lIns="0" rIns="0" tIns="0" bIns="0">
            <a:noAutofit/>
          </a:bodyPr>
          <a:lstStyle/>
          <a:p>
            <a:pPr algn="ctr"/>
            <a:r>
              <a:rPr sz="1150" b="0" i="1">
                <a:solidFill>
                  <a:srgbClr val="8A9599"/>
                </a:solidFill>
                <a:latin typeface="Segoe UI"/>
              </a:rPr>
              <a:t>OnePilot connects your SAP and non-SAP systems alike.</a:t>
            </a:r>
          </a:p>
        </p:txBody>
      </p:sp>
      <p:sp>
        <p:nvSpPr>
          <p:cNvPr id="27" name="Rounded Rectangle 26"/>
          <p:cNvSpPr/>
          <p:nvPr/>
        </p:nvSpPr>
        <p:spPr>
          <a:xfrm>
            <a:off x="2926080" y="5193792"/>
            <a:ext cx="6339535" cy="658368"/>
          </a:xfrm>
          <a:prstGeom prst="roundRect">
            <a:avLst>
              <a:gd name="adj" fmla="val 12000"/>
            </a:avLst>
          </a:prstGeom>
          <a:solidFill>
            <a:srgbClr val="0F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26080" y="5193792"/>
            <a:ext cx="6339535" cy="658368"/>
          </a:xfrm>
          <a:prstGeom prst="rect">
            <a:avLst/>
          </a:prstGeom>
          <a:noFill/>
        </p:spPr>
        <p:txBody>
          <a:bodyPr wrap="square" anchor="ctr" lIns="0" rIns="0" tIns="0" bIns="0">
            <a:noAutofit/>
          </a:bodyPr>
          <a:lstStyle/>
          <a:p>
            <a:pPr algn="ctr"/>
            <a:r>
              <a:rPr sz="1400" b="0" i="0">
                <a:solidFill>
                  <a:srgbClr val="ECEFF0"/>
                </a:solidFill>
                <a:latin typeface="Segoe UI Semibold"/>
              </a:rPr>
              <a:t>SAP   ·   your book of records, grounded</a:t>
            </a:r>
          </a:p>
        </p:txBody>
      </p:sp>
      <p:sp>
        <p:nvSpPr>
          <p:cNvPr id="29" name="TextBox 28"/>
          <p:cNvSpPr txBox="1"/>
          <p:nvPr/>
        </p:nvSpPr>
        <p:spPr>
          <a:xfrm>
            <a:off x="566928" y="5943600"/>
            <a:ext cx="11057839" cy="274320"/>
          </a:xfrm>
          <a:prstGeom prst="rect">
            <a:avLst/>
          </a:prstGeom>
          <a:noFill/>
        </p:spPr>
        <p:txBody>
          <a:bodyPr wrap="square" anchor="t" lIns="0" rIns="0" tIns="0" bIns="0">
            <a:noAutofit/>
          </a:bodyPr>
          <a:lstStyle/>
          <a:p>
            <a:pPr algn="ctr"/>
            <a:r>
              <a:rPr sz="1200" b="0" i="0">
                <a:solidFill>
                  <a:srgbClr val="8A9599"/>
                </a:solidFill>
                <a:latin typeface="Segoe UI"/>
              </a:rPr>
              <a:t>In production across financial services, chemicals, food &amp; drink, oil &amp; gas, commodity and agricultural treasuries.</a:t>
            </a:r>
          </a:p>
        </p:txBody>
      </p:sp>
      <p:sp>
        <p:nvSpPr>
          <p:cNvPr id="30" name="Rectangle 29"/>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32" name="TextBox 31"/>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PLATFORM · FUNCTIONAL OVERVIEW</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400" b="0" i="0">
                <a:solidFill>
                  <a:srgbClr val="0F1417"/>
                </a:solidFill>
                <a:latin typeface="Century Gothic"/>
              </a:rPr>
              <a:t>How it fits your architecture.</a:t>
            </a:r>
          </a:p>
        </p:txBody>
      </p:sp>
      <p:sp>
        <p:nvSpPr>
          <p:cNvPr id="4" name="TextBox 3"/>
          <p:cNvSpPr txBox="1"/>
          <p:nvPr/>
        </p:nvSpPr>
        <p:spPr>
          <a:xfrm>
            <a:off x="566928" y="2020824"/>
            <a:ext cx="2743200" cy="274320"/>
          </a:xfrm>
          <a:prstGeom prst="rect">
            <a:avLst/>
          </a:prstGeom>
          <a:noFill/>
        </p:spPr>
        <p:txBody>
          <a:bodyPr wrap="square" anchor="t" lIns="0" rIns="0" tIns="0" bIns="0">
            <a:noAutofit/>
          </a:bodyPr>
          <a:lstStyle/>
          <a:p>
            <a:pPr algn="ctr"/>
            <a:r>
              <a:rPr sz="1050" b="0" i="0" spc="200">
                <a:solidFill>
                  <a:srgbClr val="8A9599"/>
                </a:solidFill>
                <a:latin typeface="Segoe UI Semibold"/>
              </a:rPr>
              <a:t>SOURCES</a:t>
            </a:r>
          </a:p>
        </p:txBody>
      </p:sp>
      <p:sp>
        <p:nvSpPr>
          <p:cNvPr id="5" name="TextBox 4"/>
          <p:cNvSpPr txBox="1"/>
          <p:nvPr/>
        </p:nvSpPr>
        <p:spPr>
          <a:xfrm>
            <a:off x="9189720" y="2020824"/>
            <a:ext cx="2435047" cy="274320"/>
          </a:xfrm>
          <a:prstGeom prst="rect">
            <a:avLst/>
          </a:prstGeom>
          <a:noFill/>
        </p:spPr>
        <p:txBody>
          <a:bodyPr wrap="square" anchor="t" lIns="0" rIns="0" tIns="0" bIns="0">
            <a:noAutofit/>
          </a:bodyPr>
          <a:lstStyle/>
          <a:p>
            <a:pPr algn="ctr"/>
            <a:r>
              <a:rPr sz="1050" b="0" i="0" spc="200">
                <a:solidFill>
                  <a:srgbClr val="8A9599"/>
                </a:solidFill>
                <a:latin typeface="Segoe UI Semibold"/>
              </a:rPr>
              <a:t>DESTINATIONS</a:t>
            </a:r>
          </a:p>
        </p:txBody>
      </p:sp>
      <p:sp>
        <p:nvSpPr>
          <p:cNvPr id="6" name="Rounded Rectangle 5"/>
          <p:cNvSpPr/>
          <p:nvPr/>
        </p:nvSpPr>
        <p:spPr>
          <a:xfrm>
            <a:off x="566928" y="2331720"/>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2331720"/>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Market data &amp; exchanges</a:t>
            </a:r>
          </a:p>
        </p:txBody>
      </p:sp>
      <p:sp>
        <p:nvSpPr>
          <p:cNvPr id="8" name="Rounded Rectangle 7"/>
          <p:cNvSpPr/>
          <p:nvPr/>
        </p:nvSpPr>
        <p:spPr>
          <a:xfrm>
            <a:off x="566928" y="2898648"/>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2898648"/>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Banks &amp; counterparties</a:t>
            </a:r>
          </a:p>
        </p:txBody>
      </p:sp>
      <p:sp>
        <p:nvSpPr>
          <p:cNvPr id="10" name="Rounded Rectangle 9"/>
          <p:cNvSpPr/>
          <p:nvPr/>
        </p:nvSpPr>
        <p:spPr>
          <a:xfrm>
            <a:off x="566928" y="3465576"/>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465576"/>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Central banks &amp; agencies</a:t>
            </a:r>
          </a:p>
        </p:txBody>
      </p:sp>
      <p:sp>
        <p:nvSpPr>
          <p:cNvPr id="12" name="Rounded Rectangle 11"/>
          <p:cNvSpPr/>
          <p:nvPr/>
        </p:nvSpPr>
        <p:spPr>
          <a:xfrm>
            <a:off x="566928" y="4032504"/>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4032504"/>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Email, files &amp; spreadsheets</a:t>
            </a:r>
          </a:p>
        </p:txBody>
      </p:sp>
      <p:sp>
        <p:nvSpPr>
          <p:cNvPr id="14" name="Rounded Rectangle 13"/>
          <p:cNvSpPr/>
          <p:nvPr/>
        </p:nvSpPr>
        <p:spPr>
          <a:xfrm>
            <a:off x="566928" y="4599431"/>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4599431"/>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SAP, Oracle, Snowflake</a:t>
            </a:r>
          </a:p>
        </p:txBody>
      </p:sp>
      <p:sp>
        <p:nvSpPr>
          <p:cNvPr id="16" name="Rounded Rectangle 15"/>
          <p:cNvSpPr/>
          <p:nvPr/>
        </p:nvSpPr>
        <p:spPr>
          <a:xfrm>
            <a:off x="9189720" y="2331720"/>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99448" y="2331720"/>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SAP: on-prem, private &amp; public cloud</a:t>
            </a:r>
          </a:p>
        </p:txBody>
      </p:sp>
      <p:sp>
        <p:nvSpPr>
          <p:cNvPr id="18" name="Rounded Rectangle 17"/>
          <p:cNvSpPr/>
          <p:nvPr/>
        </p:nvSpPr>
        <p:spPr>
          <a:xfrm>
            <a:off x="9189720" y="3087624"/>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9448" y="3087624"/>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Non-SAP systems, cloud &amp; on-prem</a:t>
            </a:r>
          </a:p>
        </p:txBody>
      </p:sp>
      <p:sp>
        <p:nvSpPr>
          <p:cNvPr id="20" name="Rounded Rectangle 19"/>
          <p:cNvSpPr/>
          <p:nvPr/>
        </p:nvSpPr>
        <p:spPr>
          <a:xfrm>
            <a:off x="9189720" y="3843528"/>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3843528"/>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Databases &amp; analytics</a:t>
            </a:r>
          </a:p>
        </p:txBody>
      </p:sp>
      <p:sp>
        <p:nvSpPr>
          <p:cNvPr id="22" name="Rounded Rectangle 21"/>
          <p:cNvSpPr/>
          <p:nvPr/>
        </p:nvSpPr>
        <p:spPr>
          <a:xfrm>
            <a:off x="9189720" y="4599431"/>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99448" y="4599431"/>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Portals &amp; file storage</a:t>
            </a:r>
          </a:p>
        </p:txBody>
      </p:sp>
      <p:sp>
        <p:nvSpPr>
          <p:cNvPr id="24" name="Rounded Rectangle 23"/>
          <p:cNvSpPr/>
          <p:nvPr/>
        </p:nvSpPr>
        <p:spPr>
          <a:xfrm>
            <a:off x="3977639" y="2468879"/>
            <a:ext cx="4251960" cy="2560320"/>
          </a:xfrm>
          <a:prstGeom prst="roundRect">
            <a:avLst>
              <a:gd name="adj" fmla="val 5000"/>
            </a:avLst>
          </a:prstGeom>
          <a:solidFill>
            <a:srgbClr val="FFFFFF"/>
          </a:solidFill>
          <a:ln w="25400">
            <a:solidFill>
              <a:srgbClr val="17B0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51959" y="2788920"/>
            <a:ext cx="3703320" cy="457200"/>
          </a:xfrm>
          <a:prstGeom prst="rect">
            <a:avLst/>
          </a:prstGeom>
          <a:noFill/>
        </p:spPr>
        <p:txBody>
          <a:bodyPr wrap="square" anchor="t" lIns="0" rIns="0" tIns="0" bIns="0">
            <a:noAutofit/>
          </a:bodyPr>
          <a:lstStyle/>
          <a:p>
            <a:pPr algn="ctr"/>
            <a:r>
              <a:rPr sz="1100" b="0" i="0" spc="200">
                <a:solidFill>
                  <a:srgbClr val="0E7C86"/>
                </a:solidFill>
                <a:latin typeface="Segoe UI Semibold"/>
              </a:rPr>
              <a:t>BRISKEN</a:t>
            </a:r>
          </a:p>
        </p:txBody>
      </p:sp>
      <p:sp>
        <p:nvSpPr>
          <p:cNvPr id="26" name="TextBox 25"/>
          <p:cNvSpPr txBox="1"/>
          <p:nvPr/>
        </p:nvSpPr>
        <p:spPr>
          <a:xfrm>
            <a:off x="4251959" y="3118103"/>
            <a:ext cx="3703320" cy="640080"/>
          </a:xfrm>
          <a:prstGeom prst="rect">
            <a:avLst/>
          </a:prstGeom>
          <a:noFill/>
        </p:spPr>
        <p:txBody>
          <a:bodyPr wrap="square" anchor="t" lIns="0" rIns="0" tIns="0" bIns="0">
            <a:noAutofit/>
          </a:bodyPr>
          <a:lstStyle/>
          <a:p>
            <a:pPr algn="ctr">
              <a:lnSpc>
                <a:spcPct val="100000"/>
              </a:lnSpc>
            </a:pPr>
            <a:r>
              <a:rPr sz="2100" b="0" i="0">
                <a:solidFill>
                  <a:srgbClr val="0F1417"/>
                </a:solidFill>
                <a:latin typeface="Century Gothic"/>
              </a:rPr>
              <a:t>TreasuryCentral</a:t>
            </a:r>
          </a:p>
        </p:txBody>
      </p:sp>
      <p:sp>
        <p:nvSpPr>
          <p:cNvPr id="27" name="TextBox 26"/>
          <p:cNvSpPr txBox="1"/>
          <p:nvPr/>
        </p:nvSpPr>
        <p:spPr>
          <a:xfrm>
            <a:off x="4251959" y="3813048"/>
            <a:ext cx="3703320" cy="310896"/>
          </a:xfrm>
          <a:prstGeom prst="rect">
            <a:avLst/>
          </a:prstGeom>
          <a:noFill/>
        </p:spPr>
        <p:txBody>
          <a:bodyPr wrap="square" anchor="t" lIns="0" rIns="0" tIns="0" bIns="0">
            <a:noAutofit/>
          </a:bodyPr>
          <a:lstStyle/>
          <a:p>
            <a:pPr algn="ctr"/>
            <a:r>
              <a:rPr sz="1250" b="0" i="0">
                <a:solidFill>
                  <a:srgbClr val="5B666B"/>
                </a:solidFill>
                <a:latin typeface="Segoe UI"/>
              </a:rPr>
              <a:t>on SAP's own cloud  ·  governed end to end</a:t>
            </a:r>
          </a:p>
        </p:txBody>
      </p:sp>
      <p:sp>
        <p:nvSpPr>
          <p:cNvPr id="28" name="Rounded Rectangle 27"/>
          <p:cNvSpPr/>
          <p:nvPr/>
        </p:nvSpPr>
        <p:spPr>
          <a:xfrm>
            <a:off x="4343400" y="4215383"/>
            <a:ext cx="3520440" cy="603504"/>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4840" y="4215383"/>
            <a:ext cx="3337560" cy="603504"/>
          </a:xfrm>
          <a:prstGeom prst="rect">
            <a:avLst/>
          </a:prstGeom>
          <a:noFill/>
        </p:spPr>
        <p:txBody>
          <a:bodyPr wrap="square" anchor="ctr" lIns="0" rIns="0" tIns="0" bIns="0">
            <a:noAutofit/>
          </a:bodyPr>
          <a:lstStyle/>
          <a:p>
            <a:pPr algn="ctr">
              <a:lnSpc>
                <a:spcPct val="110000"/>
              </a:lnSpc>
            </a:pPr>
            <a:r>
              <a:rPr sz="1050" b="0" i="0">
                <a:solidFill>
                  <a:srgbClr val="5B666B"/>
                </a:solidFill>
                <a:latin typeface="Segoe UI"/>
              </a:rPr>
              <a:t>Audit trail · segregation of duty · anomaly alerts · person-in-the-loop</a:t>
            </a:r>
          </a:p>
        </p:txBody>
      </p:sp>
      <p:sp>
        <p:nvSpPr>
          <p:cNvPr id="30" name="Right Arrow 29"/>
          <p:cNvSpPr/>
          <p:nvPr/>
        </p:nvSpPr>
        <p:spPr>
          <a:xfrm>
            <a:off x="3438144" y="3602735"/>
            <a:ext cx="411479" cy="292608"/>
          </a:xfrm>
          <a:prstGeom prst="rightArrow">
            <a:avLst>
              <a:gd name="adj1" fmla="val 55000"/>
              <a:gd name="adj2" fmla="val 55000"/>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ight Arrow 30"/>
          <p:cNvSpPr/>
          <p:nvPr/>
        </p:nvSpPr>
        <p:spPr>
          <a:xfrm>
            <a:off x="8357616" y="3602735"/>
            <a:ext cx="704088" cy="292608"/>
          </a:xfrm>
          <a:prstGeom prst="rightArrow">
            <a:avLst>
              <a:gd name="adj1" fmla="val 55000"/>
              <a:gd name="adj2" fmla="val 55000"/>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5422392"/>
            <a:ext cx="11057839" cy="274320"/>
          </a:xfrm>
          <a:prstGeom prst="rect">
            <a:avLst/>
          </a:prstGeom>
          <a:noFill/>
        </p:spPr>
        <p:txBody>
          <a:bodyPr wrap="square" anchor="t" lIns="0" rIns="0" tIns="0" bIns="0">
            <a:noAutofit/>
          </a:bodyPr>
          <a:lstStyle/>
          <a:p>
            <a:pPr algn="ctr"/>
            <a:r>
              <a:rPr sz="1100" b="0" i="0" spc="60">
                <a:solidFill>
                  <a:srgbClr val="0E7C86"/>
                </a:solidFill>
                <a:latin typeface="Segoe UI Semibold"/>
              </a:rPr>
              <a:t>CONNECTS VIA   RFC / OData  ·  AMQP  ·  SFTP  ·  REST  ·  HTTP  ·  Email  ·  Excel add-in</a:t>
            </a:r>
          </a:p>
        </p:txBody>
      </p:sp>
      <p:sp>
        <p:nvSpPr>
          <p:cNvPr id="33" name="TextBox 32"/>
          <p:cNvSpPr txBox="1"/>
          <p:nvPr/>
        </p:nvSpPr>
        <p:spPr>
          <a:xfrm>
            <a:off x="566928" y="5733288"/>
            <a:ext cx="11057839" cy="274320"/>
          </a:xfrm>
          <a:prstGeom prst="rect">
            <a:avLst/>
          </a:prstGeom>
          <a:noFill/>
        </p:spPr>
        <p:txBody>
          <a:bodyPr wrap="square" anchor="t" lIns="0" rIns="0" tIns="0" bIns="0">
            <a:noAutofit/>
          </a:bodyPr>
          <a:lstStyle/>
          <a:p>
            <a:pPr algn="ctr"/>
            <a:r>
              <a:rPr sz="1200" b="0" i="0">
                <a:solidFill>
                  <a:srgbClr val="8A9599"/>
                </a:solidFill>
                <a:latin typeface="Segoe UI"/>
              </a:rPr>
              <a:t>Connects both ways over RFC/OData, AMQP, SFTP, REST, HTTP, email and Excel. Your book of records stays in SAP.</a:t>
            </a:r>
          </a:p>
        </p:txBody>
      </p:sp>
      <p:pic>
        <p:nvPicPr>
          <p:cNvPr id="34" name="Picture 33" descr="sap_certified.png"/>
          <p:cNvPicPr>
            <a:picLocks noChangeAspect="1"/>
          </p:cNvPicPr>
          <p:nvPr/>
        </p:nvPicPr>
        <p:blipFill>
          <a:blip r:embed="rId2"/>
          <a:stretch>
            <a:fillRect/>
          </a:stretch>
        </p:blipFill>
        <p:spPr>
          <a:xfrm>
            <a:off x="9887407" y="457200"/>
            <a:ext cx="1737360" cy="366813"/>
          </a:xfrm>
          <a:prstGeom prst="rect">
            <a:avLst/>
          </a:prstGeom>
        </p:spPr>
      </p:pic>
      <p:sp>
        <p:nvSpPr>
          <p:cNvPr id="35" name="Rectangle 34"/>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37" name="TextBox 36"/>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THE PLATFORM · GOVERNANCE</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800" b="0" i="0">
                <a:solidFill>
                  <a:srgbClr val="0F1417"/>
                </a:solidFill>
                <a:latin typeface="Century Gothic"/>
              </a:rPr>
              <a:t>Governed, in plain terms.</a:t>
            </a:r>
          </a:p>
        </p:txBody>
      </p:sp>
      <p:sp>
        <p:nvSpPr>
          <p:cNvPr id="4" name="TextBox 3"/>
          <p:cNvSpPr txBox="1"/>
          <p:nvPr/>
        </p:nvSpPr>
        <p:spPr>
          <a:xfrm>
            <a:off x="566928" y="1783080"/>
            <a:ext cx="10241280" cy="640080"/>
          </a:xfrm>
          <a:prstGeom prst="rect">
            <a:avLst/>
          </a:prstGeom>
          <a:noFill/>
        </p:spPr>
        <p:txBody>
          <a:bodyPr wrap="square" anchor="t" lIns="0" rIns="0" tIns="0" bIns="0">
            <a:noAutofit/>
          </a:bodyPr>
          <a:lstStyle/>
          <a:p>
            <a:pPr algn="l">
              <a:lnSpc>
                <a:spcPct val="120000"/>
              </a:lnSpc>
            </a:pPr>
            <a:r>
              <a:rPr sz="1500" b="0" i="0">
                <a:solidFill>
                  <a:srgbClr val="5B666B"/>
                </a:solidFill>
                <a:latin typeface="Segoe UI"/>
              </a:rPr>
              <a:t>The same four controls run under every application, the AI included: it is grounded in SAP, not free-floating, and keeps a human in the loop on the moves that matter. What each control means, and why it matters:</a:t>
            </a:r>
          </a:p>
        </p:txBody>
      </p:sp>
      <p:sp>
        <p:nvSpPr>
          <p:cNvPr id="5" name="Rounded Rectangle 4"/>
          <p:cNvSpPr/>
          <p:nvPr/>
        </p:nvSpPr>
        <p:spPr>
          <a:xfrm>
            <a:off x="566928" y="2651760"/>
            <a:ext cx="2545003" cy="260604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86384" y="2889504"/>
            <a:ext cx="310896"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3054096"/>
            <a:ext cx="2106091" cy="2057400"/>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Audit trail</a:t>
            </a:r>
          </a:p>
          <a:p>
            <a:pPr algn="l">
              <a:lnSpc>
                <a:spcPct val="114000"/>
              </a:lnSpc>
            </a:pPr>
            <a:r>
              <a:rPr sz="1350" b="0" i="0">
                <a:solidFill>
                  <a:srgbClr val="5B666B"/>
                </a:solidFill>
                <a:latin typeface="Segoe UI"/>
              </a:rPr>
              <a:t>Every action is logged and can be reviewed later, end to end. Nothing happens off the record.</a:t>
            </a:r>
          </a:p>
        </p:txBody>
      </p:sp>
      <p:sp>
        <p:nvSpPr>
          <p:cNvPr id="8" name="Rounded Rectangle 7"/>
          <p:cNvSpPr/>
          <p:nvPr/>
        </p:nvSpPr>
        <p:spPr>
          <a:xfrm>
            <a:off x="3404539" y="2651760"/>
            <a:ext cx="2545003" cy="260604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23995" y="2889504"/>
            <a:ext cx="310896" cy="45720"/>
          </a:xfrm>
          <a:prstGeom prst="rect">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3995" y="3054096"/>
            <a:ext cx="2106091" cy="2057400"/>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Four-eyes / segregation of duty</a:t>
            </a:r>
          </a:p>
          <a:p>
            <a:pPr algn="l">
              <a:lnSpc>
                <a:spcPct val="114000"/>
              </a:lnSpc>
            </a:pPr>
            <a:r>
              <a:rPr sz="1350" b="0" i="0">
                <a:solidFill>
                  <a:srgbClr val="5B666B"/>
                </a:solidFill>
                <a:latin typeface="Segoe UI"/>
              </a:rPr>
              <a:t>The person who enters something is not the one who approves it. A human stays in the loop (HITL) on the moves that matter.</a:t>
            </a:r>
          </a:p>
        </p:txBody>
      </p:sp>
      <p:sp>
        <p:nvSpPr>
          <p:cNvPr id="11" name="Rounded Rectangle 10"/>
          <p:cNvSpPr/>
          <p:nvPr/>
        </p:nvSpPr>
        <p:spPr>
          <a:xfrm>
            <a:off x="6242151" y="2651760"/>
            <a:ext cx="2545003" cy="260604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61607" y="2889504"/>
            <a:ext cx="310896"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1607" y="3054096"/>
            <a:ext cx="2106091" cy="2057400"/>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Anomaly alerts</a:t>
            </a:r>
          </a:p>
          <a:p>
            <a:pPr algn="l">
              <a:lnSpc>
                <a:spcPct val="114000"/>
              </a:lnSpc>
            </a:pPr>
            <a:r>
              <a:rPr sz="1350" b="0" i="0">
                <a:solidFill>
                  <a:srgbClr val="5B666B"/>
                </a:solidFill>
                <a:latin typeface="Segoe UI"/>
              </a:rPr>
              <a:t>The system flags what looks wrong before it posts, not after, so a bad value is caught on the way in.</a:t>
            </a:r>
          </a:p>
        </p:txBody>
      </p:sp>
      <p:sp>
        <p:nvSpPr>
          <p:cNvPr id="14" name="Rounded Rectangle 13"/>
          <p:cNvSpPr/>
          <p:nvPr/>
        </p:nvSpPr>
        <p:spPr>
          <a:xfrm>
            <a:off x="9079763" y="2651760"/>
            <a:ext cx="2545003" cy="260604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299219" y="2889504"/>
            <a:ext cx="310896"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99219" y="3054096"/>
            <a:ext cx="2106091" cy="2057400"/>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Manage by exception</a:t>
            </a:r>
          </a:p>
          <a:p>
            <a:pPr algn="l">
              <a:lnSpc>
                <a:spcPct val="114000"/>
              </a:lnSpc>
            </a:pPr>
            <a:r>
              <a:rPr sz="1350" b="0" i="0">
                <a:solidFill>
                  <a:srgbClr val="5B666B"/>
                </a:solidFill>
                <a:latin typeface="Segoe UI"/>
              </a:rPr>
              <a:t>People only touch the cases that need judgment. The rest just runs, and you hear about the odd one out.</a:t>
            </a:r>
          </a:p>
        </p:txBody>
      </p:sp>
      <p:sp>
        <p:nvSpPr>
          <p:cNvPr id="17" name="TextBox 16"/>
          <p:cNvSpPr txBox="1"/>
          <p:nvPr/>
        </p:nvSpPr>
        <p:spPr>
          <a:xfrm>
            <a:off x="566928" y="5486400"/>
            <a:ext cx="11057839" cy="365760"/>
          </a:xfrm>
          <a:prstGeom prst="rect">
            <a:avLst/>
          </a:prstGeom>
          <a:noFill/>
        </p:spPr>
        <p:txBody>
          <a:bodyPr wrap="square" anchor="t" lIns="0" rIns="0" tIns="0" bIns="0">
            <a:noAutofit/>
          </a:bodyPr>
          <a:lstStyle/>
          <a:p>
            <a:pPr algn="l"/>
            <a:r>
              <a:rPr sz="1300" b="0" i="0">
                <a:solidFill>
                  <a:srgbClr val="0E7C86"/>
                </a:solidFill>
                <a:latin typeface="Segoe UI Semibold"/>
              </a:rPr>
              <a:t>AI grounded in SAP, with a human in the loop.    ·    Certified to ISO 27001 and SOC 1 Type II.</a:t>
            </a:r>
          </a:p>
        </p:txBody>
      </p:sp>
      <p:sp>
        <p:nvSpPr>
          <p:cNvPr id="18" name="Rectangle 17"/>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0" name="TextBox 19"/>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417"/>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0"/>
            <a:ext cx="2743200" cy="640080"/>
          </a:xfrm>
          <a:prstGeom prst="rect">
            <a:avLst/>
          </a:prstGeom>
          <a:noFill/>
        </p:spPr>
        <p:txBody>
          <a:bodyPr wrap="square" anchor="t" lIns="0" rIns="0" tIns="0" bIns="0">
            <a:noAutofit/>
          </a:bodyPr>
          <a:lstStyle/>
          <a:p>
            <a:pPr algn="l"/>
            <a:r>
              <a:rPr sz="2600" b="0" i="0" spc="100">
                <a:solidFill>
                  <a:srgbClr val="17B0BE"/>
                </a:solidFill>
                <a:latin typeface="Century Gothic"/>
              </a:rPr>
              <a:t>03</a:t>
            </a:r>
          </a:p>
        </p:txBody>
      </p:sp>
      <p:sp>
        <p:nvSpPr>
          <p:cNvPr id="4" name="TextBox 3"/>
          <p:cNvSpPr txBox="1"/>
          <p:nvPr/>
        </p:nvSpPr>
        <p:spPr>
          <a:xfrm>
            <a:off x="548640" y="2926080"/>
            <a:ext cx="10515600" cy="1280160"/>
          </a:xfrm>
          <a:prstGeom prst="rect">
            <a:avLst/>
          </a:prstGeom>
          <a:noFill/>
        </p:spPr>
        <p:txBody>
          <a:bodyPr wrap="square" anchor="t" lIns="0" rIns="0" tIns="0" bIns="0">
            <a:noAutofit/>
          </a:bodyPr>
          <a:lstStyle/>
          <a:p>
            <a:pPr algn="l">
              <a:lnSpc>
                <a:spcPct val="100000"/>
              </a:lnSpc>
            </a:pPr>
            <a:r>
              <a:rPr sz="4600" b="0" i="0">
                <a:solidFill>
                  <a:srgbClr val="ECEFF0"/>
                </a:solidFill>
                <a:latin typeface="Century Gothic"/>
              </a:rPr>
              <a:t>Market Data Hub</a:t>
            </a:r>
          </a:p>
        </p:txBody>
      </p:sp>
      <p:sp>
        <p:nvSpPr>
          <p:cNvPr id="5" name="TextBox 4"/>
          <p:cNvSpPr txBox="1"/>
          <p:nvPr/>
        </p:nvSpPr>
        <p:spPr>
          <a:xfrm>
            <a:off x="566928" y="3968496"/>
            <a:ext cx="8686800" cy="731520"/>
          </a:xfrm>
          <a:prstGeom prst="rect">
            <a:avLst/>
          </a:prstGeom>
          <a:noFill/>
        </p:spPr>
        <p:txBody>
          <a:bodyPr wrap="square" anchor="t" lIns="0" rIns="0" tIns="0" bIns="0">
            <a:noAutofit/>
          </a:bodyPr>
          <a:lstStyle/>
          <a:p>
            <a:pPr algn="l">
              <a:lnSpc>
                <a:spcPct val="120000"/>
              </a:lnSpc>
            </a:pPr>
            <a:r>
              <a:rPr sz="1600" b="0" i="0">
                <a:solidFill>
                  <a:srgbClr val="9AA6AB"/>
                </a:solidFill>
                <a:latin typeface="Segoe UI"/>
              </a:rPr>
              <a:t>One source for every rate you rely on.</a:t>
            </a:r>
          </a:p>
        </p:txBody>
      </p:sp>
      <p:pic>
        <p:nvPicPr>
          <p:cNvPr id="6" name="Picture 5" descr="brisken_reversed.png"/>
          <p:cNvPicPr>
            <a:picLocks noChangeAspect="1"/>
          </p:cNvPicPr>
          <p:nvPr/>
        </p:nvPicPr>
        <p:blipFill>
          <a:blip r:embed="rId2"/>
          <a:stretch>
            <a:fillRect/>
          </a:stretch>
        </p:blipFill>
        <p:spPr>
          <a:xfrm>
            <a:off x="10455603" y="6236208"/>
            <a:ext cx="1169163" cy="25603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MARKET DATA HUB</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400" b="0" i="0">
                <a:solidFill>
                  <a:srgbClr val="0F1417"/>
                </a:solidFill>
                <a:latin typeface="Century Gothic"/>
              </a:rPr>
              <a:t>One source for every rate you rely on.</a:t>
            </a:r>
          </a:p>
        </p:txBody>
      </p:sp>
      <p:sp>
        <p:nvSpPr>
          <p:cNvPr id="4" name="TextBox 3"/>
          <p:cNvSpPr txBox="1"/>
          <p:nvPr/>
        </p:nvSpPr>
        <p:spPr>
          <a:xfrm>
            <a:off x="566928" y="1755648"/>
            <a:ext cx="10424160" cy="457200"/>
          </a:xfrm>
          <a:prstGeom prst="rect">
            <a:avLst/>
          </a:prstGeom>
          <a:noFill/>
        </p:spPr>
        <p:txBody>
          <a:bodyPr wrap="square" anchor="t" lIns="0" rIns="0" tIns="0" bIns="0">
            <a:noAutofit/>
          </a:bodyPr>
          <a:lstStyle/>
          <a:p>
            <a:pPr algn="l">
              <a:lnSpc>
                <a:spcPct val="118000"/>
              </a:lnSpc>
            </a:pPr>
            <a:r>
              <a:rPr sz="1450" b="0" i="1">
                <a:solidFill>
                  <a:srgbClr val="5B666B"/>
                </a:solidFill>
                <a:latin typeface="Segoe UI"/>
              </a:rPr>
              <a:t>Market data means the FX and interest rates, commodity prices and credit ratings a treasury runs on. Today they arrive from a dozen places.</a:t>
            </a:r>
          </a:p>
        </p:txBody>
      </p:sp>
      <p:sp>
        <p:nvSpPr>
          <p:cNvPr id="5" name="Rounded Rectangle 4"/>
          <p:cNvSpPr/>
          <p:nvPr/>
        </p:nvSpPr>
        <p:spPr>
          <a:xfrm>
            <a:off x="566928" y="2286000"/>
            <a:ext cx="3478682" cy="2999232"/>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04672" y="2542032"/>
            <a:ext cx="329184"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706624"/>
            <a:ext cx="3003194" cy="457200"/>
          </a:xfrm>
          <a:prstGeom prst="rect">
            <a:avLst/>
          </a:prstGeom>
          <a:noFill/>
        </p:spPr>
        <p:txBody>
          <a:bodyPr wrap="square" anchor="t" lIns="0" rIns="0" tIns="0" bIns="0">
            <a:noAutofit/>
          </a:bodyPr>
          <a:lstStyle/>
          <a:p>
            <a:pPr algn="l">
              <a:lnSpc>
                <a:spcPct val="105000"/>
              </a:lnSpc>
            </a:pPr>
            <a:r>
              <a:rPr sz="1150" b="1" i="0" spc="50">
                <a:solidFill>
                  <a:srgbClr val="0F1417"/>
                </a:solidFill>
                <a:latin typeface="Segoe UI Semibold"/>
              </a:rPr>
              <a:t>THE PROBLEM IT REMOVES</a:t>
            </a:r>
          </a:p>
        </p:txBody>
      </p:sp>
      <p:sp>
        <p:nvSpPr>
          <p:cNvPr id="8" name="TextBox 7"/>
          <p:cNvSpPr txBox="1"/>
          <p:nvPr/>
        </p:nvSpPr>
        <p:spPr>
          <a:xfrm>
            <a:off x="804672" y="3310128"/>
            <a:ext cx="3003194" cy="1810511"/>
          </a:xfrm>
          <a:prstGeom prst="rect">
            <a:avLst/>
          </a:prstGeom>
          <a:noFill/>
        </p:spPr>
        <p:txBody>
          <a:bodyPr wrap="square" anchor="t" lIns="0" rIns="0" tIns="0" bIns="0">
            <a:noAutofit/>
          </a:bodyPr>
          <a:lstStyle/>
          <a:p>
            <a:pPr algn="l">
              <a:lnSpc>
                <a:spcPct val="118000"/>
              </a:lnSpc>
              <a:spcAft>
                <a:spcPts val="800"/>
              </a:spcAft>
            </a:pPr>
            <a:r>
              <a:rPr sz="1300" b="0" i="0">
                <a:solidFill>
                  <a:srgbClr val="5B666B"/>
                </a:solidFill>
                <a:latin typeface="Segoe UI"/>
              </a:rPr>
              <a:t>Your rates live in a dozen places, lined up by hand.</a:t>
            </a:r>
          </a:p>
          <a:p>
            <a:pPr algn="l">
              <a:lnSpc>
                <a:spcPct val="118000"/>
              </a:lnSpc>
              <a:spcAft>
                <a:spcPts val="800"/>
              </a:spcAft>
            </a:pPr>
            <a:r>
              <a:rPr sz="1300" b="0" i="0">
                <a:solidFill>
                  <a:srgbClr val="5B666B"/>
                </a:solidFill>
                <a:latin typeface="Segoe UI"/>
              </a:rPr>
              <a:t>Re-keying, fixing formats, chasing bad values, reconciling before month-end.</a:t>
            </a:r>
          </a:p>
        </p:txBody>
      </p:sp>
      <p:sp>
        <p:nvSpPr>
          <p:cNvPr id="9" name="Rounded Rectangle 8"/>
          <p:cNvSpPr/>
          <p:nvPr/>
        </p:nvSpPr>
        <p:spPr>
          <a:xfrm>
            <a:off x="4356506" y="2286000"/>
            <a:ext cx="3478682" cy="2999232"/>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94250" y="2542032"/>
            <a:ext cx="329184" cy="45720"/>
          </a:xfrm>
          <a:prstGeom prst="rect">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4250" y="2706624"/>
            <a:ext cx="3003194" cy="457200"/>
          </a:xfrm>
          <a:prstGeom prst="rect">
            <a:avLst/>
          </a:prstGeom>
          <a:noFill/>
        </p:spPr>
        <p:txBody>
          <a:bodyPr wrap="square" anchor="t" lIns="0" rIns="0" tIns="0" bIns="0">
            <a:noAutofit/>
          </a:bodyPr>
          <a:lstStyle/>
          <a:p>
            <a:pPr algn="l">
              <a:lnSpc>
                <a:spcPct val="105000"/>
              </a:lnSpc>
            </a:pPr>
            <a:r>
              <a:rPr sz="1150" b="1" i="0" spc="50">
                <a:solidFill>
                  <a:srgbClr val="0F1417"/>
                </a:solidFill>
                <a:latin typeface="Segoe UI Semibold"/>
              </a:rPr>
              <a:t>WHAT IT DOES, STEP BY STEP</a:t>
            </a:r>
          </a:p>
        </p:txBody>
      </p:sp>
      <p:sp>
        <p:nvSpPr>
          <p:cNvPr id="12" name="TextBox 11"/>
          <p:cNvSpPr txBox="1"/>
          <p:nvPr/>
        </p:nvSpPr>
        <p:spPr>
          <a:xfrm>
            <a:off x="4594250" y="3310128"/>
            <a:ext cx="3003194" cy="1810511"/>
          </a:xfrm>
          <a:prstGeom prst="rect">
            <a:avLst/>
          </a:prstGeom>
          <a:noFill/>
        </p:spPr>
        <p:txBody>
          <a:bodyPr wrap="square" anchor="t" lIns="0" rIns="0" tIns="0" bIns="0">
            <a:noAutofit/>
          </a:bodyPr>
          <a:lstStyle/>
          <a:p>
            <a:pPr algn="l">
              <a:lnSpc>
                <a:spcPct val="112000"/>
              </a:lnSpc>
              <a:spcAft>
                <a:spcPts val="600"/>
              </a:spcAft>
            </a:pPr>
            <a:r>
              <a:rPr sz="1250" b="0" i="0">
                <a:solidFill>
                  <a:srgbClr val="5B666B"/>
                </a:solidFill>
                <a:latin typeface="Segoe UI"/>
              </a:rPr>
              <a:t>1   Pulls every rate from any source: Bloomberg, Refinitiv, 360T, OANDA, central banks.</a:t>
            </a:r>
          </a:p>
          <a:p>
            <a:pPr algn="l">
              <a:lnSpc>
                <a:spcPct val="112000"/>
              </a:lnSpc>
              <a:spcAft>
                <a:spcPts val="600"/>
              </a:spcAft>
            </a:pPr>
            <a:r>
              <a:rPr sz="1250" b="0" i="0">
                <a:solidFill>
                  <a:srgbClr val="5B666B"/>
                </a:solidFill>
                <a:latin typeface="Segoe UI"/>
              </a:rPr>
              <a:t>2   Checks each value on arrival for anomalies, completeness and accuracy.</a:t>
            </a:r>
          </a:p>
          <a:p>
            <a:pPr algn="l">
              <a:lnSpc>
                <a:spcPct val="112000"/>
              </a:lnSpc>
              <a:spcAft>
                <a:spcPts val="600"/>
              </a:spcAft>
            </a:pPr>
            <a:r>
              <a:rPr sz="1250" b="0" i="0">
                <a:solidFill>
                  <a:srgbClr val="5B666B"/>
                </a:solidFill>
                <a:latin typeface="Segoe UI"/>
              </a:rPr>
              <a:t>3   Calculates and shapes it: inversions, triangulation, your own formulas.</a:t>
            </a:r>
          </a:p>
          <a:p>
            <a:pPr algn="l">
              <a:lnSpc>
                <a:spcPct val="112000"/>
              </a:lnSpc>
              <a:spcAft>
                <a:spcPts val="600"/>
              </a:spcAft>
            </a:pPr>
            <a:r>
              <a:rPr sz="1250" b="0" i="0">
                <a:solidFill>
                  <a:srgbClr val="5B666B"/>
                </a:solidFill>
                <a:latin typeface="Segoe UI"/>
              </a:rPr>
              <a:t>4   Pushes it into SAP and non-SAP systems, on schedule or on demand.</a:t>
            </a:r>
          </a:p>
        </p:txBody>
      </p:sp>
      <p:sp>
        <p:nvSpPr>
          <p:cNvPr id="13" name="Rounded Rectangle 12"/>
          <p:cNvSpPr/>
          <p:nvPr/>
        </p:nvSpPr>
        <p:spPr>
          <a:xfrm>
            <a:off x="8146084" y="2286000"/>
            <a:ext cx="3478682" cy="2999232"/>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3828" y="2542032"/>
            <a:ext cx="329184"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3828" y="2706624"/>
            <a:ext cx="3003194" cy="457200"/>
          </a:xfrm>
          <a:prstGeom prst="rect">
            <a:avLst/>
          </a:prstGeom>
          <a:noFill/>
        </p:spPr>
        <p:txBody>
          <a:bodyPr wrap="square" anchor="t" lIns="0" rIns="0" tIns="0" bIns="0">
            <a:noAutofit/>
          </a:bodyPr>
          <a:lstStyle/>
          <a:p>
            <a:pPr algn="l">
              <a:lnSpc>
                <a:spcPct val="105000"/>
              </a:lnSpc>
            </a:pPr>
            <a:r>
              <a:rPr sz="1150" b="1" i="0" spc="50">
                <a:solidFill>
                  <a:srgbClr val="0F1417"/>
                </a:solidFill>
                <a:latin typeface="Segoe UI Semibold"/>
              </a:rPr>
              <a:t>WHAT YOU NO LONGER DO BY HAND</a:t>
            </a:r>
          </a:p>
        </p:txBody>
      </p:sp>
      <p:sp>
        <p:nvSpPr>
          <p:cNvPr id="16" name="TextBox 15"/>
          <p:cNvSpPr txBox="1"/>
          <p:nvPr/>
        </p:nvSpPr>
        <p:spPr>
          <a:xfrm>
            <a:off x="8383828" y="3310128"/>
            <a:ext cx="3003194" cy="1810511"/>
          </a:xfrm>
          <a:prstGeom prst="rect">
            <a:avLst/>
          </a:prstGeom>
          <a:noFill/>
        </p:spPr>
        <p:txBody>
          <a:bodyPr wrap="square" anchor="t" lIns="0" rIns="0" tIns="0" bIns="0">
            <a:noAutofit/>
          </a:bodyPr>
          <a:lstStyle/>
          <a:p>
            <a:pPr algn="l">
              <a:lnSpc>
                <a:spcPct val="118000"/>
              </a:lnSpc>
              <a:spcAft>
                <a:spcPts val="800"/>
              </a:spcAft>
            </a:pPr>
            <a:r>
              <a:rPr sz="1300" b="0" i="0">
                <a:solidFill>
                  <a:srgbClr val="5B666B"/>
                </a:solidFill>
                <a:latin typeface="Segoe UI"/>
              </a:rPr>
              <a:t>Re-keying rates and fixing formats.</a:t>
            </a:r>
          </a:p>
          <a:p>
            <a:pPr algn="l">
              <a:lnSpc>
                <a:spcPct val="118000"/>
              </a:lnSpc>
              <a:spcAft>
                <a:spcPts val="800"/>
              </a:spcAft>
            </a:pPr>
            <a:r>
              <a:rPr sz="1300" b="0" i="0">
                <a:solidFill>
                  <a:srgbClr val="5B666B"/>
                </a:solidFill>
                <a:latin typeface="Segoe UI"/>
              </a:rPr>
              <a:t>Chasing bad values and reconciling by hand.</a:t>
            </a:r>
          </a:p>
          <a:p>
            <a:pPr algn="l">
              <a:lnSpc>
                <a:spcPct val="118000"/>
              </a:lnSpc>
              <a:spcAft>
                <a:spcPts val="800"/>
              </a:spcAft>
            </a:pPr>
            <a:r>
              <a:rPr sz="1300" b="0" i="0">
                <a:solidFill>
                  <a:srgbClr val="5B666B"/>
                </a:solidFill>
                <a:latin typeface="Segoe UI"/>
              </a:rPr>
              <a:t>Assembling the audit trail by hand.</a:t>
            </a:r>
          </a:p>
          <a:p>
            <a:pPr algn="l">
              <a:lnSpc>
                <a:spcPct val="118000"/>
              </a:lnSpc>
              <a:spcAft>
                <a:spcPts val="800"/>
              </a:spcAft>
            </a:pPr>
            <a:r>
              <a:rPr sz="1300" b="0" i="0">
                <a:solidFill>
                  <a:srgbClr val="5B666B"/>
                </a:solidFill>
                <a:latin typeface="Segoe UI"/>
              </a:rPr>
              <a:t>The month-end everyone dreads.</a:t>
            </a:r>
          </a:p>
        </p:txBody>
      </p:sp>
      <p:sp>
        <p:nvSpPr>
          <p:cNvPr id="17" name="Rounded Rectangle 16"/>
          <p:cNvSpPr/>
          <p:nvPr/>
        </p:nvSpPr>
        <p:spPr>
          <a:xfrm>
            <a:off x="566928" y="5468112"/>
            <a:ext cx="11057839" cy="548640"/>
          </a:xfrm>
          <a:prstGeom prst="roundRect">
            <a:avLst>
              <a:gd name="adj" fmla="val 8000"/>
            </a:avLst>
          </a:prstGeom>
          <a:solidFill>
            <a:srgbClr val="0F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 y="5468112"/>
            <a:ext cx="10509199" cy="548640"/>
          </a:xfrm>
          <a:prstGeom prst="rect">
            <a:avLst/>
          </a:prstGeom>
          <a:noFill/>
        </p:spPr>
        <p:txBody>
          <a:bodyPr wrap="square" anchor="ctr" lIns="0" rIns="0" tIns="0" bIns="0">
            <a:noAutofit/>
          </a:bodyPr>
          <a:lstStyle/>
          <a:p>
            <a:pPr algn="l">
              <a:lnSpc>
                <a:spcPct val="105000"/>
              </a:lnSpc>
            </a:pPr>
            <a:r>
              <a:rPr sz="1150" b="0" i="0">
                <a:solidFill>
                  <a:srgbClr val="ECEFF0"/>
                </a:solidFill>
                <a:latin typeface="Segoe UI"/>
              </a:rPr>
              <a:t>CONNECTS TO   Bloomberg · Refinitiv · 360T · OANDA · central banks  →  SAP ECC &amp; S/4HANA, non-SAP systems   ·   via API, OData, SFTP, email, Excel add-in</a:t>
            </a:r>
          </a:p>
        </p:txBody>
      </p:sp>
      <p:sp>
        <p:nvSpPr>
          <p:cNvPr id="19" name="Rectangle 18"/>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1" name="TextBox 20"/>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MARKET DATA HUB · FUNCTIONAL OVERVIEW</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400" b="0" i="0">
                <a:solidFill>
                  <a:srgbClr val="0F1417"/>
                </a:solidFill>
                <a:latin typeface="Century Gothic"/>
              </a:rPr>
              <a:t>Market data, into your SAP context.</a:t>
            </a:r>
          </a:p>
        </p:txBody>
      </p:sp>
      <p:sp>
        <p:nvSpPr>
          <p:cNvPr id="4" name="TextBox 3"/>
          <p:cNvSpPr txBox="1"/>
          <p:nvPr/>
        </p:nvSpPr>
        <p:spPr>
          <a:xfrm>
            <a:off x="566928" y="2020824"/>
            <a:ext cx="2743200" cy="274320"/>
          </a:xfrm>
          <a:prstGeom prst="rect">
            <a:avLst/>
          </a:prstGeom>
          <a:noFill/>
        </p:spPr>
        <p:txBody>
          <a:bodyPr wrap="square" anchor="t" lIns="0" rIns="0" tIns="0" bIns="0">
            <a:noAutofit/>
          </a:bodyPr>
          <a:lstStyle/>
          <a:p>
            <a:pPr algn="ctr"/>
            <a:r>
              <a:rPr sz="1050" b="0" i="0" spc="200">
                <a:solidFill>
                  <a:srgbClr val="8A9599"/>
                </a:solidFill>
                <a:latin typeface="Segoe UI Semibold"/>
              </a:rPr>
              <a:t>SOURCES</a:t>
            </a:r>
          </a:p>
        </p:txBody>
      </p:sp>
      <p:sp>
        <p:nvSpPr>
          <p:cNvPr id="5" name="TextBox 4"/>
          <p:cNvSpPr txBox="1"/>
          <p:nvPr/>
        </p:nvSpPr>
        <p:spPr>
          <a:xfrm>
            <a:off x="9189720" y="2020824"/>
            <a:ext cx="2435047" cy="274320"/>
          </a:xfrm>
          <a:prstGeom prst="rect">
            <a:avLst/>
          </a:prstGeom>
          <a:noFill/>
        </p:spPr>
        <p:txBody>
          <a:bodyPr wrap="square" anchor="t" lIns="0" rIns="0" tIns="0" bIns="0">
            <a:noAutofit/>
          </a:bodyPr>
          <a:lstStyle/>
          <a:p>
            <a:pPr algn="ctr"/>
            <a:r>
              <a:rPr sz="1050" b="0" i="0" spc="200">
                <a:solidFill>
                  <a:srgbClr val="8A9599"/>
                </a:solidFill>
                <a:latin typeface="Segoe UI Semibold"/>
              </a:rPr>
              <a:t>DESTINATIONS</a:t>
            </a:r>
          </a:p>
        </p:txBody>
      </p:sp>
      <p:sp>
        <p:nvSpPr>
          <p:cNvPr id="6" name="Rounded Rectangle 5"/>
          <p:cNvSpPr/>
          <p:nvPr/>
        </p:nvSpPr>
        <p:spPr>
          <a:xfrm>
            <a:off x="566928" y="2331720"/>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2331720"/>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Bloomberg, Refinitiv, 360T</a:t>
            </a:r>
          </a:p>
        </p:txBody>
      </p:sp>
      <p:sp>
        <p:nvSpPr>
          <p:cNvPr id="8" name="Rounded Rectangle 7"/>
          <p:cNvSpPr/>
          <p:nvPr/>
        </p:nvSpPr>
        <p:spPr>
          <a:xfrm>
            <a:off x="566928" y="3087624"/>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3087624"/>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Central banks &amp; agencies</a:t>
            </a:r>
          </a:p>
        </p:txBody>
      </p:sp>
      <p:sp>
        <p:nvSpPr>
          <p:cNvPr id="10" name="Rounded Rectangle 9"/>
          <p:cNvSpPr/>
          <p:nvPr/>
        </p:nvSpPr>
        <p:spPr>
          <a:xfrm>
            <a:off x="566928" y="3843528"/>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843528"/>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Exchanges &amp; aggregators</a:t>
            </a:r>
          </a:p>
        </p:txBody>
      </p:sp>
      <p:sp>
        <p:nvSpPr>
          <p:cNvPr id="12" name="Rounded Rectangle 11"/>
          <p:cNvSpPr/>
          <p:nvPr/>
        </p:nvSpPr>
        <p:spPr>
          <a:xfrm>
            <a:off x="566928" y="4599431"/>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4599431"/>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Websites &amp; internal sources</a:t>
            </a:r>
          </a:p>
        </p:txBody>
      </p:sp>
      <p:sp>
        <p:nvSpPr>
          <p:cNvPr id="14" name="Rounded Rectangle 13"/>
          <p:cNvSpPr/>
          <p:nvPr/>
        </p:nvSpPr>
        <p:spPr>
          <a:xfrm>
            <a:off x="9189720" y="2331720"/>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99448" y="2331720"/>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SAP ECC &amp; S/4HANA</a:t>
            </a:r>
          </a:p>
        </p:txBody>
      </p:sp>
      <p:sp>
        <p:nvSpPr>
          <p:cNvPr id="16" name="Rounded Rectangle 15"/>
          <p:cNvSpPr/>
          <p:nvPr/>
        </p:nvSpPr>
        <p:spPr>
          <a:xfrm>
            <a:off x="9189720" y="3087624"/>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99448" y="3087624"/>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Exposure &amp; risk systems</a:t>
            </a:r>
          </a:p>
        </p:txBody>
      </p:sp>
      <p:sp>
        <p:nvSpPr>
          <p:cNvPr id="18" name="Rounded Rectangle 17"/>
          <p:cNvSpPr/>
          <p:nvPr/>
        </p:nvSpPr>
        <p:spPr>
          <a:xfrm>
            <a:off x="9189720" y="3843528"/>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9448" y="3843528"/>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Analytics &amp; databases</a:t>
            </a:r>
          </a:p>
        </p:txBody>
      </p:sp>
      <p:sp>
        <p:nvSpPr>
          <p:cNvPr id="20" name="Rounded Rectangle 19"/>
          <p:cNvSpPr/>
          <p:nvPr/>
        </p:nvSpPr>
        <p:spPr>
          <a:xfrm>
            <a:off x="9189720" y="4599431"/>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4599431"/>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Non-SAP systems</a:t>
            </a:r>
          </a:p>
        </p:txBody>
      </p:sp>
      <p:sp>
        <p:nvSpPr>
          <p:cNvPr id="22" name="Rounded Rectangle 21"/>
          <p:cNvSpPr/>
          <p:nvPr/>
        </p:nvSpPr>
        <p:spPr>
          <a:xfrm>
            <a:off x="3977639" y="2468879"/>
            <a:ext cx="4251960" cy="2560320"/>
          </a:xfrm>
          <a:prstGeom prst="roundRect">
            <a:avLst>
              <a:gd name="adj" fmla="val 5000"/>
            </a:avLst>
          </a:prstGeom>
          <a:solidFill>
            <a:srgbClr val="FFFFFF"/>
          </a:solidFill>
          <a:ln w="25400">
            <a:solidFill>
              <a:srgbClr val="17B0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51959" y="2788920"/>
            <a:ext cx="3703320" cy="457200"/>
          </a:xfrm>
          <a:prstGeom prst="rect">
            <a:avLst/>
          </a:prstGeom>
          <a:noFill/>
        </p:spPr>
        <p:txBody>
          <a:bodyPr wrap="square" anchor="t" lIns="0" rIns="0" tIns="0" bIns="0">
            <a:noAutofit/>
          </a:bodyPr>
          <a:lstStyle/>
          <a:p>
            <a:pPr algn="ctr"/>
            <a:r>
              <a:rPr sz="1100" b="0" i="0" spc="200">
                <a:solidFill>
                  <a:srgbClr val="0E7C86"/>
                </a:solidFill>
                <a:latin typeface="Segoe UI Semibold"/>
              </a:rPr>
              <a:t>BRISKEN</a:t>
            </a:r>
          </a:p>
        </p:txBody>
      </p:sp>
      <p:sp>
        <p:nvSpPr>
          <p:cNvPr id="24" name="TextBox 23"/>
          <p:cNvSpPr txBox="1"/>
          <p:nvPr/>
        </p:nvSpPr>
        <p:spPr>
          <a:xfrm>
            <a:off x="4251959" y="3118103"/>
            <a:ext cx="3703320" cy="640080"/>
          </a:xfrm>
          <a:prstGeom prst="rect">
            <a:avLst/>
          </a:prstGeom>
          <a:noFill/>
        </p:spPr>
        <p:txBody>
          <a:bodyPr wrap="square" anchor="t" lIns="0" rIns="0" tIns="0" bIns="0">
            <a:noAutofit/>
          </a:bodyPr>
          <a:lstStyle/>
          <a:p>
            <a:pPr algn="ctr">
              <a:lnSpc>
                <a:spcPct val="100000"/>
              </a:lnSpc>
            </a:pPr>
            <a:r>
              <a:rPr sz="2100" b="0" i="0">
                <a:solidFill>
                  <a:srgbClr val="0F1417"/>
                </a:solidFill>
                <a:latin typeface="Century Gothic"/>
              </a:rPr>
              <a:t>Market Data Hub</a:t>
            </a:r>
          </a:p>
        </p:txBody>
      </p:sp>
      <p:sp>
        <p:nvSpPr>
          <p:cNvPr id="25" name="TextBox 24"/>
          <p:cNvSpPr txBox="1"/>
          <p:nvPr/>
        </p:nvSpPr>
        <p:spPr>
          <a:xfrm>
            <a:off x="4251959" y="3813048"/>
            <a:ext cx="3703320" cy="310896"/>
          </a:xfrm>
          <a:prstGeom prst="rect">
            <a:avLst/>
          </a:prstGeom>
          <a:noFill/>
        </p:spPr>
        <p:txBody>
          <a:bodyPr wrap="square" anchor="t" lIns="0" rIns="0" tIns="0" bIns="0">
            <a:noAutofit/>
          </a:bodyPr>
          <a:lstStyle/>
          <a:p>
            <a:pPr algn="ctr"/>
            <a:r>
              <a:rPr sz="1250" b="0" i="0">
                <a:solidFill>
                  <a:srgbClr val="5B666B"/>
                </a:solidFill>
                <a:latin typeface="Segoe UI"/>
              </a:rPr>
              <a:t>on SAP's own cloud  ·  governed end to end</a:t>
            </a:r>
          </a:p>
        </p:txBody>
      </p:sp>
      <p:sp>
        <p:nvSpPr>
          <p:cNvPr id="26" name="Rounded Rectangle 25"/>
          <p:cNvSpPr/>
          <p:nvPr/>
        </p:nvSpPr>
        <p:spPr>
          <a:xfrm>
            <a:off x="4343400" y="4215383"/>
            <a:ext cx="3520440" cy="603504"/>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4840" y="4215383"/>
            <a:ext cx="3337560" cy="603504"/>
          </a:xfrm>
          <a:prstGeom prst="rect">
            <a:avLst/>
          </a:prstGeom>
          <a:noFill/>
        </p:spPr>
        <p:txBody>
          <a:bodyPr wrap="square" anchor="ctr" lIns="0" rIns="0" tIns="0" bIns="0">
            <a:noAutofit/>
          </a:bodyPr>
          <a:lstStyle/>
          <a:p>
            <a:pPr algn="ctr">
              <a:lnSpc>
                <a:spcPct val="110000"/>
              </a:lnSpc>
            </a:pPr>
            <a:r>
              <a:rPr sz="1050" b="0" i="0">
                <a:solidFill>
                  <a:srgbClr val="5B666B"/>
                </a:solidFill>
                <a:latin typeface="Segoe UI"/>
              </a:rPr>
              <a:t>Audit trail · segregation of duty · anomaly alerts · person-in-the-loop</a:t>
            </a:r>
          </a:p>
        </p:txBody>
      </p:sp>
      <p:sp>
        <p:nvSpPr>
          <p:cNvPr id="28" name="Right Arrow 27"/>
          <p:cNvSpPr/>
          <p:nvPr/>
        </p:nvSpPr>
        <p:spPr>
          <a:xfrm>
            <a:off x="3438144" y="3602735"/>
            <a:ext cx="411479" cy="292608"/>
          </a:xfrm>
          <a:prstGeom prst="rightArrow">
            <a:avLst>
              <a:gd name="adj1" fmla="val 55000"/>
              <a:gd name="adj2" fmla="val 55000"/>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ght Arrow 28"/>
          <p:cNvSpPr/>
          <p:nvPr/>
        </p:nvSpPr>
        <p:spPr>
          <a:xfrm>
            <a:off x="8357616" y="3602735"/>
            <a:ext cx="704088" cy="292608"/>
          </a:xfrm>
          <a:prstGeom prst="rightArrow">
            <a:avLst>
              <a:gd name="adj1" fmla="val 55000"/>
              <a:gd name="adj2" fmla="val 55000"/>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5422392"/>
            <a:ext cx="11057839" cy="274320"/>
          </a:xfrm>
          <a:prstGeom prst="rect">
            <a:avLst/>
          </a:prstGeom>
          <a:noFill/>
        </p:spPr>
        <p:txBody>
          <a:bodyPr wrap="square" anchor="t" lIns="0" rIns="0" tIns="0" bIns="0">
            <a:noAutofit/>
          </a:bodyPr>
          <a:lstStyle/>
          <a:p>
            <a:pPr algn="ctr"/>
            <a:r>
              <a:rPr sz="1100" b="0" i="0" spc="60">
                <a:solidFill>
                  <a:srgbClr val="0E7C86"/>
                </a:solidFill>
                <a:latin typeface="Segoe UI Semibold"/>
              </a:rPr>
              <a:t>CONNECTS VIA   RFC / OData  ·  AMQP  ·  SFTP  ·  REST  ·  HTTP  ·  Email  ·  Excel add-in</a:t>
            </a:r>
          </a:p>
        </p:txBody>
      </p:sp>
      <p:sp>
        <p:nvSpPr>
          <p:cNvPr id="31" name="TextBox 30"/>
          <p:cNvSpPr txBox="1"/>
          <p:nvPr/>
        </p:nvSpPr>
        <p:spPr>
          <a:xfrm>
            <a:off x="566928" y="5733288"/>
            <a:ext cx="11057839" cy="274320"/>
          </a:xfrm>
          <a:prstGeom prst="rect">
            <a:avLst/>
          </a:prstGeom>
          <a:noFill/>
        </p:spPr>
        <p:txBody>
          <a:bodyPr wrap="square" anchor="t" lIns="0" rIns="0" tIns="0" bIns="0">
            <a:noAutofit/>
          </a:bodyPr>
          <a:lstStyle/>
          <a:p>
            <a:pPr algn="ctr"/>
            <a:r>
              <a:rPr sz="1200" b="0" i="0">
                <a:solidFill>
                  <a:srgbClr val="8A9599"/>
                </a:solidFill>
                <a:latin typeface="Segoe UI"/>
              </a:rPr>
              <a:t>Any protocol, on a schedule or on demand. Every value checked on the way in.</a:t>
            </a:r>
          </a:p>
        </p:txBody>
      </p:sp>
      <p:sp>
        <p:nvSpPr>
          <p:cNvPr id="32" name="Rectangle 31"/>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34" name="TextBox 33"/>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417"/>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0"/>
            <a:ext cx="2743200" cy="640080"/>
          </a:xfrm>
          <a:prstGeom prst="rect">
            <a:avLst/>
          </a:prstGeom>
          <a:noFill/>
        </p:spPr>
        <p:txBody>
          <a:bodyPr wrap="square" anchor="t" lIns="0" rIns="0" tIns="0" bIns="0">
            <a:noAutofit/>
          </a:bodyPr>
          <a:lstStyle/>
          <a:p>
            <a:pPr algn="l"/>
            <a:r>
              <a:rPr sz="2600" b="0" i="0" spc="100">
                <a:solidFill>
                  <a:srgbClr val="17B0BE"/>
                </a:solidFill>
                <a:latin typeface="Century Gothic"/>
              </a:rPr>
              <a:t>04</a:t>
            </a:r>
          </a:p>
        </p:txBody>
      </p:sp>
      <p:sp>
        <p:nvSpPr>
          <p:cNvPr id="4" name="TextBox 3"/>
          <p:cNvSpPr txBox="1"/>
          <p:nvPr/>
        </p:nvSpPr>
        <p:spPr>
          <a:xfrm>
            <a:off x="548640" y="2926080"/>
            <a:ext cx="10515600" cy="1280160"/>
          </a:xfrm>
          <a:prstGeom prst="rect">
            <a:avLst/>
          </a:prstGeom>
          <a:noFill/>
        </p:spPr>
        <p:txBody>
          <a:bodyPr wrap="square" anchor="t" lIns="0" rIns="0" tIns="0" bIns="0">
            <a:noAutofit/>
          </a:bodyPr>
          <a:lstStyle/>
          <a:p>
            <a:pPr algn="l">
              <a:lnSpc>
                <a:spcPct val="100000"/>
              </a:lnSpc>
            </a:pPr>
            <a:r>
              <a:rPr sz="4600" b="0" i="0">
                <a:solidFill>
                  <a:srgbClr val="ECEFF0"/>
                </a:solidFill>
                <a:latin typeface="Century Gothic"/>
              </a:rPr>
              <a:t>Smart Trading</a:t>
            </a:r>
          </a:p>
        </p:txBody>
      </p:sp>
      <p:sp>
        <p:nvSpPr>
          <p:cNvPr id="5" name="TextBox 4"/>
          <p:cNvSpPr txBox="1"/>
          <p:nvPr/>
        </p:nvSpPr>
        <p:spPr>
          <a:xfrm>
            <a:off x="566928" y="3968496"/>
            <a:ext cx="8686800" cy="731520"/>
          </a:xfrm>
          <a:prstGeom prst="rect">
            <a:avLst/>
          </a:prstGeom>
          <a:noFill/>
        </p:spPr>
        <p:txBody>
          <a:bodyPr wrap="square" anchor="t" lIns="0" rIns="0" tIns="0" bIns="0">
            <a:noAutofit/>
          </a:bodyPr>
          <a:lstStyle/>
          <a:p>
            <a:pPr algn="l">
              <a:lnSpc>
                <a:spcPct val="120000"/>
              </a:lnSpc>
            </a:pPr>
            <a:r>
              <a:rPr sz="1600" b="0" i="0">
                <a:solidFill>
                  <a:srgbClr val="9AA6AB"/>
                </a:solidFill>
                <a:latin typeface="Segoe UI"/>
              </a:rPr>
              <a:t>Autonomous trading, from the venue to booked in SAP.</a:t>
            </a:r>
          </a:p>
        </p:txBody>
      </p:sp>
      <p:pic>
        <p:nvPicPr>
          <p:cNvPr id="6" name="Picture 5" descr="brisken_reversed.png"/>
          <p:cNvPicPr>
            <a:picLocks noChangeAspect="1"/>
          </p:cNvPicPr>
          <p:nvPr/>
        </p:nvPicPr>
        <p:blipFill>
          <a:blip r:embed="rId2"/>
          <a:stretch>
            <a:fillRect/>
          </a:stretch>
        </p:blipFill>
        <p:spPr>
          <a:xfrm>
            <a:off x="10455603" y="6236208"/>
            <a:ext cx="1169163" cy="25603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BRISKEN SMART TRADING (BST)</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400" b="0" i="0">
                <a:solidFill>
                  <a:srgbClr val="0F1417"/>
                </a:solidFill>
                <a:latin typeface="Century Gothic"/>
              </a:rPr>
              <a:t>Autonomous trading, booked in SAP.</a:t>
            </a:r>
          </a:p>
        </p:txBody>
      </p:sp>
      <p:sp>
        <p:nvSpPr>
          <p:cNvPr id="4" name="TextBox 3"/>
          <p:cNvSpPr txBox="1"/>
          <p:nvPr/>
        </p:nvSpPr>
        <p:spPr>
          <a:xfrm>
            <a:off x="566928" y="1755648"/>
            <a:ext cx="10424160" cy="457200"/>
          </a:xfrm>
          <a:prstGeom prst="rect">
            <a:avLst/>
          </a:prstGeom>
          <a:noFill/>
        </p:spPr>
        <p:txBody>
          <a:bodyPr wrap="square" anchor="t" lIns="0" rIns="0" tIns="0" bIns="0">
            <a:noAutofit/>
          </a:bodyPr>
          <a:lstStyle/>
          <a:p>
            <a:pPr algn="l">
              <a:lnSpc>
                <a:spcPct val="118000"/>
              </a:lnSpc>
            </a:pPr>
            <a:r>
              <a:rPr sz="1450" b="0" i="1">
                <a:solidFill>
                  <a:srgbClr val="5B666B"/>
                </a:solidFill>
                <a:latin typeface="Segoe UI"/>
              </a:rPr>
              <a:t>Autonomous trading means the trade carries itself from the decision to the booked deal, with no manual re-keying.</a:t>
            </a:r>
          </a:p>
        </p:txBody>
      </p:sp>
      <p:sp>
        <p:nvSpPr>
          <p:cNvPr id="5" name="Rounded Rectangle 4"/>
          <p:cNvSpPr/>
          <p:nvPr/>
        </p:nvSpPr>
        <p:spPr>
          <a:xfrm>
            <a:off x="566928" y="2286000"/>
            <a:ext cx="3478682" cy="2999232"/>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04672" y="2542032"/>
            <a:ext cx="329184"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706624"/>
            <a:ext cx="3003194" cy="457200"/>
          </a:xfrm>
          <a:prstGeom prst="rect">
            <a:avLst/>
          </a:prstGeom>
          <a:noFill/>
        </p:spPr>
        <p:txBody>
          <a:bodyPr wrap="square" anchor="t" lIns="0" rIns="0" tIns="0" bIns="0">
            <a:noAutofit/>
          </a:bodyPr>
          <a:lstStyle/>
          <a:p>
            <a:pPr algn="l">
              <a:lnSpc>
                <a:spcPct val="105000"/>
              </a:lnSpc>
            </a:pPr>
            <a:r>
              <a:rPr sz="1150" b="1" i="0" spc="50">
                <a:solidFill>
                  <a:srgbClr val="0F1417"/>
                </a:solidFill>
                <a:latin typeface="Segoe UI Semibold"/>
              </a:rPr>
              <a:t>THE PROBLEM IT REMOVES</a:t>
            </a:r>
          </a:p>
        </p:txBody>
      </p:sp>
      <p:sp>
        <p:nvSpPr>
          <p:cNvPr id="8" name="TextBox 7"/>
          <p:cNvSpPr txBox="1"/>
          <p:nvPr/>
        </p:nvSpPr>
        <p:spPr>
          <a:xfrm>
            <a:off x="804672" y="3310128"/>
            <a:ext cx="3003194" cy="1810511"/>
          </a:xfrm>
          <a:prstGeom prst="rect">
            <a:avLst/>
          </a:prstGeom>
          <a:noFill/>
        </p:spPr>
        <p:txBody>
          <a:bodyPr wrap="square" anchor="t" lIns="0" rIns="0" tIns="0" bIns="0">
            <a:noAutofit/>
          </a:bodyPr>
          <a:lstStyle/>
          <a:p>
            <a:pPr algn="l">
              <a:lnSpc>
                <a:spcPct val="118000"/>
              </a:lnSpc>
              <a:spcAft>
                <a:spcPts val="800"/>
              </a:spcAft>
            </a:pPr>
            <a:r>
              <a:rPr sz="1300" b="0" i="0">
                <a:solidFill>
                  <a:srgbClr val="5B666B"/>
                </a:solidFill>
                <a:latin typeface="Segoe UI"/>
              </a:rPr>
              <a:t>You trade on a venue, then you book in SAP.</a:t>
            </a:r>
          </a:p>
          <a:p>
            <a:pPr algn="l">
              <a:lnSpc>
                <a:spcPct val="118000"/>
              </a:lnSpc>
              <a:spcAft>
                <a:spcPts val="800"/>
              </a:spcAft>
            </a:pPr>
            <a:r>
              <a:rPr sz="1300" b="0" i="0">
                <a:solidFill>
                  <a:srgbClr val="5B666B"/>
                </a:solidFill>
                <a:latin typeface="Segoe UI"/>
              </a:rPr>
              <a:t>Today a person joins the two by hand: re-keying the ticket, chasing the approval, building the deal entry.</a:t>
            </a:r>
          </a:p>
        </p:txBody>
      </p:sp>
      <p:sp>
        <p:nvSpPr>
          <p:cNvPr id="9" name="Rounded Rectangle 8"/>
          <p:cNvSpPr/>
          <p:nvPr/>
        </p:nvSpPr>
        <p:spPr>
          <a:xfrm>
            <a:off x="4356506" y="2286000"/>
            <a:ext cx="3478682" cy="2999232"/>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94250" y="2542032"/>
            <a:ext cx="329184" cy="45720"/>
          </a:xfrm>
          <a:prstGeom prst="rect">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4250" y="2706624"/>
            <a:ext cx="3003194" cy="457200"/>
          </a:xfrm>
          <a:prstGeom prst="rect">
            <a:avLst/>
          </a:prstGeom>
          <a:noFill/>
        </p:spPr>
        <p:txBody>
          <a:bodyPr wrap="square" anchor="t" lIns="0" rIns="0" tIns="0" bIns="0">
            <a:noAutofit/>
          </a:bodyPr>
          <a:lstStyle/>
          <a:p>
            <a:pPr algn="l">
              <a:lnSpc>
                <a:spcPct val="105000"/>
              </a:lnSpc>
            </a:pPr>
            <a:r>
              <a:rPr sz="1150" b="1" i="0" spc="50">
                <a:solidFill>
                  <a:srgbClr val="0F1417"/>
                </a:solidFill>
                <a:latin typeface="Segoe UI Semibold"/>
              </a:rPr>
              <a:t>WHAT IT DOES, STEP BY STEP</a:t>
            </a:r>
          </a:p>
        </p:txBody>
      </p:sp>
      <p:sp>
        <p:nvSpPr>
          <p:cNvPr id="12" name="TextBox 11"/>
          <p:cNvSpPr txBox="1"/>
          <p:nvPr/>
        </p:nvSpPr>
        <p:spPr>
          <a:xfrm>
            <a:off x="4594250" y="3310128"/>
            <a:ext cx="3003194" cy="1810511"/>
          </a:xfrm>
          <a:prstGeom prst="rect">
            <a:avLst/>
          </a:prstGeom>
          <a:noFill/>
        </p:spPr>
        <p:txBody>
          <a:bodyPr wrap="square" anchor="t" lIns="0" rIns="0" tIns="0" bIns="0">
            <a:noAutofit/>
          </a:bodyPr>
          <a:lstStyle/>
          <a:p>
            <a:pPr algn="l">
              <a:lnSpc>
                <a:spcPct val="112000"/>
              </a:lnSpc>
              <a:spcAft>
                <a:spcPts val="600"/>
              </a:spcAft>
            </a:pPr>
            <a:r>
              <a:rPr sz="1250" b="0" i="0">
                <a:solidFill>
                  <a:srgbClr val="5B666B"/>
                </a:solidFill>
                <a:latin typeface="Segoe UI"/>
              </a:rPr>
              <a:t>1   Reads the exposure (the money at risk from currency or price moves) from your SAP positions.</a:t>
            </a:r>
          </a:p>
          <a:p>
            <a:pPr algn="l">
              <a:lnSpc>
                <a:spcPct val="112000"/>
              </a:lnSpc>
              <a:spcAft>
                <a:spcPts val="600"/>
              </a:spcAft>
            </a:pPr>
            <a:r>
              <a:rPr sz="1250" b="0" i="0">
                <a:solidFill>
                  <a:srgbClr val="5B666B"/>
                </a:solidFill>
                <a:latin typeface="Segoe UI"/>
              </a:rPr>
              <a:t>2   Sends the request to the venue; approval runs under your own rules.</a:t>
            </a:r>
          </a:p>
          <a:p>
            <a:pPr algn="l">
              <a:lnSpc>
                <a:spcPct val="112000"/>
              </a:lnSpc>
              <a:spcAft>
                <a:spcPts val="600"/>
              </a:spcAft>
            </a:pPr>
            <a:r>
              <a:rPr sz="1250" b="0" i="0">
                <a:solidFill>
                  <a:srgbClr val="5B666B"/>
                </a:solidFill>
                <a:latin typeface="Segoe UI"/>
              </a:rPr>
              <a:t>3   Matches the fill that comes back and shapes it for SAP.</a:t>
            </a:r>
          </a:p>
          <a:p>
            <a:pPr algn="l">
              <a:lnSpc>
                <a:spcPct val="112000"/>
              </a:lnSpc>
              <a:spcAft>
                <a:spcPts val="600"/>
              </a:spcAft>
            </a:pPr>
            <a:r>
              <a:rPr sz="1250" b="0" i="0">
                <a:solidFill>
                  <a:srgbClr val="5B666B"/>
                </a:solidFill>
                <a:latin typeface="Segoe UI"/>
              </a:rPr>
              <a:t>4   Books the deal in SAP Treasury, checked and logged.</a:t>
            </a:r>
          </a:p>
        </p:txBody>
      </p:sp>
      <p:sp>
        <p:nvSpPr>
          <p:cNvPr id="13" name="Rounded Rectangle 12"/>
          <p:cNvSpPr/>
          <p:nvPr/>
        </p:nvSpPr>
        <p:spPr>
          <a:xfrm>
            <a:off x="8146084" y="2286000"/>
            <a:ext cx="3478682" cy="2999232"/>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3828" y="2542032"/>
            <a:ext cx="329184"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3828" y="2706624"/>
            <a:ext cx="3003194" cy="457200"/>
          </a:xfrm>
          <a:prstGeom prst="rect">
            <a:avLst/>
          </a:prstGeom>
          <a:noFill/>
        </p:spPr>
        <p:txBody>
          <a:bodyPr wrap="square" anchor="t" lIns="0" rIns="0" tIns="0" bIns="0">
            <a:noAutofit/>
          </a:bodyPr>
          <a:lstStyle/>
          <a:p>
            <a:pPr algn="l">
              <a:lnSpc>
                <a:spcPct val="105000"/>
              </a:lnSpc>
            </a:pPr>
            <a:r>
              <a:rPr sz="1150" b="1" i="0" spc="50">
                <a:solidFill>
                  <a:srgbClr val="0F1417"/>
                </a:solidFill>
                <a:latin typeface="Segoe UI Semibold"/>
              </a:rPr>
              <a:t>WHAT YOU NO LONGER DO BY HAND</a:t>
            </a:r>
          </a:p>
        </p:txBody>
      </p:sp>
      <p:sp>
        <p:nvSpPr>
          <p:cNvPr id="16" name="TextBox 15"/>
          <p:cNvSpPr txBox="1"/>
          <p:nvPr/>
        </p:nvSpPr>
        <p:spPr>
          <a:xfrm>
            <a:off x="8383828" y="3310128"/>
            <a:ext cx="3003194" cy="1810511"/>
          </a:xfrm>
          <a:prstGeom prst="rect">
            <a:avLst/>
          </a:prstGeom>
          <a:noFill/>
        </p:spPr>
        <p:txBody>
          <a:bodyPr wrap="square" anchor="t" lIns="0" rIns="0" tIns="0" bIns="0">
            <a:noAutofit/>
          </a:bodyPr>
          <a:lstStyle/>
          <a:p>
            <a:pPr algn="l">
              <a:lnSpc>
                <a:spcPct val="118000"/>
              </a:lnSpc>
              <a:spcAft>
                <a:spcPts val="800"/>
              </a:spcAft>
            </a:pPr>
            <a:r>
              <a:rPr sz="1300" b="0" i="0">
                <a:solidFill>
                  <a:srgbClr val="5B666B"/>
                </a:solidFill>
                <a:latin typeface="Segoe UI"/>
              </a:rPr>
              <a:t>Re-keying tickets and chasing approvals.</a:t>
            </a:r>
          </a:p>
          <a:p>
            <a:pPr algn="l">
              <a:lnSpc>
                <a:spcPct val="118000"/>
              </a:lnSpc>
              <a:spcAft>
                <a:spcPts val="800"/>
              </a:spcAft>
            </a:pPr>
            <a:r>
              <a:rPr sz="1300" b="0" i="0">
                <a:solidFill>
                  <a:srgbClr val="5B666B"/>
                </a:solidFill>
                <a:latin typeface="Segoe UI"/>
              </a:rPr>
              <a:t>Building deal entries by hand.</a:t>
            </a:r>
          </a:p>
          <a:p>
            <a:pPr algn="l">
              <a:lnSpc>
                <a:spcPct val="118000"/>
              </a:lnSpc>
              <a:spcAft>
                <a:spcPts val="800"/>
              </a:spcAft>
            </a:pPr>
            <a:r>
              <a:rPr sz="1300" b="0" i="0">
                <a:solidFill>
                  <a:srgbClr val="5B666B"/>
                </a:solidFill>
                <a:latin typeface="Segoe UI"/>
              </a:rPr>
              <a:t>Manual FX runs 10 to 15 minutes a trade (The Association of Corporate Treasurers).</a:t>
            </a:r>
          </a:p>
        </p:txBody>
      </p:sp>
      <p:sp>
        <p:nvSpPr>
          <p:cNvPr id="17" name="Rounded Rectangle 16"/>
          <p:cNvSpPr/>
          <p:nvPr/>
        </p:nvSpPr>
        <p:spPr>
          <a:xfrm>
            <a:off x="566928" y="5468112"/>
            <a:ext cx="11057839" cy="548640"/>
          </a:xfrm>
          <a:prstGeom prst="roundRect">
            <a:avLst>
              <a:gd name="adj" fmla="val 8000"/>
            </a:avLst>
          </a:prstGeom>
          <a:solidFill>
            <a:srgbClr val="0F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 y="5468112"/>
            <a:ext cx="10509199" cy="548640"/>
          </a:xfrm>
          <a:prstGeom prst="rect">
            <a:avLst/>
          </a:prstGeom>
          <a:noFill/>
        </p:spPr>
        <p:txBody>
          <a:bodyPr wrap="square" anchor="ctr" lIns="0" rIns="0" tIns="0" bIns="0">
            <a:noAutofit/>
          </a:bodyPr>
          <a:lstStyle/>
          <a:p>
            <a:pPr algn="l">
              <a:lnSpc>
                <a:spcPct val="105000"/>
              </a:lnSpc>
            </a:pPr>
            <a:r>
              <a:rPr sz="1150" b="0" i="0">
                <a:solidFill>
                  <a:srgbClr val="ECEFF0"/>
                </a:solidFill>
                <a:latin typeface="Segoe UI"/>
              </a:rPr>
              <a:t>CONNECTS TO   360T · FXall · Bloomberg FX GO · Citi Pulse · BidFX  →  SAP Treasury (TRM/FAM), ECC, S/4HANA   ·   any OMS or TMS</a:t>
            </a:r>
          </a:p>
        </p:txBody>
      </p:sp>
      <p:sp>
        <p:nvSpPr>
          <p:cNvPr id="19" name="Rectangle 18"/>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1" name="TextBox 20"/>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SMART TRADING · FUNCTIONAL OVERVIEW</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400" b="0" i="0">
                <a:solidFill>
                  <a:srgbClr val="0F1417"/>
                </a:solidFill>
                <a:latin typeface="Century Gothic"/>
              </a:rPr>
              <a:t>The trade, straight through to SAP.</a:t>
            </a:r>
          </a:p>
        </p:txBody>
      </p:sp>
      <p:sp>
        <p:nvSpPr>
          <p:cNvPr id="4" name="TextBox 3"/>
          <p:cNvSpPr txBox="1"/>
          <p:nvPr/>
        </p:nvSpPr>
        <p:spPr>
          <a:xfrm>
            <a:off x="566928" y="2020824"/>
            <a:ext cx="2743200" cy="274320"/>
          </a:xfrm>
          <a:prstGeom prst="rect">
            <a:avLst/>
          </a:prstGeom>
          <a:noFill/>
        </p:spPr>
        <p:txBody>
          <a:bodyPr wrap="square" anchor="t" lIns="0" rIns="0" tIns="0" bIns="0">
            <a:noAutofit/>
          </a:bodyPr>
          <a:lstStyle/>
          <a:p>
            <a:pPr algn="ctr"/>
            <a:r>
              <a:rPr sz="1050" b="0" i="0" spc="200">
                <a:solidFill>
                  <a:srgbClr val="8A9599"/>
                </a:solidFill>
                <a:latin typeface="Segoe UI Semibold"/>
              </a:rPr>
              <a:t>SOURCES</a:t>
            </a:r>
          </a:p>
        </p:txBody>
      </p:sp>
      <p:sp>
        <p:nvSpPr>
          <p:cNvPr id="5" name="TextBox 4"/>
          <p:cNvSpPr txBox="1"/>
          <p:nvPr/>
        </p:nvSpPr>
        <p:spPr>
          <a:xfrm>
            <a:off x="9189720" y="2020824"/>
            <a:ext cx="2435047" cy="274320"/>
          </a:xfrm>
          <a:prstGeom prst="rect">
            <a:avLst/>
          </a:prstGeom>
          <a:noFill/>
        </p:spPr>
        <p:txBody>
          <a:bodyPr wrap="square" anchor="t" lIns="0" rIns="0" tIns="0" bIns="0">
            <a:noAutofit/>
          </a:bodyPr>
          <a:lstStyle/>
          <a:p>
            <a:pPr algn="ctr"/>
            <a:r>
              <a:rPr sz="1050" b="0" i="0" spc="200">
                <a:solidFill>
                  <a:srgbClr val="8A9599"/>
                </a:solidFill>
                <a:latin typeface="Segoe UI Semibold"/>
              </a:rPr>
              <a:t>DESTINATIONS</a:t>
            </a:r>
          </a:p>
        </p:txBody>
      </p:sp>
      <p:sp>
        <p:nvSpPr>
          <p:cNvPr id="6" name="Rounded Rectangle 5"/>
          <p:cNvSpPr/>
          <p:nvPr/>
        </p:nvSpPr>
        <p:spPr>
          <a:xfrm>
            <a:off x="566928" y="2331720"/>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2331720"/>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360T, FXall, Bloomberg FX GO</a:t>
            </a:r>
          </a:p>
        </p:txBody>
      </p:sp>
      <p:sp>
        <p:nvSpPr>
          <p:cNvPr id="8" name="Rounded Rectangle 7"/>
          <p:cNvSpPr/>
          <p:nvPr/>
        </p:nvSpPr>
        <p:spPr>
          <a:xfrm>
            <a:off x="566928" y="3087624"/>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3087624"/>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Citi Pulse, BidFX</a:t>
            </a:r>
          </a:p>
        </p:txBody>
      </p:sp>
      <p:sp>
        <p:nvSpPr>
          <p:cNvPr id="10" name="Rounded Rectangle 9"/>
          <p:cNvSpPr/>
          <p:nvPr/>
        </p:nvSpPr>
        <p:spPr>
          <a:xfrm>
            <a:off x="566928" y="3843528"/>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843528"/>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Any OMS or TMS</a:t>
            </a:r>
          </a:p>
        </p:txBody>
      </p:sp>
      <p:sp>
        <p:nvSpPr>
          <p:cNvPr id="12" name="Rounded Rectangle 11"/>
          <p:cNvSpPr/>
          <p:nvPr/>
        </p:nvSpPr>
        <p:spPr>
          <a:xfrm>
            <a:off x="566928" y="4599431"/>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4599431"/>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Banks &amp; brokers</a:t>
            </a:r>
          </a:p>
        </p:txBody>
      </p:sp>
      <p:sp>
        <p:nvSpPr>
          <p:cNvPr id="14" name="Rounded Rectangle 13"/>
          <p:cNvSpPr/>
          <p:nvPr/>
        </p:nvSpPr>
        <p:spPr>
          <a:xfrm>
            <a:off x="9189720" y="2331720"/>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99448" y="2331720"/>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SAP TRM &amp; FAM</a:t>
            </a:r>
          </a:p>
        </p:txBody>
      </p:sp>
      <p:sp>
        <p:nvSpPr>
          <p:cNvPr id="16" name="Rounded Rectangle 15"/>
          <p:cNvSpPr/>
          <p:nvPr/>
        </p:nvSpPr>
        <p:spPr>
          <a:xfrm>
            <a:off x="9189720" y="3087624"/>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99448" y="3087624"/>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SAP ECC &amp; S/4HANA</a:t>
            </a:r>
          </a:p>
        </p:txBody>
      </p:sp>
      <p:sp>
        <p:nvSpPr>
          <p:cNvPr id="18" name="Rounded Rectangle 17"/>
          <p:cNvSpPr/>
          <p:nvPr/>
        </p:nvSpPr>
        <p:spPr>
          <a:xfrm>
            <a:off x="9189720" y="3843528"/>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9448" y="3843528"/>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SAP Analytics Cloud</a:t>
            </a:r>
          </a:p>
        </p:txBody>
      </p:sp>
      <p:sp>
        <p:nvSpPr>
          <p:cNvPr id="20" name="Rounded Rectangle 19"/>
          <p:cNvSpPr/>
          <p:nvPr/>
        </p:nvSpPr>
        <p:spPr>
          <a:xfrm>
            <a:off x="9189720" y="4599431"/>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4599431"/>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Analytics platforms</a:t>
            </a:r>
          </a:p>
        </p:txBody>
      </p:sp>
      <p:sp>
        <p:nvSpPr>
          <p:cNvPr id="22" name="Rounded Rectangle 21"/>
          <p:cNvSpPr/>
          <p:nvPr/>
        </p:nvSpPr>
        <p:spPr>
          <a:xfrm>
            <a:off x="3977639" y="2468879"/>
            <a:ext cx="4251960" cy="2560320"/>
          </a:xfrm>
          <a:prstGeom prst="roundRect">
            <a:avLst>
              <a:gd name="adj" fmla="val 5000"/>
            </a:avLst>
          </a:prstGeom>
          <a:solidFill>
            <a:srgbClr val="FFFFFF"/>
          </a:solidFill>
          <a:ln w="25400">
            <a:solidFill>
              <a:srgbClr val="17B0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51959" y="2788920"/>
            <a:ext cx="3703320" cy="457200"/>
          </a:xfrm>
          <a:prstGeom prst="rect">
            <a:avLst/>
          </a:prstGeom>
          <a:noFill/>
        </p:spPr>
        <p:txBody>
          <a:bodyPr wrap="square" anchor="t" lIns="0" rIns="0" tIns="0" bIns="0">
            <a:noAutofit/>
          </a:bodyPr>
          <a:lstStyle/>
          <a:p>
            <a:pPr algn="ctr"/>
            <a:r>
              <a:rPr sz="1100" b="0" i="0" spc="200">
                <a:solidFill>
                  <a:srgbClr val="0E7C86"/>
                </a:solidFill>
                <a:latin typeface="Segoe UI Semibold"/>
              </a:rPr>
              <a:t>BRISKEN</a:t>
            </a:r>
          </a:p>
        </p:txBody>
      </p:sp>
      <p:sp>
        <p:nvSpPr>
          <p:cNvPr id="24" name="TextBox 23"/>
          <p:cNvSpPr txBox="1"/>
          <p:nvPr/>
        </p:nvSpPr>
        <p:spPr>
          <a:xfrm>
            <a:off x="4251959" y="3118103"/>
            <a:ext cx="3703320" cy="640080"/>
          </a:xfrm>
          <a:prstGeom prst="rect">
            <a:avLst/>
          </a:prstGeom>
          <a:noFill/>
        </p:spPr>
        <p:txBody>
          <a:bodyPr wrap="square" anchor="t" lIns="0" rIns="0" tIns="0" bIns="0">
            <a:noAutofit/>
          </a:bodyPr>
          <a:lstStyle/>
          <a:p>
            <a:pPr algn="ctr">
              <a:lnSpc>
                <a:spcPct val="100000"/>
              </a:lnSpc>
            </a:pPr>
            <a:r>
              <a:rPr sz="2100" b="0" i="0">
                <a:solidFill>
                  <a:srgbClr val="0F1417"/>
                </a:solidFill>
                <a:latin typeface="Century Gothic"/>
              </a:rPr>
              <a:t>Smart Trading</a:t>
            </a:r>
          </a:p>
        </p:txBody>
      </p:sp>
      <p:sp>
        <p:nvSpPr>
          <p:cNvPr id="25" name="TextBox 24"/>
          <p:cNvSpPr txBox="1"/>
          <p:nvPr/>
        </p:nvSpPr>
        <p:spPr>
          <a:xfrm>
            <a:off x="4251959" y="3813048"/>
            <a:ext cx="3703320" cy="310896"/>
          </a:xfrm>
          <a:prstGeom prst="rect">
            <a:avLst/>
          </a:prstGeom>
          <a:noFill/>
        </p:spPr>
        <p:txBody>
          <a:bodyPr wrap="square" anchor="t" lIns="0" rIns="0" tIns="0" bIns="0">
            <a:noAutofit/>
          </a:bodyPr>
          <a:lstStyle/>
          <a:p>
            <a:pPr algn="ctr"/>
            <a:r>
              <a:rPr sz="1250" b="0" i="0">
                <a:solidFill>
                  <a:srgbClr val="5B666B"/>
                </a:solidFill>
                <a:latin typeface="Segoe UI"/>
              </a:rPr>
              <a:t>on SAP's own cloud  ·  governed end to end</a:t>
            </a:r>
          </a:p>
        </p:txBody>
      </p:sp>
      <p:sp>
        <p:nvSpPr>
          <p:cNvPr id="26" name="Rounded Rectangle 25"/>
          <p:cNvSpPr/>
          <p:nvPr/>
        </p:nvSpPr>
        <p:spPr>
          <a:xfrm>
            <a:off x="4343400" y="4215383"/>
            <a:ext cx="3520440" cy="603504"/>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4840" y="4215383"/>
            <a:ext cx="3337560" cy="603504"/>
          </a:xfrm>
          <a:prstGeom prst="rect">
            <a:avLst/>
          </a:prstGeom>
          <a:noFill/>
        </p:spPr>
        <p:txBody>
          <a:bodyPr wrap="square" anchor="ctr" lIns="0" rIns="0" tIns="0" bIns="0">
            <a:noAutofit/>
          </a:bodyPr>
          <a:lstStyle/>
          <a:p>
            <a:pPr algn="ctr">
              <a:lnSpc>
                <a:spcPct val="110000"/>
              </a:lnSpc>
            </a:pPr>
            <a:r>
              <a:rPr sz="1050" b="0" i="0">
                <a:solidFill>
                  <a:srgbClr val="5B666B"/>
                </a:solidFill>
                <a:latin typeface="Segoe UI"/>
              </a:rPr>
              <a:t>Audit trail · segregation of duty · anomaly alerts · person-in-the-loop</a:t>
            </a:r>
          </a:p>
        </p:txBody>
      </p:sp>
      <p:sp>
        <p:nvSpPr>
          <p:cNvPr id="28" name="Right Arrow 27"/>
          <p:cNvSpPr/>
          <p:nvPr/>
        </p:nvSpPr>
        <p:spPr>
          <a:xfrm>
            <a:off x="3438144" y="3602735"/>
            <a:ext cx="411479" cy="292608"/>
          </a:xfrm>
          <a:prstGeom prst="rightArrow">
            <a:avLst>
              <a:gd name="adj1" fmla="val 55000"/>
              <a:gd name="adj2" fmla="val 55000"/>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ght Arrow 28"/>
          <p:cNvSpPr/>
          <p:nvPr/>
        </p:nvSpPr>
        <p:spPr>
          <a:xfrm>
            <a:off x="8357616" y="3602735"/>
            <a:ext cx="704088" cy="292608"/>
          </a:xfrm>
          <a:prstGeom prst="rightArrow">
            <a:avLst>
              <a:gd name="adj1" fmla="val 55000"/>
              <a:gd name="adj2" fmla="val 55000"/>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5422392"/>
            <a:ext cx="11057839" cy="274320"/>
          </a:xfrm>
          <a:prstGeom prst="rect">
            <a:avLst/>
          </a:prstGeom>
          <a:noFill/>
        </p:spPr>
        <p:txBody>
          <a:bodyPr wrap="square" anchor="t" lIns="0" rIns="0" tIns="0" bIns="0">
            <a:noAutofit/>
          </a:bodyPr>
          <a:lstStyle/>
          <a:p>
            <a:pPr algn="ctr"/>
            <a:r>
              <a:rPr sz="1100" b="0" i="0" spc="60">
                <a:solidFill>
                  <a:srgbClr val="0E7C86"/>
                </a:solidFill>
                <a:latin typeface="Segoe UI Semibold"/>
              </a:rPr>
              <a:t>CONNECTS VIA   RFC / OData  ·  AMQP  ·  SFTP  ·  REST  ·  HTTP  ·  Email  ·  Excel add-in</a:t>
            </a:r>
          </a:p>
        </p:txBody>
      </p:sp>
      <p:sp>
        <p:nvSpPr>
          <p:cNvPr id="31" name="TextBox 30"/>
          <p:cNvSpPr txBox="1"/>
          <p:nvPr/>
        </p:nvSpPr>
        <p:spPr>
          <a:xfrm>
            <a:off x="566928" y="5733288"/>
            <a:ext cx="11057839" cy="274320"/>
          </a:xfrm>
          <a:prstGeom prst="rect">
            <a:avLst/>
          </a:prstGeom>
          <a:noFill/>
        </p:spPr>
        <p:txBody>
          <a:bodyPr wrap="square" anchor="t" lIns="0" rIns="0" tIns="0" bIns="0">
            <a:noAutofit/>
          </a:bodyPr>
          <a:lstStyle/>
          <a:p>
            <a:pPr algn="ctr"/>
            <a:r>
              <a:rPr sz="1200" b="0" i="0">
                <a:solidFill>
                  <a:srgbClr val="8A9599"/>
                </a:solidFill>
                <a:latin typeface="Segoe UI"/>
              </a:rPr>
              <a:t>The trade flows from the venue into SAP Treasury on its own, checked and logged.</a:t>
            </a:r>
          </a:p>
        </p:txBody>
      </p:sp>
      <p:sp>
        <p:nvSpPr>
          <p:cNvPr id="32" name="Rectangle 31"/>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34" name="TextBox 33"/>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11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417"/>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0"/>
            <a:ext cx="2743200" cy="640080"/>
          </a:xfrm>
          <a:prstGeom prst="rect">
            <a:avLst/>
          </a:prstGeom>
          <a:noFill/>
        </p:spPr>
        <p:txBody>
          <a:bodyPr wrap="square" anchor="t" lIns="0" rIns="0" tIns="0" bIns="0">
            <a:noAutofit/>
          </a:bodyPr>
          <a:lstStyle/>
          <a:p>
            <a:pPr algn="l"/>
            <a:r>
              <a:rPr sz="2600" b="0" i="0" spc="100">
                <a:solidFill>
                  <a:srgbClr val="17B0BE"/>
                </a:solidFill>
                <a:latin typeface="Century Gothic"/>
              </a:rPr>
              <a:t>05</a:t>
            </a:r>
          </a:p>
        </p:txBody>
      </p:sp>
      <p:sp>
        <p:nvSpPr>
          <p:cNvPr id="4" name="TextBox 3"/>
          <p:cNvSpPr txBox="1"/>
          <p:nvPr/>
        </p:nvSpPr>
        <p:spPr>
          <a:xfrm>
            <a:off x="548640" y="2926080"/>
            <a:ext cx="10515600" cy="1280160"/>
          </a:xfrm>
          <a:prstGeom prst="rect">
            <a:avLst/>
          </a:prstGeom>
          <a:noFill/>
        </p:spPr>
        <p:txBody>
          <a:bodyPr wrap="square" anchor="t" lIns="0" rIns="0" tIns="0" bIns="0">
            <a:noAutofit/>
          </a:bodyPr>
          <a:lstStyle/>
          <a:p>
            <a:pPr algn="l">
              <a:lnSpc>
                <a:spcPct val="100000"/>
              </a:lnSpc>
            </a:pPr>
            <a:r>
              <a:rPr sz="4600" b="0" i="0">
                <a:solidFill>
                  <a:srgbClr val="ECEFF0"/>
                </a:solidFill>
                <a:latin typeface="Century Gothic"/>
              </a:rPr>
              <a:t>Digital Co-Worker</a:t>
            </a:r>
          </a:p>
        </p:txBody>
      </p:sp>
      <p:sp>
        <p:nvSpPr>
          <p:cNvPr id="5" name="TextBox 4"/>
          <p:cNvSpPr txBox="1"/>
          <p:nvPr/>
        </p:nvSpPr>
        <p:spPr>
          <a:xfrm>
            <a:off x="566928" y="3968496"/>
            <a:ext cx="8686800" cy="731520"/>
          </a:xfrm>
          <a:prstGeom prst="rect">
            <a:avLst/>
          </a:prstGeom>
          <a:noFill/>
        </p:spPr>
        <p:txBody>
          <a:bodyPr wrap="square" anchor="t" lIns="0" rIns="0" tIns="0" bIns="0">
            <a:noAutofit/>
          </a:bodyPr>
          <a:lstStyle/>
          <a:p>
            <a:pPr algn="l">
              <a:lnSpc>
                <a:spcPct val="120000"/>
              </a:lnSpc>
            </a:pPr>
            <a:r>
              <a:rPr sz="1600" b="0" i="0">
                <a:solidFill>
                  <a:srgbClr val="9AA6AB"/>
                </a:solidFill>
                <a:latin typeface="Segoe UI"/>
              </a:rPr>
              <a:t>An AI colleague for the manual middle.</a:t>
            </a:r>
          </a:p>
        </p:txBody>
      </p:sp>
      <p:pic>
        <p:nvPicPr>
          <p:cNvPr id="6" name="Picture 5" descr="brisken_reversed.png"/>
          <p:cNvPicPr>
            <a:picLocks noChangeAspect="1"/>
          </p:cNvPicPr>
          <p:nvPr/>
        </p:nvPicPr>
        <p:blipFill>
          <a:blip r:embed="rId2"/>
          <a:stretch>
            <a:fillRect/>
          </a:stretch>
        </p:blipFill>
        <p:spPr>
          <a:xfrm>
            <a:off x="10455603" y="6236208"/>
            <a:ext cx="1169163" cy="25603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DIGITAL CO-WORKER</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400" b="0" i="0">
                <a:solidFill>
                  <a:srgbClr val="0F1417"/>
                </a:solidFill>
                <a:latin typeface="Century Gothic"/>
              </a:rPr>
              <a:t>An AI colleague for the manual middle.</a:t>
            </a:r>
          </a:p>
        </p:txBody>
      </p:sp>
      <p:sp>
        <p:nvSpPr>
          <p:cNvPr id="4" name="TextBox 3"/>
          <p:cNvSpPr txBox="1"/>
          <p:nvPr/>
        </p:nvSpPr>
        <p:spPr>
          <a:xfrm>
            <a:off x="566928" y="1755648"/>
            <a:ext cx="10424160" cy="457200"/>
          </a:xfrm>
          <a:prstGeom prst="rect">
            <a:avLst/>
          </a:prstGeom>
          <a:noFill/>
        </p:spPr>
        <p:txBody>
          <a:bodyPr wrap="square" anchor="t" lIns="0" rIns="0" tIns="0" bIns="0">
            <a:noAutofit/>
          </a:bodyPr>
          <a:lstStyle/>
          <a:p>
            <a:pPr algn="l">
              <a:lnSpc>
                <a:spcPct val="118000"/>
              </a:lnSpc>
            </a:pPr>
            <a:r>
              <a:rPr sz="1450" b="0" i="1">
                <a:solidFill>
                  <a:srgbClr val="5B666B"/>
                </a:solidFill>
                <a:latin typeface="Segoe UI"/>
              </a:rPr>
              <a:t>It does the busywork of a request across your systems: read it, check the balance, open SAP, key it in, write back.</a:t>
            </a:r>
          </a:p>
        </p:txBody>
      </p:sp>
      <p:sp>
        <p:nvSpPr>
          <p:cNvPr id="5" name="Rounded Rectangle 4"/>
          <p:cNvSpPr/>
          <p:nvPr/>
        </p:nvSpPr>
        <p:spPr>
          <a:xfrm>
            <a:off x="566928" y="2286000"/>
            <a:ext cx="3478682" cy="2999232"/>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04672" y="2542032"/>
            <a:ext cx="329184"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706624"/>
            <a:ext cx="3003194" cy="457200"/>
          </a:xfrm>
          <a:prstGeom prst="rect">
            <a:avLst/>
          </a:prstGeom>
          <a:noFill/>
        </p:spPr>
        <p:txBody>
          <a:bodyPr wrap="square" anchor="t" lIns="0" rIns="0" tIns="0" bIns="0">
            <a:noAutofit/>
          </a:bodyPr>
          <a:lstStyle/>
          <a:p>
            <a:pPr algn="l">
              <a:lnSpc>
                <a:spcPct val="105000"/>
              </a:lnSpc>
            </a:pPr>
            <a:r>
              <a:rPr sz="1150" b="1" i="0" spc="50">
                <a:solidFill>
                  <a:srgbClr val="0F1417"/>
                </a:solidFill>
                <a:latin typeface="Segoe UI Semibold"/>
              </a:rPr>
              <a:t>THE PROBLEM IT REMOVES</a:t>
            </a:r>
          </a:p>
        </p:txBody>
      </p:sp>
      <p:sp>
        <p:nvSpPr>
          <p:cNvPr id="8" name="TextBox 7"/>
          <p:cNvSpPr txBox="1"/>
          <p:nvPr/>
        </p:nvSpPr>
        <p:spPr>
          <a:xfrm>
            <a:off x="804672" y="3310128"/>
            <a:ext cx="3003194" cy="1810511"/>
          </a:xfrm>
          <a:prstGeom prst="rect">
            <a:avLst/>
          </a:prstGeom>
          <a:noFill/>
        </p:spPr>
        <p:txBody>
          <a:bodyPr wrap="square" anchor="t" lIns="0" rIns="0" tIns="0" bIns="0">
            <a:noAutofit/>
          </a:bodyPr>
          <a:lstStyle/>
          <a:p>
            <a:pPr algn="l">
              <a:lnSpc>
                <a:spcPct val="118000"/>
              </a:lnSpc>
              <a:spcAft>
                <a:spcPts val="800"/>
              </a:spcAft>
            </a:pPr>
            <a:r>
              <a:rPr sz="1300" b="0" i="0">
                <a:solidFill>
                  <a:srgbClr val="5B666B"/>
                </a:solidFill>
                <a:latin typeface="Segoe UI"/>
              </a:rPr>
              <a:t>Real work is a dozen small steps across a dozen systems.</a:t>
            </a:r>
          </a:p>
          <a:p>
            <a:pPr algn="l">
              <a:lnSpc>
                <a:spcPct val="118000"/>
              </a:lnSpc>
              <a:spcAft>
                <a:spcPts val="800"/>
              </a:spcAft>
            </a:pPr>
            <a:r>
              <a:rPr sz="1300" b="0" i="0">
                <a:solidFill>
                  <a:srgbClr val="5B666B"/>
                </a:solidFill>
                <a:latin typeface="Segoe UI"/>
              </a:rPr>
              <a:t>A request arrives as an email, a message or a form, and a person works it by hand.</a:t>
            </a:r>
          </a:p>
        </p:txBody>
      </p:sp>
      <p:sp>
        <p:nvSpPr>
          <p:cNvPr id="9" name="Rounded Rectangle 8"/>
          <p:cNvSpPr/>
          <p:nvPr/>
        </p:nvSpPr>
        <p:spPr>
          <a:xfrm>
            <a:off x="4356506" y="2286000"/>
            <a:ext cx="3478682" cy="2999232"/>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94250" y="2542032"/>
            <a:ext cx="329184" cy="45720"/>
          </a:xfrm>
          <a:prstGeom prst="rect">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4250" y="2706624"/>
            <a:ext cx="3003194" cy="457200"/>
          </a:xfrm>
          <a:prstGeom prst="rect">
            <a:avLst/>
          </a:prstGeom>
          <a:noFill/>
        </p:spPr>
        <p:txBody>
          <a:bodyPr wrap="square" anchor="t" lIns="0" rIns="0" tIns="0" bIns="0">
            <a:noAutofit/>
          </a:bodyPr>
          <a:lstStyle/>
          <a:p>
            <a:pPr algn="l">
              <a:lnSpc>
                <a:spcPct val="105000"/>
              </a:lnSpc>
            </a:pPr>
            <a:r>
              <a:rPr sz="1150" b="1" i="0" spc="50">
                <a:solidFill>
                  <a:srgbClr val="0F1417"/>
                </a:solidFill>
                <a:latin typeface="Segoe UI Semibold"/>
              </a:rPr>
              <a:t>WHAT IT DOES, STEP BY STEP</a:t>
            </a:r>
          </a:p>
        </p:txBody>
      </p:sp>
      <p:sp>
        <p:nvSpPr>
          <p:cNvPr id="12" name="TextBox 11"/>
          <p:cNvSpPr txBox="1"/>
          <p:nvPr/>
        </p:nvSpPr>
        <p:spPr>
          <a:xfrm>
            <a:off x="4594250" y="3310128"/>
            <a:ext cx="3003194" cy="1810511"/>
          </a:xfrm>
          <a:prstGeom prst="rect">
            <a:avLst/>
          </a:prstGeom>
          <a:noFill/>
        </p:spPr>
        <p:txBody>
          <a:bodyPr wrap="square" anchor="t" lIns="0" rIns="0" tIns="0" bIns="0">
            <a:noAutofit/>
          </a:bodyPr>
          <a:lstStyle/>
          <a:p>
            <a:pPr algn="l">
              <a:lnSpc>
                <a:spcPct val="112000"/>
              </a:lnSpc>
              <a:spcAft>
                <a:spcPts val="600"/>
              </a:spcAft>
            </a:pPr>
            <a:r>
              <a:rPr sz="1250" b="0" i="0">
                <a:solidFill>
                  <a:srgbClr val="5B666B"/>
                </a:solidFill>
                <a:latin typeface="Segoe UI"/>
              </a:rPr>
              <a:t>1   Reads the request: an email, a message, a form.</a:t>
            </a:r>
          </a:p>
          <a:p>
            <a:pPr algn="l">
              <a:lnSpc>
                <a:spcPct val="112000"/>
              </a:lnSpc>
              <a:spcAft>
                <a:spcPts val="600"/>
              </a:spcAft>
            </a:pPr>
            <a:r>
              <a:rPr sz="1250" b="0" i="0">
                <a:solidFill>
                  <a:srgbClr val="5B666B"/>
                </a:solidFill>
                <a:latin typeface="Segoe UI"/>
              </a:rPr>
              <a:t>2   Pulls what it needs from your systems.</a:t>
            </a:r>
          </a:p>
          <a:p>
            <a:pPr algn="l">
              <a:lnSpc>
                <a:spcPct val="112000"/>
              </a:lnSpc>
              <a:spcAft>
                <a:spcPts val="600"/>
              </a:spcAft>
            </a:pPr>
            <a:r>
              <a:rPr sz="1250" b="0" i="0">
                <a:solidFill>
                  <a:srgbClr val="5B666B"/>
                </a:solidFill>
                <a:latin typeface="Segoe UI"/>
              </a:rPr>
              <a:t>3   Carries out each step and drafts it in SAP, every action logged.</a:t>
            </a:r>
          </a:p>
          <a:p>
            <a:pPr algn="l">
              <a:lnSpc>
                <a:spcPct val="112000"/>
              </a:lnSpc>
              <a:spcAft>
                <a:spcPts val="600"/>
              </a:spcAft>
            </a:pPr>
            <a:r>
              <a:rPr sz="1250" b="0" i="0">
                <a:solidFill>
                  <a:srgbClr val="5B666B"/>
                </a:solidFill>
                <a:latin typeface="Segoe UI"/>
              </a:rPr>
              <a:t>4   Confirms in chat; the moves that matter wait for a person.</a:t>
            </a:r>
          </a:p>
        </p:txBody>
      </p:sp>
      <p:sp>
        <p:nvSpPr>
          <p:cNvPr id="13" name="Rounded Rectangle 12"/>
          <p:cNvSpPr/>
          <p:nvPr/>
        </p:nvSpPr>
        <p:spPr>
          <a:xfrm>
            <a:off x="8146084" y="2286000"/>
            <a:ext cx="3478682" cy="2999232"/>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3828" y="2542032"/>
            <a:ext cx="329184"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3828" y="2706624"/>
            <a:ext cx="3003194" cy="457200"/>
          </a:xfrm>
          <a:prstGeom prst="rect">
            <a:avLst/>
          </a:prstGeom>
          <a:noFill/>
        </p:spPr>
        <p:txBody>
          <a:bodyPr wrap="square" anchor="t" lIns="0" rIns="0" tIns="0" bIns="0">
            <a:noAutofit/>
          </a:bodyPr>
          <a:lstStyle/>
          <a:p>
            <a:pPr algn="l">
              <a:lnSpc>
                <a:spcPct val="105000"/>
              </a:lnSpc>
            </a:pPr>
            <a:r>
              <a:rPr sz="1150" b="1" i="0" spc="50">
                <a:solidFill>
                  <a:srgbClr val="0F1417"/>
                </a:solidFill>
                <a:latin typeface="Segoe UI Semibold"/>
              </a:rPr>
              <a:t>WHAT YOU NO LONGER DO BY HAND</a:t>
            </a:r>
          </a:p>
        </p:txBody>
      </p:sp>
      <p:sp>
        <p:nvSpPr>
          <p:cNvPr id="16" name="TextBox 15"/>
          <p:cNvSpPr txBox="1"/>
          <p:nvPr/>
        </p:nvSpPr>
        <p:spPr>
          <a:xfrm>
            <a:off x="8383828" y="3310128"/>
            <a:ext cx="3003194" cy="1810511"/>
          </a:xfrm>
          <a:prstGeom prst="rect">
            <a:avLst/>
          </a:prstGeom>
          <a:noFill/>
        </p:spPr>
        <p:txBody>
          <a:bodyPr wrap="square" anchor="t" lIns="0" rIns="0" tIns="0" bIns="0">
            <a:noAutofit/>
          </a:bodyPr>
          <a:lstStyle/>
          <a:p>
            <a:pPr algn="l">
              <a:lnSpc>
                <a:spcPct val="118000"/>
              </a:lnSpc>
              <a:spcAft>
                <a:spcPts val="800"/>
              </a:spcAft>
            </a:pPr>
            <a:r>
              <a:rPr sz="1300" b="0" i="0">
                <a:solidFill>
                  <a:srgbClr val="5B666B"/>
                </a:solidFill>
                <a:latin typeface="Segoe UI"/>
              </a:rPr>
              <a:t>Reading each request, checking balances, keying into SAP, writing back.</a:t>
            </a:r>
          </a:p>
          <a:p>
            <a:pPr algn="l">
              <a:lnSpc>
                <a:spcPct val="118000"/>
              </a:lnSpc>
              <a:spcAft>
                <a:spcPts val="800"/>
              </a:spcAft>
            </a:pPr>
            <a:r>
              <a:rPr sz="1300" b="0" i="0">
                <a:solidFill>
                  <a:srgbClr val="5B666B"/>
                </a:solidFill>
                <a:latin typeface="Segoe UI"/>
              </a:rPr>
              <a:t>The copy-paste across a dozen systems, all day.</a:t>
            </a:r>
          </a:p>
          <a:p>
            <a:pPr algn="l">
              <a:lnSpc>
                <a:spcPct val="118000"/>
              </a:lnSpc>
              <a:spcAft>
                <a:spcPts val="800"/>
              </a:spcAft>
            </a:pPr>
            <a:r>
              <a:rPr sz="1300" b="0" i="0">
                <a:solidFill>
                  <a:srgbClr val="5B666B"/>
                </a:solidFill>
                <a:latin typeface="Segoe UI"/>
              </a:rPr>
              <a:t>You keep the judgment; the busywork is gone.</a:t>
            </a:r>
          </a:p>
        </p:txBody>
      </p:sp>
      <p:sp>
        <p:nvSpPr>
          <p:cNvPr id="17" name="Rounded Rectangle 16"/>
          <p:cNvSpPr/>
          <p:nvPr/>
        </p:nvSpPr>
        <p:spPr>
          <a:xfrm>
            <a:off x="566928" y="5468112"/>
            <a:ext cx="11057839" cy="548640"/>
          </a:xfrm>
          <a:prstGeom prst="roundRect">
            <a:avLst>
              <a:gd name="adj" fmla="val 8000"/>
            </a:avLst>
          </a:prstGeom>
          <a:solidFill>
            <a:srgbClr val="0F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 y="5468112"/>
            <a:ext cx="10509199" cy="548640"/>
          </a:xfrm>
          <a:prstGeom prst="rect">
            <a:avLst/>
          </a:prstGeom>
          <a:noFill/>
        </p:spPr>
        <p:txBody>
          <a:bodyPr wrap="square" anchor="ctr" lIns="0" rIns="0" tIns="0" bIns="0">
            <a:noAutofit/>
          </a:bodyPr>
          <a:lstStyle/>
          <a:p>
            <a:pPr algn="l">
              <a:lnSpc>
                <a:spcPct val="105000"/>
              </a:lnSpc>
            </a:pPr>
            <a:r>
              <a:rPr sz="1150" b="0" i="0">
                <a:solidFill>
                  <a:srgbClr val="ECEFF0"/>
                </a:solidFill>
                <a:latin typeface="Segoe UI"/>
              </a:rPr>
              <a:t>CONNECTS TO   email · files · forms  →  SAP S/4HANA &amp; ECC   ·   outputs SAP process steps, records, confirmations, replies</a:t>
            </a:r>
          </a:p>
        </p:txBody>
      </p:sp>
      <p:sp>
        <p:nvSpPr>
          <p:cNvPr id="19" name="Rectangle 18"/>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1" name="TextBox 20"/>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12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DIGITAL CO-WORKER · FUNCTIONAL OVERVIEW</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400" b="0" i="0">
                <a:solidFill>
                  <a:srgbClr val="0F1417"/>
                </a:solidFill>
                <a:latin typeface="Century Gothic"/>
              </a:rPr>
              <a:t>Any document, any trigger, into SAP.</a:t>
            </a:r>
          </a:p>
        </p:txBody>
      </p:sp>
      <p:sp>
        <p:nvSpPr>
          <p:cNvPr id="4" name="TextBox 3"/>
          <p:cNvSpPr txBox="1"/>
          <p:nvPr/>
        </p:nvSpPr>
        <p:spPr>
          <a:xfrm>
            <a:off x="566928" y="2020824"/>
            <a:ext cx="2743200" cy="274320"/>
          </a:xfrm>
          <a:prstGeom prst="rect">
            <a:avLst/>
          </a:prstGeom>
          <a:noFill/>
        </p:spPr>
        <p:txBody>
          <a:bodyPr wrap="square" anchor="t" lIns="0" rIns="0" tIns="0" bIns="0">
            <a:noAutofit/>
          </a:bodyPr>
          <a:lstStyle/>
          <a:p>
            <a:pPr algn="ctr"/>
            <a:r>
              <a:rPr sz="1050" b="0" i="0" spc="200">
                <a:solidFill>
                  <a:srgbClr val="8A9599"/>
                </a:solidFill>
                <a:latin typeface="Segoe UI Semibold"/>
              </a:rPr>
              <a:t>SOURCES</a:t>
            </a:r>
          </a:p>
        </p:txBody>
      </p:sp>
      <p:sp>
        <p:nvSpPr>
          <p:cNvPr id="5" name="TextBox 4"/>
          <p:cNvSpPr txBox="1"/>
          <p:nvPr/>
        </p:nvSpPr>
        <p:spPr>
          <a:xfrm>
            <a:off x="9189720" y="2020824"/>
            <a:ext cx="2435047" cy="274320"/>
          </a:xfrm>
          <a:prstGeom prst="rect">
            <a:avLst/>
          </a:prstGeom>
          <a:noFill/>
        </p:spPr>
        <p:txBody>
          <a:bodyPr wrap="square" anchor="t" lIns="0" rIns="0" tIns="0" bIns="0">
            <a:noAutofit/>
          </a:bodyPr>
          <a:lstStyle/>
          <a:p>
            <a:pPr algn="ctr"/>
            <a:r>
              <a:rPr sz="1050" b="0" i="0" spc="200">
                <a:solidFill>
                  <a:srgbClr val="8A9599"/>
                </a:solidFill>
                <a:latin typeface="Segoe UI Semibold"/>
              </a:rPr>
              <a:t>DESTINATIONS</a:t>
            </a:r>
          </a:p>
        </p:txBody>
      </p:sp>
      <p:sp>
        <p:nvSpPr>
          <p:cNvPr id="6" name="Rounded Rectangle 5"/>
          <p:cNvSpPr/>
          <p:nvPr/>
        </p:nvSpPr>
        <p:spPr>
          <a:xfrm>
            <a:off x="566928" y="2331720"/>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2331720"/>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Emails / requests</a:t>
            </a:r>
          </a:p>
        </p:txBody>
      </p:sp>
      <p:sp>
        <p:nvSpPr>
          <p:cNvPr id="8" name="Rounded Rectangle 7"/>
          <p:cNvSpPr/>
          <p:nvPr/>
        </p:nvSpPr>
        <p:spPr>
          <a:xfrm>
            <a:off x="566928" y="2898648"/>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2898648"/>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Remittance advices / invoices</a:t>
            </a:r>
          </a:p>
        </p:txBody>
      </p:sp>
      <p:sp>
        <p:nvSpPr>
          <p:cNvPr id="10" name="Rounded Rectangle 9"/>
          <p:cNvSpPr/>
          <p:nvPr/>
        </p:nvSpPr>
        <p:spPr>
          <a:xfrm>
            <a:off x="566928" y="3465576"/>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465576"/>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Funding requests</a:t>
            </a:r>
          </a:p>
        </p:txBody>
      </p:sp>
      <p:sp>
        <p:nvSpPr>
          <p:cNvPr id="12" name="Rounded Rectangle 11"/>
          <p:cNvSpPr/>
          <p:nvPr/>
        </p:nvSpPr>
        <p:spPr>
          <a:xfrm>
            <a:off x="566928" y="4032504"/>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4032504"/>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Bank statements</a:t>
            </a:r>
          </a:p>
        </p:txBody>
      </p:sp>
      <p:sp>
        <p:nvSpPr>
          <p:cNvPr id="14" name="Rounded Rectangle 13"/>
          <p:cNvSpPr/>
          <p:nvPr/>
        </p:nvSpPr>
        <p:spPr>
          <a:xfrm>
            <a:off x="566928" y="4599431"/>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4599431"/>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Any document, any trigger</a:t>
            </a:r>
          </a:p>
        </p:txBody>
      </p:sp>
      <p:sp>
        <p:nvSpPr>
          <p:cNvPr id="16" name="Rounded Rectangle 15"/>
          <p:cNvSpPr/>
          <p:nvPr/>
        </p:nvSpPr>
        <p:spPr>
          <a:xfrm>
            <a:off x="9189720" y="2331720"/>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99448" y="2331720"/>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SAP process steps</a:t>
            </a:r>
          </a:p>
        </p:txBody>
      </p:sp>
      <p:sp>
        <p:nvSpPr>
          <p:cNvPr id="18" name="Rounded Rectangle 17"/>
          <p:cNvSpPr/>
          <p:nvPr/>
        </p:nvSpPr>
        <p:spPr>
          <a:xfrm>
            <a:off x="9189720" y="3087624"/>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9448" y="3087624"/>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Records &amp; notes</a:t>
            </a:r>
          </a:p>
        </p:txBody>
      </p:sp>
      <p:sp>
        <p:nvSpPr>
          <p:cNvPr id="20" name="Rounded Rectangle 19"/>
          <p:cNvSpPr/>
          <p:nvPr/>
        </p:nvSpPr>
        <p:spPr>
          <a:xfrm>
            <a:off x="9189720" y="3843528"/>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3843528"/>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Confirmations</a:t>
            </a:r>
          </a:p>
        </p:txBody>
      </p:sp>
      <p:sp>
        <p:nvSpPr>
          <p:cNvPr id="22" name="Rounded Rectangle 21"/>
          <p:cNvSpPr/>
          <p:nvPr/>
        </p:nvSpPr>
        <p:spPr>
          <a:xfrm>
            <a:off x="9189720" y="4599431"/>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99448" y="4599431"/>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Replies</a:t>
            </a:r>
          </a:p>
        </p:txBody>
      </p:sp>
      <p:sp>
        <p:nvSpPr>
          <p:cNvPr id="24" name="Rounded Rectangle 23"/>
          <p:cNvSpPr/>
          <p:nvPr/>
        </p:nvSpPr>
        <p:spPr>
          <a:xfrm>
            <a:off x="3977639" y="2468879"/>
            <a:ext cx="4251960" cy="2560320"/>
          </a:xfrm>
          <a:prstGeom prst="roundRect">
            <a:avLst>
              <a:gd name="adj" fmla="val 5000"/>
            </a:avLst>
          </a:prstGeom>
          <a:solidFill>
            <a:srgbClr val="FFFFFF"/>
          </a:solidFill>
          <a:ln w="25400">
            <a:solidFill>
              <a:srgbClr val="17B0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51959" y="2788920"/>
            <a:ext cx="3703320" cy="457200"/>
          </a:xfrm>
          <a:prstGeom prst="rect">
            <a:avLst/>
          </a:prstGeom>
          <a:noFill/>
        </p:spPr>
        <p:txBody>
          <a:bodyPr wrap="square" anchor="t" lIns="0" rIns="0" tIns="0" bIns="0">
            <a:noAutofit/>
          </a:bodyPr>
          <a:lstStyle/>
          <a:p>
            <a:pPr algn="ctr"/>
            <a:r>
              <a:rPr sz="1100" b="0" i="0" spc="200">
                <a:solidFill>
                  <a:srgbClr val="0E7C86"/>
                </a:solidFill>
                <a:latin typeface="Segoe UI Semibold"/>
              </a:rPr>
              <a:t>BRISKEN</a:t>
            </a:r>
          </a:p>
        </p:txBody>
      </p:sp>
      <p:sp>
        <p:nvSpPr>
          <p:cNvPr id="26" name="TextBox 25"/>
          <p:cNvSpPr txBox="1"/>
          <p:nvPr/>
        </p:nvSpPr>
        <p:spPr>
          <a:xfrm>
            <a:off x="4251959" y="3118103"/>
            <a:ext cx="3703320" cy="640080"/>
          </a:xfrm>
          <a:prstGeom prst="rect">
            <a:avLst/>
          </a:prstGeom>
          <a:noFill/>
        </p:spPr>
        <p:txBody>
          <a:bodyPr wrap="square" anchor="t" lIns="0" rIns="0" tIns="0" bIns="0">
            <a:noAutofit/>
          </a:bodyPr>
          <a:lstStyle/>
          <a:p>
            <a:pPr algn="ctr">
              <a:lnSpc>
                <a:spcPct val="100000"/>
              </a:lnSpc>
            </a:pPr>
            <a:r>
              <a:rPr sz="2100" b="0" i="0">
                <a:solidFill>
                  <a:srgbClr val="0F1417"/>
                </a:solidFill>
                <a:latin typeface="Century Gothic"/>
              </a:rPr>
              <a:t>Digital Co-Worker</a:t>
            </a:r>
          </a:p>
        </p:txBody>
      </p:sp>
      <p:sp>
        <p:nvSpPr>
          <p:cNvPr id="27" name="TextBox 26"/>
          <p:cNvSpPr txBox="1"/>
          <p:nvPr/>
        </p:nvSpPr>
        <p:spPr>
          <a:xfrm>
            <a:off x="4251959" y="3813048"/>
            <a:ext cx="3703320" cy="310896"/>
          </a:xfrm>
          <a:prstGeom prst="rect">
            <a:avLst/>
          </a:prstGeom>
          <a:noFill/>
        </p:spPr>
        <p:txBody>
          <a:bodyPr wrap="square" anchor="t" lIns="0" rIns="0" tIns="0" bIns="0">
            <a:noAutofit/>
          </a:bodyPr>
          <a:lstStyle/>
          <a:p>
            <a:pPr algn="ctr"/>
            <a:r>
              <a:rPr sz="1250" b="0" i="0">
                <a:solidFill>
                  <a:srgbClr val="5B666B"/>
                </a:solidFill>
                <a:latin typeface="Segoe UI"/>
              </a:rPr>
              <a:t>on SAP's own cloud  ·  governed end to end</a:t>
            </a:r>
          </a:p>
        </p:txBody>
      </p:sp>
      <p:sp>
        <p:nvSpPr>
          <p:cNvPr id="28" name="Rounded Rectangle 27"/>
          <p:cNvSpPr/>
          <p:nvPr/>
        </p:nvSpPr>
        <p:spPr>
          <a:xfrm>
            <a:off x="4343400" y="4215383"/>
            <a:ext cx="3520440" cy="603504"/>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4840" y="4215383"/>
            <a:ext cx="3337560" cy="603504"/>
          </a:xfrm>
          <a:prstGeom prst="rect">
            <a:avLst/>
          </a:prstGeom>
          <a:noFill/>
        </p:spPr>
        <p:txBody>
          <a:bodyPr wrap="square" anchor="ctr" lIns="0" rIns="0" tIns="0" bIns="0">
            <a:noAutofit/>
          </a:bodyPr>
          <a:lstStyle/>
          <a:p>
            <a:pPr algn="ctr">
              <a:lnSpc>
                <a:spcPct val="110000"/>
              </a:lnSpc>
            </a:pPr>
            <a:r>
              <a:rPr sz="1050" b="0" i="0">
                <a:solidFill>
                  <a:srgbClr val="5B666B"/>
                </a:solidFill>
                <a:latin typeface="Segoe UI"/>
              </a:rPr>
              <a:t>Audit trail · segregation of duty · anomaly alerts · person-in-the-loop</a:t>
            </a:r>
          </a:p>
        </p:txBody>
      </p:sp>
      <p:sp>
        <p:nvSpPr>
          <p:cNvPr id="30" name="Right Arrow 29"/>
          <p:cNvSpPr/>
          <p:nvPr/>
        </p:nvSpPr>
        <p:spPr>
          <a:xfrm>
            <a:off x="3438144" y="3602735"/>
            <a:ext cx="411479" cy="292608"/>
          </a:xfrm>
          <a:prstGeom prst="rightArrow">
            <a:avLst>
              <a:gd name="adj1" fmla="val 55000"/>
              <a:gd name="adj2" fmla="val 55000"/>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ight Arrow 30"/>
          <p:cNvSpPr/>
          <p:nvPr/>
        </p:nvSpPr>
        <p:spPr>
          <a:xfrm>
            <a:off x="8357616" y="3602735"/>
            <a:ext cx="704088" cy="292608"/>
          </a:xfrm>
          <a:prstGeom prst="rightArrow">
            <a:avLst>
              <a:gd name="adj1" fmla="val 55000"/>
              <a:gd name="adj2" fmla="val 55000"/>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5422392"/>
            <a:ext cx="11057839" cy="274320"/>
          </a:xfrm>
          <a:prstGeom prst="rect">
            <a:avLst/>
          </a:prstGeom>
          <a:noFill/>
        </p:spPr>
        <p:txBody>
          <a:bodyPr wrap="square" anchor="t" lIns="0" rIns="0" tIns="0" bIns="0">
            <a:noAutofit/>
          </a:bodyPr>
          <a:lstStyle/>
          <a:p>
            <a:pPr algn="ctr"/>
            <a:r>
              <a:rPr sz="1100" b="0" i="0" spc="60">
                <a:solidFill>
                  <a:srgbClr val="0E7C86"/>
                </a:solidFill>
                <a:latin typeface="Segoe UI Semibold"/>
              </a:rPr>
              <a:t>CONNECTS VIA   RFC / OData  ·  AMQP  ·  SFTP  ·  REST  ·  HTTP  ·  Email  ·  Excel add-in</a:t>
            </a:r>
          </a:p>
        </p:txBody>
      </p:sp>
      <p:sp>
        <p:nvSpPr>
          <p:cNvPr id="33" name="TextBox 32"/>
          <p:cNvSpPr txBox="1"/>
          <p:nvPr/>
        </p:nvSpPr>
        <p:spPr>
          <a:xfrm>
            <a:off x="566928" y="5733288"/>
            <a:ext cx="11057839" cy="274320"/>
          </a:xfrm>
          <a:prstGeom prst="rect">
            <a:avLst/>
          </a:prstGeom>
          <a:noFill/>
        </p:spPr>
        <p:txBody>
          <a:bodyPr wrap="square" anchor="t" lIns="0" rIns="0" tIns="0" bIns="0">
            <a:noAutofit/>
          </a:bodyPr>
          <a:lstStyle/>
          <a:p>
            <a:pPr algn="ctr"/>
            <a:r>
              <a:rPr sz="1200" b="0" i="0">
                <a:solidFill>
                  <a:srgbClr val="8A9599"/>
                </a:solidFill>
                <a:latin typeface="Segoe UI"/>
              </a:rPr>
              <a:t>Any document in, the right action out, with a person on the moves that matter.</a:t>
            </a:r>
          </a:p>
        </p:txBody>
      </p:sp>
      <p:sp>
        <p:nvSpPr>
          <p:cNvPr id="34" name="Rectangle 33"/>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36" name="TextBox 35"/>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13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417"/>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0"/>
            <a:ext cx="2743200" cy="640080"/>
          </a:xfrm>
          <a:prstGeom prst="rect">
            <a:avLst/>
          </a:prstGeom>
          <a:noFill/>
        </p:spPr>
        <p:txBody>
          <a:bodyPr wrap="square" anchor="t" lIns="0" rIns="0" tIns="0" bIns="0">
            <a:noAutofit/>
          </a:bodyPr>
          <a:lstStyle/>
          <a:p>
            <a:pPr algn="l"/>
            <a:r>
              <a:rPr sz="2600" b="0" i="0" spc="100">
                <a:solidFill>
                  <a:srgbClr val="17B0BE"/>
                </a:solidFill>
                <a:latin typeface="Century Gothic"/>
              </a:rPr>
              <a:t>06</a:t>
            </a:r>
          </a:p>
        </p:txBody>
      </p:sp>
      <p:sp>
        <p:nvSpPr>
          <p:cNvPr id="4" name="TextBox 3"/>
          <p:cNvSpPr txBox="1"/>
          <p:nvPr/>
        </p:nvSpPr>
        <p:spPr>
          <a:xfrm>
            <a:off x="548640" y="2926080"/>
            <a:ext cx="10515600" cy="1280160"/>
          </a:xfrm>
          <a:prstGeom prst="rect">
            <a:avLst/>
          </a:prstGeom>
          <a:noFill/>
        </p:spPr>
        <p:txBody>
          <a:bodyPr wrap="square" anchor="t" lIns="0" rIns="0" tIns="0" bIns="0">
            <a:noAutofit/>
          </a:bodyPr>
          <a:lstStyle/>
          <a:p>
            <a:pPr algn="l">
              <a:lnSpc>
                <a:spcPct val="100000"/>
              </a:lnSpc>
            </a:pPr>
            <a:r>
              <a:rPr sz="4600" b="0" i="0">
                <a:solidFill>
                  <a:srgbClr val="ECEFF0"/>
                </a:solidFill>
                <a:latin typeface="Century Gothic"/>
              </a:rPr>
              <a:t>Use Cases</a:t>
            </a:r>
          </a:p>
        </p:txBody>
      </p:sp>
      <p:sp>
        <p:nvSpPr>
          <p:cNvPr id="5" name="TextBox 4"/>
          <p:cNvSpPr txBox="1"/>
          <p:nvPr/>
        </p:nvSpPr>
        <p:spPr>
          <a:xfrm>
            <a:off x="566928" y="3968496"/>
            <a:ext cx="8686800" cy="731520"/>
          </a:xfrm>
          <a:prstGeom prst="rect">
            <a:avLst/>
          </a:prstGeom>
          <a:noFill/>
        </p:spPr>
        <p:txBody>
          <a:bodyPr wrap="square" anchor="t" lIns="0" rIns="0" tIns="0" bIns="0">
            <a:noAutofit/>
          </a:bodyPr>
          <a:lstStyle/>
          <a:p>
            <a:pPr algn="l">
              <a:lnSpc>
                <a:spcPct val="120000"/>
              </a:lnSpc>
            </a:pPr>
            <a:r>
              <a:rPr sz="1600" b="0" i="0">
                <a:solidFill>
                  <a:srgbClr val="9AA6AB"/>
                </a:solidFill>
                <a:latin typeface="Segoe UI"/>
              </a:rPr>
              <a:t>The Digital Co-Worker, at work in the manual middle.</a:t>
            </a:r>
          </a:p>
        </p:txBody>
      </p:sp>
      <p:pic>
        <p:nvPicPr>
          <p:cNvPr id="6" name="Picture 5" descr="brisken_reversed.png"/>
          <p:cNvPicPr>
            <a:picLocks noChangeAspect="1"/>
          </p:cNvPicPr>
          <p:nvPr/>
        </p:nvPicPr>
        <p:blipFill>
          <a:blip r:embed="rId2"/>
          <a:stretch>
            <a:fillRect/>
          </a:stretch>
        </p:blipFill>
        <p:spPr>
          <a:xfrm>
            <a:off x="10455603" y="6236208"/>
            <a:ext cx="1169163" cy="25603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USE CASE · INTERCOMPANY FUNDING REQUEST</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200" b="0" i="0">
                <a:solidFill>
                  <a:srgbClr val="0F1417"/>
                </a:solidFill>
                <a:latin typeface="Century Gothic"/>
              </a:rPr>
              <a:t>Intercompany Funding Request</a:t>
            </a:r>
          </a:p>
        </p:txBody>
      </p:sp>
      <p:sp>
        <p:nvSpPr>
          <p:cNvPr id="4" name="TextBox 3"/>
          <p:cNvSpPr txBox="1"/>
          <p:nvPr/>
        </p:nvSpPr>
        <p:spPr>
          <a:xfrm>
            <a:off x="566928" y="1700784"/>
            <a:ext cx="10515600" cy="365760"/>
          </a:xfrm>
          <a:prstGeom prst="rect">
            <a:avLst/>
          </a:prstGeom>
          <a:noFill/>
        </p:spPr>
        <p:txBody>
          <a:bodyPr wrap="square" anchor="t" lIns="0" rIns="0" tIns="0" bIns="0">
            <a:noAutofit/>
          </a:bodyPr>
          <a:lstStyle/>
          <a:p>
            <a:pPr algn="l">
              <a:lnSpc>
                <a:spcPct val="115000"/>
              </a:lnSpc>
            </a:pPr>
            <a:r>
              <a:rPr sz="1350" b="0" i="1">
                <a:solidFill>
                  <a:srgbClr val="8A9599"/>
                </a:solidFill>
                <a:latin typeface="Segoe UI"/>
              </a:rPr>
              <a:t>Intercompany funding: when one company in a group lends cash to another, run through the group's own in-house bank.</a:t>
            </a:r>
          </a:p>
        </p:txBody>
      </p:sp>
      <p:sp>
        <p:nvSpPr>
          <p:cNvPr id="5" name="TextBox 4"/>
          <p:cNvSpPr txBox="1"/>
          <p:nvPr/>
        </p:nvSpPr>
        <p:spPr>
          <a:xfrm>
            <a:off x="566928" y="2286000"/>
            <a:ext cx="3977639" cy="274320"/>
          </a:xfrm>
          <a:prstGeom prst="rect">
            <a:avLst/>
          </a:prstGeom>
          <a:noFill/>
        </p:spPr>
        <p:txBody>
          <a:bodyPr wrap="square" anchor="t" lIns="0" rIns="0" tIns="0" bIns="0">
            <a:noAutofit/>
          </a:bodyPr>
          <a:lstStyle/>
          <a:p>
            <a:pPr algn="l"/>
            <a:r>
              <a:rPr sz="1100" b="0" i="0" spc="160">
                <a:solidFill>
                  <a:srgbClr val="8A9599"/>
                </a:solidFill>
                <a:latin typeface="Segoe UI Semibold"/>
              </a:rPr>
              <a:t>BEFORE  ·  TODAY, BY HAND</a:t>
            </a:r>
          </a:p>
        </p:txBody>
      </p:sp>
      <p:sp>
        <p:nvSpPr>
          <p:cNvPr id="6" name="Rectangle 5"/>
          <p:cNvSpPr/>
          <p:nvPr/>
        </p:nvSpPr>
        <p:spPr>
          <a:xfrm>
            <a:off x="566928" y="2670048"/>
            <a:ext cx="45720" cy="3063240"/>
          </a:xfrm>
          <a:prstGeom prst="rect">
            <a:avLst/>
          </a:prstGeom>
          <a:solidFill>
            <a:srgbClr val="5B6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651760"/>
            <a:ext cx="3703320" cy="3108960"/>
          </a:xfrm>
          <a:prstGeom prst="rect">
            <a:avLst/>
          </a:prstGeom>
          <a:noFill/>
        </p:spPr>
        <p:txBody>
          <a:bodyPr wrap="square" anchor="t" lIns="0" rIns="0" tIns="0" bIns="0">
            <a:noAutofit/>
          </a:bodyPr>
          <a:lstStyle/>
          <a:p>
            <a:pPr algn="l">
              <a:lnSpc>
                <a:spcPct val="132000"/>
              </a:lnSpc>
            </a:pPr>
            <a:r>
              <a:rPr sz="1500" b="0" i="0">
                <a:solidFill>
                  <a:srgbClr val="0F1417"/>
                </a:solidFill>
                <a:latin typeface="Segoe UI"/>
              </a:rPr>
              <a:t>At a chemicals group, subsidiaries email the in-house bank (the group's own internal bank) to ask for funding. A treasury analyst reads each email and keys it into SAP by hand, across email, SAP in-house cash and the live cash position. Volume spikes at month-end.</a:t>
            </a:r>
          </a:p>
        </p:txBody>
      </p:sp>
      <p:sp>
        <p:nvSpPr>
          <p:cNvPr id="8" name="TextBox 7"/>
          <p:cNvSpPr txBox="1"/>
          <p:nvPr/>
        </p:nvSpPr>
        <p:spPr>
          <a:xfrm>
            <a:off x="5001768" y="2286000"/>
            <a:ext cx="6622999" cy="274320"/>
          </a:xfrm>
          <a:prstGeom prst="rect">
            <a:avLst/>
          </a:prstGeom>
          <a:noFill/>
        </p:spPr>
        <p:txBody>
          <a:bodyPr wrap="square" anchor="t" lIns="0" rIns="0" tIns="0" bIns="0">
            <a:noAutofit/>
          </a:bodyPr>
          <a:lstStyle/>
          <a:p>
            <a:pPr algn="l"/>
            <a:r>
              <a:rPr sz="1100" b="0" i="0" spc="140">
                <a:solidFill>
                  <a:srgbClr val="0E7C86"/>
                </a:solidFill>
                <a:latin typeface="Segoe UI Semibold"/>
              </a:rPr>
              <a:t>AFTER  ·  THE DIGITAL CO-WORKER, IN ORDER</a:t>
            </a:r>
          </a:p>
        </p:txBody>
      </p:sp>
      <p:sp>
        <p:nvSpPr>
          <p:cNvPr id="9" name="Rounded Rectangle 8"/>
          <p:cNvSpPr/>
          <p:nvPr/>
        </p:nvSpPr>
        <p:spPr>
          <a:xfrm>
            <a:off x="5001768" y="2706624"/>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1768" y="27066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1</a:t>
            </a:r>
          </a:p>
        </p:txBody>
      </p:sp>
      <p:sp>
        <p:nvSpPr>
          <p:cNvPr id="11" name="TextBox 10"/>
          <p:cNvSpPr txBox="1"/>
          <p:nvPr/>
        </p:nvSpPr>
        <p:spPr>
          <a:xfrm>
            <a:off x="5404104" y="26883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Reads the funding email.</a:t>
            </a:r>
          </a:p>
        </p:txBody>
      </p:sp>
      <p:sp>
        <p:nvSpPr>
          <p:cNvPr id="12" name="Rounded Rectangle 11"/>
          <p:cNvSpPr/>
          <p:nvPr/>
        </p:nvSpPr>
        <p:spPr>
          <a:xfrm>
            <a:off x="5001768" y="3163824"/>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1768" y="31638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2</a:t>
            </a:r>
          </a:p>
        </p:txBody>
      </p:sp>
      <p:sp>
        <p:nvSpPr>
          <p:cNvPr id="14" name="TextBox 13"/>
          <p:cNvSpPr txBox="1"/>
          <p:nvPr/>
        </p:nvSpPr>
        <p:spPr>
          <a:xfrm>
            <a:off x="5404104" y="31455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Pulls out amount, currency, entity and value date.</a:t>
            </a:r>
          </a:p>
        </p:txBody>
      </p:sp>
      <p:sp>
        <p:nvSpPr>
          <p:cNvPr id="15" name="Rounded Rectangle 14"/>
          <p:cNvSpPr/>
          <p:nvPr/>
        </p:nvSpPr>
        <p:spPr>
          <a:xfrm>
            <a:off x="5001768" y="3621024"/>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36210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3</a:t>
            </a:r>
          </a:p>
        </p:txBody>
      </p:sp>
      <p:sp>
        <p:nvSpPr>
          <p:cNvPr id="17" name="TextBox 16"/>
          <p:cNvSpPr txBox="1"/>
          <p:nvPr/>
        </p:nvSpPr>
        <p:spPr>
          <a:xfrm>
            <a:off x="5404104" y="36027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Checks the group cash position and the intercompany limit.</a:t>
            </a:r>
          </a:p>
        </p:txBody>
      </p:sp>
      <p:sp>
        <p:nvSpPr>
          <p:cNvPr id="18" name="Rounded Rectangle 17"/>
          <p:cNvSpPr/>
          <p:nvPr/>
        </p:nvSpPr>
        <p:spPr>
          <a:xfrm>
            <a:off x="5001768" y="4078223"/>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1768" y="40782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4</a:t>
            </a:r>
          </a:p>
        </p:txBody>
      </p:sp>
      <p:sp>
        <p:nvSpPr>
          <p:cNvPr id="20" name="TextBox 19"/>
          <p:cNvSpPr txBox="1"/>
          <p:nvPr/>
        </p:nvSpPr>
        <p:spPr>
          <a:xfrm>
            <a:off x="5404104" y="4059935"/>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Drafts the funding memo in SAP.</a:t>
            </a:r>
          </a:p>
        </p:txBody>
      </p:sp>
      <p:sp>
        <p:nvSpPr>
          <p:cNvPr id="21" name="Rounded Rectangle 20"/>
          <p:cNvSpPr/>
          <p:nvPr/>
        </p:nvSpPr>
        <p:spPr>
          <a:xfrm>
            <a:off x="5001768" y="4535423"/>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1768" y="45354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5</a:t>
            </a:r>
          </a:p>
        </p:txBody>
      </p:sp>
      <p:sp>
        <p:nvSpPr>
          <p:cNvPr id="23" name="TextBox 22"/>
          <p:cNvSpPr txBox="1"/>
          <p:nvPr/>
        </p:nvSpPr>
        <p:spPr>
          <a:xfrm>
            <a:off x="5404104" y="45171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Routes it for approval.</a:t>
            </a:r>
          </a:p>
        </p:txBody>
      </p:sp>
      <p:sp>
        <p:nvSpPr>
          <p:cNvPr id="24" name="Rounded Rectangle 23"/>
          <p:cNvSpPr/>
          <p:nvPr/>
        </p:nvSpPr>
        <p:spPr>
          <a:xfrm>
            <a:off x="5001768" y="4992623"/>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01768" y="49926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6</a:t>
            </a:r>
          </a:p>
        </p:txBody>
      </p:sp>
      <p:sp>
        <p:nvSpPr>
          <p:cNvPr id="26" name="TextBox 25"/>
          <p:cNvSpPr txBox="1"/>
          <p:nvPr/>
        </p:nvSpPr>
        <p:spPr>
          <a:xfrm>
            <a:off x="5404104" y="49743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On sign-off, posts and confirms back to the requester.</a:t>
            </a:r>
          </a:p>
        </p:txBody>
      </p:sp>
      <p:sp>
        <p:nvSpPr>
          <p:cNvPr id="27" name="Rounded Rectangle 26"/>
          <p:cNvSpPr/>
          <p:nvPr/>
        </p:nvSpPr>
        <p:spPr>
          <a:xfrm>
            <a:off x="5001768" y="5541264"/>
            <a:ext cx="6622999" cy="566928"/>
          </a:xfrm>
          <a:prstGeom prst="roundRect">
            <a:avLst>
              <a:gd name="adj" fmla="val 10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01768" y="5541264"/>
            <a:ext cx="73152" cy="566928"/>
          </a:xfrm>
          <a:prstGeom prst="rect">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57800" y="5541264"/>
            <a:ext cx="6165799" cy="566928"/>
          </a:xfrm>
          <a:prstGeom prst="rect">
            <a:avLst/>
          </a:prstGeom>
          <a:noFill/>
        </p:spPr>
        <p:txBody>
          <a:bodyPr wrap="square" anchor="ctr" lIns="0" rIns="0" tIns="0" bIns="0">
            <a:noAutofit/>
          </a:bodyPr>
          <a:lstStyle/>
          <a:p>
            <a:pPr algn="l"/>
            <a:r>
              <a:rPr sz="1300" b="0" i="0">
                <a:solidFill>
                  <a:srgbClr val="0F1417"/>
                </a:solidFill>
                <a:latin typeface="Segoe UI Semibold"/>
              </a:rPr>
              <a:t>A person approves the moves that matter.</a:t>
            </a:r>
          </a:p>
        </p:txBody>
      </p:sp>
      <p:sp>
        <p:nvSpPr>
          <p:cNvPr id="30" name="Rectangle 29"/>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32" name="TextBox 31"/>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14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USE CASE · REMITTANCE ADVICE GATE</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200" b="0" i="0">
                <a:solidFill>
                  <a:srgbClr val="0F1417"/>
                </a:solidFill>
                <a:latin typeface="Century Gothic"/>
              </a:rPr>
              <a:t>Remittance Advice Gate</a:t>
            </a:r>
          </a:p>
        </p:txBody>
      </p:sp>
      <p:sp>
        <p:nvSpPr>
          <p:cNvPr id="4" name="TextBox 3"/>
          <p:cNvSpPr txBox="1"/>
          <p:nvPr/>
        </p:nvSpPr>
        <p:spPr>
          <a:xfrm>
            <a:off x="566928" y="1700784"/>
            <a:ext cx="10515600" cy="365760"/>
          </a:xfrm>
          <a:prstGeom prst="rect">
            <a:avLst/>
          </a:prstGeom>
          <a:noFill/>
        </p:spPr>
        <p:txBody>
          <a:bodyPr wrap="square" anchor="t" lIns="0" rIns="0" tIns="0" bIns="0">
            <a:noAutofit/>
          </a:bodyPr>
          <a:lstStyle/>
          <a:p>
            <a:pPr algn="l">
              <a:lnSpc>
                <a:spcPct val="115000"/>
              </a:lnSpc>
            </a:pPr>
            <a:r>
              <a:rPr sz="1350" b="0" i="1">
                <a:solidFill>
                  <a:srgbClr val="8A9599"/>
                </a:solidFill>
                <a:latin typeface="Segoe UI"/>
              </a:rPr>
              <a:t>Remittance advice: the note a payer sends listing which invoices a payment covers.</a:t>
            </a:r>
          </a:p>
        </p:txBody>
      </p:sp>
      <p:sp>
        <p:nvSpPr>
          <p:cNvPr id="5" name="TextBox 4"/>
          <p:cNvSpPr txBox="1"/>
          <p:nvPr/>
        </p:nvSpPr>
        <p:spPr>
          <a:xfrm>
            <a:off x="566928" y="2286000"/>
            <a:ext cx="3977639" cy="274320"/>
          </a:xfrm>
          <a:prstGeom prst="rect">
            <a:avLst/>
          </a:prstGeom>
          <a:noFill/>
        </p:spPr>
        <p:txBody>
          <a:bodyPr wrap="square" anchor="t" lIns="0" rIns="0" tIns="0" bIns="0">
            <a:noAutofit/>
          </a:bodyPr>
          <a:lstStyle/>
          <a:p>
            <a:pPr algn="l"/>
            <a:r>
              <a:rPr sz="1100" b="0" i="0" spc="160">
                <a:solidFill>
                  <a:srgbClr val="8A9599"/>
                </a:solidFill>
                <a:latin typeface="Segoe UI Semibold"/>
              </a:rPr>
              <a:t>BEFORE  ·  TODAY, BY HAND</a:t>
            </a:r>
          </a:p>
        </p:txBody>
      </p:sp>
      <p:sp>
        <p:nvSpPr>
          <p:cNvPr id="6" name="Rectangle 5"/>
          <p:cNvSpPr/>
          <p:nvPr/>
        </p:nvSpPr>
        <p:spPr>
          <a:xfrm>
            <a:off x="566928" y="2670048"/>
            <a:ext cx="45720" cy="3063240"/>
          </a:xfrm>
          <a:prstGeom prst="rect">
            <a:avLst/>
          </a:prstGeom>
          <a:solidFill>
            <a:srgbClr val="5B6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651760"/>
            <a:ext cx="3703320" cy="3108960"/>
          </a:xfrm>
          <a:prstGeom prst="rect">
            <a:avLst/>
          </a:prstGeom>
          <a:noFill/>
        </p:spPr>
        <p:txBody>
          <a:bodyPr wrap="square" anchor="t" lIns="0" rIns="0" tIns="0" bIns="0">
            <a:noAutofit/>
          </a:bodyPr>
          <a:lstStyle/>
          <a:p>
            <a:pPr algn="l">
              <a:lnSpc>
                <a:spcPct val="132000"/>
              </a:lnSpc>
            </a:pPr>
            <a:r>
              <a:rPr sz="1500" b="0" i="0">
                <a:solidFill>
                  <a:srgbClr val="0F1417"/>
                </a:solidFill>
                <a:latin typeface="Segoe UI"/>
              </a:rPr>
              <a:t>Remittance advices arrive by email, sometimes in the body, sometimes as an attachment, in every layout. A person reads each one and keys it into SAP by hand.</a:t>
            </a:r>
          </a:p>
        </p:txBody>
      </p:sp>
      <p:sp>
        <p:nvSpPr>
          <p:cNvPr id="8" name="TextBox 7"/>
          <p:cNvSpPr txBox="1"/>
          <p:nvPr/>
        </p:nvSpPr>
        <p:spPr>
          <a:xfrm>
            <a:off x="5001768" y="2286000"/>
            <a:ext cx="6622999" cy="274320"/>
          </a:xfrm>
          <a:prstGeom prst="rect">
            <a:avLst/>
          </a:prstGeom>
          <a:noFill/>
        </p:spPr>
        <p:txBody>
          <a:bodyPr wrap="square" anchor="t" lIns="0" rIns="0" tIns="0" bIns="0">
            <a:noAutofit/>
          </a:bodyPr>
          <a:lstStyle/>
          <a:p>
            <a:pPr algn="l"/>
            <a:r>
              <a:rPr sz="1100" b="0" i="0" spc="140">
                <a:solidFill>
                  <a:srgbClr val="0E7C86"/>
                </a:solidFill>
                <a:latin typeface="Segoe UI Semibold"/>
              </a:rPr>
              <a:t>AFTER  ·  THE DIGITAL CO-WORKER, IN ORDER</a:t>
            </a:r>
          </a:p>
        </p:txBody>
      </p:sp>
      <p:sp>
        <p:nvSpPr>
          <p:cNvPr id="9" name="Rounded Rectangle 8"/>
          <p:cNvSpPr/>
          <p:nvPr/>
        </p:nvSpPr>
        <p:spPr>
          <a:xfrm>
            <a:off x="5001768" y="2706624"/>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1768" y="27066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1</a:t>
            </a:r>
          </a:p>
        </p:txBody>
      </p:sp>
      <p:sp>
        <p:nvSpPr>
          <p:cNvPr id="11" name="TextBox 10"/>
          <p:cNvSpPr txBox="1"/>
          <p:nvPr/>
        </p:nvSpPr>
        <p:spPr>
          <a:xfrm>
            <a:off x="5404104" y="26883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Reads the email, body or attachment, in any format.</a:t>
            </a:r>
          </a:p>
        </p:txBody>
      </p:sp>
      <p:sp>
        <p:nvSpPr>
          <p:cNvPr id="12" name="Rounded Rectangle 11"/>
          <p:cNvSpPr/>
          <p:nvPr/>
        </p:nvSpPr>
        <p:spPr>
          <a:xfrm>
            <a:off x="5001768" y="3163824"/>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1768" y="31638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2</a:t>
            </a:r>
          </a:p>
        </p:txBody>
      </p:sp>
      <p:sp>
        <p:nvSpPr>
          <p:cNvPr id="14" name="TextBox 13"/>
          <p:cNvSpPr txBox="1"/>
          <p:nvPr/>
        </p:nvSpPr>
        <p:spPr>
          <a:xfrm>
            <a:off x="5404104" y="31455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Identifies and structures the advice data.</a:t>
            </a:r>
          </a:p>
        </p:txBody>
      </p:sp>
      <p:sp>
        <p:nvSpPr>
          <p:cNvPr id="15" name="Rounded Rectangle 14"/>
          <p:cNvSpPr/>
          <p:nvPr/>
        </p:nvSpPr>
        <p:spPr>
          <a:xfrm>
            <a:off x="5001768" y="3621024"/>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36210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3</a:t>
            </a:r>
          </a:p>
        </p:txBody>
      </p:sp>
      <p:sp>
        <p:nvSpPr>
          <p:cNvPr id="17" name="TextBox 16"/>
          <p:cNvSpPr txBox="1"/>
          <p:nvPr/>
        </p:nvSpPr>
        <p:spPr>
          <a:xfrm>
            <a:off x="5404104" y="36027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Validates it against your SAP customer master and invoices.</a:t>
            </a:r>
          </a:p>
        </p:txBody>
      </p:sp>
      <p:sp>
        <p:nvSpPr>
          <p:cNvPr id="18" name="Rounded Rectangle 17"/>
          <p:cNvSpPr/>
          <p:nvPr/>
        </p:nvSpPr>
        <p:spPr>
          <a:xfrm>
            <a:off x="5001768" y="4078223"/>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1768" y="40782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4</a:t>
            </a:r>
          </a:p>
        </p:txBody>
      </p:sp>
      <p:sp>
        <p:nvSpPr>
          <p:cNvPr id="20" name="TextBox 19"/>
          <p:cNvSpPr txBox="1"/>
          <p:nvPr/>
        </p:nvSpPr>
        <p:spPr>
          <a:xfrm>
            <a:off x="5404104" y="4059935"/>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Delivers it to SAP S/4HANA, or a processor like Serrala or HighRadius.</a:t>
            </a:r>
          </a:p>
        </p:txBody>
      </p:sp>
      <p:sp>
        <p:nvSpPr>
          <p:cNvPr id="21" name="Rounded Rectangle 20"/>
          <p:cNvSpPr/>
          <p:nvPr/>
        </p:nvSpPr>
        <p:spPr>
          <a:xfrm>
            <a:off x="5001768" y="4535423"/>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1768" y="45354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5</a:t>
            </a:r>
          </a:p>
        </p:txBody>
      </p:sp>
      <p:sp>
        <p:nvSpPr>
          <p:cNvPr id="23" name="TextBox 22"/>
          <p:cNvSpPr txBox="1"/>
          <p:nvPr/>
        </p:nvSpPr>
        <p:spPr>
          <a:xfrm>
            <a:off x="5404104" y="45171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Flags anything odd for review.</a:t>
            </a:r>
          </a:p>
        </p:txBody>
      </p:sp>
      <p:sp>
        <p:nvSpPr>
          <p:cNvPr id="24" name="Rounded Rectangle 23"/>
          <p:cNvSpPr/>
          <p:nvPr/>
        </p:nvSpPr>
        <p:spPr>
          <a:xfrm>
            <a:off x="5001768" y="5084064"/>
            <a:ext cx="6622999" cy="566928"/>
          </a:xfrm>
          <a:prstGeom prst="roundRect">
            <a:avLst>
              <a:gd name="adj" fmla="val 10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01768" y="5084064"/>
            <a:ext cx="73152" cy="566928"/>
          </a:xfrm>
          <a:prstGeom prst="rect">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57800" y="5084064"/>
            <a:ext cx="6165799" cy="566928"/>
          </a:xfrm>
          <a:prstGeom prst="rect">
            <a:avLst/>
          </a:prstGeom>
          <a:noFill/>
        </p:spPr>
        <p:txBody>
          <a:bodyPr wrap="square" anchor="ctr" lIns="0" rIns="0" tIns="0" bIns="0">
            <a:noAutofit/>
          </a:bodyPr>
          <a:lstStyle/>
          <a:p>
            <a:pPr algn="l"/>
            <a:r>
              <a:rPr sz="1300" b="0" i="0">
                <a:solidFill>
                  <a:srgbClr val="0F1417"/>
                </a:solidFill>
                <a:latin typeface="Segoe UI Semibold"/>
              </a:rPr>
              <a:t>A person sets the guardrails and reviews the exceptions.</a:t>
            </a:r>
          </a:p>
        </p:txBody>
      </p:sp>
      <p:sp>
        <p:nvSpPr>
          <p:cNvPr id="27" name="Rectangle 26"/>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9" name="TextBox 28"/>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15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USE CASE · CASH FLOW &amp; EXPOSURE HUB</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200" b="0" i="0">
                <a:solidFill>
                  <a:srgbClr val="0F1417"/>
                </a:solidFill>
                <a:latin typeface="Century Gothic"/>
              </a:rPr>
              <a:t>Cash Flow &amp; Exposure Hub</a:t>
            </a:r>
          </a:p>
        </p:txBody>
      </p:sp>
      <p:sp>
        <p:nvSpPr>
          <p:cNvPr id="4" name="TextBox 3"/>
          <p:cNvSpPr txBox="1"/>
          <p:nvPr/>
        </p:nvSpPr>
        <p:spPr>
          <a:xfrm>
            <a:off x="566928" y="1700784"/>
            <a:ext cx="10515600" cy="365760"/>
          </a:xfrm>
          <a:prstGeom prst="rect">
            <a:avLst/>
          </a:prstGeom>
          <a:noFill/>
        </p:spPr>
        <p:txBody>
          <a:bodyPr wrap="square" anchor="t" lIns="0" rIns="0" tIns="0" bIns="0">
            <a:noAutofit/>
          </a:bodyPr>
          <a:lstStyle/>
          <a:p>
            <a:pPr algn="l">
              <a:lnSpc>
                <a:spcPct val="115000"/>
              </a:lnSpc>
            </a:pPr>
            <a:r>
              <a:rPr sz="1350" b="0" i="1">
                <a:solidFill>
                  <a:srgbClr val="8A9599"/>
                </a:solidFill>
                <a:latin typeface="Segoe UI"/>
              </a:rPr>
              <a:t>Exposure: the money at risk from currency or price moves, which treasury hedges.</a:t>
            </a:r>
          </a:p>
        </p:txBody>
      </p:sp>
      <p:sp>
        <p:nvSpPr>
          <p:cNvPr id="5" name="TextBox 4"/>
          <p:cNvSpPr txBox="1"/>
          <p:nvPr/>
        </p:nvSpPr>
        <p:spPr>
          <a:xfrm>
            <a:off x="566928" y="2286000"/>
            <a:ext cx="3977639" cy="274320"/>
          </a:xfrm>
          <a:prstGeom prst="rect">
            <a:avLst/>
          </a:prstGeom>
          <a:noFill/>
        </p:spPr>
        <p:txBody>
          <a:bodyPr wrap="square" anchor="t" lIns="0" rIns="0" tIns="0" bIns="0">
            <a:noAutofit/>
          </a:bodyPr>
          <a:lstStyle/>
          <a:p>
            <a:pPr algn="l"/>
            <a:r>
              <a:rPr sz="1100" b="0" i="0" spc="160">
                <a:solidFill>
                  <a:srgbClr val="8A9599"/>
                </a:solidFill>
                <a:latin typeface="Segoe UI Semibold"/>
              </a:rPr>
              <a:t>BEFORE  ·  TODAY, BY HAND</a:t>
            </a:r>
          </a:p>
        </p:txBody>
      </p:sp>
      <p:sp>
        <p:nvSpPr>
          <p:cNvPr id="6" name="Rectangle 5"/>
          <p:cNvSpPr/>
          <p:nvPr/>
        </p:nvSpPr>
        <p:spPr>
          <a:xfrm>
            <a:off x="566928" y="2670048"/>
            <a:ext cx="45720" cy="3063240"/>
          </a:xfrm>
          <a:prstGeom prst="rect">
            <a:avLst/>
          </a:prstGeom>
          <a:solidFill>
            <a:srgbClr val="5B6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651760"/>
            <a:ext cx="3703320" cy="3108960"/>
          </a:xfrm>
          <a:prstGeom prst="rect">
            <a:avLst/>
          </a:prstGeom>
          <a:noFill/>
        </p:spPr>
        <p:txBody>
          <a:bodyPr wrap="square" anchor="t" lIns="0" rIns="0" tIns="0" bIns="0">
            <a:noAutofit/>
          </a:bodyPr>
          <a:lstStyle/>
          <a:p>
            <a:pPr algn="l">
              <a:lnSpc>
                <a:spcPct val="132000"/>
              </a:lnSpc>
            </a:pPr>
            <a:r>
              <a:rPr sz="1500" b="0" i="0">
                <a:solidFill>
                  <a:srgbClr val="0F1417"/>
                </a:solidFill>
                <a:latin typeface="Segoe UI"/>
              </a:rPr>
              <a:t>Cash-management and FX-exposure data comes in Excel, CSV and PDF from departments that do not use SAP. Someone converts and maps each one into SAP by hand, in time for cash and hedging decisions.</a:t>
            </a:r>
          </a:p>
        </p:txBody>
      </p:sp>
      <p:sp>
        <p:nvSpPr>
          <p:cNvPr id="8" name="TextBox 7"/>
          <p:cNvSpPr txBox="1"/>
          <p:nvPr/>
        </p:nvSpPr>
        <p:spPr>
          <a:xfrm>
            <a:off x="5001768" y="2286000"/>
            <a:ext cx="6622999" cy="274320"/>
          </a:xfrm>
          <a:prstGeom prst="rect">
            <a:avLst/>
          </a:prstGeom>
          <a:noFill/>
        </p:spPr>
        <p:txBody>
          <a:bodyPr wrap="square" anchor="t" lIns="0" rIns="0" tIns="0" bIns="0">
            <a:noAutofit/>
          </a:bodyPr>
          <a:lstStyle/>
          <a:p>
            <a:pPr algn="l"/>
            <a:r>
              <a:rPr sz="1100" b="0" i="0" spc="140">
                <a:solidFill>
                  <a:srgbClr val="0E7C86"/>
                </a:solidFill>
                <a:latin typeface="Segoe UI Semibold"/>
              </a:rPr>
              <a:t>AFTER  ·  THE DIGITAL CO-WORKER, IN ORDER</a:t>
            </a:r>
          </a:p>
        </p:txBody>
      </p:sp>
      <p:sp>
        <p:nvSpPr>
          <p:cNvPr id="9" name="Rounded Rectangle 8"/>
          <p:cNvSpPr/>
          <p:nvPr/>
        </p:nvSpPr>
        <p:spPr>
          <a:xfrm>
            <a:off x="5001768" y="2706624"/>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1768" y="27066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1</a:t>
            </a:r>
          </a:p>
        </p:txBody>
      </p:sp>
      <p:sp>
        <p:nvSpPr>
          <p:cNvPr id="11" name="TextBox 10"/>
          <p:cNvSpPr txBox="1"/>
          <p:nvPr/>
        </p:nvSpPr>
        <p:spPr>
          <a:xfrm>
            <a:off x="5404104" y="26883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Collects cash-flow and exposure data from any source, any format.</a:t>
            </a:r>
          </a:p>
        </p:txBody>
      </p:sp>
      <p:sp>
        <p:nvSpPr>
          <p:cNvPr id="12" name="Rounded Rectangle 11"/>
          <p:cNvSpPr/>
          <p:nvPr/>
        </p:nvSpPr>
        <p:spPr>
          <a:xfrm>
            <a:off x="5001768" y="3163824"/>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1768" y="31638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2</a:t>
            </a:r>
          </a:p>
        </p:txBody>
      </p:sp>
      <p:sp>
        <p:nvSpPr>
          <p:cNvPr id="14" name="TextBox 13"/>
          <p:cNvSpPr txBox="1"/>
          <p:nvPr/>
        </p:nvSpPr>
        <p:spPr>
          <a:xfrm>
            <a:off x="5404104" y="31455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Validates it and maps it into your SAP naming.</a:t>
            </a:r>
          </a:p>
        </p:txBody>
      </p:sp>
      <p:sp>
        <p:nvSpPr>
          <p:cNvPr id="15" name="Rounded Rectangle 14"/>
          <p:cNvSpPr/>
          <p:nvPr/>
        </p:nvSpPr>
        <p:spPr>
          <a:xfrm>
            <a:off x="5001768" y="3621024"/>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36210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3</a:t>
            </a:r>
          </a:p>
        </p:txBody>
      </p:sp>
      <p:sp>
        <p:nvSpPr>
          <p:cNvPr id="17" name="TextBox 16"/>
          <p:cNvSpPr txBox="1"/>
          <p:nvPr/>
        </p:nvSpPr>
        <p:spPr>
          <a:xfrm>
            <a:off x="5404104" y="36027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Integrates it with cash and exposure management in S/4HANA or ECC.</a:t>
            </a:r>
          </a:p>
        </p:txBody>
      </p:sp>
      <p:sp>
        <p:nvSpPr>
          <p:cNvPr id="18" name="Rounded Rectangle 17"/>
          <p:cNvSpPr/>
          <p:nvPr/>
        </p:nvSpPr>
        <p:spPr>
          <a:xfrm>
            <a:off x="5001768" y="4078223"/>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1768" y="40782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4</a:t>
            </a:r>
          </a:p>
        </p:txBody>
      </p:sp>
      <p:sp>
        <p:nvSpPr>
          <p:cNvPr id="20" name="TextBox 19"/>
          <p:cNvSpPr txBox="1"/>
          <p:nvPr/>
        </p:nvSpPr>
        <p:spPr>
          <a:xfrm>
            <a:off x="5404104" y="4059935"/>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Enriches it for analytics and reporting.</a:t>
            </a:r>
          </a:p>
        </p:txBody>
      </p:sp>
      <p:sp>
        <p:nvSpPr>
          <p:cNvPr id="21" name="Rounded Rectangle 20"/>
          <p:cNvSpPr/>
          <p:nvPr/>
        </p:nvSpPr>
        <p:spPr>
          <a:xfrm>
            <a:off x="5001768" y="4535423"/>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1768" y="45354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5</a:t>
            </a:r>
          </a:p>
        </p:txBody>
      </p:sp>
      <p:sp>
        <p:nvSpPr>
          <p:cNvPr id="23" name="TextBox 22"/>
          <p:cNvSpPr txBox="1"/>
          <p:nvPr/>
        </p:nvSpPr>
        <p:spPr>
          <a:xfrm>
            <a:off x="5404104" y="45171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Monitors every flow for completeness and timeliness.</a:t>
            </a:r>
          </a:p>
        </p:txBody>
      </p:sp>
      <p:sp>
        <p:nvSpPr>
          <p:cNvPr id="24" name="Rounded Rectangle 23"/>
          <p:cNvSpPr/>
          <p:nvPr/>
        </p:nvSpPr>
        <p:spPr>
          <a:xfrm>
            <a:off x="5001768" y="5084064"/>
            <a:ext cx="6622999" cy="566928"/>
          </a:xfrm>
          <a:prstGeom prst="roundRect">
            <a:avLst>
              <a:gd name="adj" fmla="val 10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01768" y="5084064"/>
            <a:ext cx="73152" cy="566928"/>
          </a:xfrm>
          <a:prstGeom prst="rect">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57800" y="5084064"/>
            <a:ext cx="6165799" cy="566928"/>
          </a:xfrm>
          <a:prstGeom prst="rect">
            <a:avLst/>
          </a:prstGeom>
          <a:noFill/>
        </p:spPr>
        <p:txBody>
          <a:bodyPr wrap="square" anchor="ctr" lIns="0" rIns="0" tIns="0" bIns="0">
            <a:noAutofit/>
          </a:bodyPr>
          <a:lstStyle/>
          <a:p>
            <a:pPr algn="l"/>
            <a:r>
              <a:rPr sz="1300" b="0" i="0">
                <a:solidFill>
                  <a:srgbClr val="0F1417"/>
                </a:solidFill>
                <a:latin typeface="Segoe UI Semibold"/>
              </a:rPr>
              <a:t>A person acts on the position; the assembling is done.</a:t>
            </a:r>
          </a:p>
        </p:txBody>
      </p:sp>
      <p:sp>
        <p:nvSpPr>
          <p:cNvPr id="27" name="Rectangle 26"/>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9" name="TextBox 28"/>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16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417"/>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0"/>
            <a:ext cx="2743200" cy="640080"/>
          </a:xfrm>
          <a:prstGeom prst="rect">
            <a:avLst/>
          </a:prstGeom>
          <a:noFill/>
        </p:spPr>
        <p:txBody>
          <a:bodyPr wrap="square" anchor="t" lIns="0" rIns="0" tIns="0" bIns="0">
            <a:noAutofit/>
          </a:bodyPr>
          <a:lstStyle/>
          <a:p>
            <a:pPr algn="l"/>
            <a:r>
              <a:rPr sz="2600" b="0" i="0" spc="100">
                <a:solidFill>
                  <a:srgbClr val="17B0BE"/>
                </a:solidFill>
                <a:latin typeface="Century Gothic"/>
              </a:rPr>
              <a:t>07</a:t>
            </a:r>
          </a:p>
        </p:txBody>
      </p:sp>
      <p:sp>
        <p:nvSpPr>
          <p:cNvPr id="4" name="TextBox 3"/>
          <p:cNvSpPr txBox="1"/>
          <p:nvPr/>
        </p:nvSpPr>
        <p:spPr>
          <a:xfrm>
            <a:off x="548640" y="2926080"/>
            <a:ext cx="10515600" cy="1280160"/>
          </a:xfrm>
          <a:prstGeom prst="rect">
            <a:avLst/>
          </a:prstGeom>
          <a:noFill/>
        </p:spPr>
        <p:txBody>
          <a:bodyPr wrap="square" anchor="t" lIns="0" rIns="0" tIns="0" bIns="0">
            <a:noAutofit/>
          </a:bodyPr>
          <a:lstStyle/>
          <a:p>
            <a:pPr algn="l">
              <a:lnSpc>
                <a:spcPct val="100000"/>
              </a:lnSpc>
            </a:pPr>
            <a:r>
              <a:rPr sz="4600" b="0" i="0">
                <a:solidFill>
                  <a:srgbClr val="ECEFF0"/>
                </a:solidFill>
                <a:latin typeface="Century Gothic"/>
              </a:rPr>
              <a:t>Success Stories</a:t>
            </a:r>
          </a:p>
        </p:txBody>
      </p:sp>
      <p:sp>
        <p:nvSpPr>
          <p:cNvPr id="5" name="TextBox 4"/>
          <p:cNvSpPr txBox="1"/>
          <p:nvPr/>
        </p:nvSpPr>
        <p:spPr>
          <a:xfrm>
            <a:off x="566928" y="3968496"/>
            <a:ext cx="8686800" cy="731520"/>
          </a:xfrm>
          <a:prstGeom prst="rect">
            <a:avLst/>
          </a:prstGeom>
          <a:noFill/>
        </p:spPr>
        <p:txBody>
          <a:bodyPr wrap="square" anchor="t" lIns="0" rIns="0" tIns="0" bIns="0">
            <a:noAutofit/>
          </a:bodyPr>
          <a:lstStyle/>
          <a:p>
            <a:pPr algn="l">
              <a:lnSpc>
                <a:spcPct val="120000"/>
              </a:lnSpc>
            </a:pPr>
            <a:r>
              <a:rPr sz="1600" b="0" i="0">
                <a:solidFill>
                  <a:srgbClr val="9AA6AB"/>
                </a:solidFill>
                <a:latin typeface="Segoe UI"/>
              </a:rPr>
              <a:t>Three live deployments, in three real industries.</a:t>
            </a:r>
          </a:p>
        </p:txBody>
      </p:sp>
      <p:pic>
        <p:nvPicPr>
          <p:cNvPr id="6" name="Picture 5" descr="brisken_reversed.png"/>
          <p:cNvPicPr>
            <a:picLocks noChangeAspect="1"/>
          </p:cNvPicPr>
          <p:nvPr/>
        </p:nvPicPr>
        <p:blipFill>
          <a:blip r:embed="rId2"/>
          <a:stretch>
            <a:fillRect/>
          </a:stretch>
        </p:blipFill>
        <p:spPr>
          <a:xfrm>
            <a:off x="10455603" y="6236208"/>
            <a:ext cx="1169163" cy="25603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SUCCESS STORIES</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600" b="0" i="0">
                <a:solidFill>
                  <a:srgbClr val="0F1417"/>
                </a:solidFill>
                <a:latin typeface="Century Gothic"/>
              </a:rPr>
              <a:t>Live deployments, real industries.</a:t>
            </a:r>
          </a:p>
        </p:txBody>
      </p:sp>
      <p:sp>
        <p:nvSpPr>
          <p:cNvPr id="4" name="TextBox 3"/>
          <p:cNvSpPr txBox="1"/>
          <p:nvPr/>
        </p:nvSpPr>
        <p:spPr>
          <a:xfrm>
            <a:off x="566928" y="1810512"/>
            <a:ext cx="10424160" cy="457200"/>
          </a:xfrm>
          <a:prstGeom prst="rect">
            <a:avLst/>
          </a:prstGeom>
          <a:noFill/>
        </p:spPr>
        <p:txBody>
          <a:bodyPr wrap="square" anchor="t" lIns="0" rIns="0" tIns="0" bIns="0">
            <a:noAutofit/>
          </a:bodyPr>
          <a:lstStyle/>
          <a:p>
            <a:pPr algn="l">
              <a:lnSpc>
                <a:spcPct val="120000"/>
              </a:lnSpc>
            </a:pPr>
            <a:r>
              <a:rPr sz="1500" b="0" i="0">
                <a:solidFill>
                  <a:srgbClr val="5B666B"/>
                </a:solidFill>
                <a:latin typeface="Segoe UI"/>
              </a:rPr>
              <a:t>Three production deployments, each replacing a manual or custom-built way of working.</a:t>
            </a:r>
          </a:p>
        </p:txBody>
      </p:sp>
      <p:sp>
        <p:nvSpPr>
          <p:cNvPr id="5" name="Rounded Rectangle 4"/>
          <p:cNvSpPr/>
          <p:nvPr/>
        </p:nvSpPr>
        <p:spPr>
          <a:xfrm>
            <a:off x="566928" y="2432304"/>
            <a:ext cx="3466490" cy="3493008"/>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706624"/>
            <a:ext cx="365760" cy="50292"/>
          </a:xfrm>
          <a:prstGeom prst="rect">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871216"/>
            <a:ext cx="2954426" cy="365760"/>
          </a:xfrm>
          <a:prstGeom prst="rect">
            <a:avLst/>
          </a:prstGeom>
          <a:noFill/>
        </p:spPr>
        <p:txBody>
          <a:bodyPr wrap="square" anchor="t" lIns="0" rIns="0" tIns="0" bIns="0">
            <a:noAutofit/>
          </a:bodyPr>
          <a:lstStyle/>
          <a:p>
            <a:pPr algn="l"/>
            <a:r>
              <a:rPr sz="1200" b="0" i="0" spc="120">
                <a:solidFill>
                  <a:srgbClr val="0E7C86"/>
                </a:solidFill>
                <a:latin typeface="Segoe UI Semibold"/>
              </a:rPr>
              <a:t>FINANCIAL SERVICES</a:t>
            </a:r>
          </a:p>
        </p:txBody>
      </p:sp>
      <p:sp>
        <p:nvSpPr>
          <p:cNvPr id="8" name="TextBox 7"/>
          <p:cNvSpPr txBox="1"/>
          <p:nvPr/>
        </p:nvSpPr>
        <p:spPr>
          <a:xfrm>
            <a:off x="822960" y="3236976"/>
            <a:ext cx="2954426" cy="292608"/>
          </a:xfrm>
          <a:prstGeom prst="rect">
            <a:avLst/>
          </a:prstGeom>
          <a:noFill/>
        </p:spPr>
        <p:txBody>
          <a:bodyPr wrap="square" anchor="t" lIns="0" rIns="0" tIns="0" bIns="0">
            <a:noAutofit/>
          </a:bodyPr>
          <a:lstStyle/>
          <a:p>
            <a:pPr algn="l"/>
            <a:r>
              <a:rPr sz="1150" b="0" i="0">
                <a:solidFill>
                  <a:srgbClr val="8A9599"/>
                </a:solidFill>
                <a:latin typeface="Segoe UI"/>
              </a:rPr>
              <a:t>SAP S/4HANA, public cloud</a:t>
            </a:r>
          </a:p>
        </p:txBody>
      </p:sp>
      <p:sp>
        <p:nvSpPr>
          <p:cNvPr id="9" name="TextBox 8"/>
          <p:cNvSpPr txBox="1"/>
          <p:nvPr/>
        </p:nvSpPr>
        <p:spPr>
          <a:xfrm>
            <a:off x="822960" y="3584448"/>
            <a:ext cx="2954426" cy="914400"/>
          </a:xfrm>
          <a:prstGeom prst="rect">
            <a:avLst/>
          </a:prstGeom>
          <a:noFill/>
        </p:spPr>
        <p:txBody>
          <a:bodyPr wrap="square" anchor="t" lIns="0" rIns="0" tIns="0" bIns="0">
            <a:noAutofit/>
          </a:bodyPr>
          <a:lstStyle/>
          <a:p>
            <a:pPr algn="l">
              <a:lnSpc>
                <a:spcPct val="110000"/>
              </a:lnSpc>
            </a:pPr>
            <a:r>
              <a:rPr sz="1400" b="0" i="0">
                <a:solidFill>
                  <a:srgbClr val="0F1417"/>
                </a:solidFill>
                <a:latin typeface="Century Gothic"/>
              </a:rPr>
              <a:t>A single OnePilot deployment governing several financial-data domains at once.</a:t>
            </a:r>
          </a:p>
        </p:txBody>
      </p:sp>
      <p:sp>
        <p:nvSpPr>
          <p:cNvPr id="10" name="TextBox 9"/>
          <p:cNvSpPr txBox="1"/>
          <p:nvPr/>
        </p:nvSpPr>
        <p:spPr>
          <a:xfrm>
            <a:off x="822960" y="4645152"/>
            <a:ext cx="2954426" cy="603504"/>
          </a:xfrm>
          <a:prstGeom prst="rect">
            <a:avLst/>
          </a:prstGeom>
          <a:noFill/>
        </p:spPr>
        <p:txBody>
          <a:bodyPr wrap="square" anchor="t" lIns="0" rIns="0" tIns="0" bIns="0">
            <a:noAutofit/>
          </a:bodyPr>
          <a:lstStyle/>
          <a:p>
            <a:pPr algn="l">
              <a:lnSpc>
                <a:spcPct val="116000"/>
              </a:lnSpc>
            </a:pPr>
            <a:r>
              <a:rPr sz="1150" b="0" i="0">
                <a:solidFill>
                  <a:srgbClr val="5B666B"/>
                </a:solidFill>
                <a:latin typeface="Segoe UI"/>
              </a:rPr>
              <a:t>One platform to govern all data integrations and controls.</a:t>
            </a:r>
          </a:p>
        </p:txBody>
      </p:sp>
      <p:sp>
        <p:nvSpPr>
          <p:cNvPr id="11" name="Rounded Rectangle 10"/>
          <p:cNvSpPr/>
          <p:nvPr/>
        </p:nvSpPr>
        <p:spPr>
          <a:xfrm>
            <a:off x="822960" y="5321808"/>
            <a:ext cx="2954426" cy="512064"/>
          </a:xfrm>
          <a:prstGeom prst="roundRect">
            <a:avLst>
              <a:gd name="adj" fmla="val 10000"/>
            </a:avLst>
          </a:prstGeom>
          <a:solidFill>
            <a:srgbClr val="FFFFFF"/>
          </a:solidFill>
          <a:ln w="12700">
            <a:solidFill>
              <a:srgbClr val="E2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5321808"/>
            <a:ext cx="54864" cy="5120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5385816"/>
            <a:ext cx="2789834" cy="182880"/>
          </a:xfrm>
          <a:prstGeom prst="rect">
            <a:avLst/>
          </a:prstGeom>
          <a:noFill/>
        </p:spPr>
        <p:txBody>
          <a:bodyPr wrap="square" anchor="t" lIns="0" rIns="0" tIns="0" bIns="0">
            <a:noAutofit/>
          </a:bodyPr>
          <a:lstStyle/>
          <a:p>
            <a:pPr algn="l"/>
            <a:r>
              <a:rPr sz="850" b="0" i="0" spc="140">
                <a:solidFill>
                  <a:srgbClr val="0E7C86"/>
                </a:solidFill>
                <a:latin typeface="Segoe UI Semibold"/>
              </a:rPr>
              <a:t>REPLACED</a:t>
            </a:r>
          </a:p>
        </p:txBody>
      </p:sp>
      <p:sp>
        <p:nvSpPr>
          <p:cNvPr id="14" name="TextBox 13"/>
          <p:cNvSpPr txBox="1"/>
          <p:nvPr/>
        </p:nvSpPr>
        <p:spPr>
          <a:xfrm>
            <a:off x="987552" y="5541264"/>
            <a:ext cx="2789834" cy="292608"/>
          </a:xfrm>
          <a:prstGeom prst="rect">
            <a:avLst/>
          </a:prstGeom>
          <a:noFill/>
        </p:spPr>
        <p:txBody>
          <a:bodyPr wrap="square" anchor="t" lIns="0" rIns="0" tIns="0" bIns="0">
            <a:noAutofit/>
          </a:bodyPr>
          <a:lstStyle/>
          <a:p>
            <a:pPr algn="l">
              <a:lnSpc>
                <a:spcPct val="104000"/>
              </a:lnSpc>
            </a:pPr>
            <a:r>
              <a:rPr sz="1100" b="0" i="0">
                <a:solidFill>
                  <a:srgbClr val="0F1417"/>
                </a:solidFill>
                <a:latin typeface="Segoe UI"/>
              </a:rPr>
              <a:t>Replaced a manual solution.</a:t>
            </a:r>
          </a:p>
        </p:txBody>
      </p:sp>
      <p:sp>
        <p:nvSpPr>
          <p:cNvPr id="15" name="Rounded Rectangle 14"/>
          <p:cNvSpPr/>
          <p:nvPr/>
        </p:nvSpPr>
        <p:spPr>
          <a:xfrm>
            <a:off x="4362602" y="2432304"/>
            <a:ext cx="3466490" cy="3493008"/>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8634" y="2706624"/>
            <a:ext cx="365760"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8634" y="2871216"/>
            <a:ext cx="2954426" cy="365760"/>
          </a:xfrm>
          <a:prstGeom prst="rect">
            <a:avLst/>
          </a:prstGeom>
          <a:noFill/>
        </p:spPr>
        <p:txBody>
          <a:bodyPr wrap="square" anchor="t" lIns="0" rIns="0" tIns="0" bIns="0">
            <a:noAutofit/>
          </a:bodyPr>
          <a:lstStyle/>
          <a:p>
            <a:pPr algn="l"/>
            <a:r>
              <a:rPr sz="1200" b="0" i="0" spc="120">
                <a:solidFill>
                  <a:srgbClr val="0E7C86"/>
                </a:solidFill>
                <a:latin typeface="Segoe UI Semibold"/>
              </a:rPr>
              <a:t>AGRICULTURE</a:t>
            </a:r>
          </a:p>
        </p:txBody>
      </p:sp>
      <p:sp>
        <p:nvSpPr>
          <p:cNvPr id="18" name="TextBox 17"/>
          <p:cNvSpPr txBox="1"/>
          <p:nvPr/>
        </p:nvSpPr>
        <p:spPr>
          <a:xfrm>
            <a:off x="4618634" y="3236976"/>
            <a:ext cx="2954426" cy="292608"/>
          </a:xfrm>
          <a:prstGeom prst="rect">
            <a:avLst/>
          </a:prstGeom>
          <a:noFill/>
        </p:spPr>
        <p:txBody>
          <a:bodyPr wrap="square" anchor="t" lIns="0" rIns="0" tIns="0" bIns="0">
            <a:noAutofit/>
          </a:bodyPr>
          <a:lstStyle/>
          <a:p>
            <a:pPr algn="l"/>
            <a:r>
              <a:rPr sz="1150" b="0" i="0">
                <a:solidFill>
                  <a:srgbClr val="8A9599"/>
                </a:solidFill>
                <a:latin typeface="Segoe UI"/>
              </a:rPr>
              <a:t>SAP S/4HANA, private cloud</a:t>
            </a:r>
          </a:p>
        </p:txBody>
      </p:sp>
      <p:sp>
        <p:nvSpPr>
          <p:cNvPr id="19" name="TextBox 18"/>
          <p:cNvSpPr txBox="1"/>
          <p:nvPr/>
        </p:nvSpPr>
        <p:spPr>
          <a:xfrm>
            <a:off x="4618634" y="3584448"/>
            <a:ext cx="2954426" cy="914400"/>
          </a:xfrm>
          <a:prstGeom prst="rect">
            <a:avLst/>
          </a:prstGeom>
          <a:noFill/>
        </p:spPr>
        <p:txBody>
          <a:bodyPr wrap="square" anchor="t" lIns="0" rIns="0" tIns="0" bIns="0">
            <a:noAutofit/>
          </a:bodyPr>
          <a:lstStyle/>
          <a:p>
            <a:pPr algn="l">
              <a:lnSpc>
                <a:spcPct val="110000"/>
              </a:lnSpc>
            </a:pPr>
            <a:r>
              <a:rPr sz="1400" b="0" i="0">
                <a:solidFill>
                  <a:srgbClr val="0F1417"/>
                </a:solidFill>
                <a:latin typeface="Century Gothic"/>
              </a:rPr>
              <a:t>Remittance Advice Gate, run by the Digital Co-Worker.</a:t>
            </a:r>
          </a:p>
        </p:txBody>
      </p:sp>
      <p:sp>
        <p:nvSpPr>
          <p:cNvPr id="20" name="TextBox 19"/>
          <p:cNvSpPr txBox="1"/>
          <p:nvPr/>
        </p:nvSpPr>
        <p:spPr>
          <a:xfrm>
            <a:off x="4618634" y="4645152"/>
            <a:ext cx="2954426" cy="603504"/>
          </a:xfrm>
          <a:prstGeom prst="rect">
            <a:avLst/>
          </a:prstGeom>
          <a:noFill/>
        </p:spPr>
        <p:txBody>
          <a:bodyPr wrap="square" anchor="t" lIns="0" rIns="0" tIns="0" bIns="0">
            <a:noAutofit/>
          </a:bodyPr>
          <a:lstStyle/>
          <a:p>
            <a:pPr algn="l">
              <a:lnSpc>
                <a:spcPct val="116000"/>
              </a:lnSpc>
            </a:pPr>
            <a:r>
              <a:rPr sz="1150" b="0" i="0">
                <a:solidFill>
                  <a:srgbClr val="5B666B"/>
                </a:solidFill>
                <a:latin typeface="Segoe UI"/>
              </a:rPr>
              <a:t>Guardrails set; the person taken out of the routine path.</a:t>
            </a:r>
          </a:p>
        </p:txBody>
      </p:sp>
      <p:sp>
        <p:nvSpPr>
          <p:cNvPr id="21" name="Rounded Rectangle 20"/>
          <p:cNvSpPr/>
          <p:nvPr/>
        </p:nvSpPr>
        <p:spPr>
          <a:xfrm>
            <a:off x="4618634" y="5321808"/>
            <a:ext cx="2954426" cy="512064"/>
          </a:xfrm>
          <a:prstGeom prst="roundRect">
            <a:avLst>
              <a:gd name="adj" fmla="val 10000"/>
            </a:avLst>
          </a:prstGeom>
          <a:solidFill>
            <a:srgbClr val="FFFFFF"/>
          </a:solidFill>
          <a:ln w="12700">
            <a:solidFill>
              <a:srgbClr val="E2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18634" y="5321808"/>
            <a:ext cx="54864" cy="5120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83226" y="5385816"/>
            <a:ext cx="2789834" cy="182880"/>
          </a:xfrm>
          <a:prstGeom prst="rect">
            <a:avLst/>
          </a:prstGeom>
          <a:noFill/>
        </p:spPr>
        <p:txBody>
          <a:bodyPr wrap="square" anchor="t" lIns="0" rIns="0" tIns="0" bIns="0">
            <a:noAutofit/>
          </a:bodyPr>
          <a:lstStyle/>
          <a:p>
            <a:pPr algn="l"/>
            <a:r>
              <a:rPr sz="850" b="0" i="0" spc="140">
                <a:solidFill>
                  <a:srgbClr val="0E7C86"/>
                </a:solidFill>
                <a:latin typeface="Segoe UI Semibold"/>
              </a:rPr>
              <a:t>REPLACED</a:t>
            </a:r>
          </a:p>
        </p:txBody>
      </p:sp>
      <p:sp>
        <p:nvSpPr>
          <p:cNvPr id="24" name="TextBox 23"/>
          <p:cNvSpPr txBox="1"/>
          <p:nvPr/>
        </p:nvSpPr>
        <p:spPr>
          <a:xfrm>
            <a:off x="4783226" y="5541264"/>
            <a:ext cx="2789834" cy="292608"/>
          </a:xfrm>
          <a:prstGeom prst="rect">
            <a:avLst/>
          </a:prstGeom>
          <a:noFill/>
        </p:spPr>
        <p:txBody>
          <a:bodyPr wrap="square" anchor="t" lIns="0" rIns="0" tIns="0" bIns="0">
            <a:noAutofit/>
          </a:bodyPr>
          <a:lstStyle/>
          <a:p>
            <a:pPr algn="l">
              <a:lnSpc>
                <a:spcPct val="104000"/>
              </a:lnSpc>
            </a:pPr>
            <a:r>
              <a:rPr sz="1100" b="0" i="0">
                <a:solidFill>
                  <a:srgbClr val="0F1417"/>
                </a:solidFill>
                <a:latin typeface="Segoe UI"/>
              </a:rPr>
              <a:t>Replaced an expensive custom third-party solution.</a:t>
            </a:r>
          </a:p>
        </p:txBody>
      </p:sp>
      <p:sp>
        <p:nvSpPr>
          <p:cNvPr id="25" name="Rounded Rectangle 24"/>
          <p:cNvSpPr/>
          <p:nvPr/>
        </p:nvSpPr>
        <p:spPr>
          <a:xfrm>
            <a:off x="8158276" y="2432304"/>
            <a:ext cx="3466490" cy="3493008"/>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4308" y="2706624"/>
            <a:ext cx="365760"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4308" y="2871216"/>
            <a:ext cx="2954426" cy="365760"/>
          </a:xfrm>
          <a:prstGeom prst="rect">
            <a:avLst/>
          </a:prstGeom>
          <a:noFill/>
        </p:spPr>
        <p:txBody>
          <a:bodyPr wrap="square" anchor="t" lIns="0" rIns="0" tIns="0" bIns="0">
            <a:noAutofit/>
          </a:bodyPr>
          <a:lstStyle/>
          <a:p>
            <a:pPr algn="l"/>
            <a:r>
              <a:rPr sz="1200" b="0" i="0" spc="120">
                <a:solidFill>
                  <a:srgbClr val="0E7C86"/>
                </a:solidFill>
                <a:latin typeface="Segoe UI Semibold"/>
              </a:rPr>
              <a:t>CHEMICALS</a:t>
            </a:r>
          </a:p>
        </p:txBody>
      </p:sp>
      <p:sp>
        <p:nvSpPr>
          <p:cNvPr id="28" name="TextBox 27"/>
          <p:cNvSpPr txBox="1"/>
          <p:nvPr/>
        </p:nvSpPr>
        <p:spPr>
          <a:xfrm>
            <a:off x="8414308" y="3236976"/>
            <a:ext cx="2954426" cy="292608"/>
          </a:xfrm>
          <a:prstGeom prst="rect">
            <a:avLst/>
          </a:prstGeom>
          <a:noFill/>
        </p:spPr>
        <p:txBody>
          <a:bodyPr wrap="square" anchor="t" lIns="0" rIns="0" tIns="0" bIns="0">
            <a:noAutofit/>
          </a:bodyPr>
          <a:lstStyle/>
          <a:p>
            <a:pPr algn="l"/>
            <a:r>
              <a:rPr sz="1150" b="0" i="0">
                <a:solidFill>
                  <a:srgbClr val="8A9599"/>
                </a:solidFill>
                <a:latin typeface="Segoe UI"/>
              </a:rPr>
              <a:t>SAP S/4HANA, on-premise</a:t>
            </a:r>
          </a:p>
        </p:txBody>
      </p:sp>
      <p:sp>
        <p:nvSpPr>
          <p:cNvPr id="29" name="TextBox 28"/>
          <p:cNvSpPr txBox="1"/>
          <p:nvPr/>
        </p:nvSpPr>
        <p:spPr>
          <a:xfrm>
            <a:off x="8414308" y="3584448"/>
            <a:ext cx="2954426" cy="914400"/>
          </a:xfrm>
          <a:prstGeom prst="rect">
            <a:avLst/>
          </a:prstGeom>
          <a:noFill/>
        </p:spPr>
        <p:txBody>
          <a:bodyPr wrap="square" anchor="t" lIns="0" rIns="0" tIns="0" bIns="0">
            <a:noAutofit/>
          </a:bodyPr>
          <a:lstStyle/>
          <a:p>
            <a:pPr algn="l">
              <a:lnSpc>
                <a:spcPct val="110000"/>
              </a:lnSpc>
            </a:pPr>
            <a:r>
              <a:rPr sz="1400" b="0" i="0">
                <a:solidFill>
                  <a:srgbClr val="0F1417"/>
                </a:solidFill>
                <a:latin typeface="Century Gothic"/>
              </a:rPr>
              <a:t>The intercompany funding process, run by the Digital Co-Worker.</a:t>
            </a:r>
          </a:p>
        </p:txBody>
      </p:sp>
      <p:sp>
        <p:nvSpPr>
          <p:cNvPr id="30" name="TextBox 29"/>
          <p:cNvSpPr txBox="1"/>
          <p:nvPr/>
        </p:nvSpPr>
        <p:spPr>
          <a:xfrm>
            <a:off x="8414308" y="4645152"/>
            <a:ext cx="2954426" cy="603504"/>
          </a:xfrm>
          <a:prstGeom prst="rect">
            <a:avLst/>
          </a:prstGeom>
          <a:noFill/>
        </p:spPr>
        <p:txBody>
          <a:bodyPr wrap="square" anchor="t" lIns="0" rIns="0" tIns="0" bIns="0">
            <a:noAutofit/>
          </a:bodyPr>
          <a:lstStyle/>
          <a:p>
            <a:pPr algn="l">
              <a:lnSpc>
                <a:spcPct val="116000"/>
              </a:lnSpc>
            </a:pPr>
            <a:r>
              <a:rPr sz="1150" b="0" i="0">
                <a:solidFill>
                  <a:srgbClr val="5B666B"/>
                </a:solidFill>
                <a:latin typeface="Segoe UI"/>
              </a:rPr>
              <a:t>A complex process with many SAP touch-points, fully automated.</a:t>
            </a:r>
          </a:p>
        </p:txBody>
      </p:sp>
      <p:sp>
        <p:nvSpPr>
          <p:cNvPr id="31" name="Rounded Rectangle 30"/>
          <p:cNvSpPr/>
          <p:nvPr/>
        </p:nvSpPr>
        <p:spPr>
          <a:xfrm>
            <a:off x="8414308" y="5321808"/>
            <a:ext cx="2954426" cy="512064"/>
          </a:xfrm>
          <a:prstGeom prst="roundRect">
            <a:avLst>
              <a:gd name="adj" fmla="val 10000"/>
            </a:avLst>
          </a:prstGeom>
          <a:solidFill>
            <a:srgbClr val="FFFFFF"/>
          </a:solidFill>
          <a:ln w="12700">
            <a:solidFill>
              <a:srgbClr val="E2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414308" y="5321808"/>
            <a:ext cx="54864" cy="5120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78900" y="5385816"/>
            <a:ext cx="2789834" cy="182880"/>
          </a:xfrm>
          <a:prstGeom prst="rect">
            <a:avLst/>
          </a:prstGeom>
          <a:noFill/>
        </p:spPr>
        <p:txBody>
          <a:bodyPr wrap="square" anchor="t" lIns="0" rIns="0" tIns="0" bIns="0">
            <a:noAutofit/>
          </a:bodyPr>
          <a:lstStyle/>
          <a:p>
            <a:pPr algn="l"/>
            <a:r>
              <a:rPr sz="850" b="0" i="0" spc="140">
                <a:solidFill>
                  <a:srgbClr val="0E7C86"/>
                </a:solidFill>
                <a:latin typeface="Segoe UI Semibold"/>
              </a:rPr>
              <a:t>REPLACED</a:t>
            </a:r>
          </a:p>
        </p:txBody>
      </p:sp>
      <p:sp>
        <p:nvSpPr>
          <p:cNvPr id="34" name="TextBox 33"/>
          <p:cNvSpPr txBox="1"/>
          <p:nvPr/>
        </p:nvSpPr>
        <p:spPr>
          <a:xfrm>
            <a:off x="8578900" y="5541264"/>
            <a:ext cx="2789834" cy="292608"/>
          </a:xfrm>
          <a:prstGeom prst="rect">
            <a:avLst/>
          </a:prstGeom>
          <a:noFill/>
        </p:spPr>
        <p:txBody>
          <a:bodyPr wrap="square" anchor="t" lIns="0" rIns="0" tIns="0" bIns="0">
            <a:noAutofit/>
          </a:bodyPr>
          <a:lstStyle/>
          <a:p>
            <a:pPr algn="l">
              <a:lnSpc>
                <a:spcPct val="104000"/>
              </a:lnSpc>
            </a:pPr>
            <a:r>
              <a:rPr sz="1100" b="0" i="0">
                <a:solidFill>
                  <a:srgbClr val="0F1417"/>
                </a:solidFill>
                <a:latin typeface="Segoe UI"/>
              </a:rPr>
              <a:t>Replaced a manual solution.</a:t>
            </a:r>
          </a:p>
        </p:txBody>
      </p:sp>
      <p:sp>
        <p:nvSpPr>
          <p:cNvPr id="35" name="Rectangle 34"/>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37" name="TextBox 36"/>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17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F1417"/>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94560"/>
            <a:ext cx="2743200" cy="365760"/>
          </a:xfrm>
          <a:prstGeom prst="rect">
            <a:avLst/>
          </a:prstGeom>
          <a:noFill/>
        </p:spPr>
        <p:txBody>
          <a:bodyPr wrap="square" anchor="t" lIns="0" rIns="0" tIns="0" bIns="0">
            <a:noAutofit/>
          </a:bodyPr>
          <a:lstStyle/>
          <a:p>
            <a:pPr algn="l"/>
            <a:r>
              <a:rPr sz="1250" b="1" i="0" spc="300">
                <a:solidFill>
                  <a:srgbClr val="17B0BE"/>
                </a:solidFill>
                <a:latin typeface="Segoe UI Semibold"/>
              </a:rPr>
              <a:t>CONTACT</a:t>
            </a:r>
          </a:p>
        </p:txBody>
      </p:sp>
      <p:sp>
        <p:nvSpPr>
          <p:cNvPr id="4" name="TextBox 3"/>
          <p:cNvSpPr txBox="1"/>
          <p:nvPr/>
        </p:nvSpPr>
        <p:spPr>
          <a:xfrm>
            <a:off x="548640" y="2633472"/>
            <a:ext cx="10515600" cy="1188720"/>
          </a:xfrm>
          <a:prstGeom prst="rect">
            <a:avLst/>
          </a:prstGeom>
          <a:noFill/>
        </p:spPr>
        <p:txBody>
          <a:bodyPr wrap="square" anchor="t" lIns="0" rIns="0" tIns="0" bIns="0">
            <a:noAutofit/>
          </a:bodyPr>
          <a:lstStyle/>
          <a:p>
            <a:pPr algn="l"/>
            <a:r>
              <a:rPr sz="4200" b="0" i="0">
                <a:solidFill>
                  <a:srgbClr val="ECEFF0"/>
                </a:solidFill>
                <a:latin typeface="Century Gothic"/>
              </a:rPr>
              <a:t>Let's map your first use case.</a:t>
            </a:r>
          </a:p>
        </p:txBody>
      </p:sp>
      <p:sp>
        <p:nvSpPr>
          <p:cNvPr id="5" name="TextBox 4"/>
          <p:cNvSpPr txBox="1"/>
          <p:nvPr/>
        </p:nvSpPr>
        <p:spPr>
          <a:xfrm>
            <a:off x="566928" y="3749039"/>
            <a:ext cx="9144000" cy="548640"/>
          </a:xfrm>
          <a:prstGeom prst="rect">
            <a:avLst/>
          </a:prstGeom>
          <a:noFill/>
        </p:spPr>
        <p:txBody>
          <a:bodyPr wrap="square" anchor="t" lIns="0" rIns="0" tIns="0" bIns="0">
            <a:noAutofit/>
          </a:bodyPr>
          <a:lstStyle/>
          <a:p>
            <a:pPr algn="l">
              <a:lnSpc>
                <a:spcPct val="130000"/>
              </a:lnSpc>
            </a:pPr>
            <a:r>
              <a:rPr sz="1600" b="0" i="0">
                <a:solidFill>
                  <a:srgbClr val="9AA6AB"/>
                </a:solidFill>
                <a:latin typeface="Segoe UI"/>
              </a:rPr>
              <a:t>We build the autonomous treasury one use case at a time, on the platform you already run.</a:t>
            </a:r>
          </a:p>
        </p:txBody>
      </p:sp>
      <p:sp>
        <p:nvSpPr>
          <p:cNvPr id="6" name="Rectangle 5"/>
          <p:cNvSpPr/>
          <p:nvPr/>
        </p:nvSpPr>
        <p:spPr>
          <a:xfrm>
            <a:off x="585216" y="4553712"/>
            <a:ext cx="1828800" cy="41148"/>
          </a:xfrm>
          <a:prstGeom prst="rect">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754880"/>
            <a:ext cx="10058400" cy="365760"/>
          </a:xfrm>
          <a:prstGeom prst="rect">
            <a:avLst/>
          </a:prstGeom>
          <a:noFill/>
        </p:spPr>
        <p:txBody>
          <a:bodyPr wrap="square" anchor="t" lIns="0" rIns="0" tIns="0" bIns="0">
            <a:noAutofit/>
          </a:bodyPr>
          <a:lstStyle/>
          <a:p>
            <a:pPr algn="l"/>
            <a:r>
              <a:rPr sz="1600" b="0" i="0">
                <a:solidFill>
                  <a:srgbClr val="ECEFF0"/>
                </a:solidFill>
                <a:latin typeface="Segoe UI Semibold"/>
              </a:rPr>
              <a:t>Dirk Neumann</a:t>
            </a:r>
          </a:p>
        </p:txBody>
      </p:sp>
      <p:sp>
        <p:nvSpPr>
          <p:cNvPr id="8" name="TextBox 7"/>
          <p:cNvSpPr txBox="1"/>
          <p:nvPr/>
        </p:nvSpPr>
        <p:spPr>
          <a:xfrm>
            <a:off x="566928" y="5084064"/>
            <a:ext cx="10058400" cy="365760"/>
          </a:xfrm>
          <a:prstGeom prst="rect">
            <a:avLst/>
          </a:prstGeom>
          <a:noFill/>
        </p:spPr>
        <p:txBody>
          <a:bodyPr wrap="square" anchor="t" lIns="0" rIns="0" tIns="0" bIns="0">
            <a:noAutofit/>
          </a:bodyPr>
          <a:lstStyle/>
          <a:p>
            <a:pPr algn="l"/>
            <a:r>
              <a:rPr sz="1400" b="0" i="0">
                <a:solidFill>
                  <a:srgbClr val="9AA6AB"/>
                </a:solidFill>
                <a:latin typeface="Segoe UI"/>
              </a:rPr>
              <a:t>dirk.neumann@brisken.com    ·    +1 936-777-4451</a:t>
            </a:r>
          </a:p>
        </p:txBody>
      </p:sp>
      <p:sp>
        <p:nvSpPr>
          <p:cNvPr id="9" name="TextBox 8"/>
          <p:cNvSpPr txBox="1"/>
          <p:nvPr/>
        </p:nvSpPr>
        <p:spPr>
          <a:xfrm>
            <a:off x="566928" y="5431536"/>
            <a:ext cx="10058400" cy="365760"/>
          </a:xfrm>
          <a:prstGeom prst="rect">
            <a:avLst/>
          </a:prstGeom>
          <a:noFill/>
        </p:spPr>
        <p:txBody>
          <a:bodyPr wrap="square" anchor="t" lIns="0" rIns="0" tIns="0" bIns="0">
            <a:noAutofit/>
          </a:bodyPr>
          <a:lstStyle/>
          <a:p>
            <a:pPr algn="l"/>
            <a:r>
              <a:rPr sz="1400" b="0" i="0">
                <a:solidFill>
                  <a:srgbClr val="9AA6AB"/>
                </a:solidFill>
                <a:latin typeface="Segoe UI"/>
              </a:rPr>
              <a:t>Brisken HQ, Houston, TX    ·    resources.brisken.com</a:t>
            </a:r>
          </a:p>
        </p:txBody>
      </p:sp>
      <p:pic>
        <p:nvPicPr>
          <p:cNvPr id="10" name="Picture 9" descr="brisken_reversed.png"/>
          <p:cNvPicPr>
            <a:picLocks noChangeAspect="1"/>
          </p:cNvPicPr>
          <p:nvPr/>
        </p:nvPicPr>
        <p:blipFill>
          <a:blip r:embed="rId2"/>
          <a:stretch>
            <a:fillRect/>
          </a:stretch>
        </p:blipFill>
        <p:spPr>
          <a:xfrm>
            <a:off x="10288580" y="6199632"/>
            <a:ext cx="1336186" cy="292608"/>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F1417"/>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0"/>
            <a:ext cx="2743200" cy="640080"/>
          </a:xfrm>
          <a:prstGeom prst="rect">
            <a:avLst/>
          </a:prstGeom>
          <a:noFill/>
        </p:spPr>
        <p:txBody>
          <a:bodyPr wrap="square" anchor="t" lIns="0" rIns="0" tIns="0" bIns="0">
            <a:noAutofit/>
          </a:bodyPr>
          <a:lstStyle/>
          <a:p>
            <a:pPr algn="l"/>
            <a:r>
              <a:rPr sz="2600" b="0" i="0" spc="100">
                <a:solidFill>
                  <a:srgbClr val="17B0BE"/>
                </a:solidFill>
                <a:latin typeface="Century Gothic"/>
              </a:rPr>
              <a:t>08</a:t>
            </a:r>
          </a:p>
        </p:txBody>
      </p:sp>
      <p:sp>
        <p:nvSpPr>
          <p:cNvPr id="4" name="TextBox 3"/>
          <p:cNvSpPr txBox="1"/>
          <p:nvPr/>
        </p:nvSpPr>
        <p:spPr>
          <a:xfrm>
            <a:off x="548640" y="2926080"/>
            <a:ext cx="10515600" cy="1280160"/>
          </a:xfrm>
          <a:prstGeom prst="rect">
            <a:avLst/>
          </a:prstGeom>
          <a:noFill/>
        </p:spPr>
        <p:txBody>
          <a:bodyPr wrap="square" anchor="t" lIns="0" rIns="0" tIns="0" bIns="0">
            <a:noAutofit/>
          </a:bodyPr>
          <a:lstStyle/>
          <a:p>
            <a:pPr algn="l">
              <a:lnSpc>
                <a:spcPct val="100000"/>
              </a:lnSpc>
            </a:pPr>
            <a:r>
              <a:rPr sz="4600" b="0" i="0">
                <a:solidFill>
                  <a:srgbClr val="ECEFF0"/>
                </a:solidFill>
                <a:latin typeface="Century Gothic"/>
              </a:rPr>
              <a:t>Appendix</a:t>
            </a:r>
          </a:p>
        </p:txBody>
      </p:sp>
      <p:sp>
        <p:nvSpPr>
          <p:cNvPr id="5" name="TextBox 4"/>
          <p:cNvSpPr txBox="1"/>
          <p:nvPr/>
        </p:nvSpPr>
        <p:spPr>
          <a:xfrm>
            <a:off x="566928" y="3968496"/>
            <a:ext cx="8686800" cy="731520"/>
          </a:xfrm>
          <a:prstGeom prst="rect">
            <a:avLst/>
          </a:prstGeom>
          <a:noFill/>
        </p:spPr>
        <p:txBody>
          <a:bodyPr wrap="square" anchor="t" lIns="0" rIns="0" tIns="0" bIns="0">
            <a:noAutofit/>
          </a:bodyPr>
          <a:lstStyle/>
          <a:p>
            <a:pPr algn="l">
              <a:lnSpc>
                <a:spcPct val="120000"/>
              </a:lnSpc>
            </a:pPr>
            <a:r>
              <a:rPr sz="1600" b="0" i="0">
                <a:solidFill>
                  <a:srgbClr val="9AA6AB"/>
                </a:solidFill>
                <a:latin typeface="Segoe UI"/>
              </a:rPr>
              <a:t>More applications on the platform.</a:t>
            </a:r>
          </a:p>
        </p:txBody>
      </p:sp>
      <p:pic>
        <p:nvPicPr>
          <p:cNvPr id="6" name="Picture 5" descr="brisken_reversed.png"/>
          <p:cNvPicPr>
            <a:picLocks noChangeAspect="1"/>
          </p:cNvPicPr>
          <p:nvPr/>
        </p:nvPicPr>
        <p:blipFill>
          <a:blip r:embed="rId2"/>
          <a:stretch>
            <a:fillRect/>
          </a:stretch>
        </p:blipFill>
        <p:spPr>
          <a:xfrm>
            <a:off x="10455603" y="6236208"/>
            <a:ext cx="1169163" cy="25603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APPENDIX · LEGACY VS ONEPILOT</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200" b="0" i="0">
                <a:solidFill>
                  <a:srgbClr val="0F1417"/>
                </a:solidFill>
                <a:latin typeface="Century Gothic"/>
              </a:rPr>
              <a:t>Why custom and legacy apps get replaced.</a:t>
            </a:r>
          </a:p>
        </p:txBody>
      </p:sp>
      <p:sp>
        <p:nvSpPr>
          <p:cNvPr id="4" name="Rounded Rectangle 3"/>
          <p:cNvSpPr/>
          <p:nvPr/>
        </p:nvSpPr>
        <p:spPr>
          <a:xfrm>
            <a:off x="566928" y="2148840"/>
            <a:ext cx="5300319" cy="3429000"/>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2441448"/>
            <a:ext cx="4678527" cy="365760"/>
          </a:xfrm>
          <a:prstGeom prst="rect">
            <a:avLst/>
          </a:prstGeom>
          <a:noFill/>
        </p:spPr>
        <p:txBody>
          <a:bodyPr wrap="square" anchor="t" lIns="0" rIns="0" tIns="0" bIns="0">
            <a:noAutofit/>
          </a:bodyPr>
          <a:lstStyle/>
          <a:p>
            <a:pPr algn="l"/>
            <a:r>
              <a:rPr sz="1200" b="0" i="0" spc="100">
                <a:solidFill>
                  <a:srgbClr val="5B666B"/>
                </a:solidFill>
                <a:latin typeface="Segoe UI Semibold"/>
              </a:rPr>
              <a:t>CUSTOM &amp; LEGACY APPLICATIONS</a:t>
            </a:r>
          </a:p>
        </p:txBody>
      </p:sp>
      <p:sp>
        <p:nvSpPr>
          <p:cNvPr id="6" name="TextBox 5"/>
          <p:cNvSpPr txBox="1"/>
          <p:nvPr/>
        </p:nvSpPr>
        <p:spPr>
          <a:xfrm>
            <a:off x="877824" y="3008376"/>
            <a:ext cx="274320" cy="365760"/>
          </a:xfrm>
          <a:prstGeom prst="rect">
            <a:avLst/>
          </a:prstGeom>
          <a:noFill/>
        </p:spPr>
        <p:txBody>
          <a:bodyPr wrap="square" anchor="t" lIns="0" rIns="0" tIns="0" bIns="0">
            <a:noAutofit/>
          </a:bodyPr>
          <a:lstStyle/>
          <a:p>
            <a:pPr algn="l"/>
            <a:r>
              <a:rPr sz="1600" b="0" i="0">
                <a:solidFill>
                  <a:srgbClr val="8A9599"/>
                </a:solidFill>
                <a:latin typeface="Segoe UI"/>
              </a:rPr>
              <a:t>·</a:t>
            </a:r>
          </a:p>
        </p:txBody>
      </p:sp>
      <p:sp>
        <p:nvSpPr>
          <p:cNvPr id="7" name="TextBox 6"/>
          <p:cNvSpPr txBox="1"/>
          <p:nvPr/>
        </p:nvSpPr>
        <p:spPr>
          <a:xfrm>
            <a:off x="1170432" y="3008376"/>
            <a:ext cx="4385919" cy="566928"/>
          </a:xfrm>
          <a:prstGeom prst="rect">
            <a:avLst/>
          </a:prstGeom>
          <a:noFill/>
        </p:spPr>
        <p:txBody>
          <a:bodyPr wrap="square" anchor="t" lIns="0" rIns="0" tIns="0" bIns="0">
            <a:noAutofit/>
          </a:bodyPr>
          <a:lstStyle/>
          <a:p>
            <a:pPr algn="l">
              <a:lnSpc>
                <a:spcPct val="114000"/>
              </a:lnSpc>
            </a:pPr>
            <a:r>
              <a:rPr sz="1350" b="0" i="0">
                <a:solidFill>
                  <a:srgbClr val="0F1417"/>
                </a:solidFill>
                <a:latin typeface="Segoe UI"/>
              </a:rPr>
              <a:t>Custom-built and cumbersome, with unstable integrations.</a:t>
            </a:r>
          </a:p>
        </p:txBody>
      </p:sp>
      <p:sp>
        <p:nvSpPr>
          <p:cNvPr id="8" name="TextBox 7"/>
          <p:cNvSpPr txBox="1"/>
          <p:nvPr/>
        </p:nvSpPr>
        <p:spPr>
          <a:xfrm>
            <a:off x="877824" y="3611880"/>
            <a:ext cx="274320" cy="365760"/>
          </a:xfrm>
          <a:prstGeom prst="rect">
            <a:avLst/>
          </a:prstGeom>
          <a:noFill/>
        </p:spPr>
        <p:txBody>
          <a:bodyPr wrap="square" anchor="t" lIns="0" rIns="0" tIns="0" bIns="0">
            <a:noAutofit/>
          </a:bodyPr>
          <a:lstStyle/>
          <a:p>
            <a:pPr algn="l"/>
            <a:r>
              <a:rPr sz="1600" b="0" i="0">
                <a:solidFill>
                  <a:srgbClr val="8A9599"/>
                </a:solidFill>
                <a:latin typeface="Segoe UI"/>
              </a:rPr>
              <a:t>·</a:t>
            </a:r>
          </a:p>
        </p:txBody>
      </p:sp>
      <p:sp>
        <p:nvSpPr>
          <p:cNvPr id="9" name="TextBox 8"/>
          <p:cNvSpPr txBox="1"/>
          <p:nvPr/>
        </p:nvSpPr>
        <p:spPr>
          <a:xfrm>
            <a:off x="1170432" y="3611880"/>
            <a:ext cx="4385919" cy="566928"/>
          </a:xfrm>
          <a:prstGeom prst="rect">
            <a:avLst/>
          </a:prstGeom>
          <a:noFill/>
        </p:spPr>
        <p:txBody>
          <a:bodyPr wrap="square" anchor="t" lIns="0" rIns="0" tIns="0" bIns="0">
            <a:noAutofit/>
          </a:bodyPr>
          <a:lstStyle/>
          <a:p>
            <a:pPr algn="l">
              <a:lnSpc>
                <a:spcPct val="114000"/>
              </a:lnSpc>
            </a:pPr>
            <a:r>
              <a:rPr sz="1350" b="0" i="0">
                <a:solidFill>
                  <a:srgbClr val="0F1417"/>
                </a:solidFill>
                <a:latin typeface="Segoe UI"/>
              </a:rPr>
              <a:t>Frequent technical issues and a lot of maintenance.</a:t>
            </a:r>
          </a:p>
        </p:txBody>
      </p:sp>
      <p:sp>
        <p:nvSpPr>
          <p:cNvPr id="10" name="TextBox 9"/>
          <p:cNvSpPr txBox="1"/>
          <p:nvPr/>
        </p:nvSpPr>
        <p:spPr>
          <a:xfrm>
            <a:off x="877824" y="4215384"/>
            <a:ext cx="274320" cy="365760"/>
          </a:xfrm>
          <a:prstGeom prst="rect">
            <a:avLst/>
          </a:prstGeom>
          <a:noFill/>
        </p:spPr>
        <p:txBody>
          <a:bodyPr wrap="square" anchor="t" lIns="0" rIns="0" tIns="0" bIns="0">
            <a:noAutofit/>
          </a:bodyPr>
          <a:lstStyle/>
          <a:p>
            <a:pPr algn="l"/>
            <a:r>
              <a:rPr sz="1600" b="0" i="0">
                <a:solidFill>
                  <a:srgbClr val="8A9599"/>
                </a:solidFill>
                <a:latin typeface="Segoe UI"/>
              </a:rPr>
              <a:t>·</a:t>
            </a:r>
          </a:p>
        </p:txBody>
      </p:sp>
      <p:sp>
        <p:nvSpPr>
          <p:cNvPr id="11" name="TextBox 10"/>
          <p:cNvSpPr txBox="1"/>
          <p:nvPr/>
        </p:nvSpPr>
        <p:spPr>
          <a:xfrm>
            <a:off x="1170432" y="4215384"/>
            <a:ext cx="4385919" cy="566928"/>
          </a:xfrm>
          <a:prstGeom prst="rect">
            <a:avLst/>
          </a:prstGeom>
          <a:noFill/>
        </p:spPr>
        <p:txBody>
          <a:bodyPr wrap="square" anchor="t" lIns="0" rIns="0" tIns="0" bIns="0">
            <a:noAutofit/>
          </a:bodyPr>
          <a:lstStyle/>
          <a:p>
            <a:pPr algn="l">
              <a:lnSpc>
                <a:spcPct val="114000"/>
              </a:lnSpc>
            </a:pPr>
            <a:r>
              <a:rPr sz="1350" b="0" i="0">
                <a:solidFill>
                  <a:srgbClr val="0F1417"/>
                </a:solidFill>
                <a:latin typeface="Segoe UI"/>
              </a:rPr>
              <a:t>Inflexible: hard to change as the markets change.</a:t>
            </a:r>
          </a:p>
        </p:txBody>
      </p:sp>
      <p:sp>
        <p:nvSpPr>
          <p:cNvPr id="12" name="TextBox 11"/>
          <p:cNvSpPr txBox="1"/>
          <p:nvPr/>
        </p:nvSpPr>
        <p:spPr>
          <a:xfrm>
            <a:off x="877824" y="4818888"/>
            <a:ext cx="274320" cy="365760"/>
          </a:xfrm>
          <a:prstGeom prst="rect">
            <a:avLst/>
          </a:prstGeom>
          <a:noFill/>
        </p:spPr>
        <p:txBody>
          <a:bodyPr wrap="square" anchor="t" lIns="0" rIns="0" tIns="0" bIns="0">
            <a:noAutofit/>
          </a:bodyPr>
          <a:lstStyle/>
          <a:p>
            <a:pPr algn="l"/>
            <a:r>
              <a:rPr sz="1600" b="0" i="0">
                <a:solidFill>
                  <a:srgbClr val="8A9599"/>
                </a:solidFill>
                <a:latin typeface="Segoe UI"/>
              </a:rPr>
              <a:t>·</a:t>
            </a:r>
          </a:p>
        </p:txBody>
      </p:sp>
      <p:sp>
        <p:nvSpPr>
          <p:cNvPr id="13" name="TextBox 12"/>
          <p:cNvSpPr txBox="1"/>
          <p:nvPr/>
        </p:nvSpPr>
        <p:spPr>
          <a:xfrm>
            <a:off x="1170432" y="4818888"/>
            <a:ext cx="4385919" cy="566928"/>
          </a:xfrm>
          <a:prstGeom prst="rect">
            <a:avLst/>
          </a:prstGeom>
          <a:noFill/>
        </p:spPr>
        <p:txBody>
          <a:bodyPr wrap="square" anchor="t" lIns="0" rIns="0" tIns="0" bIns="0">
            <a:noAutofit/>
          </a:bodyPr>
          <a:lstStyle/>
          <a:p>
            <a:pPr algn="l">
              <a:lnSpc>
                <a:spcPct val="114000"/>
              </a:lnSpc>
            </a:pPr>
            <a:r>
              <a:rPr sz="1350" b="0" i="0">
                <a:solidFill>
                  <a:srgbClr val="0F1417"/>
                </a:solidFill>
                <a:latin typeface="Segoe UI"/>
              </a:rPr>
              <a:t>Old technology: no AI, no in-memory computing, no cloud.</a:t>
            </a:r>
          </a:p>
        </p:txBody>
      </p:sp>
      <p:sp>
        <p:nvSpPr>
          <p:cNvPr id="14" name="Rounded Rectangle 13"/>
          <p:cNvSpPr/>
          <p:nvPr/>
        </p:nvSpPr>
        <p:spPr>
          <a:xfrm>
            <a:off x="6324447" y="2148840"/>
            <a:ext cx="5300319" cy="3429000"/>
          </a:xfrm>
          <a:prstGeom prst="roundRect">
            <a:avLst>
              <a:gd name="adj" fmla="val 5000"/>
            </a:avLst>
          </a:prstGeom>
          <a:solidFill>
            <a:srgbClr val="0F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24447" y="2148840"/>
            <a:ext cx="82296" cy="3429000"/>
          </a:xfrm>
          <a:prstGeom prst="rect">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35343" y="2441448"/>
            <a:ext cx="4678527" cy="365760"/>
          </a:xfrm>
          <a:prstGeom prst="rect">
            <a:avLst/>
          </a:prstGeom>
          <a:noFill/>
        </p:spPr>
        <p:txBody>
          <a:bodyPr wrap="square" anchor="t" lIns="0" rIns="0" tIns="0" bIns="0">
            <a:noAutofit/>
          </a:bodyPr>
          <a:lstStyle/>
          <a:p>
            <a:pPr algn="l"/>
            <a:r>
              <a:rPr sz="1200" b="0" i="0" spc="100">
                <a:solidFill>
                  <a:srgbClr val="17B0BE"/>
                </a:solidFill>
                <a:latin typeface="Segoe UI Semibold"/>
              </a:rPr>
              <a:t>ONEPILOT APPS</a:t>
            </a:r>
          </a:p>
        </p:txBody>
      </p:sp>
      <p:sp>
        <p:nvSpPr>
          <p:cNvPr id="17" name="TextBox 16"/>
          <p:cNvSpPr txBox="1"/>
          <p:nvPr/>
        </p:nvSpPr>
        <p:spPr>
          <a:xfrm>
            <a:off x="6635343" y="3008376"/>
            <a:ext cx="274320" cy="365760"/>
          </a:xfrm>
          <a:prstGeom prst="rect">
            <a:avLst/>
          </a:prstGeom>
          <a:noFill/>
        </p:spPr>
        <p:txBody>
          <a:bodyPr wrap="square" anchor="t" lIns="0" rIns="0" tIns="0" bIns="0">
            <a:noAutofit/>
          </a:bodyPr>
          <a:lstStyle/>
          <a:p>
            <a:pPr algn="l"/>
            <a:r>
              <a:rPr sz="1400" b="0" i="0">
                <a:solidFill>
                  <a:srgbClr val="17B0BE"/>
                </a:solidFill>
                <a:latin typeface="Segoe UI"/>
              </a:rPr>
              <a:t>→</a:t>
            </a:r>
          </a:p>
        </p:txBody>
      </p:sp>
      <p:sp>
        <p:nvSpPr>
          <p:cNvPr id="18" name="TextBox 17"/>
          <p:cNvSpPr txBox="1"/>
          <p:nvPr/>
        </p:nvSpPr>
        <p:spPr>
          <a:xfrm>
            <a:off x="6982815" y="3008376"/>
            <a:ext cx="4331055" cy="566928"/>
          </a:xfrm>
          <a:prstGeom prst="rect">
            <a:avLst/>
          </a:prstGeom>
          <a:noFill/>
        </p:spPr>
        <p:txBody>
          <a:bodyPr wrap="square" anchor="t" lIns="0" rIns="0" tIns="0" bIns="0">
            <a:noAutofit/>
          </a:bodyPr>
          <a:lstStyle/>
          <a:p>
            <a:pPr algn="l">
              <a:lnSpc>
                <a:spcPct val="114000"/>
              </a:lnSpc>
            </a:pPr>
            <a:r>
              <a:rPr sz="1350" b="0" i="0">
                <a:solidFill>
                  <a:srgbClr val="ECEFF0"/>
                </a:solidFill>
                <a:latin typeface="Segoe UI"/>
              </a:rPr>
              <a:t>Off-the-shelf. No custom code.</a:t>
            </a:r>
          </a:p>
        </p:txBody>
      </p:sp>
      <p:sp>
        <p:nvSpPr>
          <p:cNvPr id="19" name="TextBox 18"/>
          <p:cNvSpPr txBox="1"/>
          <p:nvPr/>
        </p:nvSpPr>
        <p:spPr>
          <a:xfrm>
            <a:off x="6635343" y="3611880"/>
            <a:ext cx="274320" cy="365760"/>
          </a:xfrm>
          <a:prstGeom prst="rect">
            <a:avLst/>
          </a:prstGeom>
          <a:noFill/>
        </p:spPr>
        <p:txBody>
          <a:bodyPr wrap="square" anchor="t" lIns="0" rIns="0" tIns="0" bIns="0">
            <a:noAutofit/>
          </a:bodyPr>
          <a:lstStyle/>
          <a:p>
            <a:pPr algn="l"/>
            <a:r>
              <a:rPr sz="1400" b="0" i="0">
                <a:solidFill>
                  <a:srgbClr val="17B0BE"/>
                </a:solidFill>
                <a:latin typeface="Segoe UI"/>
              </a:rPr>
              <a:t>→</a:t>
            </a:r>
          </a:p>
        </p:txBody>
      </p:sp>
      <p:sp>
        <p:nvSpPr>
          <p:cNvPr id="20" name="TextBox 19"/>
          <p:cNvSpPr txBox="1"/>
          <p:nvPr/>
        </p:nvSpPr>
        <p:spPr>
          <a:xfrm>
            <a:off x="6982815" y="3611880"/>
            <a:ext cx="4331055" cy="566928"/>
          </a:xfrm>
          <a:prstGeom prst="rect">
            <a:avLst/>
          </a:prstGeom>
          <a:noFill/>
        </p:spPr>
        <p:txBody>
          <a:bodyPr wrap="square" anchor="t" lIns="0" rIns="0" tIns="0" bIns="0">
            <a:noAutofit/>
          </a:bodyPr>
          <a:lstStyle/>
          <a:p>
            <a:pPr algn="l">
              <a:lnSpc>
                <a:spcPct val="114000"/>
              </a:lnSpc>
            </a:pPr>
            <a:r>
              <a:rPr sz="1350" b="0" i="0">
                <a:solidFill>
                  <a:srgbClr val="ECEFF0"/>
                </a:solidFill>
                <a:latin typeface="Segoe UI"/>
              </a:rPr>
              <a:t>A managed subscription: third-party run, low maintenance.</a:t>
            </a:r>
          </a:p>
        </p:txBody>
      </p:sp>
      <p:sp>
        <p:nvSpPr>
          <p:cNvPr id="21" name="TextBox 20"/>
          <p:cNvSpPr txBox="1"/>
          <p:nvPr/>
        </p:nvSpPr>
        <p:spPr>
          <a:xfrm>
            <a:off x="6635343" y="4215384"/>
            <a:ext cx="274320" cy="365760"/>
          </a:xfrm>
          <a:prstGeom prst="rect">
            <a:avLst/>
          </a:prstGeom>
          <a:noFill/>
        </p:spPr>
        <p:txBody>
          <a:bodyPr wrap="square" anchor="t" lIns="0" rIns="0" tIns="0" bIns="0">
            <a:noAutofit/>
          </a:bodyPr>
          <a:lstStyle/>
          <a:p>
            <a:pPr algn="l"/>
            <a:r>
              <a:rPr sz="1400" b="0" i="0">
                <a:solidFill>
                  <a:srgbClr val="17B0BE"/>
                </a:solidFill>
                <a:latin typeface="Segoe UI"/>
              </a:rPr>
              <a:t>→</a:t>
            </a:r>
          </a:p>
        </p:txBody>
      </p:sp>
      <p:sp>
        <p:nvSpPr>
          <p:cNvPr id="22" name="TextBox 21"/>
          <p:cNvSpPr txBox="1"/>
          <p:nvPr/>
        </p:nvSpPr>
        <p:spPr>
          <a:xfrm>
            <a:off x="6982815" y="4215384"/>
            <a:ext cx="4331055" cy="566928"/>
          </a:xfrm>
          <a:prstGeom prst="rect">
            <a:avLst/>
          </a:prstGeom>
          <a:noFill/>
        </p:spPr>
        <p:txBody>
          <a:bodyPr wrap="square" anchor="t" lIns="0" rIns="0" tIns="0" bIns="0">
            <a:noAutofit/>
          </a:bodyPr>
          <a:lstStyle/>
          <a:p>
            <a:pPr algn="l">
              <a:lnSpc>
                <a:spcPct val="114000"/>
              </a:lnSpc>
            </a:pPr>
            <a:r>
              <a:rPr sz="1350" b="0" i="0">
                <a:solidFill>
                  <a:srgbClr val="ECEFF0"/>
                </a:solidFill>
                <a:latin typeface="Segoe UI"/>
              </a:rPr>
              <a:t>100% configurable; connects to any app, process or data source.</a:t>
            </a:r>
          </a:p>
        </p:txBody>
      </p:sp>
      <p:sp>
        <p:nvSpPr>
          <p:cNvPr id="23" name="TextBox 22"/>
          <p:cNvSpPr txBox="1"/>
          <p:nvPr/>
        </p:nvSpPr>
        <p:spPr>
          <a:xfrm>
            <a:off x="6635343" y="4818888"/>
            <a:ext cx="274320" cy="365760"/>
          </a:xfrm>
          <a:prstGeom prst="rect">
            <a:avLst/>
          </a:prstGeom>
          <a:noFill/>
        </p:spPr>
        <p:txBody>
          <a:bodyPr wrap="square" anchor="t" lIns="0" rIns="0" tIns="0" bIns="0">
            <a:noAutofit/>
          </a:bodyPr>
          <a:lstStyle/>
          <a:p>
            <a:pPr algn="l"/>
            <a:r>
              <a:rPr sz="1400" b="0" i="0">
                <a:solidFill>
                  <a:srgbClr val="17B0BE"/>
                </a:solidFill>
                <a:latin typeface="Segoe UI"/>
              </a:rPr>
              <a:t>→</a:t>
            </a:r>
          </a:p>
        </p:txBody>
      </p:sp>
      <p:sp>
        <p:nvSpPr>
          <p:cNvPr id="24" name="TextBox 23"/>
          <p:cNvSpPr txBox="1"/>
          <p:nvPr/>
        </p:nvSpPr>
        <p:spPr>
          <a:xfrm>
            <a:off x="6982815" y="4818888"/>
            <a:ext cx="4331055" cy="566928"/>
          </a:xfrm>
          <a:prstGeom prst="rect">
            <a:avLst/>
          </a:prstGeom>
          <a:noFill/>
        </p:spPr>
        <p:txBody>
          <a:bodyPr wrap="square" anchor="t" lIns="0" rIns="0" tIns="0" bIns="0">
            <a:noAutofit/>
          </a:bodyPr>
          <a:lstStyle/>
          <a:p>
            <a:pPr algn="l">
              <a:lnSpc>
                <a:spcPct val="114000"/>
              </a:lnSpc>
            </a:pPr>
            <a:r>
              <a:rPr sz="1350" b="0" i="0">
                <a:solidFill>
                  <a:srgbClr val="ECEFF0"/>
                </a:solidFill>
                <a:latin typeface="Segoe UI"/>
              </a:rPr>
              <a:t>A cloud app: no hardware cost, scalable, AI-ready.</a:t>
            </a:r>
          </a:p>
        </p:txBody>
      </p:sp>
      <p:sp>
        <p:nvSpPr>
          <p:cNvPr id="25" name="Rectangle 24"/>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7" name="TextBox 26"/>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18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APPENDIX · BANK FEE PORTAL</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200" b="0" i="0">
                <a:solidFill>
                  <a:srgbClr val="0F1417"/>
                </a:solidFill>
                <a:latin typeface="Century Gothic"/>
              </a:rPr>
              <a:t>Bank Fee Portal</a:t>
            </a:r>
          </a:p>
        </p:txBody>
      </p:sp>
      <p:sp>
        <p:nvSpPr>
          <p:cNvPr id="4" name="TextBox 3"/>
          <p:cNvSpPr txBox="1"/>
          <p:nvPr/>
        </p:nvSpPr>
        <p:spPr>
          <a:xfrm>
            <a:off x="566928" y="1700784"/>
            <a:ext cx="10515600" cy="365760"/>
          </a:xfrm>
          <a:prstGeom prst="rect">
            <a:avLst/>
          </a:prstGeom>
          <a:noFill/>
        </p:spPr>
        <p:txBody>
          <a:bodyPr wrap="square" anchor="t" lIns="0" rIns="0" tIns="0" bIns="0">
            <a:noAutofit/>
          </a:bodyPr>
          <a:lstStyle/>
          <a:p>
            <a:pPr algn="l">
              <a:lnSpc>
                <a:spcPct val="115000"/>
              </a:lnSpc>
            </a:pPr>
            <a:r>
              <a:rPr sz="1350" b="0" i="1">
                <a:solidFill>
                  <a:srgbClr val="8A9599"/>
                </a:solidFill>
                <a:latin typeface="Segoe UI"/>
              </a:rPr>
              <a:t>A bank fee statement is the bank's own record of what it charged you.</a:t>
            </a:r>
          </a:p>
        </p:txBody>
      </p:sp>
      <p:sp>
        <p:nvSpPr>
          <p:cNvPr id="5" name="TextBox 4"/>
          <p:cNvSpPr txBox="1"/>
          <p:nvPr/>
        </p:nvSpPr>
        <p:spPr>
          <a:xfrm>
            <a:off x="566928" y="2286000"/>
            <a:ext cx="3977639" cy="274320"/>
          </a:xfrm>
          <a:prstGeom prst="rect">
            <a:avLst/>
          </a:prstGeom>
          <a:noFill/>
        </p:spPr>
        <p:txBody>
          <a:bodyPr wrap="square" anchor="t" lIns="0" rIns="0" tIns="0" bIns="0">
            <a:noAutofit/>
          </a:bodyPr>
          <a:lstStyle/>
          <a:p>
            <a:pPr algn="l"/>
            <a:r>
              <a:rPr sz="1100" b="0" i="0" spc="160">
                <a:solidFill>
                  <a:srgbClr val="8A9599"/>
                </a:solidFill>
                <a:latin typeface="Segoe UI Semibold"/>
              </a:rPr>
              <a:t>BEFORE  ·  TODAY, BY HAND</a:t>
            </a:r>
          </a:p>
        </p:txBody>
      </p:sp>
      <p:sp>
        <p:nvSpPr>
          <p:cNvPr id="6" name="Rectangle 5"/>
          <p:cNvSpPr/>
          <p:nvPr/>
        </p:nvSpPr>
        <p:spPr>
          <a:xfrm>
            <a:off x="566928" y="2670048"/>
            <a:ext cx="45720" cy="3063240"/>
          </a:xfrm>
          <a:prstGeom prst="rect">
            <a:avLst/>
          </a:prstGeom>
          <a:solidFill>
            <a:srgbClr val="5B6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651760"/>
            <a:ext cx="3703320" cy="3108960"/>
          </a:xfrm>
          <a:prstGeom prst="rect">
            <a:avLst/>
          </a:prstGeom>
          <a:noFill/>
        </p:spPr>
        <p:txBody>
          <a:bodyPr wrap="square" anchor="t" lIns="0" rIns="0" tIns="0" bIns="0">
            <a:noAutofit/>
          </a:bodyPr>
          <a:lstStyle/>
          <a:p>
            <a:pPr algn="l">
              <a:lnSpc>
                <a:spcPct val="132000"/>
              </a:lnSpc>
            </a:pPr>
            <a:r>
              <a:rPr sz="1500" b="0" i="0">
                <a:solidFill>
                  <a:srgbClr val="0F1417"/>
                </a:solidFill>
                <a:latin typeface="Segoe UI"/>
              </a:rPr>
              <a:t>Banks send fee statements in many formats: CAMT.086 (the standard bank-fee format), XML, Twist BSB, and each bank's own. Someone reads and checks them by hand, so derived fees and overcharges are hard to catch.</a:t>
            </a:r>
          </a:p>
        </p:txBody>
      </p:sp>
      <p:sp>
        <p:nvSpPr>
          <p:cNvPr id="8" name="TextBox 7"/>
          <p:cNvSpPr txBox="1"/>
          <p:nvPr/>
        </p:nvSpPr>
        <p:spPr>
          <a:xfrm>
            <a:off x="5001768" y="2286000"/>
            <a:ext cx="6622999" cy="274320"/>
          </a:xfrm>
          <a:prstGeom prst="rect">
            <a:avLst/>
          </a:prstGeom>
          <a:noFill/>
        </p:spPr>
        <p:txBody>
          <a:bodyPr wrap="square" anchor="t" lIns="0" rIns="0" tIns="0" bIns="0">
            <a:noAutofit/>
          </a:bodyPr>
          <a:lstStyle/>
          <a:p>
            <a:pPr algn="l"/>
            <a:r>
              <a:rPr sz="1100" b="0" i="0" spc="140">
                <a:solidFill>
                  <a:srgbClr val="0E7C86"/>
                </a:solidFill>
                <a:latin typeface="Segoe UI Semibold"/>
              </a:rPr>
              <a:t>AFTER  ·  THE BANK FEE PORTAL, IN ORDER</a:t>
            </a:r>
          </a:p>
        </p:txBody>
      </p:sp>
      <p:sp>
        <p:nvSpPr>
          <p:cNvPr id="9" name="Rounded Rectangle 8"/>
          <p:cNvSpPr/>
          <p:nvPr/>
        </p:nvSpPr>
        <p:spPr>
          <a:xfrm>
            <a:off x="5001768" y="2706624"/>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1768" y="27066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1</a:t>
            </a:r>
          </a:p>
        </p:txBody>
      </p:sp>
      <p:sp>
        <p:nvSpPr>
          <p:cNvPr id="11" name="TextBox 10"/>
          <p:cNvSpPr txBox="1"/>
          <p:nvPr/>
        </p:nvSpPr>
        <p:spPr>
          <a:xfrm>
            <a:off x="5404104" y="26883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Reads fee statements in any format.</a:t>
            </a:r>
          </a:p>
        </p:txBody>
      </p:sp>
      <p:sp>
        <p:nvSpPr>
          <p:cNvPr id="12" name="Rounded Rectangle 11"/>
          <p:cNvSpPr/>
          <p:nvPr/>
        </p:nvSpPr>
        <p:spPr>
          <a:xfrm>
            <a:off x="5001768" y="3163824"/>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1768" y="31638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2</a:t>
            </a:r>
          </a:p>
        </p:txBody>
      </p:sp>
      <p:sp>
        <p:nvSpPr>
          <p:cNvPr id="14" name="TextBox 13"/>
          <p:cNvSpPr txBox="1"/>
          <p:nvPr/>
        </p:nvSpPr>
        <p:spPr>
          <a:xfrm>
            <a:off x="5404104" y="31455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Validates and enriches them to calculate derived fees.</a:t>
            </a:r>
          </a:p>
        </p:txBody>
      </p:sp>
      <p:sp>
        <p:nvSpPr>
          <p:cNvPr id="15" name="Rounded Rectangle 14"/>
          <p:cNvSpPr/>
          <p:nvPr/>
        </p:nvSpPr>
        <p:spPr>
          <a:xfrm>
            <a:off x="5001768" y="3621024"/>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36210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3</a:t>
            </a:r>
          </a:p>
        </p:txBody>
      </p:sp>
      <p:sp>
        <p:nvSpPr>
          <p:cNvPr id="17" name="TextBox 16"/>
          <p:cNvSpPr txBox="1"/>
          <p:nvPr/>
        </p:nvSpPr>
        <p:spPr>
          <a:xfrm>
            <a:off x="5404104" y="36027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Sends the data to a Bank Fee Analyzer, TMS or analytics.</a:t>
            </a:r>
          </a:p>
        </p:txBody>
      </p:sp>
      <p:sp>
        <p:nvSpPr>
          <p:cNvPr id="18" name="Rounded Rectangle 17"/>
          <p:cNvSpPr/>
          <p:nvPr/>
        </p:nvSpPr>
        <p:spPr>
          <a:xfrm>
            <a:off x="5001768" y="4078223"/>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1768" y="40782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4</a:t>
            </a:r>
          </a:p>
        </p:txBody>
      </p:sp>
      <p:sp>
        <p:nvSpPr>
          <p:cNvPr id="20" name="TextBox 19"/>
          <p:cNvSpPr txBox="1"/>
          <p:nvPr/>
        </p:nvSpPr>
        <p:spPr>
          <a:xfrm>
            <a:off x="5404104" y="4059935"/>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One dashboard for on-demand fee analysis.</a:t>
            </a:r>
          </a:p>
        </p:txBody>
      </p:sp>
      <p:sp>
        <p:nvSpPr>
          <p:cNvPr id="21" name="Rounded Rectangle 20"/>
          <p:cNvSpPr/>
          <p:nvPr/>
        </p:nvSpPr>
        <p:spPr>
          <a:xfrm>
            <a:off x="5001768" y="4626864"/>
            <a:ext cx="6622999" cy="566928"/>
          </a:xfrm>
          <a:prstGeom prst="roundRect">
            <a:avLst>
              <a:gd name="adj" fmla="val 10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01768" y="4626864"/>
            <a:ext cx="73152" cy="566928"/>
          </a:xfrm>
          <a:prstGeom prst="rect">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7800" y="4626864"/>
            <a:ext cx="6165799" cy="566928"/>
          </a:xfrm>
          <a:prstGeom prst="rect">
            <a:avLst/>
          </a:prstGeom>
          <a:noFill/>
        </p:spPr>
        <p:txBody>
          <a:bodyPr wrap="square" anchor="ctr" lIns="0" rIns="0" tIns="0" bIns="0">
            <a:noAutofit/>
          </a:bodyPr>
          <a:lstStyle/>
          <a:p>
            <a:pPr algn="l"/>
            <a:r>
              <a:rPr sz="1300" b="0" i="0">
                <a:solidFill>
                  <a:srgbClr val="0F1417"/>
                </a:solidFill>
                <a:latin typeface="Segoe UI Semibold"/>
              </a:rPr>
              <a:t>A person reviews the flagged charges.</a:t>
            </a:r>
          </a:p>
        </p:txBody>
      </p:sp>
      <p:sp>
        <p:nvSpPr>
          <p:cNvPr id="24" name="Rectangle 23"/>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6" name="TextBox 25"/>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19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APPENDIX · CREDIT DATA HUB</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200" b="0" i="0">
                <a:solidFill>
                  <a:srgbClr val="0F1417"/>
                </a:solidFill>
                <a:latin typeface="Century Gothic"/>
              </a:rPr>
              <a:t>Credit Data Hub</a:t>
            </a:r>
          </a:p>
        </p:txBody>
      </p:sp>
      <p:sp>
        <p:nvSpPr>
          <p:cNvPr id="4" name="TextBox 3"/>
          <p:cNvSpPr txBox="1"/>
          <p:nvPr/>
        </p:nvSpPr>
        <p:spPr>
          <a:xfrm>
            <a:off x="566928" y="1700784"/>
            <a:ext cx="10515600" cy="365760"/>
          </a:xfrm>
          <a:prstGeom prst="rect">
            <a:avLst/>
          </a:prstGeom>
          <a:noFill/>
        </p:spPr>
        <p:txBody>
          <a:bodyPr wrap="square" anchor="t" lIns="0" rIns="0" tIns="0" bIns="0">
            <a:noAutofit/>
          </a:bodyPr>
          <a:lstStyle/>
          <a:p>
            <a:pPr algn="l">
              <a:lnSpc>
                <a:spcPct val="115000"/>
              </a:lnSpc>
            </a:pPr>
            <a:r>
              <a:rPr sz="1350" b="0" i="1">
                <a:solidFill>
                  <a:srgbClr val="8A9599"/>
                </a:solidFill>
                <a:latin typeface="Segoe UI"/>
              </a:rPr>
              <a:t>A credit rating is an agency's score of how likely a counterparty is to pay.</a:t>
            </a:r>
          </a:p>
        </p:txBody>
      </p:sp>
      <p:sp>
        <p:nvSpPr>
          <p:cNvPr id="5" name="TextBox 4"/>
          <p:cNvSpPr txBox="1"/>
          <p:nvPr/>
        </p:nvSpPr>
        <p:spPr>
          <a:xfrm>
            <a:off x="566928" y="2286000"/>
            <a:ext cx="3977639" cy="274320"/>
          </a:xfrm>
          <a:prstGeom prst="rect">
            <a:avLst/>
          </a:prstGeom>
          <a:noFill/>
        </p:spPr>
        <p:txBody>
          <a:bodyPr wrap="square" anchor="t" lIns="0" rIns="0" tIns="0" bIns="0">
            <a:noAutofit/>
          </a:bodyPr>
          <a:lstStyle/>
          <a:p>
            <a:pPr algn="l"/>
            <a:r>
              <a:rPr sz="1100" b="0" i="0" spc="160">
                <a:solidFill>
                  <a:srgbClr val="8A9599"/>
                </a:solidFill>
                <a:latin typeface="Segoe UI Semibold"/>
              </a:rPr>
              <a:t>BEFORE  ·  TODAY, BY HAND</a:t>
            </a:r>
          </a:p>
        </p:txBody>
      </p:sp>
      <p:sp>
        <p:nvSpPr>
          <p:cNvPr id="6" name="Rectangle 5"/>
          <p:cNvSpPr/>
          <p:nvPr/>
        </p:nvSpPr>
        <p:spPr>
          <a:xfrm>
            <a:off x="566928" y="2670048"/>
            <a:ext cx="45720" cy="3063240"/>
          </a:xfrm>
          <a:prstGeom prst="rect">
            <a:avLst/>
          </a:prstGeom>
          <a:solidFill>
            <a:srgbClr val="5B6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651760"/>
            <a:ext cx="3703320" cy="3108960"/>
          </a:xfrm>
          <a:prstGeom prst="rect">
            <a:avLst/>
          </a:prstGeom>
          <a:noFill/>
        </p:spPr>
        <p:txBody>
          <a:bodyPr wrap="square" anchor="t" lIns="0" rIns="0" tIns="0" bIns="0">
            <a:noAutofit/>
          </a:bodyPr>
          <a:lstStyle/>
          <a:p>
            <a:pPr algn="l">
              <a:lnSpc>
                <a:spcPct val="132000"/>
              </a:lnSpc>
            </a:pPr>
            <a:r>
              <a:rPr sz="1500" b="0" i="0">
                <a:solidFill>
                  <a:srgbClr val="0F1417"/>
                </a:solidFill>
                <a:latin typeface="Segoe UI"/>
              </a:rPr>
              <a:t>Ratings for banks, customers and counterparties come from several agencies, some by API, some only as a PDF. Someone re-keys them into SAP by hand, and a stale rating means a limit decision on old data.</a:t>
            </a:r>
          </a:p>
        </p:txBody>
      </p:sp>
      <p:sp>
        <p:nvSpPr>
          <p:cNvPr id="8" name="TextBox 7"/>
          <p:cNvSpPr txBox="1"/>
          <p:nvPr/>
        </p:nvSpPr>
        <p:spPr>
          <a:xfrm>
            <a:off x="5001768" y="2286000"/>
            <a:ext cx="6622999" cy="274320"/>
          </a:xfrm>
          <a:prstGeom prst="rect">
            <a:avLst/>
          </a:prstGeom>
          <a:noFill/>
        </p:spPr>
        <p:txBody>
          <a:bodyPr wrap="square" anchor="t" lIns="0" rIns="0" tIns="0" bIns="0">
            <a:noAutofit/>
          </a:bodyPr>
          <a:lstStyle/>
          <a:p>
            <a:pPr algn="l"/>
            <a:r>
              <a:rPr sz="1100" b="0" i="0" spc="140">
                <a:solidFill>
                  <a:srgbClr val="0E7C86"/>
                </a:solidFill>
                <a:latin typeface="Segoe UI Semibold"/>
              </a:rPr>
              <a:t>AFTER  ·  THE CREDIT DATA HUB, IN ORDER</a:t>
            </a:r>
          </a:p>
        </p:txBody>
      </p:sp>
      <p:sp>
        <p:nvSpPr>
          <p:cNvPr id="9" name="Rounded Rectangle 8"/>
          <p:cNvSpPr/>
          <p:nvPr/>
        </p:nvSpPr>
        <p:spPr>
          <a:xfrm>
            <a:off x="5001768" y="2706624"/>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1768" y="27066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1</a:t>
            </a:r>
          </a:p>
        </p:txBody>
      </p:sp>
      <p:sp>
        <p:nvSpPr>
          <p:cNvPr id="11" name="TextBox 10"/>
          <p:cNvSpPr txBox="1"/>
          <p:nvPr/>
        </p:nvSpPr>
        <p:spPr>
          <a:xfrm>
            <a:off x="5404104" y="26883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Collects credit data from any provider, by API or from a PDF.</a:t>
            </a:r>
          </a:p>
        </p:txBody>
      </p:sp>
      <p:sp>
        <p:nvSpPr>
          <p:cNvPr id="12" name="Rounded Rectangle 11"/>
          <p:cNvSpPr/>
          <p:nvPr/>
        </p:nvSpPr>
        <p:spPr>
          <a:xfrm>
            <a:off x="5001768" y="3163824"/>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1768" y="31638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2</a:t>
            </a:r>
          </a:p>
        </p:txBody>
      </p:sp>
      <p:sp>
        <p:nvSpPr>
          <p:cNvPr id="14" name="TextBox 13"/>
          <p:cNvSpPr txBox="1"/>
          <p:nvPr/>
        </p:nvSpPr>
        <p:spPr>
          <a:xfrm>
            <a:off x="5404104" y="31455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Extracts the rating and credit report attributes into structured data.</a:t>
            </a:r>
          </a:p>
        </p:txBody>
      </p:sp>
      <p:sp>
        <p:nvSpPr>
          <p:cNvPr id="15" name="Rounded Rectangle 14"/>
          <p:cNvSpPr/>
          <p:nvPr/>
        </p:nvSpPr>
        <p:spPr>
          <a:xfrm>
            <a:off x="5001768" y="3621024"/>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36210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3</a:t>
            </a:r>
          </a:p>
        </p:txBody>
      </p:sp>
      <p:sp>
        <p:nvSpPr>
          <p:cNvPr id="17" name="TextBox 16"/>
          <p:cNvSpPr txBox="1"/>
          <p:nvPr/>
        </p:nvSpPr>
        <p:spPr>
          <a:xfrm>
            <a:off x="5404104" y="36027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Feeds SAP Credit Management and business partner, or any risk system.</a:t>
            </a:r>
          </a:p>
        </p:txBody>
      </p:sp>
      <p:sp>
        <p:nvSpPr>
          <p:cNvPr id="18" name="Rounded Rectangle 17"/>
          <p:cNvSpPr/>
          <p:nvPr/>
        </p:nvSpPr>
        <p:spPr>
          <a:xfrm>
            <a:off x="5001768" y="4078223"/>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1768" y="40782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4</a:t>
            </a:r>
          </a:p>
        </p:txBody>
      </p:sp>
      <p:sp>
        <p:nvSpPr>
          <p:cNvPr id="20" name="TextBox 19"/>
          <p:cNvSpPr txBox="1"/>
          <p:nvPr/>
        </p:nvSpPr>
        <p:spPr>
          <a:xfrm>
            <a:off x="5404104" y="4059935"/>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Alerts when a rating changes.</a:t>
            </a:r>
          </a:p>
        </p:txBody>
      </p:sp>
      <p:sp>
        <p:nvSpPr>
          <p:cNvPr id="21" name="Rounded Rectangle 20"/>
          <p:cNvSpPr/>
          <p:nvPr/>
        </p:nvSpPr>
        <p:spPr>
          <a:xfrm>
            <a:off x="5001768" y="4626864"/>
            <a:ext cx="6622999" cy="566928"/>
          </a:xfrm>
          <a:prstGeom prst="roundRect">
            <a:avLst>
              <a:gd name="adj" fmla="val 10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01768" y="4626864"/>
            <a:ext cx="73152" cy="566928"/>
          </a:xfrm>
          <a:prstGeom prst="rect">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7800" y="4626864"/>
            <a:ext cx="6165799" cy="566928"/>
          </a:xfrm>
          <a:prstGeom prst="rect">
            <a:avLst/>
          </a:prstGeom>
          <a:noFill/>
        </p:spPr>
        <p:txBody>
          <a:bodyPr wrap="square" anchor="ctr" lIns="0" rIns="0" tIns="0" bIns="0">
            <a:noAutofit/>
          </a:bodyPr>
          <a:lstStyle/>
          <a:p>
            <a:pPr algn="l"/>
            <a:r>
              <a:rPr sz="1300" b="0" i="0">
                <a:solidFill>
                  <a:srgbClr val="0F1417"/>
                </a:solidFill>
                <a:latin typeface="Segoe UI Semibold"/>
              </a:rPr>
              <a:t>A person owns the limit decision; the data is current.</a:t>
            </a:r>
          </a:p>
        </p:txBody>
      </p:sp>
      <p:sp>
        <p:nvSpPr>
          <p:cNvPr id="24" name="Rectangle 23"/>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6" name="TextBox 25"/>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20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0E7C86"/>
                </a:solidFill>
                <a:latin typeface="Segoe UI Semibold"/>
              </a:rPr>
              <a:t>APPENDIX · ESG DATA HUB</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200" b="0" i="0">
                <a:solidFill>
                  <a:srgbClr val="0F1417"/>
                </a:solidFill>
                <a:latin typeface="Century Gothic"/>
              </a:rPr>
              <a:t>ESG Data Hub</a:t>
            </a:r>
          </a:p>
        </p:txBody>
      </p:sp>
      <p:sp>
        <p:nvSpPr>
          <p:cNvPr id="4" name="TextBox 3"/>
          <p:cNvSpPr txBox="1"/>
          <p:nvPr/>
        </p:nvSpPr>
        <p:spPr>
          <a:xfrm>
            <a:off x="566928" y="1700784"/>
            <a:ext cx="10515600" cy="365760"/>
          </a:xfrm>
          <a:prstGeom prst="rect">
            <a:avLst/>
          </a:prstGeom>
          <a:noFill/>
        </p:spPr>
        <p:txBody>
          <a:bodyPr wrap="square" anchor="t" lIns="0" rIns="0" tIns="0" bIns="0">
            <a:noAutofit/>
          </a:bodyPr>
          <a:lstStyle/>
          <a:p>
            <a:pPr algn="l">
              <a:lnSpc>
                <a:spcPct val="115000"/>
              </a:lnSpc>
            </a:pPr>
            <a:r>
              <a:rPr sz="1350" b="0" i="1">
                <a:solidFill>
                  <a:srgbClr val="8A9599"/>
                </a:solidFill>
                <a:latin typeface="Segoe UI"/>
              </a:rPr>
              <a:t>ESG data is environmental, social and governance scores used for reporting.</a:t>
            </a:r>
          </a:p>
        </p:txBody>
      </p:sp>
      <p:sp>
        <p:nvSpPr>
          <p:cNvPr id="5" name="TextBox 4"/>
          <p:cNvSpPr txBox="1"/>
          <p:nvPr/>
        </p:nvSpPr>
        <p:spPr>
          <a:xfrm>
            <a:off x="566928" y="2286000"/>
            <a:ext cx="3977639" cy="274320"/>
          </a:xfrm>
          <a:prstGeom prst="rect">
            <a:avLst/>
          </a:prstGeom>
          <a:noFill/>
        </p:spPr>
        <p:txBody>
          <a:bodyPr wrap="square" anchor="t" lIns="0" rIns="0" tIns="0" bIns="0">
            <a:noAutofit/>
          </a:bodyPr>
          <a:lstStyle/>
          <a:p>
            <a:pPr algn="l"/>
            <a:r>
              <a:rPr sz="1100" b="0" i="0" spc="160">
                <a:solidFill>
                  <a:srgbClr val="8A9599"/>
                </a:solidFill>
                <a:latin typeface="Segoe UI Semibold"/>
              </a:rPr>
              <a:t>BEFORE  ·  TODAY, BY HAND</a:t>
            </a:r>
          </a:p>
        </p:txBody>
      </p:sp>
      <p:sp>
        <p:nvSpPr>
          <p:cNvPr id="6" name="Rectangle 5"/>
          <p:cNvSpPr/>
          <p:nvPr/>
        </p:nvSpPr>
        <p:spPr>
          <a:xfrm>
            <a:off x="566928" y="2670048"/>
            <a:ext cx="45720" cy="3063240"/>
          </a:xfrm>
          <a:prstGeom prst="rect">
            <a:avLst/>
          </a:prstGeom>
          <a:solidFill>
            <a:srgbClr val="5B6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651760"/>
            <a:ext cx="3703320" cy="3108960"/>
          </a:xfrm>
          <a:prstGeom prst="rect">
            <a:avLst/>
          </a:prstGeom>
          <a:noFill/>
        </p:spPr>
        <p:txBody>
          <a:bodyPr wrap="square" anchor="t" lIns="0" rIns="0" tIns="0" bIns="0">
            <a:noAutofit/>
          </a:bodyPr>
          <a:lstStyle/>
          <a:p>
            <a:pPr algn="l">
              <a:lnSpc>
                <a:spcPct val="132000"/>
              </a:lnSpc>
            </a:pPr>
            <a:r>
              <a:rPr sz="1500" b="0" i="0">
                <a:solidFill>
                  <a:srgbClr val="0F1417"/>
                </a:solidFill>
                <a:latin typeface="Segoe UI"/>
              </a:rPr>
              <a:t>ESG data arrives from many providers in many formats, plus internal reports that are unstructured. Someone reconciles the sources by hand each reporting cycle.</a:t>
            </a:r>
          </a:p>
        </p:txBody>
      </p:sp>
      <p:sp>
        <p:nvSpPr>
          <p:cNvPr id="8" name="TextBox 7"/>
          <p:cNvSpPr txBox="1"/>
          <p:nvPr/>
        </p:nvSpPr>
        <p:spPr>
          <a:xfrm>
            <a:off x="5001768" y="2286000"/>
            <a:ext cx="6622999" cy="274320"/>
          </a:xfrm>
          <a:prstGeom prst="rect">
            <a:avLst/>
          </a:prstGeom>
          <a:noFill/>
        </p:spPr>
        <p:txBody>
          <a:bodyPr wrap="square" anchor="t" lIns="0" rIns="0" tIns="0" bIns="0">
            <a:noAutofit/>
          </a:bodyPr>
          <a:lstStyle/>
          <a:p>
            <a:pPr algn="l"/>
            <a:r>
              <a:rPr sz="1100" b="0" i="0" spc="140">
                <a:solidFill>
                  <a:srgbClr val="0E7C86"/>
                </a:solidFill>
                <a:latin typeface="Segoe UI Semibold"/>
              </a:rPr>
              <a:t>AFTER  ·  THE ESG DATA HUB, IN ORDER</a:t>
            </a:r>
          </a:p>
        </p:txBody>
      </p:sp>
      <p:sp>
        <p:nvSpPr>
          <p:cNvPr id="9" name="Rounded Rectangle 8"/>
          <p:cNvSpPr/>
          <p:nvPr/>
        </p:nvSpPr>
        <p:spPr>
          <a:xfrm>
            <a:off x="5001768" y="2706624"/>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1768" y="27066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1</a:t>
            </a:r>
          </a:p>
        </p:txBody>
      </p:sp>
      <p:sp>
        <p:nvSpPr>
          <p:cNvPr id="11" name="TextBox 10"/>
          <p:cNvSpPr txBox="1"/>
          <p:nvPr/>
        </p:nvSpPr>
        <p:spPr>
          <a:xfrm>
            <a:off x="5404104" y="26883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Collects ESG data from any source and provider.</a:t>
            </a:r>
          </a:p>
        </p:txBody>
      </p:sp>
      <p:sp>
        <p:nvSpPr>
          <p:cNvPr id="12" name="Rounded Rectangle 11"/>
          <p:cNvSpPr/>
          <p:nvPr/>
        </p:nvSpPr>
        <p:spPr>
          <a:xfrm>
            <a:off x="5001768" y="3163824"/>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1768" y="31638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2</a:t>
            </a:r>
          </a:p>
        </p:txBody>
      </p:sp>
      <p:sp>
        <p:nvSpPr>
          <p:cNvPr id="14" name="TextBox 13"/>
          <p:cNvSpPr txBox="1"/>
          <p:nvPr/>
        </p:nvSpPr>
        <p:spPr>
          <a:xfrm>
            <a:off x="5404104" y="31455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Normalizes, structures and enriches it.</a:t>
            </a:r>
          </a:p>
        </p:txBody>
      </p:sp>
      <p:sp>
        <p:nvSpPr>
          <p:cNvPr id="15" name="Rounded Rectangle 14"/>
          <p:cNvSpPr/>
          <p:nvPr/>
        </p:nvSpPr>
        <p:spPr>
          <a:xfrm>
            <a:off x="5001768" y="3621024"/>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36210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3</a:t>
            </a:r>
          </a:p>
        </p:txBody>
      </p:sp>
      <p:sp>
        <p:nvSpPr>
          <p:cNvPr id="17" name="TextBox 16"/>
          <p:cNvSpPr txBox="1"/>
          <p:nvPr/>
        </p:nvSpPr>
        <p:spPr>
          <a:xfrm>
            <a:off x="5404104" y="36027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Feeds SAP Sustainability Control Tower (SAP's ESG-reporting module) or other tools.</a:t>
            </a:r>
          </a:p>
        </p:txBody>
      </p:sp>
      <p:sp>
        <p:nvSpPr>
          <p:cNvPr id="18" name="Rounded Rectangle 17"/>
          <p:cNvSpPr/>
          <p:nvPr/>
        </p:nvSpPr>
        <p:spPr>
          <a:xfrm>
            <a:off x="5001768" y="4078223"/>
            <a:ext cx="274320" cy="27432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1768" y="40782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4</a:t>
            </a:r>
          </a:p>
        </p:txBody>
      </p:sp>
      <p:sp>
        <p:nvSpPr>
          <p:cNvPr id="20" name="TextBox 19"/>
          <p:cNvSpPr txBox="1"/>
          <p:nvPr/>
        </p:nvSpPr>
        <p:spPr>
          <a:xfrm>
            <a:off x="5404104" y="4059935"/>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Runs on a schedule, monitored end to end.</a:t>
            </a:r>
          </a:p>
        </p:txBody>
      </p:sp>
      <p:sp>
        <p:nvSpPr>
          <p:cNvPr id="21" name="Rounded Rectangle 20"/>
          <p:cNvSpPr/>
          <p:nvPr/>
        </p:nvSpPr>
        <p:spPr>
          <a:xfrm>
            <a:off x="5001768" y="4626864"/>
            <a:ext cx="6622999" cy="566928"/>
          </a:xfrm>
          <a:prstGeom prst="roundRect">
            <a:avLst>
              <a:gd name="adj" fmla="val 10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01768" y="4626864"/>
            <a:ext cx="73152" cy="566928"/>
          </a:xfrm>
          <a:prstGeom prst="rect">
            <a:avLst/>
          </a:prstGeom>
          <a:solidFill>
            <a:srgbClr val="17B0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7800" y="4626864"/>
            <a:ext cx="6165799" cy="566928"/>
          </a:xfrm>
          <a:prstGeom prst="rect">
            <a:avLst/>
          </a:prstGeom>
          <a:noFill/>
        </p:spPr>
        <p:txBody>
          <a:bodyPr wrap="square" anchor="ctr" lIns="0" rIns="0" tIns="0" bIns="0">
            <a:noAutofit/>
          </a:bodyPr>
          <a:lstStyle/>
          <a:p>
            <a:pPr algn="l"/>
            <a:r>
              <a:rPr sz="1300" b="0" i="0">
                <a:solidFill>
                  <a:srgbClr val="0F1417"/>
                </a:solidFill>
                <a:latin typeface="Segoe UI Semibold"/>
              </a:rPr>
              <a:t>A person signs off the disclosure; the numbers hold up.</a:t>
            </a:r>
          </a:p>
        </p:txBody>
      </p:sp>
      <p:sp>
        <p:nvSpPr>
          <p:cNvPr id="24" name="Rectangle 23"/>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6" name="TextBox 25"/>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